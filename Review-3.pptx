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40"/>
  </p:notesMasterIdLst>
  <p:sldIdLst>
    <p:sldId id="256" r:id="rId3"/>
    <p:sldId id="257" r:id="rId4"/>
    <p:sldId id="258" r:id="rId5"/>
    <p:sldId id="303" r:id="rId6"/>
    <p:sldId id="270" r:id="rId7"/>
    <p:sldId id="291" r:id="rId8"/>
    <p:sldId id="292" r:id="rId9"/>
    <p:sldId id="293" r:id="rId10"/>
    <p:sldId id="294" r:id="rId11"/>
    <p:sldId id="295" r:id="rId12"/>
    <p:sldId id="296" r:id="rId13"/>
    <p:sldId id="297" r:id="rId14"/>
    <p:sldId id="298" r:id="rId15"/>
    <p:sldId id="299" r:id="rId16"/>
    <p:sldId id="273" r:id="rId17"/>
    <p:sldId id="300" r:id="rId18"/>
    <p:sldId id="301" r:id="rId19"/>
    <p:sldId id="274" r:id="rId20"/>
    <p:sldId id="275" r:id="rId21"/>
    <p:sldId id="283" r:id="rId22"/>
    <p:sldId id="284" r:id="rId23"/>
    <p:sldId id="288" r:id="rId24"/>
    <p:sldId id="285" r:id="rId25"/>
    <p:sldId id="304" r:id="rId26"/>
    <p:sldId id="286" r:id="rId27"/>
    <p:sldId id="281" r:id="rId28"/>
    <p:sldId id="305" r:id="rId29"/>
    <p:sldId id="289" r:id="rId30"/>
    <p:sldId id="309" r:id="rId31"/>
    <p:sldId id="310" r:id="rId32"/>
    <p:sldId id="308" r:id="rId33"/>
    <p:sldId id="306" r:id="rId34"/>
    <p:sldId id="307" r:id="rId35"/>
    <p:sldId id="290" r:id="rId36"/>
    <p:sldId id="276" r:id="rId37"/>
    <p:sldId id="302" r:id="rId38"/>
    <p:sldId id="264"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7F73A31-7B69-4B1C-8DB7-2589D1A5BA3E}">
          <p14:sldIdLst>
            <p14:sldId id="256"/>
            <p14:sldId id="257"/>
            <p14:sldId id="258"/>
            <p14:sldId id="303"/>
            <p14:sldId id="270"/>
            <p14:sldId id="291"/>
            <p14:sldId id="292"/>
            <p14:sldId id="293"/>
            <p14:sldId id="294"/>
            <p14:sldId id="295"/>
            <p14:sldId id="296"/>
            <p14:sldId id="297"/>
            <p14:sldId id="298"/>
            <p14:sldId id="299"/>
            <p14:sldId id="273"/>
            <p14:sldId id="300"/>
            <p14:sldId id="301"/>
          </p14:sldIdLst>
        </p14:section>
        <p14:section name="Untitled Section" id="{4BA4DC8F-0842-4C1E-A260-1F6E2C6D092C}">
          <p14:sldIdLst>
            <p14:sldId id="274"/>
            <p14:sldId id="275"/>
            <p14:sldId id="283"/>
            <p14:sldId id="284"/>
            <p14:sldId id="288"/>
            <p14:sldId id="285"/>
            <p14:sldId id="304"/>
            <p14:sldId id="286"/>
            <p14:sldId id="281"/>
            <p14:sldId id="305"/>
            <p14:sldId id="289"/>
            <p14:sldId id="309"/>
            <p14:sldId id="310"/>
            <p14:sldId id="308"/>
            <p14:sldId id="306"/>
            <p14:sldId id="307"/>
            <p14:sldId id="290"/>
            <p14:sldId id="276"/>
            <p14:sldId id="302"/>
            <p14:sldId id="264"/>
          </p14:sldIdLst>
        </p14:section>
      </p14:sectionLst>
    </p:ext>
    <p:ext uri="{EFAFB233-063F-42B5-8137-9DF3F51BA10A}">
      <p15:sldGuideLst xmlns:p15="http://schemas.microsoft.com/office/powerpoint/2012/main">
        <p15:guide id="1" orient="horz" pos="1620">
          <p15:clr>
            <a:srgbClr val="000000"/>
          </p15:clr>
        </p15:guide>
        <p15:guide id="2" pos="2699" userDrawn="1">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E7105-E927-475A-93DE-812225C240F4}" v="7" dt="2026-03-27T16:07:13.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p:cViewPr varScale="1">
        <p:scale>
          <a:sx n="102" d="100"/>
          <a:sy n="102" d="100"/>
        </p:scale>
        <p:origin x="96" y="365"/>
      </p:cViewPr>
      <p:guideLst>
        <p:guide orient="horz" pos="1620"/>
        <p:guide pos="26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P" userId="9aeb2b5d3e97835f" providerId="LiveId" clId="{D3825000-BAFA-4C99-BB50-242C38187AC7}"/>
    <pc:docChg chg="undo custSel addSld delSld modSld modSection">
      <pc:chgData name="Shivani P" userId="9aeb2b5d3e97835f" providerId="LiveId" clId="{D3825000-BAFA-4C99-BB50-242C38187AC7}" dt="2026-03-28T17:02:13.680" v="22" actId="123"/>
      <pc:docMkLst>
        <pc:docMk/>
      </pc:docMkLst>
      <pc:sldChg chg="modSp mod">
        <pc:chgData name="Shivani P" userId="9aeb2b5d3e97835f" providerId="LiveId" clId="{D3825000-BAFA-4C99-BB50-242C38187AC7}" dt="2026-03-28T17:02:13.680" v="22" actId="123"/>
        <pc:sldMkLst>
          <pc:docMk/>
          <pc:sldMk cId="0" sldId="283"/>
        </pc:sldMkLst>
        <pc:spChg chg="mod">
          <ac:chgData name="Shivani P" userId="9aeb2b5d3e97835f" providerId="LiveId" clId="{D3825000-BAFA-4C99-BB50-242C38187AC7}" dt="2026-03-28T17:02:13.680" v="22" actId="123"/>
          <ac:spMkLst>
            <pc:docMk/>
            <pc:sldMk cId="0" sldId="283"/>
            <ac:spMk id="3" creationId="{22F61602-C9E7-0625-AEB3-7B6FFDAEF597}"/>
          </ac:spMkLst>
        </pc:spChg>
      </pc:sldChg>
      <pc:sldChg chg="addSp delSp modSp mod">
        <pc:chgData name="Shivani P" userId="9aeb2b5d3e97835f" providerId="LiveId" clId="{D3825000-BAFA-4C99-BB50-242C38187AC7}" dt="2026-03-27T16:08:11.316" v="18" actId="14100"/>
        <pc:sldMkLst>
          <pc:docMk/>
          <pc:sldMk cId="0" sldId="289"/>
        </pc:sldMkLst>
        <pc:spChg chg="add mod">
          <ac:chgData name="Shivani P" userId="9aeb2b5d3e97835f" providerId="LiveId" clId="{D3825000-BAFA-4C99-BB50-242C38187AC7}" dt="2026-03-27T16:04:54.571" v="3" actId="688"/>
          <ac:spMkLst>
            <pc:docMk/>
            <pc:sldMk cId="0" sldId="289"/>
            <ac:spMk id="3" creationId="{148F051D-5D0F-3021-7AEC-1AE2C70A5A78}"/>
          </ac:spMkLst>
        </pc:spChg>
        <pc:spChg chg="add mod">
          <ac:chgData name="Shivani P" userId="9aeb2b5d3e97835f" providerId="LiveId" clId="{D3825000-BAFA-4C99-BB50-242C38187AC7}" dt="2026-03-27T16:04:54.571" v="3" actId="688"/>
          <ac:spMkLst>
            <pc:docMk/>
            <pc:sldMk cId="0" sldId="289"/>
            <ac:spMk id="4" creationId="{99DF686E-AD27-AD44-AA40-2203D0153588}"/>
          </ac:spMkLst>
        </pc:spChg>
        <pc:spChg chg="add mod">
          <ac:chgData name="Shivani P" userId="9aeb2b5d3e97835f" providerId="LiveId" clId="{D3825000-BAFA-4C99-BB50-242C38187AC7}" dt="2026-03-27T16:04:54.571" v="3" actId="688"/>
          <ac:spMkLst>
            <pc:docMk/>
            <pc:sldMk cId="0" sldId="289"/>
            <ac:spMk id="5" creationId="{F6FCFC3E-3FCA-E13B-57F2-CFA080D16475}"/>
          </ac:spMkLst>
        </pc:spChg>
        <pc:spChg chg="add mod">
          <ac:chgData name="Shivani P" userId="9aeb2b5d3e97835f" providerId="LiveId" clId="{D3825000-BAFA-4C99-BB50-242C38187AC7}" dt="2026-03-27T16:04:54.571" v="3" actId="688"/>
          <ac:spMkLst>
            <pc:docMk/>
            <pc:sldMk cId="0" sldId="289"/>
            <ac:spMk id="6" creationId="{10C765D9-C800-7033-36F6-9AEA62F67494}"/>
          </ac:spMkLst>
        </pc:spChg>
        <pc:spChg chg="add mod">
          <ac:chgData name="Shivani P" userId="9aeb2b5d3e97835f" providerId="LiveId" clId="{D3825000-BAFA-4C99-BB50-242C38187AC7}" dt="2026-03-27T16:04:39.607" v="2" actId="688"/>
          <ac:spMkLst>
            <pc:docMk/>
            <pc:sldMk cId="0" sldId="289"/>
            <ac:spMk id="7" creationId="{4F62DC6A-9700-BE8C-8744-67A3A1C0A509}"/>
          </ac:spMkLst>
        </pc:spChg>
        <pc:spChg chg="add mod">
          <ac:chgData name="Shivani P" userId="9aeb2b5d3e97835f" providerId="LiveId" clId="{D3825000-BAFA-4C99-BB50-242C38187AC7}" dt="2026-03-27T16:04:54.571" v="3" actId="688"/>
          <ac:spMkLst>
            <pc:docMk/>
            <pc:sldMk cId="0" sldId="289"/>
            <ac:spMk id="8" creationId="{F00022F3-02DF-8D57-A899-6E08B4DAB1E4}"/>
          </ac:spMkLst>
        </pc:spChg>
        <pc:spChg chg="add mod">
          <ac:chgData name="Shivani P" userId="9aeb2b5d3e97835f" providerId="LiveId" clId="{D3825000-BAFA-4C99-BB50-242C38187AC7}" dt="2026-03-27T16:04:54.571" v="3" actId="688"/>
          <ac:spMkLst>
            <pc:docMk/>
            <pc:sldMk cId="0" sldId="289"/>
            <ac:spMk id="10" creationId="{74F4E554-70CA-7C31-F028-EF3FAA8B073B}"/>
          </ac:spMkLst>
        </pc:spChg>
        <pc:spChg chg="add mod">
          <ac:chgData name="Shivani P" userId="9aeb2b5d3e97835f" providerId="LiveId" clId="{D3825000-BAFA-4C99-BB50-242C38187AC7}" dt="2026-03-27T16:04:54.571" v="3" actId="688"/>
          <ac:spMkLst>
            <pc:docMk/>
            <pc:sldMk cId="0" sldId="289"/>
            <ac:spMk id="12" creationId="{F990EA85-5D01-5E51-A39C-2903B289CE7E}"/>
          </ac:spMkLst>
        </pc:spChg>
        <pc:spChg chg="add mod">
          <ac:chgData name="Shivani P" userId="9aeb2b5d3e97835f" providerId="LiveId" clId="{D3825000-BAFA-4C99-BB50-242C38187AC7}" dt="2026-03-27T16:04:54.571" v="3" actId="688"/>
          <ac:spMkLst>
            <pc:docMk/>
            <pc:sldMk cId="0" sldId="289"/>
            <ac:spMk id="13" creationId="{889C9D27-456C-AE07-8851-40014118AB91}"/>
          </ac:spMkLst>
        </pc:spChg>
        <pc:spChg chg="mod">
          <ac:chgData name="Shivani P" userId="9aeb2b5d3e97835f" providerId="LiveId" clId="{D3825000-BAFA-4C99-BB50-242C38187AC7}" dt="2026-03-27T16:04:54.571" v="3" actId="688"/>
          <ac:spMkLst>
            <pc:docMk/>
            <pc:sldMk cId="0" sldId="289"/>
            <ac:spMk id="14" creationId="{18C1C122-E946-3934-A89C-46A74AD25FC1}"/>
          </ac:spMkLst>
        </pc:spChg>
        <pc:spChg chg="add mod">
          <ac:chgData name="Shivani P" userId="9aeb2b5d3e97835f" providerId="LiveId" clId="{D3825000-BAFA-4C99-BB50-242C38187AC7}" dt="2026-03-27T16:04:54.571" v="3" actId="688"/>
          <ac:spMkLst>
            <pc:docMk/>
            <pc:sldMk cId="0" sldId="289"/>
            <ac:spMk id="15" creationId="{C30DBFD7-24C4-EBEA-3E3E-6024DB6E0664}"/>
          </ac:spMkLst>
        </pc:spChg>
        <pc:spChg chg="mod">
          <ac:chgData name="Shivani P" userId="9aeb2b5d3e97835f" providerId="LiveId" clId="{D3825000-BAFA-4C99-BB50-242C38187AC7}" dt="2026-03-27T16:05:39.987" v="9" actId="1076"/>
          <ac:spMkLst>
            <pc:docMk/>
            <pc:sldMk cId="0" sldId="289"/>
            <ac:spMk id="26626" creationId="{282C01C4-5AF4-E105-CF53-C6068852F6CC}"/>
          </ac:spMkLst>
        </pc:spChg>
        <pc:picChg chg="add del mod">
          <ac:chgData name="Shivani P" userId="9aeb2b5d3e97835f" providerId="LiveId" clId="{D3825000-BAFA-4C99-BB50-242C38187AC7}" dt="2026-03-27T16:06:27.812" v="11" actId="21"/>
          <ac:picMkLst>
            <pc:docMk/>
            <pc:sldMk cId="0" sldId="289"/>
            <ac:picMk id="16" creationId="{A8F79DC7-099D-5CDF-2BF5-D247BF3066BD}"/>
          </ac:picMkLst>
        </pc:picChg>
        <pc:picChg chg="add mod">
          <ac:chgData name="Shivani P" userId="9aeb2b5d3e97835f" providerId="LiveId" clId="{D3825000-BAFA-4C99-BB50-242C38187AC7}" dt="2026-03-27T16:08:11.316" v="18" actId="14100"/>
          <ac:picMkLst>
            <pc:docMk/>
            <pc:sldMk cId="0" sldId="289"/>
            <ac:picMk id="17" creationId="{50EE91D3-6A8C-043D-B18B-325451DDC5D5}"/>
          </ac:picMkLst>
        </pc:picChg>
      </pc:sldChg>
      <pc:sldChg chg="addSp modSp">
        <pc:chgData name="Shivani P" userId="9aeb2b5d3e97835f" providerId="LiveId" clId="{D3825000-BAFA-4C99-BB50-242C38187AC7}" dt="2026-03-27T16:06:46.022" v="13" actId="1076"/>
        <pc:sldMkLst>
          <pc:docMk/>
          <pc:sldMk cId="0" sldId="307"/>
        </pc:sldMkLst>
        <pc:spChg chg="mod">
          <ac:chgData name="Shivani P" userId="9aeb2b5d3e97835f" providerId="LiveId" clId="{D3825000-BAFA-4C99-BB50-242C38187AC7}" dt="2026-03-27T16:06:46.022" v="13" actId="1076"/>
          <ac:spMkLst>
            <pc:docMk/>
            <pc:sldMk cId="0" sldId="307"/>
            <ac:spMk id="30722" creationId="{F29BAD73-0E68-0E1B-97D9-2D33E27B14A6}"/>
          </ac:spMkLst>
        </pc:spChg>
        <pc:picChg chg="add mod">
          <ac:chgData name="Shivani P" userId="9aeb2b5d3e97835f" providerId="LiveId" clId="{D3825000-BAFA-4C99-BB50-242C38187AC7}" dt="2026-03-27T16:06:40.900" v="12"/>
          <ac:picMkLst>
            <pc:docMk/>
            <pc:sldMk cId="0" sldId="307"/>
            <ac:picMk id="16" creationId="{A8F79DC7-099D-5CDF-2BF5-D247BF3066BD}"/>
          </ac:picMkLst>
        </pc:picChg>
      </pc:sldChg>
      <pc:sldChg chg="add del">
        <pc:chgData name="Shivani P" userId="9aeb2b5d3e97835f" providerId="LiveId" clId="{D3825000-BAFA-4C99-BB50-242C38187AC7}" dt="2026-03-27T16:05:06.487" v="4" actId="2696"/>
        <pc:sldMkLst>
          <pc:docMk/>
          <pc:sldMk cId="1814441902" sldId="30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10:03:00.438"/>
    </inkml:context>
    <inkml:brush xml:id="br0">
      <inkml:brushProperty name="width" value="0.1" units="cm"/>
      <inkml:brushProperty name="height" value="0.1" units="cm"/>
      <inkml:brushProperty name="color" value="#008C3A"/>
    </inkml:brush>
  </inkml:definitions>
  <inkml:trace contextRef="#ctx0" brushRef="#br0">0 0 6553,'0'0'0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350;p10:notes">
            <a:extLst>
              <a:ext uri="{FF2B5EF4-FFF2-40B4-BE49-F238E27FC236}">
                <a16:creationId xmlns:a16="http://schemas.microsoft.com/office/drawing/2014/main" id="{908707F3-0E28-89CB-404F-0EA90FB56390}"/>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7651" name="Google Shape;351;p10:notes">
            <a:extLst>
              <a:ext uri="{FF2B5EF4-FFF2-40B4-BE49-F238E27FC236}">
                <a16:creationId xmlns:a16="http://schemas.microsoft.com/office/drawing/2014/main" id="{A092DE2B-D50F-FBB9-DE38-BBC670C71015}"/>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350;p10:notes">
            <a:extLst>
              <a:ext uri="{FF2B5EF4-FFF2-40B4-BE49-F238E27FC236}">
                <a16:creationId xmlns:a16="http://schemas.microsoft.com/office/drawing/2014/main" id="{0FAABF40-C679-2155-3794-EEEE51D2D8BE}"/>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9699" name="Google Shape;351;p10:notes">
            <a:extLst>
              <a:ext uri="{FF2B5EF4-FFF2-40B4-BE49-F238E27FC236}">
                <a16:creationId xmlns:a16="http://schemas.microsoft.com/office/drawing/2014/main" id="{FC6B206F-8AA4-2B72-BECA-D903BC8DA0D6}"/>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Google Shape;350;p10:notes">
            <a:extLst>
              <a:ext uri="{FF2B5EF4-FFF2-40B4-BE49-F238E27FC236}">
                <a16:creationId xmlns:a16="http://schemas.microsoft.com/office/drawing/2014/main" id="{E290BF1D-4AE8-001F-44E3-02D42DFB89BD}"/>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1747" name="Google Shape;351;p10:notes">
            <a:extLst>
              <a:ext uri="{FF2B5EF4-FFF2-40B4-BE49-F238E27FC236}">
                <a16:creationId xmlns:a16="http://schemas.microsoft.com/office/drawing/2014/main" id="{ABCD2AF7-A77A-E835-8007-6F6F26DFFDE0}"/>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159C807E-6C27-043A-D7BB-4BD72DC49E94}"/>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C60D7451-3FDB-9534-0596-F85E8325465F}"/>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49C73F61-D314-3579-A314-920945AE70C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2A95C07-12CE-932F-A6FF-FA7F801A2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C556461-BC14-1014-04EF-A141324B7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037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2" name="Google Shape;16;p14">
            <a:extLst>
              <a:ext uri="{FF2B5EF4-FFF2-40B4-BE49-F238E27FC236}">
                <a16:creationId xmlns:a16="http://schemas.microsoft.com/office/drawing/2014/main" id="{E09B6DD5-8D08-D520-9B2E-6067CAD1C881}"/>
              </a:ext>
            </a:extLst>
          </p:cNvPr>
          <p:cNvSpPr txBox="1">
            <a:spLocks noGrp="1"/>
          </p:cNvSpPr>
          <p:nvPr>
            <p:ph type="dt" idx="10"/>
          </p:nvPr>
        </p:nvSpPr>
        <p:spPr>
          <a:xfrm>
            <a:off x="228600" y="3178175"/>
            <a:ext cx="1066800" cy="182563"/>
          </a:xfrm>
          <a:prstGeom prst="rect">
            <a:avLst/>
          </a:prstGeom>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17;p14">
            <a:extLst>
              <a:ext uri="{FF2B5EF4-FFF2-40B4-BE49-F238E27FC236}">
                <a16:creationId xmlns:a16="http://schemas.microsoft.com/office/drawing/2014/main" id="{DEF90AD0-974B-4CB5-9131-A150B56BE1E8}"/>
              </a:ext>
            </a:extLst>
          </p:cNvPr>
          <p:cNvSpPr txBox="1">
            <a:spLocks noGrp="1"/>
          </p:cNvSpPr>
          <p:nvPr>
            <p:ph type="ftr" idx="11"/>
          </p:nvPr>
        </p:nvSpPr>
        <p:spPr>
          <a:xfrm>
            <a:off x="1562100" y="3178175"/>
            <a:ext cx="1447800" cy="182563"/>
          </a:xfrm>
          <a:prstGeom prst="rect">
            <a:avLst/>
          </a:prstGeom>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18;p14">
            <a:extLst>
              <a:ext uri="{FF2B5EF4-FFF2-40B4-BE49-F238E27FC236}">
                <a16:creationId xmlns:a16="http://schemas.microsoft.com/office/drawing/2014/main" id="{92A5D899-7634-9EC5-C825-CC46F6DB6F34}"/>
              </a:ext>
            </a:extLst>
          </p:cNvPr>
          <p:cNvSpPr txBox="1">
            <a:spLocks noGrp="1"/>
          </p:cNvSpPr>
          <p:nvPr>
            <p:ph type="sldNum" idx="12"/>
          </p:nvPr>
        </p:nvSpPr>
        <p:spPr>
          <a:xfrm>
            <a:off x="3276600" y="3178175"/>
            <a:ext cx="1066800" cy="182563"/>
          </a:xfrm>
        </p:spPr>
        <p:txBody>
          <a:bodyPr spcFirstLastPara="1" tIns="45700" bIns="45700">
            <a:noAutofit/>
          </a:bodyPr>
          <a:lstStyle>
            <a:lvl1pPr marL="0" lvl="0" indent="0" algn="r">
              <a:spcBef>
                <a:spcPts val="0"/>
              </a:spcBef>
              <a:spcAft>
                <a:spcPts val="0"/>
              </a:spcAft>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AB5C6F64-D26D-4FBC-90B6-E341FAA65E65}" type="slidenum">
              <a:rPr lang="en-US"/>
              <a:pPr>
                <a:defRPr/>
              </a:pPr>
              <a:t>‹#›</a:t>
            </a:fld>
            <a:endParaRPr lang="en-US"/>
          </a:p>
        </p:txBody>
      </p:sp>
    </p:spTree>
    <p:extLst>
      <p:ext uri="{BB962C8B-B14F-4D97-AF65-F5344CB8AC3E}">
        <p14:creationId xmlns:p14="http://schemas.microsoft.com/office/powerpoint/2010/main" val="343203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5.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27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Project Work</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0" y="2571750"/>
            <a:ext cx="9144000" cy="523875"/>
          </a:xfrm>
          <a:prstGeom prst="rect">
            <a:avLst/>
          </a:prstGeom>
          <a:noFill/>
          <a:ln>
            <a:noFill/>
          </a:ln>
        </p:spPr>
        <p:txBody>
          <a:bodyPr spcFirstLastPara="1" wrap="square" lIns="91425" tIns="91425" rIns="91425" bIns="91425" anchor="t" anchorCtr="0">
            <a:noAutofit/>
          </a:bodyPr>
          <a:lstStyle/>
          <a:p>
            <a:pPr marL="0" indent="0" algn="ctr" eaLnBrk="1" hangingPunct="1">
              <a:lnSpc>
                <a:spcPct val="115000"/>
              </a:lnSpc>
              <a:buClr>
                <a:srgbClr val="595959"/>
              </a:buClr>
              <a:buSzPts val="1800"/>
              <a:defRPr/>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Review 3: Module Presentation</a:t>
            </a:r>
          </a:p>
        </p:txBody>
      </p:sp>
      <p:sp>
        <p:nvSpPr>
          <p:cNvPr id="30" name="Google Shape;30;p1"/>
          <p:cNvSpPr txBox="1"/>
          <p:nvPr/>
        </p:nvSpPr>
        <p:spPr>
          <a:xfrm>
            <a:off x="301625" y="3609268"/>
            <a:ext cx="4260900" cy="1419932"/>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1. R.Sravya(23241A67J3)</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2. P.Shivani(24245A6718)</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3. M.Lohitha(23241A67G5)</a:t>
            </a:r>
            <a:endParaRPr lang="it-IT" sz="1600"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5689600" y="3609268"/>
            <a:ext cx="3294062" cy="1419932"/>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Name: Dr. M. Kiran Kumar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Designation : Associate Professor,</a:t>
            </a:r>
          </a:p>
          <a:p>
            <a:pPr lvl="0">
              <a:lnSpc>
                <a:spcPct val="90000"/>
              </a:lnSpc>
              <a:buClr>
                <a:srgbClr val="006600"/>
              </a:buClr>
              <a:buSzPts val="1600"/>
            </a:pPr>
            <a:r>
              <a:rPr lang="en-US" sz="1600" b="1" dirty="0">
                <a:solidFill>
                  <a:srgbClr val="006600"/>
                </a:solidFill>
                <a:latin typeface="Times New Roman"/>
                <a:cs typeface="Times New Roman"/>
                <a:sym typeface="Times New Roman"/>
              </a:rPr>
              <a:t>                        Dean AAC</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Department: DS</a:t>
            </a:r>
            <a:endParaRPr lang="en-US" sz="1600" b="1"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rgbClr val="006600"/>
              </a:buClr>
              <a:buSzPts val="1600"/>
              <a:buFont typeface="Times New Roman"/>
              <a:buNone/>
            </a:pP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2" name="Google Shape;29;p1">
            <a:extLst>
              <a:ext uri="{FF2B5EF4-FFF2-40B4-BE49-F238E27FC236}">
                <a16:creationId xmlns:a16="http://schemas.microsoft.com/office/drawing/2014/main" id="{4E4E8026-6D09-B9F9-7CEF-C9E669326CBF}"/>
              </a:ext>
            </a:extLst>
          </p:cNvPr>
          <p:cNvSpPr txBox="1">
            <a:spLocks/>
          </p:cNvSpPr>
          <p:nvPr/>
        </p:nvSpPr>
        <p:spPr>
          <a:xfrm>
            <a:off x="5644" y="3085393"/>
            <a:ext cx="1992489" cy="5238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indent="0">
              <a:lnSpc>
                <a:spcPct val="115000"/>
              </a:lnSpc>
              <a:buSzPts val="2200"/>
            </a:pPr>
            <a:r>
              <a:rPr lang="en-US" sz="1800" b="1" dirty="0">
                <a:solidFill>
                  <a:srgbClr val="0D5BDC"/>
                </a:solidFill>
                <a:latin typeface="Times New Roman"/>
                <a:ea typeface="Times New Roman"/>
                <a:cs typeface="Times New Roman"/>
                <a:sym typeface="Times New Roman"/>
              </a:rPr>
              <a:t>Batch No - 16  </a:t>
            </a:r>
            <a:endParaRPr lang="en-US" sz="1800" dirty="0"/>
          </a:p>
          <a:p>
            <a:pPr marL="0" indent="0" algn="ctr">
              <a:lnSpc>
                <a:spcPct val="115000"/>
              </a:lnSpc>
              <a:buSzPts val="2200"/>
            </a:pPr>
            <a:endParaRPr lang="en-US" sz="2200" b="1" dirty="0">
              <a:solidFill>
                <a:srgbClr val="0D5BDC"/>
              </a:solidFill>
              <a:latin typeface="Times New Roman"/>
              <a:ea typeface="Times New Roman"/>
              <a:cs typeface="Times New Roman"/>
              <a:sym typeface="Times New Roman"/>
            </a:endParaRPr>
          </a:p>
          <a:p>
            <a:pPr marL="342900" indent="-342900"/>
            <a:endParaRPr lang="en-US" sz="2200" b="1"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IN" sz="3200" b="1" dirty="0">
                <a:latin typeface="Times New Roman" panose="02020603050405020304" pitchFamily="18" charset="0"/>
                <a:cs typeface="Times New Roman" panose="02020603050405020304" pitchFamily="18" charset="0"/>
              </a:rPr>
              <a:t>Diabetes Severity Prediction using </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Retinal Images </a:t>
            </a:r>
            <a:br>
              <a:rPr lang="en-IN" sz="3200" dirty="0"/>
            </a:br>
            <a:endParaRPr dirty="0"/>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Introduction</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5" name="Text Placeholder 4">
            <a:extLst>
              <a:ext uri="{FF2B5EF4-FFF2-40B4-BE49-F238E27FC236}">
                <a16:creationId xmlns:a16="http://schemas.microsoft.com/office/drawing/2014/main" id="{845E921E-33C8-8311-43C1-54574A12F395}"/>
              </a:ext>
            </a:extLst>
          </p:cNvPr>
          <p:cNvSpPr>
            <a:spLocks noGrp="1" noChangeArrowheads="1"/>
          </p:cNvSpPr>
          <p:nvPr>
            <p:ph type="body" idx="1"/>
          </p:nvPr>
        </p:nvSpPr>
        <p:spPr bwMode="auto">
          <a:xfrm>
            <a:off x="473529" y="609173"/>
            <a:ext cx="810664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Diabetes is a chronic disease that requires continuous long-term monitoring to prevent serious complications.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glucose tests provide temporary readings and can vary due to factors such as diet, stress, and time of measurement.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Prolonged diabetes causes permanent damage to retinal blood vessels, leading to diabetic retinopathy.</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Retinal fundus images clearly capture stable features such as microaneurysms, hard exudates, cotton wool spots, and abnormal blood vessels.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retinal abnormalities reflect long-term glucose exposure and indicate disease progression.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retinal image analysis provides a reliable and non-invasive method for assessing diabetes severity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20D452-67C4-99ED-3FBF-FB7B8C6C10C0}"/>
              </a:ext>
            </a:extLst>
          </p:cNvPr>
          <p:cNvSpPr>
            <a:spLocks noGrp="1"/>
          </p:cNvSpPr>
          <p:nvPr>
            <p:ph type="sldNum" idx="14"/>
          </p:nvPr>
        </p:nvSpPr>
        <p:spPr/>
        <p:txBody>
          <a:bodyPr/>
          <a:lstStyle/>
          <a:p>
            <a:pPr>
              <a:defRPr/>
            </a:pPr>
            <a:fld id="{EF26C623-DE27-4A99-8424-AFD36C142E5A}" type="slidenum">
              <a:rPr lang="en-US" altLang="en-US" smtClean="0"/>
              <a:pPr>
                <a:defRPr/>
              </a:pPr>
              <a:t>4</a:t>
            </a:fld>
            <a:endParaRPr lang="en-US" altLang="en-US"/>
          </a:p>
        </p:txBody>
      </p:sp>
      <p:pic>
        <p:nvPicPr>
          <p:cNvPr id="5" name="Picture 4">
            <a:extLst>
              <a:ext uri="{FF2B5EF4-FFF2-40B4-BE49-F238E27FC236}">
                <a16:creationId xmlns:a16="http://schemas.microsoft.com/office/drawing/2014/main" id="{FD314E87-7FDA-C45B-16E5-D487BB0FA2B2}"/>
              </a:ext>
            </a:extLst>
          </p:cNvPr>
          <p:cNvPicPr>
            <a:picLocks noChangeAspect="1"/>
          </p:cNvPicPr>
          <p:nvPr/>
        </p:nvPicPr>
        <p:blipFill>
          <a:blip r:embed="rId2"/>
          <a:stretch>
            <a:fillRect/>
          </a:stretch>
        </p:blipFill>
        <p:spPr>
          <a:xfrm>
            <a:off x="2231572" y="556798"/>
            <a:ext cx="4457700" cy="3182354"/>
          </a:xfrm>
          <a:prstGeom prst="rect">
            <a:avLst/>
          </a:prstGeom>
        </p:spPr>
      </p:pic>
      <p:sp>
        <p:nvSpPr>
          <p:cNvPr id="7" name="TextBox 6">
            <a:extLst>
              <a:ext uri="{FF2B5EF4-FFF2-40B4-BE49-F238E27FC236}">
                <a16:creationId xmlns:a16="http://schemas.microsoft.com/office/drawing/2014/main" id="{155833F5-AE02-E818-5DAB-E2A99D6933B9}"/>
              </a:ext>
            </a:extLst>
          </p:cNvPr>
          <p:cNvSpPr txBox="1"/>
          <p:nvPr/>
        </p:nvSpPr>
        <p:spPr>
          <a:xfrm>
            <a:off x="378187" y="3878816"/>
            <a:ext cx="8368937"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Fundus images of different types of capillary abnormalities (I) Normal capillary, (II) Microaneurysms, (III) Abnormal blood vessel (IV) Exudates.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489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409303" y="914399"/>
            <a:ext cx="8386354" cy="3748087"/>
          </a:xfrm>
          <a:prstGeom prst="rect">
            <a:avLst/>
          </a:prstGeom>
          <a:noFill/>
          <a:ln>
            <a:noFill/>
          </a:ln>
        </p:spPr>
        <p:txBody>
          <a:bodyPr spcFirstLastPara="1" wrap="square" lIns="91425" tIns="91425" rIns="91425" bIns="91425" anchor="t" anchorCtr="0">
            <a:normAutofit/>
          </a:bodyPr>
          <a:lstStyle/>
          <a:p>
            <a:pPr marL="146368" lvl="0" indent="0" algn="just">
              <a:lnSpc>
                <a:spcPct val="115000"/>
              </a:lnSpc>
              <a:buClr>
                <a:srgbClr val="595959"/>
              </a:buClr>
              <a:buSzPct val="58333"/>
            </a:pPr>
            <a:r>
              <a:rPr lang="en-US" sz="1800" b="1" dirty="0"/>
              <a:t>[1] Title :</a:t>
            </a:r>
            <a:r>
              <a:rPr lang="en-IN" sz="1800" b="1" dirty="0"/>
              <a:t>Diabetes Detection from Non-Diabetic Retinopathy Fundus Images</a:t>
            </a:r>
          </a:p>
          <a:p>
            <a:pPr marL="146368" lvl="0" indent="0" algn="just">
              <a:lnSpc>
                <a:spcPct val="115000"/>
              </a:lnSpc>
              <a:buClr>
                <a:srgbClr val="595959"/>
              </a:buClr>
              <a:buSzPct val="58333"/>
            </a:pPr>
            <a:r>
              <a:rPr lang="en-IN" sz="1800" b="1" dirty="0"/>
              <a:t>Problem:</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Traditional</a:t>
            </a:r>
            <a:r>
              <a:rPr lang="en-US" sz="1800" dirty="0"/>
              <a:t> diabetes diagnosis relies on blood tests, which provide only short-term glucose readings and may not reflect long-term disease status.</a:t>
            </a:r>
          </a:p>
          <a:p>
            <a:pPr marL="146368" lvl="0" indent="0" algn="just">
              <a:lnSpc>
                <a:spcPct val="115000"/>
              </a:lnSpc>
              <a:buClr>
                <a:srgbClr val="595959"/>
              </a:buClr>
              <a:buSzPct val="58333"/>
            </a:pPr>
            <a:r>
              <a:rPr lang="en-US" sz="1800" b="1" dirty="0"/>
              <a:t>Approach:</a:t>
            </a:r>
          </a:p>
          <a:p>
            <a:pPr marL="146368" lvl="0" indent="0" algn="just">
              <a:lnSpc>
                <a:spcPct val="115000"/>
              </a:lnSpc>
              <a:buClr>
                <a:srgbClr val="595959"/>
              </a:buClr>
              <a:buSzPct val="58333"/>
            </a:pPr>
            <a:r>
              <a:rPr lang="en-US" sz="1800" dirty="0"/>
              <a:t>The paper proposes using retinal fundus images to detect diabetes even in the absence of visible diabetic retinopathy.</a:t>
            </a:r>
          </a:p>
          <a:p>
            <a:pPr marL="146368" lvl="0" indent="0" algn="just">
              <a:lnSpc>
                <a:spcPct val="115000"/>
              </a:lnSpc>
              <a:buClr>
                <a:srgbClr val="595959"/>
              </a:buClr>
              <a:buSzPct val="58333"/>
            </a:pPr>
            <a:r>
              <a:rPr lang="en-US" sz="1800" b="1" dirty="0"/>
              <a:t>Achievement:</a:t>
            </a:r>
          </a:p>
          <a:p>
            <a:pPr marL="146368" lvl="0" indent="0" algn="just">
              <a:lnSpc>
                <a:spcPct val="115000"/>
              </a:lnSpc>
              <a:buClr>
                <a:srgbClr val="595959"/>
              </a:buClr>
              <a:buSzPct val="58333"/>
            </a:pPr>
            <a:r>
              <a:rPr lang="en-US" sz="1800" dirty="0"/>
              <a:t>Successfully detects diabetes from fundus images even without visible diabetic retinopathy.</a:t>
            </a:r>
          </a:p>
          <a:p>
            <a:pPr marL="489268" lvl="0" indent="-342900" algn="just">
              <a:lnSpc>
                <a:spcPct val="115000"/>
              </a:lnSpc>
              <a:buClr>
                <a:srgbClr val="595959"/>
              </a:buClr>
              <a:buSzPct val="58333"/>
              <a:buFont typeface="Arial" panose="020B0604020202020204" pitchFamily="34" charset="0"/>
              <a:buChar char="•"/>
            </a:pPr>
            <a:endParaRPr lang="en-US" sz="1800" b="1" dirty="0"/>
          </a:p>
          <a:p>
            <a:pPr marL="146368" lvl="0" indent="0" algn="just">
              <a:lnSpc>
                <a:spcPct val="115000"/>
              </a:lnSpc>
              <a:buClr>
                <a:srgbClr val="595959"/>
              </a:buClr>
              <a:buSzPct val="58333"/>
            </a:pPr>
            <a:endParaRPr lang="en-US" sz="1800" b="1" dirty="0">
              <a:solidFill>
                <a:srgbClr val="C00000"/>
              </a:solidFill>
            </a:endParaRPr>
          </a:p>
          <a:p>
            <a:pPr algn="just"/>
            <a:endParaRPr lang="en-IN" sz="1800" dirty="0"/>
          </a:p>
          <a:p>
            <a:pPr marL="146368" lvl="0" indent="0" algn="just">
              <a:lnSpc>
                <a:spcPct val="115000"/>
              </a:lnSpc>
              <a:buClr>
                <a:srgbClr val="595959"/>
              </a:buClr>
              <a:buSzPct val="58333"/>
            </a:pPr>
            <a:endParaRPr lang="en-US" sz="1800" dirty="0">
              <a:solidFill>
                <a:srgbClr val="C00000"/>
              </a:solidFill>
            </a:endParaRPr>
          </a:p>
        </p:txBody>
      </p:sp>
    </p:spTree>
    <p:extLst>
      <p:ext uri="{BB962C8B-B14F-4D97-AF65-F5344CB8AC3E}">
        <p14:creationId xmlns:p14="http://schemas.microsoft.com/office/powerpoint/2010/main" val="52293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3585-FFDF-93BC-D450-B70296867BE3}"/>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4EE8C5C5-F74F-361B-BE19-7DA7FBBACE39}"/>
              </a:ext>
            </a:extLst>
          </p:cNvPr>
          <p:cNvSpPr>
            <a:spLocks noGrp="1"/>
          </p:cNvSpPr>
          <p:nvPr>
            <p:ph type="body" sz="quarter" idx="13"/>
          </p:nvPr>
        </p:nvSpPr>
        <p:spPr>
          <a:xfrm>
            <a:off x="156369" y="807720"/>
            <a:ext cx="8831262" cy="3924300"/>
          </a:xfrm>
        </p:spPr>
        <p:txBody>
          <a:bodyPr/>
          <a:lstStyle/>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[2] Title :A Deep Learning System for Predicting Time to Progression of Diabetic Retinopathy(2024)</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Problem:</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The progression of diabetic retinopathy varies significantly among individuals, making it difficult to predict disease worsening and optimize screening intervals.</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Approach:</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Uses deep learning models trained on longitudinal fundus images to predict the time to diabetic retinopathy progression.</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Achievement:</a:t>
            </a: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The system achieves high predictive performance and enables personalized screening intervals, potentially reducing unnecessary frequent screenings while maintaining patient safety.</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E854D27F-BF6D-EE64-1327-5B621FF916F8}"/>
              </a:ext>
            </a:extLst>
          </p:cNvPr>
          <p:cNvSpPr>
            <a:spLocks noGrp="1"/>
          </p:cNvSpPr>
          <p:nvPr>
            <p:ph type="sldNum" idx="14"/>
          </p:nvPr>
        </p:nvSpPr>
        <p:spPr/>
        <p:txBody>
          <a:bodyPr/>
          <a:lstStyle/>
          <a:p>
            <a:pPr>
              <a:defRPr/>
            </a:pPr>
            <a:fld id="{EF26C623-DE27-4A99-8424-AFD36C142E5A}" type="slidenum">
              <a:rPr lang="en-US" altLang="en-US" smtClean="0"/>
              <a:pPr>
                <a:defRPr/>
              </a:pPr>
              <a:t>6</a:t>
            </a:fld>
            <a:endParaRPr lang="en-US" altLang="en-US"/>
          </a:p>
        </p:txBody>
      </p:sp>
    </p:spTree>
    <p:extLst>
      <p:ext uri="{BB962C8B-B14F-4D97-AF65-F5344CB8AC3E}">
        <p14:creationId xmlns:p14="http://schemas.microsoft.com/office/powerpoint/2010/main" val="111458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3C523-0E3B-E486-C19C-9CDFC5B0C552}"/>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CF32755A-B1EB-C076-89D0-9A591BCFEAE7}"/>
              </a:ext>
            </a:extLst>
          </p:cNvPr>
          <p:cNvSpPr>
            <a:spLocks noGrp="1"/>
          </p:cNvSpPr>
          <p:nvPr>
            <p:ph type="body" sz="quarter" idx="13"/>
          </p:nvPr>
        </p:nvSpPr>
        <p:spPr>
          <a:xfrm>
            <a:off x="193040" y="914400"/>
            <a:ext cx="8733246" cy="3748087"/>
          </a:xfrm>
        </p:spPr>
        <p:txBody>
          <a:bodyPr/>
          <a:lstStyle/>
          <a:p>
            <a:pPr algn="just"/>
            <a:r>
              <a:rPr lang="en-US" sz="1800" b="1" dirty="0">
                <a:latin typeface="Times New Roman" panose="02020603050405020304" pitchFamily="18" charset="0"/>
                <a:cs typeface="Times New Roman" panose="02020603050405020304" pitchFamily="18" charset="0"/>
              </a:rPr>
              <a:t>[3] Title :Predicting Diabetic Retinopathy Development Stages of Fundus Images</a:t>
            </a:r>
          </a:p>
          <a:p>
            <a:pPr algn="just"/>
            <a:r>
              <a:rPr lang="en-US" sz="1800" b="1" dirty="0">
                <a:latin typeface="Times New Roman" panose="02020603050405020304" pitchFamily="18" charset="0"/>
                <a:cs typeface="Times New Roman" panose="02020603050405020304" pitchFamily="18" charset="0"/>
              </a:rPr>
              <a:t>Using Deep Learning Based on Combined Features(2023)</a:t>
            </a:r>
          </a:p>
          <a:p>
            <a:pPr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prediction of diabetic retinopathy severity stages from fundus images is</a:t>
            </a:r>
          </a:p>
          <a:p>
            <a:pPr algn="just"/>
            <a:r>
              <a:rPr lang="en-US" sz="1800" dirty="0">
                <a:latin typeface="Times New Roman" panose="02020603050405020304" pitchFamily="18" charset="0"/>
                <a:cs typeface="Times New Roman" panose="02020603050405020304" pitchFamily="18" charset="0"/>
              </a:rPr>
              <a:t>challenging due to complex retinal feature variations.</a:t>
            </a:r>
          </a:p>
          <a:p>
            <a:pPr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 to extract CNN-based features from fundus images and combines them</a:t>
            </a:r>
          </a:p>
          <a:p>
            <a:pPr algn="just"/>
            <a:r>
              <a:rPr lang="en-US" sz="1800" dirty="0">
                <a:latin typeface="Times New Roman" panose="02020603050405020304" pitchFamily="18" charset="0"/>
                <a:cs typeface="Times New Roman" panose="02020603050405020304" pitchFamily="18" charset="0"/>
              </a:rPr>
              <a:t>with dimensionality reduction for multi-stage DR classification.</a:t>
            </a:r>
          </a:p>
          <a:p>
            <a:pPr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Successfully classifies multiple diabetic retinopathy stages, demonstrating improved</a:t>
            </a:r>
          </a:p>
          <a:p>
            <a:pPr algn="just"/>
            <a:r>
              <a:rPr lang="en-US" sz="1800" dirty="0">
                <a:latin typeface="Times New Roman" panose="02020603050405020304" pitchFamily="18" charset="0"/>
                <a:cs typeface="Times New Roman" panose="02020603050405020304" pitchFamily="18" charset="0"/>
              </a:rPr>
              <a:t>performance over binary detection methods.</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DAC987B-CFD1-3175-AD90-C316EB3AFB2D}"/>
              </a:ext>
            </a:extLst>
          </p:cNvPr>
          <p:cNvSpPr>
            <a:spLocks noGrp="1"/>
          </p:cNvSpPr>
          <p:nvPr>
            <p:ph type="sldNum" idx="14"/>
          </p:nvPr>
        </p:nvSpPr>
        <p:spPr/>
        <p:txBody>
          <a:bodyPr/>
          <a:lstStyle/>
          <a:p>
            <a:pPr>
              <a:defRPr/>
            </a:pPr>
            <a:fld id="{EF26C623-DE27-4A99-8424-AFD36C142E5A}" type="slidenum">
              <a:rPr lang="en-US" altLang="en-US" smtClean="0"/>
              <a:pPr>
                <a:defRPr/>
              </a:pPr>
              <a:t>7</a:t>
            </a:fld>
            <a:endParaRPr lang="en-US" altLang="en-US"/>
          </a:p>
        </p:txBody>
      </p:sp>
    </p:spTree>
    <p:extLst>
      <p:ext uri="{BB962C8B-B14F-4D97-AF65-F5344CB8AC3E}">
        <p14:creationId xmlns:p14="http://schemas.microsoft.com/office/powerpoint/2010/main" val="123864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1F96-9528-340C-5950-F300AE70D7C2}"/>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0405B5CE-242B-760D-AA2C-F4DEC4639A0D}"/>
              </a:ext>
            </a:extLst>
          </p:cNvPr>
          <p:cNvSpPr>
            <a:spLocks noGrp="1"/>
          </p:cNvSpPr>
          <p:nvPr>
            <p:ph type="body" sz="quarter" idx="13"/>
          </p:nvPr>
        </p:nvSpPr>
        <p:spPr/>
        <p:txBody>
          <a:bodyPr/>
          <a:lstStyle/>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[4] Title :Use of Artificial Intelligence with Retinal Imaging in Screening for Diabetes-Associated Complications: A Systematic Review(2025)</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Existing AI-based retinal screening methods are fragmented, and their effectiveness for</a:t>
            </a:r>
          </a:p>
          <a:p>
            <a:pPr algn="just"/>
            <a:r>
              <a:rPr lang="en-US" sz="1800" dirty="0">
                <a:latin typeface="Times New Roman" panose="02020603050405020304" pitchFamily="18" charset="0"/>
                <a:cs typeface="Times New Roman" panose="02020603050405020304" pitchFamily="18" charset="0"/>
              </a:rPr>
              <a:t>detecting diabetes-associated complications is not clearly consolidated.</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Systematically reviews and analyzes published AI models that use retinal imaging to</a:t>
            </a:r>
          </a:p>
          <a:p>
            <a:pPr algn="just"/>
            <a:r>
              <a:rPr lang="en-US" sz="1800" dirty="0">
                <a:latin typeface="Times New Roman" panose="02020603050405020304" pitchFamily="18" charset="0"/>
                <a:cs typeface="Times New Roman" panose="02020603050405020304" pitchFamily="18" charset="0"/>
              </a:rPr>
              <a:t>screen for diabetic complications.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Highlights the potential of fundus images for non-invasive assessment of long-term</a:t>
            </a:r>
          </a:p>
          <a:p>
            <a:pPr algn="just"/>
            <a:r>
              <a:rPr lang="en-US" sz="1800" dirty="0">
                <a:latin typeface="Times New Roman" panose="02020603050405020304" pitchFamily="18" charset="0"/>
                <a:cs typeface="Times New Roman" panose="02020603050405020304" pitchFamily="18" charset="0"/>
              </a:rPr>
              <a:t>diabetic complications and identifies key research gaps.</a:t>
            </a:r>
          </a:p>
          <a:p>
            <a:pPr algn="just"/>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E261DEE-E361-CBFA-B44B-CD23168FDA9E}"/>
              </a:ext>
            </a:extLst>
          </p:cNvPr>
          <p:cNvSpPr>
            <a:spLocks noGrp="1"/>
          </p:cNvSpPr>
          <p:nvPr>
            <p:ph type="sldNum" idx="14"/>
          </p:nvPr>
        </p:nvSpPr>
        <p:spPr/>
        <p:txBody>
          <a:bodyPr/>
          <a:lstStyle/>
          <a:p>
            <a:pPr>
              <a:defRPr/>
            </a:pPr>
            <a:fld id="{EF26C623-DE27-4A99-8424-AFD36C142E5A}" type="slidenum">
              <a:rPr lang="en-US" altLang="en-US" smtClean="0"/>
              <a:pPr>
                <a:defRPr/>
              </a:pPr>
              <a:t>8</a:t>
            </a:fld>
            <a:endParaRPr lang="en-US" altLang="en-US"/>
          </a:p>
        </p:txBody>
      </p:sp>
    </p:spTree>
    <p:extLst>
      <p:ext uri="{BB962C8B-B14F-4D97-AF65-F5344CB8AC3E}">
        <p14:creationId xmlns:p14="http://schemas.microsoft.com/office/powerpoint/2010/main" val="29462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BCAC-ED26-C728-2F0C-015B721BA13B}"/>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FF2855A4-5BBB-AD63-848B-E1200C3FDA31}"/>
              </a:ext>
            </a:extLst>
          </p:cNvPr>
          <p:cNvSpPr>
            <a:spLocks noGrp="1"/>
          </p:cNvSpPr>
          <p:nvPr>
            <p:ph type="body" sz="quarter" idx="13"/>
          </p:nvPr>
        </p:nvSpPr>
        <p:spPr>
          <a:xfrm>
            <a:off x="143669" y="914400"/>
            <a:ext cx="8856662" cy="3748087"/>
          </a:xfrm>
        </p:spPr>
        <p:txBody>
          <a:bodyPr/>
          <a:lstStyle/>
          <a:p>
            <a:pPr algn="just"/>
            <a:r>
              <a:rPr lang="en-US" sz="1800" b="1" dirty="0">
                <a:latin typeface="Times New Roman" panose="02020603050405020304" pitchFamily="18" charset="0"/>
                <a:cs typeface="Times New Roman" panose="02020603050405020304" pitchFamily="18" charset="0"/>
              </a:rPr>
              <a:t>[5]Title :A Lesion-Based Diabetic Retinopathy Detection Through Hybrid</a:t>
            </a:r>
          </a:p>
          <a:p>
            <a:pPr algn="just"/>
            <a:r>
              <a:rPr lang="en-US" sz="1800" b="1" dirty="0">
                <a:latin typeface="Times New Roman" panose="02020603050405020304" pitchFamily="18" charset="0"/>
                <a:cs typeface="Times New Roman" panose="02020603050405020304" pitchFamily="18" charset="0"/>
              </a:rPr>
              <a:t>Deep Learning Model(2024)</a:t>
            </a:r>
          </a:p>
          <a:p>
            <a:pPr marL="228600" indent="0" algn="just"/>
            <a:r>
              <a:rPr lang="en-US" sz="1800" b="1" dirty="0">
                <a:latin typeface="Times New Roman" panose="02020603050405020304" pitchFamily="18" charset="0"/>
                <a:cs typeface="Times New Roman" panose="02020603050405020304" pitchFamily="18" charset="0"/>
              </a:rPr>
              <a:t>Problem:</a:t>
            </a:r>
          </a:p>
          <a:p>
            <a:pPr marL="228600" indent="0" algn="just"/>
            <a:r>
              <a:rPr lang="en-US" sz="1800" dirty="0">
                <a:latin typeface="Times New Roman" panose="02020603050405020304" pitchFamily="18" charset="0"/>
                <a:cs typeface="Times New Roman" panose="02020603050405020304" pitchFamily="18" charset="0"/>
              </a:rPr>
              <a:t>Existing DR detection methods focus on limited early lesions and fail to comprehensively detect all lesion types needed for accurate severity classification.</a:t>
            </a:r>
          </a:p>
          <a:p>
            <a:pPr marL="228600" indent="0" algn="just"/>
            <a:r>
              <a:rPr lang="en-US" sz="1800" b="1" dirty="0">
                <a:latin typeface="Times New Roman" panose="02020603050405020304" pitchFamily="18" charset="0"/>
                <a:cs typeface="Times New Roman" panose="02020603050405020304" pitchFamily="18" charset="0"/>
              </a:rPr>
              <a:t>Approach:</a:t>
            </a:r>
          </a:p>
          <a:p>
            <a:pPr marL="228600" indent="0" algn="just"/>
            <a:r>
              <a:rPr lang="en-US" sz="1800" dirty="0">
                <a:latin typeface="Times New Roman" panose="02020603050405020304" pitchFamily="18" charset="0"/>
                <a:cs typeface="Times New Roman" panose="02020603050405020304" pitchFamily="18" charset="0"/>
              </a:rPr>
              <a:t>Uses a hybrid deep learning model combining </a:t>
            </a:r>
            <a:r>
              <a:rPr lang="en-US" sz="1800" dirty="0" err="1">
                <a:latin typeface="Times New Roman" panose="02020603050405020304" pitchFamily="18" charset="0"/>
                <a:cs typeface="Times New Roman" panose="02020603050405020304" pitchFamily="18" charset="0"/>
              </a:rPr>
              <a:t>GoogleNet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with optimized feature extraction and machine learning classifiers for multi-class DR detection.</a:t>
            </a:r>
          </a:p>
          <a:p>
            <a:pPr marL="228600" indent="0" algn="just"/>
            <a:r>
              <a:rPr lang="en-US" sz="1800" b="1" dirty="0">
                <a:latin typeface="Times New Roman" panose="02020603050405020304" pitchFamily="18" charset="0"/>
                <a:cs typeface="Times New Roman" panose="02020603050405020304" pitchFamily="18" charset="0"/>
              </a:rPr>
              <a:t>Achievement:</a:t>
            </a:r>
          </a:p>
          <a:p>
            <a:pPr marL="228600" indent="0" algn="just"/>
            <a:r>
              <a:rPr lang="en-US" sz="1800" dirty="0">
                <a:latin typeface="Times New Roman" panose="02020603050405020304" pitchFamily="18" charset="0"/>
                <a:cs typeface="Times New Roman" panose="02020603050405020304" pitchFamily="18" charset="0"/>
              </a:rPr>
              <a:t>Achieves high accuracy (up to 94%) and improved precision, recall, and F1-score across multiple diabetic retinopathy severity levels.</a:t>
            </a: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8689D1-CCDC-C8BA-0581-A45BCDA0F507}"/>
              </a:ext>
            </a:extLst>
          </p:cNvPr>
          <p:cNvSpPr>
            <a:spLocks noGrp="1"/>
          </p:cNvSpPr>
          <p:nvPr>
            <p:ph type="sldNum" idx="14"/>
          </p:nvPr>
        </p:nvSpPr>
        <p:spPr/>
        <p:txBody>
          <a:bodyPr/>
          <a:lstStyle/>
          <a:p>
            <a:pPr>
              <a:defRPr/>
            </a:pPr>
            <a:fld id="{EF26C623-DE27-4A99-8424-AFD36C142E5A}" type="slidenum">
              <a:rPr lang="en-US" altLang="en-US" smtClean="0"/>
              <a:pPr>
                <a:defRPr/>
              </a:pPr>
              <a:t>9</a:t>
            </a:fld>
            <a:endParaRPr lang="en-US" altLang="en-US"/>
          </a:p>
        </p:txBody>
      </p:sp>
    </p:spTree>
    <p:extLst>
      <p:ext uri="{BB962C8B-B14F-4D97-AF65-F5344CB8AC3E}">
        <p14:creationId xmlns:p14="http://schemas.microsoft.com/office/powerpoint/2010/main" val="87495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3A42-93D9-F406-21AA-604CDAD712E1}"/>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4A899CB8-044C-C1D3-8C8A-3E948330DCE4}"/>
              </a:ext>
            </a:extLst>
          </p:cNvPr>
          <p:cNvSpPr>
            <a:spLocks noGrp="1"/>
          </p:cNvSpPr>
          <p:nvPr>
            <p:ph type="body" sz="quarter" idx="13"/>
          </p:nvPr>
        </p:nvSpPr>
        <p:spPr>
          <a:xfrm>
            <a:off x="165100" y="914400"/>
            <a:ext cx="8639266" cy="3479800"/>
          </a:xfrm>
        </p:spPr>
        <p:txBody>
          <a:bodyPr/>
          <a:lstStyle/>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[6] Title :Analysis of Diabetic Retinopathy Based on Deep Learning</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analysis of diabetic retinopathy using retinal images is challenging due to the</a:t>
            </a:r>
          </a:p>
          <a:p>
            <a:pPr algn="just"/>
            <a:r>
              <a:rPr lang="en-US" sz="1800" dirty="0">
                <a:latin typeface="Times New Roman" panose="02020603050405020304" pitchFamily="18" charset="0"/>
                <a:cs typeface="Times New Roman" panose="02020603050405020304" pitchFamily="18" charset="0"/>
              </a:rPr>
              <a:t>complexity and variability of retinal features.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Reviews and analyzes deep learning–based methods applied to retinal fundus images for</a:t>
            </a:r>
          </a:p>
          <a:p>
            <a:pPr algn="just"/>
            <a:r>
              <a:rPr lang="en-US" sz="1800" dirty="0">
                <a:latin typeface="Times New Roman" panose="02020603050405020304" pitchFamily="18" charset="0"/>
                <a:cs typeface="Times New Roman" panose="02020603050405020304" pitchFamily="18" charset="0"/>
              </a:rPr>
              <a:t>diabetic retinopathy analysis.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Demonstrates that deep learning techniques effectively improve diabetic retinopathy</a:t>
            </a:r>
          </a:p>
          <a:p>
            <a:pPr algn="just"/>
            <a:r>
              <a:rPr lang="en-US" sz="1800" dirty="0">
                <a:latin typeface="Times New Roman" panose="02020603050405020304" pitchFamily="18" charset="0"/>
                <a:cs typeface="Times New Roman" panose="02020603050405020304" pitchFamily="18" charset="0"/>
              </a:rPr>
              <a:t>detection and analysis from fundus images.</a:t>
            </a:r>
          </a:p>
          <a:p>
            <a:pPr algn="just"/>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2CAE6ED7-9B65-5232-92A2-2764461A9505}"/>
              </a:ext>
            </a:extLst>
          </p:cNvPr>
          <p:cNvSpPr>
            <a:spLocks noGrp="1"/>
          </p:cNvSpPr>
          <p:nvPr>
            <p:ph type="sldNum" idx="14"/>
          </p:nvPr>
        </p:nvSpPr>
        <p:spPr/>
        <p:txBody>
          <a:bodyPr/>
          <a:lstStyle/>
          <a:p>
            <a:pPr>
              <a:defRPr/>
            </a:pPr>
            <a:fld id="{EF26C623-DE27-4A99-8424-AFD36C142E5A}" type="slidenum">
              <a:rPr lang="en-US" altLang="en-US" smtClean="0"/>
              <a:pPr>
                <a:defRPr/>
              </a:pPr>
              <a:t>10</a:t>
            </a:fld>
            <a:endParaRPr lang="en-US" altLang="en-US"/>
          </a:p>
        </p:txBody>
      </p:sp>
    </p:spTree>
    <p:extLst>
      <p:ext uri="{BB962C8B-B14F-4D97-AF65-F5344CB8AC3E}">
        <p14:creationId xmlns:p14="http://schemas.microsoft.com/office/powerpoint/2010/main" val="2495902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42E9-9F5F-C660-988D-66CDBDEED17E}"/>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64B5F353-70C5-CA27-EEE2-1D281B42A642}"/>
              </a:ext>
            </a:extLst>
          </p:cNvPr>
          <p:cNvSpPr>
            <a:spLocks noGrp="1"/>
          </p:cNvSpPr>
          <p:nvPr>
            <p:ph type="body" sz="quarter" idx="13"/>
          </p:nvPr>
        </p:nvSpPr>
        <p:spPr/>
        <p:txBody>
          <a:bodyPr/>
          <a:lstStyle/>
          <a:p>
            <a:pPr algn="just"/>
            <a:r>
              <a:rPr lang="en-US" sz="1800" b="1" dirty="0">
                <a:latin typeface="Times New Roman" panose="02020603050405020304" pitchFamily="18" charset="0"/>
                <a:cs typeface="Times New Roman" panose="02020603050405020304" pitchFamily="18" charset="0"/>
              </a:rPr>
              <a:t>[7] Title :Predicting Systemic Health Features from Retinal Fundus Images</a:t>
            </a:r>
          </a:p>
          <a:p>
            <a:pPr algn="just"/>
            <a:r>
              <a:rPr lang="en-US" sz="1800" b="1" dirty="0">
                <a:latin typeface="Times New Roman" panose="02020603050405020304" pitchFamily="18" charset="0"/>
                <a:cs typeface="Times New Roman" panose="02020603050405020304" pitchFamily="18" charset="0"/>
              </a:rPr>
              <a:t>Using Transfer-Learning-Based Artificial Intelligence Models(2024)</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Assessing systemic health conditions such as diabetes and hypertension usually requires</a:t>
            </a:r>
          </a:p>
          <a:p>
            <a:pPr algn="just"/>
            <a:r>
              <a:rPr lang="en-US" sz="1800" dirty="0">
                <a:latin typeface="Times New Roman" panose="02020603050405020304" pitchFamily="18" charset="0"/>
                <a:cs typeface="Times New Roman" panose="02020603050405020304" pitchFamily="18" charset="0"/>
              </a:rPr>
              <a:t>invasive clinical tests.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transfer learning–based deep learning models trained on retinal fundus images to</a:t>
            </a:r>
          </a:p>
          <a:p>
            <a:pPr algn="just"/>
            <a:r>
              <a:rPr lang="en-US" sz="1800" dirty="0">
                <a:latin typeface="Times New Roman" panose="02020603050405020304" pitchFamily="18" charset="0"/>
                <a:cs typeface="Times New Roman" panose="02020603050405020304" pitchFamily="18" charset="0"/>
              </a:rPr>
              <a:t>predict systemic health indicators.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Shows that retinal fundus images can non-invasively predict long-term systemic health</a:t>
            </a:r>
          </a:p>
          <a:p>
            <a:pPr algn="just"/>
            <a:r>
              <a:rPr lang="en-US" sz="1800" dirty="0">
                <a:latin typeface="Times New Roman" panose="02020603050405020304" pitchFamily="18" charset="0"/>
                <a:cs typeface="Times New Roman" panose="02020603050405020304" pitchFamily="18" charset="0"/>
              </a:rPr>
              <a:t>markers, including diabetes-related indicators.</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160FF937-22DA-351F-3D27-64A8167C2885}"/>
              </a:ext>
            </a:extLst>
          </p:cNvPr>
          <p:cNvSpPr>
            <a:spLocks noGrp="1"/>
          </p:cNvSpPr>
          <p:nvPr>
            <p:ph type="sldNum" idx="14"/>
          </p:nvPr>
        </p:nvSpPr>
        <p:spPr/>
        <p:txBody>
          <a:bodyPr/>
          <a:lstStyle/>
          <a:p>
            <a:pPr>
              <a:defRPr/>
            </a:pPr>
            <a:fld id="{EF26C623-DE27-4A99-8424-AFD36C142E5A}" type="slidenum">
              <a:rPr lang="en-US" altLang="en-US" smtClean="0"/>
              <a:pPr>
                <a:defRPr/>
              </a:pPr>
              <a:t>11</a:t>
            </a:fld>
            <a:endParaRPr lang="en-US" altLang="en-US"/>
          </a:p>
        </p:txBody>
      </p:sp>
    </p:spTree>
    <p:extLst>
      <p:ext uri="{BB962C8B-B14F-4D97-AF65-F5344CB8AC3E}">
        <p14:creationId xmlns:p14="http://schemas.microsoft.com/office/powerpoint/2010/main" val="2017724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0A72-59B9-0CAC-9AC1-B786DA2671D0}"/>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8CC008C4-E649-8A8A-95F9-F19755E11117}"/>
              </a:ext>
            </a:extLst>
          </p:cNvPr>
          <p:cNvSpPr>
            <a:spLocks noGrp="1"/>
          </p:cNvSpPr>
          <p:nvPr>
            <p:ph type="body" sz="quarter" idx="13"/>
          </p:nvPr>
        </p:nvSpPr>
        <p:spPr>
          <a:xfrm>
            <a:off x="165100" y="914399"/>
            <a:ext cx="8917940" cy="3748087"/>
          </a:xfrm>
        </p:spPr>
        <p:txBody>
          <a:bodyPr/>
          <a:lstStyle/>
          <a:p>
            <a:pPr algn="just"/>
            <a:r>
              <a:rPr lang="en-US" sz="1800" b="1" dirty="0">
                <a:latin typeface="Times New Roman" panose="02020603050405020304" pitchFamily="18" charset="0"/>
                <a:cs typeface="Times New Roman" panose="02020603050405020304" pitchFamily="18" charset="0"/>
              </a:rPr>
              <a:t>[8] Title :Predicting Diabetic Retinopathy Development Stages of Fundus</a:t>
            </a:r>
          </a:p>
          <a:p>
            <a:pPr algn="just"/>
            <a:r>
              <a:rPr lang="en-US" sz="1800" b="1" dirty="0">
                <a:latin typeface="Times New Roman" panose="02020603050405020304" pitchFamily="18" charset="0"/>
                <a:cs typeface="Times New Roman" panose="02020603050405020304" pitchFamily="18" charset="0"/>
              </a:rPr>
              <a:t>Images(2024)</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classification of multiple diabetic retinopathy stages from fundus images is</a:t>
            </a:r>
          </a:p>
          <a:p>
            <a:pPr algn="just"/>
            <a:r>
              <a:rPr lang="en-US" sz="1800" dirty="0">
                <a:latin typeface="Times New Roman" panose="02020603050405020304" pitchFamily="18" charset="0"/>
                <a:cs typeface="Times New Roman" panose="02020603050405020304" pitchFamily="18" charset="0"/>
              </a:rPr>
              <a:t>challenging due to complex and diverse retinal features.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hybrid deep learning methods combining CNN-based deep features with handcrafted</a:t>
            </a:r>
          </a:p>
          <a:p>
            <a:pPr algn="just"/>
            <a:r>
              <a:rPr lang="en-US" sz="1800" dirty="0">
                <a:latin typeface="Times New Roman" panose="02020603050405020304" pitchFamily="18" charset="0"/>
                <a:cs typeface="Times New Roman" panose="02020603050405020304" pitchFamily="18" charset="0"/>
              </a:rPr>
              <a:t>features for multi-stage DR classification.</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Achieves very high accuracy in classifying five diabetic retinopathy stages using combined</a:t>
            </a:r>
          </a:p>
          <a:p>
            <a:pPr algn="just"/>
            <a:r>
              <a:rPr lang="en-US" sz="1800" dirty="0">
                <a:latin typeface="Times New Roman" panose="02020603050405020304" pitchFamily="18" charset="0"/>
                <a:cs typeface="Times New Roman" panose="02020603050405020304" pitchFamily="18" charset="0"/>
              </a:rPr>
              <a:t>feature representation.</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EE203C66-FC42-C456-431F-5436CB5CD515}"/>
              </a:ext>
            </a:extLst>
          </p:cNvPr>
          <p:cNvSpPr>
            <a:spLocks noGrp="1"/>
          </p:cNvSpPr>
          <p:nvPr>
            <p:ph type="sldNum" idx="14"/>
          </p:nvPr>
        </p:nvSpPr>
        <p:spPr/>
        <p:txBody>
          <a:bodyPr/>
          <a:lstStyle/>
          <a:p>
            <a:pPr>
              <a:defRPr/>
            </a:pPr>
            <a:fld id="{EF26C623-DE27-4A99-8424-AFD36C142E5A}" type="slidenum">
              <a:rPr lang="en-US" altLang="en-US" smtClean="0"/>
              <a:pPr>
                <a:defRPr/>
              </a:pPr>
              <a:t>12</a:t>
            </a:fld>
            <a:endParaRPr lang="en-US" altLang="en-US"/>
          </a:p>
        </p:txBody>
      </p:sp>
    </p:spTree>
    <p:extLst>
      <p:ext uri="{BB962C8B-B14F-4D97-AF65-F5344CB8AC3E}">
        <p14:creationId xmlns:p14="http://schemas.microsoft.com/office/powerpoint/2010/main" val="3516653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8F9E9-13DF-CFBA-C6EF-CBB317C81D03}"/>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58C0643C-DE90-AC7D-C55C-6DC900411CB3}"/>
              </a:ext>
            </a:extLst>
          </p:cNvPr>
          <p:cNvSpPr>
            <a:spLocks noGrp="1"/>
          </p:cNvSpPr>
          <p:nvPr>
            <p:ph type="body" sz="quarter" idx="13"/>
          </p:nvPr>
        </p:nvSpPr>
        <p:spPr>
          <a:xfrm>
            <a:off x="418306" y="916190"/>
            <a:ext cx="8307387" cy="3479800"/>
          </a:xfrm>
        </p:spPr>
        <p:txBody>
          <a:bodyPr/>
          <a:lstStyle/>
          <a:p>
            <a:pPr algn="just"/>
            <a:r>
              <a:rPr lang="en-US" sz="1800" b="1" dirty="0">
                <a:latin typeface="Times New Roman" panose="02020603050405020304" pitchFamily="18" charset="0"/>
                <a:cs typeface="Times New Roman" panose="02020603050405020304" pitchFamily="18" charset="0"/>
              </a:rPr>
              <a:t>[9] Title :A Deep Learning Model for Screening Type 2 Diabetes from Retinal</a:t>
            </a:r>
          </a:p>
          <a:p>
            <a:pPr algn="just"/>
            <a:r>
              <a:rPr lang="en-US" sz="1800" b="1" dirty="0">
                <a:latin typeface="Times New Roman" panose="02020603050405020304" pitchFamily="18" charset="0"/>
                <a:cs typeface="Times New Roman" panose="02020603050405020304" pitchFamily="18" charset="0"/>
              </a:rPr>
              <a:t>Photographs(2024)</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Early screening of type 2 diabetes usually relies on invasive blood tests and may miss</a:t>
            </a:r>
          </a:p>
          <a:p>
            <a:pPr algn="just"/>
            <a:r>
              <a:rPr lang="en-US" sz="1800" dirty="0">
                <a:latin typeface="Times New Roman" panose="02020603050405020304" pitchFamily="18" charset="0"/>
                <a:cs typeface="Times New Roman" panose="02020603050405020304" pitchFamily="18" charset="0"/>
              </a:rPr>
              <a:t>long-term metabolic patterns.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 models to analyze retinal fundus images for non-invasive</a:t>
            </a:r>
          </a:p>
          <a:p>
            <a:pPr algn="just"/>
            <a:r>
              <a:rPr lang="en-US" sz="1800" dirty="0">
                <a:latin typeface="Times New Roman" panose="02020603050405020304" pitchFamily="18" charset="0"/>
                <a:cs typeface="Times New Roman" panose="02020603050405020304" pitchFamily="18" charset="0"/>
              </a:rPr>
              <a:t>screening of type 2 diabetes.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Demonstrates that fundus images can be used to screen type 2 diabetes and related</a:t>
            </a:r>
          </a:p>
          <a:p>
            <a:pPr algn="just"/>
            <a:r>
              <a:rPr lang="en-US" sz="1800" dirty="0">
                <a:latin typeface="Times New Roman" panose="02020603050405020304" pitchFamily="18" charset="0"/>
                <a:cs typeface="Times New Roman" panose="02020603050405020304" pitchFamily="18" charset="0"/>
              </a:rPr>
              <a:t>metabolic risk factors non-invasively.</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5F83DA23-1826-AD53-3F23-03B753BE6954}"/>
              </a:ext>
            </a:extLst>
          </p:cNvPr>
          <p:cNvSpPr>
            <a:spLocks noGrp="1"/>
          </p:cNvSpPr>
          <p:nvPr>
            <p:ph type="sldNum" idx="14"/>
          </p:nvPr>
        </p:nvSpPr>
        <p:spPr/>
        <p:txBody>
          <a:bodyPr/>
          <a:lstStyle/>
          <a:p>
            <a:pPr>
              <a:defRPr/>
            </a:pPr>
            <a:fld id="{EF26C623-DE27-4A99-8424-AFD36C142E5A}" type="slidenum">
              <a:rPr lang="en-US" altLang="en-US" smtClean="0"/>
              <a:pPr>
                <a:defRPr/>
              </a:pPr>
              <a:t>13</a:t>
            </a:fld>
            <a:endParaRPr lang="en-US" altLang="en-US"/>
          </a:p>
        </p:txBody>
      </p:sp>
    </p:spTree>
    <p:extLst>
      <p:ext uri="{BB962C8B-B14F-4D97-AF65-F5344CB8AC3E}">
        <p14:creationId xmlns:p14="http://schemas.microsoft.com/office/powerpoint/2010/main" val="360905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6984-7695-10B7-E5F0-1BD27F754AB8}"/>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3443CD40-E9CA-12CB-542D-40ABFBAAAC4C}"/>
              </a:ext>
            </a:extLst>
          </p:cNvPr>
          <p:cNvSpPr>
            <a:spLocks noGrp="1"/>
          </p:cNvSpPr>
          <p:nvPr>
            <p:ph type="body" sz="quarter" idx="13"/>
          </p:nvPr>
        </p:nvSpPr>
        <p:spPr>
          <a:xfrm>
            <a:off x="295728" y="916190"/>
            <a:ext cx="8307387" cy="3479800"/>
          </a:xfrm>
        </p:spPr>
        <p:txBody>
          <a:bodyPr/>
          <a:lstStyle/>
          <a:p>
            <a:pPr algn="just"/>
            <a:r>
              <a:rPr lang="en-US" sz="1800" b="1" dirty="0">
                <a:latin typeface="Times New Roman" panose="02020603050405020304" pitchFamily="18" charset="0"/>
                <a:cs typeface="Times New Roman" panose="02020603050405020304" pitchFamily="18" charset="0"/>
              </a:rPr>
              <a:t>[10] Title :Automatic Detection of Microaneurysms in Retinal Fundus Images</a:t>
            </a:r>
          </a:p>
          <a:p>
            <a:pPr algn="just"/>
            <a:r>
              <a:rPr lang="en-US" sz="1800" b="1" dirty="0">
                <a:latin typeface="Times New Roman" panose="02020603050405020304" pitchFamily="18" charset="0"/>
                <a:cs typeface="Times New Roman" panose="02020603050405020304" pitchFamily="18" charset="0"/>
              </a:rPr>
              <a:t>Using Deep Learning</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Early detection of diabetic retinopathy is difficult because microaneurysms are very</a:t>
            </a:r>
          </a:p>
          <a:p>
            <a:pPr algn="just"/>
            <a:r>
              <a:rPr lang="en-US" sz="1800" dirty="0">
                <a:latin typeface="Times New Roman" panose="02020603050405020304" pitchFamily="18" charset="0"/>
                <a:cs typeface="Times New Roman" panose="02020603050405020304" pitchFamily="18" charset="0"/>
              </a:rPr>
              <a:t>small and hard to identify manually in fundus images.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learning–based models to automatically detect microaneurysms from</a:t>
            </a:r>
          </a:p>
          <a:p>
            <a:pPr algn="just"/>
            <a:r>
              <a:rPr lang="en-US" sz="1800" dirty="0">
                <a:latin typeface="Times New Roman" panose="02020603050405020304" pitchFamily="18" charset="0"/>
                <a:cs typeface="Times New Roman" panose="02020603050405020304" pitchFamily="18" charset="0"/>
              </a:rPr>
              <a:t>retinal fundus images.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Improves early diabetic retinopathy detection accuracy by reliably identifying</a:t>
            </a:r>
          </a:p>
          <a:p>
            <a:pPr algn="just"/>
            <a:r>
              <a:rPr lang="en-US" sz="1800" dirty="0">
                <a:latin typeface="Times New Roman" panose="02020603050405020304" pitchFamily="18" charset="0"/>
                <a:cs typeface="Times New Roman" panose="02020603050405020304" pitchFamily="18" charset="0"/>
              </a:rPr>
              <a:t>microaneurysms.</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dirty="0"/>
          </a:p>
        </p:txBody>
      </p:sp>
      <p:sp>
        <p:nvSpPr>
          <p:cNvPr id="4" name="Slide Number Placeholder 3">
            <a:extLst>
              <a:ext uri="{FF2B5EF4-FFF2-40B4-BE49-F238E27FC236}">
                <a16:creationId xmlns:a16="http://schemas.microsoft.com/office/drawing/2014/main" id="{A8E77E0E-9005-79F6-BECE-699E93AC2D93}"/>
              </a:ext>
            </a:extLst>
          </p:cNvPr>
          <p:cNvSpPr>
            <a:spLocks noGrp="1"/>
          </p:cNvSpPr>
          <p:nvPr>
            <p:ph type="sldNum" idx="14"/>
          </p:nvPr>
        </p:nvSpPr>
        <p:spPr/>
        <p:txBody>
          <a:bodyPr/>
          <a:lstStyle/>
          <a:p>
            <a:pPr>
              <a:defRPr/>
            </a:pPr>
            <a:fld id="{EF26C623-DE27-4A99-8424-AFD36C142E5A}" type="slidenum">
              <a:rPr lang="en-US" altLang="en-US" smtClean="0"/>
              <a:pPr>
                <a:defRPr/>
              </a:pPr>
              <a:t>14</a:t>
            </a:fld>
            <a:endParaRPr lang="en-US" altLang="en-US"/>
          </a:p>
        </p:txBody>
      </p:sp>
    </p:spTree>
    <p:extLst>
      <p:ext uri="{BB962C8B-B14F-4D97-AF65-F5344CB8AC3E}">
        <p14:creationId xmlns:p14="http://schemas.microsoft.com/office/powerpoint/2010/main" val="263048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E59E-1471-3092-E172-784AF4FD655A}"/>
              </a:ext>
            </a:extLst>
          </p:cNvPr>
          <p:cNvSpPr>
            <a:spLocks noGrp="1"/>
          </p:cNvSpPr>
          <p:nvPr>
            <p:ph type="ctrTitle"/>
          </p:nvPr>
        </p:nvSpPr>
        <p:spPr>
          <a:xfrm>
            <a:off x="0" y="0"/>
            <a:ext cx="9144000" cy="649288"/>
          </a:xfrm>
        </p:spPr>
        <p:txBody>
          <a:bodyPr>
            <a:normAutofit fontScale="90000"/>
          </a:bodyPr>
          <a:lstStyle/>
          <a:p>
            <a:pPr>
              <a:buClr>
                <a:schemeClr val="dk1"/>
              </a:buClr>
              <a:defRPr/>
            </a:pPr>
            <a:r>
              <a:rPr lang="en-US" dirty="0">
                <a:solidFill>
                  <a:schemeClr val="dk1"/>
                </a:solidFill>
                <a:latin typeface="Times New Roman" panose="02020603050405020304" pitchFamily="18" charset="0"/>
                <a:cs typeface="Times New Roman" panose="02020603050405020304" pitchFamily="18" charset="0"/>
                <a:sym typeface="Arial"/>
              </a:rPr>
              <a:t>Literature Review </a:t>
            </a:r>
            <a:r>
              <a:rPr lang="en-US" dirty="0">
                <a:solidFill>
                  <a:schemeClr val="dk1"/>
                </a:solidFill>
                <a:latin typeface="Times New Roman" panose="02020603050405020304" pitchFamily="18" charset="0"/>
                <a:cs typeface="Times New Roman" panose="02020603050405020304" pitchFamily="18" charset="0"/>
              </a:rPr>
              <a:t>Summary</a:t>
            </a:r>
            <a:endParaRPr lang="en-US" dirty="0">
              <a:solidFill>
                <a:schemeClr val="dk1"/>
              </a:solidFill>
              <a:latin typeface="Times New Roman" panose="02020603050405020304" pitchFamily="18" charset="0"/>
              <a:cs typeface="Times New Roman" panose="02020603050405020304" pitchFamily="18" charset="0"/>
              <a:sym typeface="Arial"/>
            </a:endParaRPr>
          </a:p>
        </p:txBody>
      </p:sp>
      <p:sp>
        <p:nvSpPr>
          <p:cNvPr id="9219" name="Slide Number Placeholder 2">
            <a:extLst>
              <a:ext uri="{FF2B5EF4-FFF2-40B4-BE49-F238E27FC236}">
                <a16:creationId xmlns:a16="http://schemas.microsoft.com/office/drawing/2014/main" id="{3115DD56-608E-6233-B559-288E13D4254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15</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951B64F4-5B40-3328-32DC-FDAB01F24396}"/>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3" name="Table 2">
            <a:extLst>
              <a:ext uri="{FF2B5EF4-FFF2-40B4-BE49-F238E27FC236}">
                <a16:creationId xmlns:a16="http://schemas.microsoft.com/office/drawing/2014/main" id="{6BEC0A26-BA6C-66A5-64B0-20F89C5D3883}"/>
              </a:ext>
            </a:extLst>
          </p:cNvPr>
          <p:cNvGraphicFramePr>
            <a:graphicFrameLocks noGrp="1"/>
          </p:cNvGraphicFramePr>
          <p:nvPr>
            <p:extLst>
              <p:ext uri="{D42A27DB-BD31-4B8C-83A1-F6EECF244321}">
                <p14:modId xmlns:p14="http://schemas.microsoft.com/office/powerpoint/2010/main" val="4126328535"/>
              </p:ext>
            </p:extLst>
          </p:nvPr>
        </p:nvGraphicFramePr>
        <p:xfrm>
          <a:off x="165100" y="736385"/>
          <a:ext cx="8911445" cy="3935727"/>
        </p:xfrm>
        <a:graphic>
          <a:graphicData uri="http://schemas.openxmlformats.org/drawingml/2006/table">
            <a:tbl>
              <a:tblPr firstRow="1" bandRow="1">
                <a:tableStyleId>{5C22544A-7EE6-4342-B048-85BDC9FD1C3A}</a:tableStyleId>
              </a:tblPr>
              <a:tblGrid>
                <a:gridCol w="783179">
                  <a:extLst>
                    <a:ext uri="{9D8B030D-6E8A-4147-A177-3AD203B41FA5}">
                      <a16:colId xmlns:a16="http://schemas.microsoft.com/office/drawing/2014/main" val="20000"/>
                    </a:ext>
                  </a:extLst>
                </a:gridCol>
                <a:gridCol w="1090976">
                  <a:extLst>
                    <a:ext uri="{9D8B030D-6E8A-4147-A177-3AD203B41FA5}">
                      <a16:colId xmlns:a16="http://schemas.microsoft.com/office/drawing/2014/main" val="20001"/>
                    </a:ext>
                  </a:extLst>
                </a:gridCol>
                <a:gridCol w="1098979">
                  <a:extLst>
                    <a:ext uri="{9D8B030D-6E8A-4147-A177-3AD203B41FA5}">
                      <a16:colId xmlns:a16="http://schemas.microsoft.com/office/drawing/2014/main" val="20002"/>
                    </a:ext>
                  </a:extLst>
                </a:gridCol>
                <a:gridCol w="952332">
                  <a:extLst>
                    <a:ext uri="{9D8B030D-6E8A-4147-A177-3AD203B41FA5}">
                      <a16:colId xmlns:a16="http://schemas.microsoft.com/office/drawing/2014/main" val="20003"/>
                    </a:ext>
                  </a:extLst>
                </a:gridCol>
                <a:gridCol w="1028323">
                  <a:extLst>
                    <a:ext uri="{9D8B030D-6E8A-4147-A177-3AD203B41FA5}">
                      <a16:colId xmlns:a16="http://schemas.microsoft.com/office/drawing/2014/main" val="20004"/>
                    </a:ext>
                  </a:extLst>
                </a:gridCol>
                <a:gridCol w="993294">
                  <a:extLst>
                    <a:ext uri="{9D8B030D-6E8A-4147-A177-3AD203B41FA5}">
                      <a16:colId xmlns:a16="http://schemas.microsoft.com/office/drawing/2014/main" val="20005"/>
                    </a:ext>
                  </a:extLst>
                </a:gridCol>
                <a:gridCol w="985534">
                  <a:extLst>
                    <a:ext uri="{9D8B030D-6E8A-4147-A177-3AD203B41FA5}">
                      <a16:colId xmlns:a16="http://schemas.microsoft.com/office/drawing/2014/main" val="20006"/>
                    </a:ext>
                  </a:extLst>
                </a:gridCol>
                <a:gridCol w="989414">
                  <a:extLst>
                    <a:ext uri="{9D8B030D-6E8A-4147-A177-3AD203B41FA5}">
                      <a16:colId xmlns:a16="http://schemas.microsoft.com/office/drawing/2014/main" val="20007"/>
                    </a:ext>
                  </a:extLst>
                </a:gridCol>
                <a:gridCol w="989414">
                  <a:extLst>
                    <a:ext uri="{9D8B030D-6E8A-4147-A177-3AD203B41FA5}">
                      <a16:colId xmlns:a16="http://schemas.microsoft.com/office/drawing/2014/main" val="20008"/>
                    </a:ext>
                  </a:extLst>
                </a:gridCol>
              </a:tblGrid>
              <a:tr h="14304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835086">
                <a:tc>
                  <a:txBody>
                    <a:bodyPr/>
                    <a:lstStyle/>
                    <a:p>
                      <a:r>
                        <a:rPr lang="en-US" sz="800" dirty="0"/>
                        <a:t>[1] A Lightweight Classification System for Early DR (2025)</a:t>
                      </a:r>
                    </a:p>
                  </a:txBody>
                  <a:tcPr/>
                </a:tc>
                <a:tc>
                  <a:txBody>
                    <a:bodyPr/>
                    <a:lstStyle/>
                    <a:p>
                      <a:r>
                        <a:rPr lang="en-US" sz="800" dirty="0"/>
                        <a:t>Early detection of diabetic retinopathy using low-complexity systems</a:t>
                      </a:r>
                    </a:p>
                  </a:txBody>
                  <a:tcPr/>
                </a:tc>
                <a:tc>
                  <a:txBody>
                    <a:bodyPr/>
                    <a:lstStyle/>
                    <a:p>
                      <a:r>
                        <a:rPr lang="en-US" sz="800" dirty="0"/>
                        <a:t>Image processing + ML-based feature extraction</a:t>
                      </a:r>
                    </a:p>
                  </a:txBody>
                  <a:tcPr/>
                </a:tc>
                <a:tc>
                  <a:txBody>
                    <a:bodyPr/>
                    <a:lstStyle/>
                    <a:p>
                      <a:r>
                        <a:rPr lang="en-IN" sz="800" dirty="0"/>
                        <a:t>Efficient early DR detection</a:t>
                      </a:r>
                      <a:endParaRPr lang="en-US" sz="800" dirty="0"/>
                    </a:p>
                  </a:txBody>
                  <a:tcPr/>
                </a:tc>
                <a:tc>
                  <a:txBody>
                    <a:bodyPr/>
                    <a:lstStyle/>
                    <a:p>
                      <a:r>
                        <a:rPr lang="en-US" sz="800" b="0" dirty="0"/>
                        <a:t>Forms the base paper for lesion extraction</a:t>
                      </a:r>
                    </a:p>
                  </a:txBody>
                  <a:tcPr/>
                </a:tc>
                <a:tc>
                  <a:txBody>
                    <a:bodyPr/>
                    <a:lstStyle/>
                    <a:p>
                      <a:r>
                        <a:rPr lang="en-IN" sz="800" dirty="0"/>
                        <a:t>Morphological ops, ML classifiers</a:t>
                      </a:r>
                      <a:endParaRPr lang="en-US" sz="800" dirty="0"/>
                    </a:p>
                  </a:txBody>
                  <a:tcPr/>
                </a:tc>
                <a:tc>
                  <a:txBody>
                    <a:bodyPr/>
                    <a:lstStyle/>
                    <a:p>
                      <a:r>
                        <a:rPr lang="en-US" sz="800" dirty="0"/>
                        <a:t>High accuracy for binary DR</a:t>
                      </a:r>
                    </a:p>
                    <a:p>
                      <a:r>
                        <a:rPr lang="en-IN" sz="800" b="0" dirty="0"/>
                        <a:t>Accuracy: 96–98%</a:t>
                      </a:r>
                      <a:endParaRPr lang="en-US" sz="800" b="0" dirty="0"/>
                    </a:p>
                  </a:txBody>
                  <a:tcPr/>
                </a:tc>
                <a:tc>
                  <a:txBody>
                    <a:bodyPr/>
                    <a:lstStyle/>
                    <a:p>
                      <a:r>
                        <a:rPr lang="en-IN" sz="800" dirty="0"/>
                        <a:t>Lightweight, low cost</a:t>
                      </a:r>
                      <a:endParaRPr lang="en-US" sz="800" dirty="0"/>
                    </a:p>
                  </a:txBody>
                  <a:tcPr/>
                </a:tc>
                <a:tc>
                  <a:txBody>
                    <a:bodyPr/>
                    <a:lstStyle/>
                    <a:p>
                      <a:r>
                        <a:rPr lang="en-US" sz="800" dirty="0"/>
                        <a:t>Binary output, no severity or macular analysis</a:t>
                      </a:r>
                    </a:p>
                  </a:txBody>
                  <a:tcPr/>
                </a:tc>
                <a:extLst>
                  <a:ext uri="{0D108BD9-81ED-4DB2-BD59-A6C34878D82A}">
                    <a16:rowId xmlns:a16="http://schemas.microsoft.com/office/drawing/2014/main" val="10001"/>
                  </a:ext>
                </a:extLst>
              </a:tr>
              <a:tr h="835086">
                <a:tc>
                  <a:txBody>
                    <a:bodyPr/>
                    <a:lstStyle/>
                    <a:p>
                      <a:r>
                        <a:rPr lang="en-US" sz="800" dirty="0"/>
                        <a:t>[2] </a:t>
                      </a:r>
                      <a:r>
                        <a:rPr lang="en-US" sz="800" dirty="0" err="1"/>
                        <a:t>DeepDR</a:t>
                      </a:r>
                      <a:r>
                        <a:rPr lang="en-US" sz="800" dirty="0"/>
                        <a:t> Plus: Predicting Time to DR Progression (2024)</a:t>
                      </a:r>
                    </a:p>
                  </a:txBody>
                  <a:tcPr/>
                </a:tc>
                <a:tc>
                  <a:txBody>
                    <a:bodyPr/>
                    <a:lstStyle/>
                    <a:p>
                      <a:r>
                        <a:rPr lang="en-IN" sz="800" dirty="0"/>
                        <a:t>Predict future DR progression timelines</a:t>
                      </a:r>
                      <a:endParaRPr lang="en-US" sz="800" dirty="0"/>
                    </a:p>
                  </a:txBody>
                  <a:tcPr/>
                </a:tc>
                <a:tc>
                  <a:txBody>
                    <a:bodyPr/>
                    <a:lstStyle/>
                    <a:p>
                      <a:r>
                        <a:rPr lang="en-US" sz="800" dirty="0"/>
                        <a:t>Deep learning on longitudinal fundus images</a:t>
                      </a:r>
                    </a:p>
                  </a:txBody>
                  <a:tcPr/>
                </a:tc>
                <a:tc>
                  <a:txBody>
                    <a:bodyPr/>
                    <a:lstStyle/>
                    <a:p>
                      <a:pPr>
                        <a:buNone/>
                      </a:pPr>
                      <a:r>
                        <a:rPr lang="en-US" sz="800" dirty="0"/>
                        <a:t>Accurate prediction of DR progression</a:t>
                      </a:r>
                    </a:p>
                  </a:txBody>
                  <a:tcPr anchor="ctr"/>
                </a:tc>
                <a:tc>
                  <a:txBody>
                    <a:bodyPr/>
                    <a:lstStyle/>
                    <a:p>
                      <a:r>
                        <a:rPr lang="en-IN" sz="800" b="0" dirty="0"/>
                        <a:t>Supports progression-based analysis</a:t>
                      </a:r>
                      <a:endParaRPr lang="en-US" sz="800" b="0" dirty="0"/>
                    </a:p>
                  </a:txBody>
                  <a:tcPr/>
                </a:tc>
                <a:tc>
                  <a:txBody>
                    <a:bodyPr/>
                    <a:lstStyle/>
                    <a:p>
                      <a:r>
                        <a:rPr lang="en-IN" sz="800" dirty="0"/>
                        <a:t>CNN-based DL</a:t>
                      </a:r>
                      <a:endParaRPr lang="en-US" sz="800" dirty="0"/>
                    </a:p>
                  </a:txBody>
                  <a:tcPr/>
                </a:tc>
                <a:tc>
                  <a:txBody>
                    <a:bodyPr/>
                    <a:lstStyle/>
                    <a:p>
                      <a:r>
                        <a:rPr lang="en-IN" sz="800" b="0" dirty="0"/>
                        <a:t>Accuracy: 94–97%</a:t>
                      </a:r>
                      <a:endParaRPr lang="en-US" sz="800" b="0" dirty="0"/>
                    </a:p>
                  </a:txBody>
                  <a:tcPr/>
                </a:tc>
                <a:tc>
                  <a:txBody>
                    <a:bodyPr/>
                    <a:lstStyle/>
                    <a:p>
                      <a:r>
                        <a:rPr lang="en-IN" sz="800" dirty="0"/>
                        <a:t>Personalized screening</a:t>
                      </a:r>
                      <a:endParaRPr lang="en-US" sz="800" dirty="0"/>
                    </a:p>
                  </a:txBody>
                  <a:tcPr/>
                </a:tc>
                <a:tc>
                  <a:txBody>
                    <a:bodyPr/>
                    <a:lstStyle/>
                    <a:p>
                      <a:r>
                        <a:rPr lang="en-IN" sz="800" dirty="0"/>
                        <a:t>Black-box, no lesion explainability</a:t>
                      </a:r>
                      <a:endParaRPr lang="en-US" sz="800" dirty="0"/>
                    </a:p>
                  </a:txBody>
                  <a:tcPr/>
                </a:tc>
                <a:extLst>
                  <a:ext uri="{0D108BD9-81ED-4DB2-BD59-A6C34878D82A}">
                    <a16:rowId xmlns:a16="http://schemas.microsoft.com/office/drawing/2014/main" val="10002"/>
                  </a:ext>
                </a:extLst>
              </a:tr>
              <a:tr h="835086">
                <a:tc>
                  <a:txBody>
                    <a:bodyPr/>
                    <a:lstStyle/>
                    <a:p>
                      <a:r>
                        <a:rPr lang="en-IN" sz="800" dirty="0"/>
                        <a:t>[3] Diabetes Detection from Non-DR Fundus Images (2024)</a:t>
                      </a:r>
                      <a:endParaRPr lang="en-US" sz="800" dirty="0"/>
                    </a:p>
                  </a:txBody>
                  <a:tcPr/>
                </a:tc>
                <a:tc>
                  <a:txBody>
                    <a:bodyPr/>
                    <a:lstStyle/>
                    <a:p>
                      <a:r>
                        <a:rPr lang="en-US" sz="800" dirty="0"/>
                        <a:t>Detect diabetes without visible DR</a:t>
                      </a:r>
                    </a:p>
                  </a:txBody>
                  <a:tcPr/>
                </a:tc>
                <a:tc>
                  <a:txBody>
                    <a:bodyPr/>
                    <a:lstStyle/>
                    <a:p>
                      <a:r>
                        <a:rPr lang="en-IN" sz="800" dirty="0"/>
                        <a:t>Deep learning classification</a:t>
                      </a:r>
                      <a:endParaRPr lang="en-US" sz="800" dirty="0"/>
                    </a:p>
                  </a:txBody>
                  <a:tcPr/>
                </a:tc>
                <a:tc>
                  <a:txBody>
                    <a:bodyPr/>
                    <a:lstStyle/>
                    <a:p>
                      <a:r>
                        <a:rPr lang="en-IN" sz="800" dirty="0"/>
                        <a:t>Retina shows diabetes biomarkers</a:t>
                      </a:r>
                      <a:endParaRPr lang="en-US" sz="800" dirty="0"/>
                    </a:p>
                  </a:txBody>
                  <a:tcPr/>
                </a:tc>
                <a:tc>
                  <a:txBody>
                    <a:bodyPr/>
                    <a:lstStyle/>
                    <a:p>
                      <a:r>
                        <a:rPr lang="en-IN" sz="800" b="0" dirty="0"/>
                        <a:t>Justifies diabetes severity estimation</a:t>
                      </a:r>
                      <a:endParaRPr lang="en-US" sz="800" b="0" dirty="0"/>
                    </a:p>
                  </a:txBody>
                  <a:tcPr/>
                </a:tc>
                <a:tc>
                  <a:txBody>
                    <a:bodyPr/>
                    <a:lstStyle/>
                    <a:p>
                      <a:r>
                        <a:rPr lang="en-IN" sz="800" dirty="0"/>
                        <a:t>CNN</a:t>
                      </a:r>
                      <a:endParaRPr lang="en-US" sz="800" dirty="0"/>
                    </a:p>
                  </a:txBody>
                  <a:tcPr/>
                </a:tc>
                <a:tc>
                  <a:txBody>
                    <a:bodyPr/>
                    <a:lstStyle/>
                    <a:p>
                      <a:r>
                        <a:rPr lang="en-IN" sz="800" b="0" dirty="0"/>
                        <a:t>Accuracy: 95–98%</a:t>
                      </a:r>
                      <a:endParaRPr lang="en-US" sz="800" b="0" dirty="0"/>
                    </a:p>
                  </a:txBody>
                  <a:tcPr/>
                </a:tc>
                <a:tc>
                  <a:txBody>
                    <a:bodyPr/>
                    <a:lstStyle/>
                    <a:p>
                      <a:r>
                        <a:rPr lang="en-IN" sz="800" b="0" dirty="0"/>
                        <a:t>Non-invasive screening</a:t>
                      </a:r>
                      <a:endParaRPr lang="en-US" sz="800" b="0" dirty="0"/>
                    </a:p>
                  </a:txBody>
                  <a:tcPr/>
                </a:tc>
                <a:tc>
                  <a:txBody>
                    <a:bodyPr/>
                    <a:lstStyle/>
                    <a:p>
                      <a:r>
                        <a:rPr lang="en-US" sz="800" dirty="0"/>
                        <a:t>No lesion or spatial analysis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7283C-9F8D-7284-5C6C-6BA5B317F5A4}"/>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Summary(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B1632A61-26C8-857E-D92E-E10342DCBF20}"/>
              </a:ext>
            </a:extLst>
          </p:cNvPr>
          <p:cNvSpPr>
            <a:spLocks noGrp="1"/>
          </p:cNvSpPr>
          <p:nvPr>
            <p:ph type="body" sz="quarter" idx="13"/>
          </p:nvPr>
        </p:nvSpPr>
        <p:spPr/>
        <p:txBody>
          <a:bodyPr/>
          <a:lstStyle/>
          <a:p>
            <a:endParaRPr lang="en-IN" dirty="0"/>
          </a:p>
        </p:txBody>
      </p:sp>
      <p:sp>
        <p:nvSpPr>
          <p:cNvPr id="4" name="Slide Number Placeholder 3">
            <a:extLst>
              <a:ext uri="{FF2B5EF4-FFF2-40B4-BE49-F238E27FC236}">
                <a16:creationId xmlns:a16="http://schemas.microsoft.com/office/drawing/2014/main" id="{40CE238F-B370-BCB2-6021-E178430C45D8}"/>
              </a:ext>
            </a:extLst>
          </p:cNvPr>
          <p:cNvSpPr>
            <a:spLocks noGrp="1"/>
          </p:cNvSpPr>
          <p:nvPr>
            <p:ph type="sldNum" idx="14"/>
          </p:nvPr>
        </p:nvSpPr>
        <p:spPr/>
        <p:txBody>
          <a:bodyPr/>
          <a:lstStyle/>
          <a:p>
            <a:pPr>
              <a:defRPr/>
            </a:pPr>
            <a:fld id="{EF26C623-DE27-4A99-8424-AFD36C142E5A}" type="slidenum">
              <a:rPr lang="en-US" altLang="en-US" smtClean="0"/>
              <a:pPr>
                <a:defRPr/>
              </a:pPr>
              <a:t>16</a:t>
            </a:fld>
            <a:endParaRPr lang="en-US" altLang="en-US"/>
          </a:p>
        </p:txBody>
      </p:sp>
      <p:graphicFrame>
        <p:nvGraphicFramePr>
          <p:cNvPr id="7" name="Table 6">
            <a:extLst>
              <a:ext uri="{FF2B5EF4-FFF2-40B4-BE49-F238E27FC236}">
                <a16:creationId xmlns:a16="http://schemas.microsoft.com/office/drawing/2014/main" id="{CBFC0FB3-0B51-9FA2-02D6-F15F87D0973C}"/>
              </a:ext>
            </a:extLst>
          </p:cNvPr>
          <p:cNvGraphicFramePr>
            <a:graphicFrameLocks noGrp="1"/>
          </p:cNvGraphicFramePr>
          <p:nvPr>
            <p:extLst>
              <p:ext uri="{D42A27DB-BD31-4B8C-83A1-F6EECF244321}">
                <p14:modId xmlns:p14="http://schemas.microsoft.com/office/powerpoint/2010/main" val="951167397"/>
              </p:ext>
            </p:extLst>
          </p:nvPr>
        </p:nvGraphicFramePr>
        <p:xfrm>
          <a:off x="114300" y="499043"/>
          <a:ext cx="8813800" cy="4546625"/>
        </p:xfrm>
        <a:graphic>
          <a:graphicData uri="http://schemas.openxmlformats.org/drawingml/2006/table">
            <a:tbl>
              <a:tblPr firstRow="1" bandRow="1">
                <a:tableStyleId>{5C22544A-7EE6-4342-B048-85BDC9FD1C3A}</a:tableStyleId>
              </a:tblPr>
              <a:tblGrid>
                <a:gridCol w="758609">
                  <a:extLst>
                    <a:ext uri="{9D8B030D-6E8A-4147-A177-3AD203B41FA5}">
                      <a16:colId xmlns:a16="http://schemas.microsoft.com/office/drawing/2014/main" val="20000"/>
                    </a:ext>
                  </a:extLst>
                </a:gridCol>
                <a:gridCol w="1081168">
                  <a:extLst>
                    <a:ext uri="{9D8B030D-6E8A-4147-A177-3AD203B41FA5}">
                      <a16:colId xmlns:a16="http://schemas.microsoft.com/office/drawing/2014/main" val="20001"/>
                    </a:ext>
                  </a:extLst>
                </a:gridCol>
                <a:gridCol w="1087506">
                  <a:extLst>
                    <a:ext uri="{9D8B030D-6E8A-4147-A177-3AD203B41FA5}">
                      <a16:colId xmlns:a16="http://schemas.microsoft.com/office/drawing/2014/main" val="20002"/>
                    </a:ext>
                  </a:extLst>
                </a:gridCol>
                <a:gridCol w="983922">
                  <a:extLst>
                    <a:ext uri="{9D8B030D-6E8A-4147-A177-3AD203B41FA5}">
                      <a16:colId xmlns:a16="http://schemas.microsoft.com/office/drawing/2014/main" val="20003"/>
                    </a:ext>
                  </a:extLst>
                </a:gridCol>
                <a:gridCol w="980519">
                  <a:extLst>
                    <a:ext uri="{9D8B030D-6E8A-4147-A177-3AD203B41FA5}">
                      <a16:colId xmlns:a16="http://schemas.microsoft.com/office/drawing/2014/main" val="20004"/>
                    </a:ext>
                  </a:extLst>
                </a:gridCol>
                <a:gridCol w="980519">
                  <a:extLst>
                    <a:ext uri="{9D8B030D-6E8A-4147-A177-3AD203B41FA5}">
                      <a16:colId xmlns:a16="http://schemas.microsoft.com/office/drawing/2014/main" val="20005"/>
                    </a:ext>
                  </a:extLst>
                </a:gridCol>
                <a:gridCol w="980519">
                  <a:extLst>
                    <a:ext uri="{9D8B030D-6E8A-4147-A177-3AD203B41FA5}">
                      <a16:colId xmlns:a16="http://schemas.microsoft.com/office/drawing/2014/main" val="20006"/>
                    </a:ext>
                  </a:extLst>
                </a:gridCol>
                <a:gridCol w="980519">
                  <a:extLst>
                    <a:ext uri="{9D8B030D-6E8A-4147-A177-3AD203B41FA5}">
                      <a16:colId xmlns:a16="http://schemas.microsoft.com/office/drawing/2014/main" val="20007"/>
                    </a:ext>
                  </a:extLst>
                </a:gridCol>
                <a:gridCol w="980519">
                  <a:extLst>
                    <a:ext uri="{9D8B030D-6E8A-4147-A177-3AD203B41FA5}">
                      <a16:colId xmlns:a16="http://schemas.microsoft.com/office/drawing/2014/main" val="20008"/>
                    </a:ext>
                  </a:extLst>
                </a:gridCol>
              </a:tblGrid>
              <a:tr h="14346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961618">
                <a:tc>
                  <a:txBody>
                    <a:bodyPr/>
                    <a:lstStyle/>
                    <a:p>
                      <a:r>
                        <a:rPr lang="en-US" sz="800" dirty="0"/>
                        <a:t>[4] Predicting DR Stages Using Combined Features (2023)</a:t>
                      </a:r>
                      <a:endParaRPr lang="en-US" sz="800" b="0" dirty="0"/>
                    </a:p>
                  </a:txBody>
                  <a:tcPr/>
                </a:tc>
                <a:tc>
                  <a:txBody>
                    <a:bodyPr/>
                    <a:lstStyle/>
                    <a:p>
                      <a:r>
                        <a:rPr lang="en-IN" sz="800" dirty="0"/>
                        <a:t>Multi-stage DR classification</a:t>
                      </a:r>
                      <a:endParaRPr lang="en-US" sz="800" b="0" dirty="0"/>
                    </a:p>
                  </a:txBody>
                  <a:tcPr/>
                </a:tc>
                <a:tc>
                  <a:txBody>
                    <a:bodyPr/>
                    <a:lstStyle/>
                    <a:p>
                      <a:r>
                        <a:rPr lang="en-IN" sz="800" dirty="0"/>
                        <a:t>CNN + handcrafted features</a:t>
                      </a:r>
                      <a:endParaRPr lang="en-US" sz="8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t>High accuracy for DR stages</a:t>
                      </a:r>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a:t>Supports beyond-binary classification</a:t>
                      </a:r>
                      <a:endParaRPr lang="en-US" sz="800" b="0" dirty="0"/>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err="1"/>
                        <a:t>DenseNet</a:t>
                      </a:r>
                      <a:r>
                        <a:rPr lang="en-IN" sz="800" b="0" dirty="0"/>
                        <a:t>, </a:t>
                      </a:r>
                      <a:r>
                        <a:rPr lang="en-IN" sz="800" b="0" dirty="0" err="1"/>
                        <a:t>AlexNet</a:t>
                      </a:r>
                      <a:r>
                        <a:rPr lang="en-IN" sz="800" b="0" dirty="0"/>
                        <a:t>, ANN</a:t>
                      </a:r>
                      <a:endParaRPr lang="en-US" sz="800" b="0" dirty="0"/>
                    </a:p>
                    <a:p>
                      <a:endParaRPr lang="en-US" sz="800" b="0" dirty="0"/>
                    </a:p>
                  </a:txBody>
                  <a:tcPr/>
                </a:tc>
                <a:tc>
                  <a:txBody>
                    <a:bodyPr/>
                    <a:lstStyle/>
                    <a:p>
                      <a:r>
                        <a:rPr lang="en-IN" sz="800" dirty="0"/>
                        <a:t>Up to 99%</a:t>
                      </a:r>
                      <a:endParaRPr lang="en-US" sz="800" dirty="0"/>
                    </a:p>
                  </a:txBody>
                  <a:tcPr/>
                </a:tc>
                <a:tc>
                  <a:txBody>
                    <a:bodyPr/>
                    <a:lstStyle/>
                    <a:p>
                      <a:r>
                        <a:rPr lang="en-IN" sz="800" dirty="0"/>
                        <a:t>Multi-stage output</a:t>
                      </a:r>
                      <a:endParaRPr lang="en-US" sz="800" dirty="0"/>
                    </a:p>
                  </a:txBody>
                  <a:tcPr/>
                </a:tc>
                <a:tc>
                  <a:txBody>
                    <a:bodyPr/>
                    <a:lstStyle/>
                    <a:p>
                      <a:r>
                        <a:rPr lang="en-US" sz="800" dirty="0"/>
                        <a:t>No macular risk or lesion location</a:t>
                      </a:r>
                    </a:p>
                  </a:txBody>
                  <a:tcPr/>
                </a:tc>
                <a:extLst>
                  <a:ext uri="{0D108BD9-81ED-4DB2-BD59-A6C34878D82A}">
                    <a16:rowId xmlns:a16="http://schemas.microsoft.com/office/drawing/2014/main" val="10001"/>
                  </a:ext>
                </a:extLst>
              </a:tr>
              <a:tr h="837538">
                <a:tc>
                  <a:txBody>
                    <a:bodyPr/>
                    <a:lstStyle/>
                    <a:p>
                      <a:pPr algn="l"/>
                      <a:r>
                        <a:rPr lang="en-US" sz="800" b="0" dirty="0"/>
                        <a:t>[5] </a:t>
                      </a:r>
                      <a:r>
                        <a:rPr lang="en-US" sz="800" dirty="0">
                          <a:latin typeface="Times New Roman" panose="02020603050405020304" pitchFamily="18" charset="0"/>
                          <a:cs typeface="Times New Roman" panose="02020603050405020304" pitchFamily="18" charset="0"/>
                        </a:rPr>
                        <a:t>A Lesion-Based  DR Detection Through Hybrid</a:t>
                      </a:r>
                    </a:p>
                    <a:p>
                      <a:pPr algn="just"/>
                      <a:r>
                        <a:rPr lang="en-US" sz="800" dirty="0">
                          <a:latin typeface="Times New Roman" panose="02020603050405020304" pitchFamily="18" charset="0"/>
                          <a:cs typeface="Times New Roman" panose="02020603050405020304" pitchFamily="18" charset="0"/>
                        </a:rPr>
                        <a:t>Deep Learning Model</a:t>
                      </a:r>
                    </a:p>
                    <a:p>
                      <a:endParaRPr lang="en-US" sz="800" b="0" dirty="0"/>
                    </a:p>
                  </a:txBody>
                  <a:tcPr/>
                </a:tc>
                <a:tc>
                  <a:txBody>
                    <a:bodyPr/>
                    <a:lstStyle/>
                    <a:p>
                      <a:r>
                        <a:rPr lang="en-US" sz="800" dirty="0"/>
                        <a:t>Accurate multi-stage DR detection using comprehensive lesion features.</a:t>
                      </a:r>
                    </a:p>
                  </a:txBody>
                  <a:tcPr/>
                </a:tc>
                <a:tc>
                  <a:txBody>
                    <a:bodyPr/>
                    <a:lstStyle/>
                    <a:p>
                      <a:r>
                        <a:rPr lang="en-IN" sz="800" dirty="0"/>
                        <a:t>Hybrid </a:t>
                      </a:r>
                      <a:r>
                        <a:rPr lang="en-IN" sz="800" dirty="0" err="1"/>
                        <a:t>GoogleNet</a:t>
                      </a:r>
                      <a:r>
                        <a:rPr lang="en-IN" sz="800" dirty="0"/>
                        <a:t> + </a:t>
                      </a:r>
                      <a:r>
                        <a:rPr lang="en-IN" sz="800" dirty="0" err="1"/>
                        <a:t>ResNet</a:t>
                      </a:r>
                      <a:r>
                        <a:rPr lang="en-IN" sz="800" dirty="0"/>
                        <a:t> feature extraction + ML classifiers.</a:t>
                      </a:r>
                      <a:endParaRPr lang="en-US" sz="800" dirty="0"/>
                    </a:p>
                  </a:txBody>
                  <a:tcPr/>
                </a:tc>
                <a:tc>
                  <a:txBody>
                    <a:bodyPr/>
                    <a:lstStyle/>
                    <a:p>
                      <a:r>
                        <a:rPr lang="en-US" sz="800" dirty="0"/>
                        <a:t>Hybrid features improve multi-class DR classification performance.</a:t>
                      </a:r>
                    </a:p>
                  </a:txBody>
                  <a:tcPr/>
                </a:tc>
                <a:tc>
                  <a:txBody>
                    <a:bodyPr/>
                    <a:lstStyle/>
                    <a:p>
                      <a:r>
                        <a:rPr lang="en-US" sz="800" dirty="0"/>
                        <a:t>Supports lesion-based severity analysis instead of binary detection.</a:t>
                      </a:r>
                      <a:endParaRPr lang="en-US" sz="800" b="0" dirty="0"/>
                    </a:p>
                  </a:txBody>
                  <a:tcPr/>
                </a:tc>
                <a:tc>
                  <a:txBody>
                    <a:bodyPr/>
                    <a:lstStyle/>
                    <a:p>
                      <a:r>
                        <a:rPr lang="en-IN" sz="800" dirty="0"/>
                        <a:t>Transfer learning, hybrid CNN features, SVM/RF/DT/NB classifiers.</a:t>
                      </a:r>
                      <a:endParaRPr lang="en-US" sz="800" b="0" dirty="0"/>
                    </a:p>
                  </a:txBody>
                  <a:tcPr/>
                </a:tc>
                <a:tc>
                  <a:txBody>
                    <a:bodyPr/>
                    <a:lstStyle/>
                    <a:p>
                      <a:r>
                        <a:rPr lang="en-US" sz="800" dirty="0"/>
                        <a:t>Up to </a:t>
                      </a:r>
                      <a:r>
                        <a:rPr lang="en-US" sz="800" b="1" dirty="0"/>
                        <a:t>94% accuracy</a:t>
                      </a:r>
                      <a:r>
                        <a:rPr lang="en-US" sz="800" dirty="0"/>
                        <a:t> with high precision, recall, and F1-score.</a:t>
                      </a:r>
                    </a:p>
                  </a:txBody>
                  <a:tcPr/>
                </a:tc>
                <a:tc>
                  <a:txBody>
                    <a:bodyPr/>
                    <a:lstStyle/>
                    <a:p>
                      <a:r>
                        <a:rPr lang="en-US" sz="800" dirty="0"/>
                        <a:t>Covers multiple lesion types; better severity-level classification.</a:t>
                      </a:r>
                    </a:p>
                  </a:txBody>
                  <a:tcPr/>
                </a:tc>
                <a:tc>
                  <a:txBody>
                    <a:bodyPr/>
                    <a:lstStyle/>
                    <a:p>
                      <a:r>
                        <a:rPr lang="en-US" sz="800" dirty="0"/>
                        <a:t>High computational cost; focused on DR, not full diabetes severity mapping.</a:t>
                      </a:r>
                    </a:p>
                  </a:txBody>
                  <a:tcPr/>
                </a:tc>
                <a:extLst>
                  <a:ext uri="{0D108BD9-81ED-4DB2-BD59-A6C34878D82A}">
                    <a16:rowId xmlns:a16="http://schemas.microsoft.com/office/drawing/2014/main" val="10002"/>
                  </a:ext>
                </a:extLst>
              </a:tr>
              <a:tr h="961618">
                <a:tc>
                  <a:txBody>
                    <a:bodyPr/>
                    <a:lstStyle/>
                    <a:p>
                      <a:r>
                        <a:rPr lang="en-US" sz="800" dirty="0"/>
                        <a:t>[6] Predicting Systemic Health from Fundus Images (2024)</a:t>
                      </a:r>
                    </a:p>
                  </a:txBody>
                  <a:tcPr/>
                </a:tc>
                <a:tc>
                  <a:txBody>
                    <a:bodyPr/>
                    <a:lstStyle/>
                    <a:p>
                      <a:r>
                        <a:rPr lang="en-US" sz="800" dirty="0"/>
                        <a:t>Predict HbA1c, BP, age from retina</a:t>
                      </a:r>
                    </a:p>
                  </a:txBody>
                  <a:tcPr/>
                </a:tc>
                <a:tc>
                  <a:txBody>
                    <a:bodyPr/>
                    <a:lstStyle/>
                    <a:p>
                      <a:r>
                        <a:rPr lang="en-IN" sz="800" dirty="0"/>
                        <a:t>Transfer learning DL</a:t>
                      </a:r>
                      <a:endParaRPr lang="en-US" sz="800" dirty="0"/>
                    </a:p>
                  </a:txBody>
                  <a:tcPr/>
                </a:tc>
                <a:tc>
                  <a:txBody>
                    <a:bodyPr/>
                    <a:lstStyle/>
                    <a:p>
                      <a:r>
                        <a:rPr lang="en-IN" sz="800" dirty="0"/>
                        <a:t>Retina predicts systemic markers</a:t>
                      </a:r>
                      <a:endParaRPr lang="en-US" sz="800" dirty="0"/>
                    </a:p>
                  </a:txBody>
                  <a:tcPr/>
                </a:tc>
                <a:tc>
                  <a:txBody>
                    <a:bodyPr/>
                    <a:lstStyle/>
                    <a:p>
                      <a:r>
                        <a:rPr lang="en-IN" sz="800" b="0" dirty="0"/>
                        <a:t>Supports glucose-level estimation concept</a:t>
                      </a:r>
                      <a:endParaRPr lang="en-US" sz="800" b="0" dirty="0"/>
                    </a:p>
                  </a:txBody>
                  <a:tcPr/>
                </a:tc>
                <a:tc>
                  <a:txBody>
                    <a:bodyPr/>
                    <a:lstStyle/>
                    <a:p>
                      <a:r>
                        <a:rPr lang="en-IN" sz="800" b="0" dirty="0" err="1"/>
                        <a:t>DenseNet</a:t>
                      </a:r>
                      <a:endParaRPr lang="en-US" sz="800" b="0" dirty="0"/>
                    </a:p>
                  </a:txBody>
                  <a:tcPr/>
                </a:tc>
                <a:tc>
                  <a:txBody>
                    <a:bodyPr/>
                    <a:lstStyle/>
                    <a:p>
                      <a:r>
                        <a:rPr lang="en-IN" sz="800" dirty="0"/>
                        <a:t>Strong correlations</a:t>
                      </a:r>
                    </a:p>
                    <a:p>
                      <a:r>
                        <a:rPr lang="en-IN" sz="800" dirty="0"/>
                        <a:t>Accuracy equivalent: ~75–85%</a:t>
                      </a:r>
                      <a:endParaRPr lang="en-US" sz="800" dirty="0"/>
                    </a:p>
                  </a:txBody>
                  <a:tcPr/>
                </a:tc>
                <a:tc>
                  <a:txBody>
                    <a:bodyPr/>
                    <a:lstStyle/>
                    <a:p>
                      <a:r>
                        <a:rPr lang="en-IN" sz="800" dirty="0"/>
                        <a:t>Non-invasive</a:t>
                      </a:r>
                      <a:endParaRPr lang="en-US" sz="800" dirty="0"/>
                    </a:p>
                  </a:txBody>
                  <a:tcPr/>
                </a:tc>
                <a:tc>
                  <a:txBody>
                    <a:bodyPr/>
                    <a:lstStyle/>
                    <a:p>
                      <a:r>
                        <a:rPr lang="en-IN" sz="800" dirty="0"/>
                        <a:t>Limited interpretability</a:t>
                      </a:r>
                      <a:endParaRPr lang="en-US" sz="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2641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211F-BEEA-6719-FBCF-DAC7633ED0B2}"/>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Summary(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4" name="Slide Number Placeholder 3">
            <a:extLst>
              <a:ext uri="{FF2B5EF4-FFF2-40B4-BE49-F238E27FC236}">
                <a16:creationId xmlns:a16="http://schemas.microsoft.com/office/drawing/2014/main" id="{4F2006AB-1335-BA49-5DA3-9AF788BFEC21}"/>
              </a:ext>
            </a:extLst>
          </p:cNvPr>
          <p:cNvSpPr>
            <a:spLocks noGrp="1"/>
          </p:cNvSpPr>
          <p:nvPr>
            <p:ph type="sldNum" idx="14"/>
          </p:nvPr>
        </p:nvSpPr>
        <p:spPr/>
        <p:txBody>
          <a:bodyPr/>
          <a:lstStyle/>
          <a:p>
            <a:pPr>
              <a:defRPr/>
            </a:pPr>
            <a:fld id="{EF26C623-DE27-4A99-8424-AFD36C142E5A}" type="slidenum">
              <a:rPr lang="en-US" altLang="en-US" smtClean="0"/>
              <a:pPr>
                <a:defRPr/>
              </a:pPr>
              <a:t>17</a:t>
            </a:fld>
            <a:endParaRPr lang="en-US" altLang="en-US"/>
          </a:p>
        </p:txBody>
      </p:sp>
      <p:graphicFrame>
        <p:nvGraphicFramePr>
          <p:cNvPr id="7" name="Table 6">
            <a:extLst>
              <a:ext uri="{FF2B5EF4-FFF2-40B4-BE49-F238E27FC236}">
                <a16:creationId xmlns:a16="http://schemas.microsoft.com/office/drawing/2014/main" id="{2FB94173-9C3A-F2C6-C4E9-498148FE290E}"/>
              </a:ext>
            </a:extLst>
          </p:cNvPr>
          <p:cNvGraphicFramePr>
            <a:graphicFrameLocks noGrp="1"/>
          </p:cNvGraphicFramePr>
          <p:nvPr>
            <p:extLst>
              <p:ext uri="{D42A27DB-BD31-4B8C-83A1-F6EECF244321}">
                <p14:modId xmlns:p14="http://schemas.microsoft.com/office/powerpoint/2010/main" val="2891425170"/>
              </p:ext>
            </p:extLst>
          </p:nvPr>
        </p:nvGraphicFramePr>
        <p:xfrm>
          <a:off x="228487" y="516734"/>
          <a:ext cx="8687026" cy="4539453"/>
        </p:xfrm>
        <a:graphic>
          <a:graphicData uri="http://schemas.openxmlformats.org/drawingml/2006/table">
            <a:tbl>
              <a:tblPr firstRow="1" bandRow="1">
                <a:tableStyleId>{5C22544A-7EE6-4342-B048-85BDC9FD1C3A}</a:tableStyleId>
              </a:tblPr>
              <a:tblGrid>
                <a:gridCol w="757478">
                  <a:extLst>
                    <a:ext uri="{9D8B030D-6E8A-4147-A177-3AD203B41FA5}">
                      <a16:colId xmlns:a16="http://schemas.microsoft.com/office/drawing/2014/main" val="20000"/>
                    </a:ext>
                  </a:extLst>
                </a:gridCol>
                <a:gridCol w="1064304">
                  <a:extLst>
                    <a:ext uri="{9D8B030D-6E8A-4147-A177-3AD203B41FA5}">
                      <a16:colId xmlns:a16="http://schemas.microsoft.com/office/drawing/2014/main" val="20001"/>
                    </a:ext>
                  </a:extLst>
                </a:gridCol>
                <a:gridCol w="1073894">
                  <a:extLst>
                    <a:ext uri="{9D8B030D-6E8A-4147-A177-3AD203B41FA5}">
                      <a16:colId xmlns:a16="http://schemas.microsoft.com/office/drawing/2014/main" val="20002"/>
                    </a:ext>
                  </a:extLst>
                </a:gridCol>
                <a:gridCol w="965225">
                  <a:extLst>
                    <a:ext uri="{9D8B030D-6E8A-4147-A177-3AD203B41FA5}">
                      <a16:colId xmlns:a16="http://schemas.microsoft.com/office/drawing/2014/main" val="20003"/>
                    </a:ext>
                  </a:extLst>
                </a:gridCol>
                <a:gridCol w="965225">
                  <a:extLst>
                    <a:ext uri="{9D8B030D-6E8A-4147-A177-3AD203B41FA5}">
                      <a16:colId xmlns:a16="http://schemas.microsoft.com/office/drawing/2014/main" val="20004"/>
                    </a:ext>
                  </a:extLst>
                </a:gridCol>
                <a:gridCol w="965225">
                  <a:extLst>
                    <a:ext uri="{9D8B030D-6E8A-4147-A177-3AD203B41FA5}">
                      <a16:colId xmlns:a16="http://schemas.microsoft.com/office/drawing/2014/main" val="20005"/>
                    </a:ext>
                  </a:extLst>
                </a:gridCol>
                <a:gridCol w="965225">
                  <a:extLst>
                    <a:ext uri="{9D8B030D-6E8A-4147-A177-3AD203B41FA5}">
                      <a16:colId xmlns:a16="http://schemas.microsoft.com/office/drawing/2014/main" val="20006"/>
                    </a:ext>
                  </a:extLst>
                </a:gridCol>
                <a:gridCol w="965225">
                  <a:extLst>
                    <a:ext uri="{9D8B030D-6E8A-4147-A177-3AD203B41FA5}">
                      <a16:colId xmlns:a16="http://schemas.microsoft.com/office/drawing/2014/main" val="20007"/>
                    </a:ext>
                  </a:extLst>
                </a:gridCol>
                <a:gridCol w="965225">
                  <a:extLst>
                    <a:ext uri="{9D8B030D-6E8A-4147-A177-3AD203B41FA5}">
                      <a16:colId xmlns:a16="http://schemas.microsoft.com/office/drawing/2014/main" val="20008"/>
                    </a:ext>
                  </a:extLst>
                </a:gridCol>
              </a:tblGrid>
              <a:tr h="102043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694297">
                <a:tc>
                  <a:txBody>
                    <a:bodyPr/>
                    <a:lstStyle/>
                    <a:p>
                      <a:r>
                        <a:rPr lang="en-IN" sz="800" dirty="0"/>
                        <a:t>[7] DL Model for Type 2 Diabetes Screening (2024)</a:t>
                      </a:r>
                      <a:endParaRPr lang="en-US" sz="800" dirty="0"/>
                    </a:p>
                  </a:txBody>
                  <a:tcPr/>
                </a:tc>
                <a:tc>
                  <a:txBody>
                    <a:bodyPr/>
                    <a:lstStyle/>
                    <a:p>
                      <a:r>
                        <a:rPr lang="en-US" sz="800" dirty="0"/>
                        <a:t>Screen diabetes from fundus images</a:t>
                      </a:r>
                    </a:p>
                  </a:txBody>
                  <a:tcPr/>
                </a:tc>
                <a:tc>
                  <a:txBody>
                    <a:bodyPr/>
                    <a:lstStyle/>
                    <a:p>
                      <a:r>
                        <a:rPr lang="en-IN" sz="800" dirty="0"/>
                        <a:t>DL + clinical data</a:t>
                      </a:r>
                      <a:endParaRPr lang="en-US" sz="800" dirty="0"/>
                    </a:p>
                  </a:txBody>
                  <a:tcPr/>
                </a:tc>
                <a:tc>
                  <a:txBody>
                    <a:bodyPr/>
                    <a:lstStyle/>
                    <a:p>
                      <a:r>
                        <a:rPr lang="en-IN" sz="800" dirty="0"/>
                        <a:t>Fundus predicts diabetes risk</a:t>
                      </a:r>
                      <a:endParaRPr lang="en-US" sz="800" dirty="0"/>
                    </a:p>
                  </a:txBody>
                  <a:tcPr/>
                </a:tc>
                <a:tc>
                  <a:txBody>
                    <a:bodyPr/>
                    <a:lstStyle/>
                    <a:p>
                      <a:r>
                        <a:rPr lang="en-IN" sz="800" b="0" dirty="0"/>
                        <a:t>Supports diabetes screening</a:t>
                      </a:r>
                      <a:endParaRPr lang="en-US" sz="800" b="0" dirty="0"/>
                    </a:p>
                  </a:txBody>
                  <a:tcPr/>
                </a:tc>
                <a:tc>
                  <a:txBody>
                    <a:bodyPr/>
                    <a:lstStyle/>
                    <a:p>
                      <a:r>
                        <a:rPr lang="en-IN" sz="800" dirty="0"/>
                        <a:t>ResNet-18</a:t>
                      </a:r>
                      <a:endParaRPr lang="en-US" sz="800" dirty="0"/>
                    </a:p>
                  </a:txBody>
                  <a:tcPr/>
                </a:tc>
                <a:tc>
                  <a:txBody>
                    <a:bodyPr/>
                    <a:lstStyle/>
                    <a:p>
                      <a:r>
                        <a:rPr lang="en-IN" sz="800" b="0" dirty="0"/>
                        <a:t>Accuracy: 92–96%</a:t>
                      </a:r>
                      <a:endParaRPr lang="en-US" sz="800" b="0" dirty="0"/>
                    </a:p>
                  </a:txBody>
                  <a:tcPr/>
                </a:tc>
                <a:tc>
                  <a:txBody>
                    <a:bodyPr/>
                    <a:lstStyle/>
                    <a:p>
                      <a:r>
                        <a:rPr lang="en-IN" sz="800" dirty="0"/>
                        <a:t>Population screening</a:t>
                      </a:r>
                      <a:endParaRPr lang="en-US" sz="800" dirty="0"/>
                    </a:p>
                  </a:txBody>
                  <a:tcPr/>
                </a:tc>
                <a:tc>
                  <a:txBody>
                    <a:bodyPr/>
                    <a:lstStyle/>
                    <a:p>
                      <a:r>
                        <a:rPr lang="en-IN" sz="800" dirty="0"/>
                        <a:t>No lesion analysis</a:t>
                      </a:r>
                      <a:endParaRPr lang="en-US" sz="800" dirty="0"/>
                    </a:p>
                  </a:txBody>
                  <a:tcPr/>
                </a:tc>
                <a:extLst>
                  <a:ext uri="{0D108BD9-81ED-4DB2-BD59-A6C34878D82A}">
                    <a16:rowId xmlns:a16="http://schemas.microsoft.com/office/drawing/2014/main" val="10001"/>
                  </a:ext>
                </a:extLst>
              </a:tr>
              <a:tr h="627300">
                <a:tc>
                  <a:txBody>
                    <a:bodyPr/>
                    <a:lstStyle/>
                    <a:p>
                      <a:r>
                        <a:rPr lang="en-US" sz="800" dirty="0"/>
                        <a:t>[8] Analysis of Diabetic Retinopathy (2023)</a:t>
                      </a:r>
                    </a:p>
                  </a:txBody>
                  <a:tcPr/>
                </a:tc>
                <a:tc>
                  <a:txBody>
                    <a:bodyPr/>
                    <a:lstStyle/>
                    <a:p>
                      <a:r>
                        <a:rPr lang="en-US" sz="800" dirty="0"/>
                        <a:t>Automate DR severity detection to reduce manual diagnosis</a:t>
                      </a:r>
                    </a:p>
                  </a:txBody>
                  <a:tcPr/>
                </a:tc>
                <a:tc>
                  <a:txBody>
                    <a:bodyPr/>
                    <a:lstStyle/>
                    <a:p>
                      <a:r>
                        <a:rPr lang="en-US" sz="800" dirty="0"/>
                        <a:t>Deep learning with feature selection and classification</a:t>
                      </a:r>
                    </a:p>
                  </a:txBody>
                  <a:tcPr/>
                </a:tc>
                <a:tc>
                  <a:txBody>
                    <a:bodyPr/>
                    <a:lstStyle/>
                    <a:p>
                      <a:r>
                        <a:rPr lang="en-US" sz="800" dirty="0"/>
                        <a:t>Accurate multi-class DR severity detection</a:t>
                      </a:r>
                    </a:p>
                  </a:txBody>
                  <a:tcPr/>
                </a:tc>
                <a:tc>
                  <a:txBody>
                    <a:bodyPr/>
                    <a:lstStyle/>
                    <a:p>
                      <a:r>
                        <a:rPr lang="en-US" sz="800" b="0" dirty="0"/>
                        <a:t>Supports severity-based analysis beyond binary DR</a:t>
                      </a:r>
                    </a:p>
                  </a:txBody>
                  <a:tcPr/>
                </a:tc>
                <a:tc>
                  <a:txBody>
                    <a:bodyPr/>
                    <a:lstStyle/>
                    <a:p>
                      <a:r>
                        <a:rPr lang="en-US" sz="800" dirty="0"/>
                        <a:t>CNN, Ant Colony Optimization, SVM</a:t>
                      </a:r>
                    </a:p>
                  </a:txBody>
                  <a:tcPr/>
                </a:tc>
                <a:tc>
                  <a:txBody>
                    <a:bodyPr/>
                    <a:lstStyle/>
                    <a:p>
                      <a:r>
                        <a:rPr lang="en-IN" sz="800" b="0" dirty="0"/>
                        <a:t>Accuracy: 97–99%</a:t>
                      </a:r>
                      <a:endParaRPr lang="en-US" sz="800" b="0" dirty="0"/>
                    </a:p>
                  </a:txBody>
                  <a:tcPr/>
                </a:tc>
                <a:tc>
                  <a:txBody>
                    <a:bodyPr/>
                    <a:lstStyle/>
                    <a:p>
                      <a:r>
                        <a:rPr lang="en-IN" sz="800" dirty="0"/>
                        <a:t>Automated and scalable</a:t>
                      </a:r>
                      <a:endParaRPr lang="en-US" sz="800" dirty="0"/>
                    </a:p>
                  </a:txBody>
                  <a:tcPr/>
                </a:tc>
                <a:tc>
                  <a:txBody>
                    <a:bodyPr/>
                    <a:lstStyle/>
                    <a:p>
                      <a:r>
                        <a:rPr lang="en-US" sz="800" dirty="0"/>
                        <a:t>No lesion density, no macular threat analysis</a:t>
                      </a:r>
                    </a:p>
                  </a:txBody>
                  <a:tcPr/>
                </a:tc>
                <a:extLst>
                  <a:ext uri="{0D108BD9-81ED-4DB2-BD59-A6C34878D82A}">
                    <a16:rowId xmlns:a16="http://schemas.microsoft.com/office/drawing/2014/main" val="10002"/>
                  </a:ext>
                </a:extLst>
              </a:tr>
              <a:tr h="900668">
                <a:tc>
                  <a:txBody>
                    <a:bodyPr/>
                    <a:lstStyle/>
                    <a:p>
                      <a:r>
                        <a:rPr lang="en-US" sz="800" dirty="0"/>
                        <a:t>[9]Predicting Systemic Health Features from Retinal Images (2024)</a:t>
                      </a:r>
                    </a:p>
                  </a:txBody>
                  <a:tcPr/>
                </a:tc>
                <a:tc>
                  <a:txBody>
                    <a:bodyPr/>
                    <a:lstStyle/>
                    <a:p>
                      <a:r>
                        <a:rPr lang="en-US" sz="800" dirty="0"/>
                        <a:t>Predict systemic parameters (HbA1c, BP) from retinal images</a:t>
                      </a:r>
                    </a:p>
                  </a:txBody>
                  <a:tcPr/>
                </a:tc>
                <a:tc>
                  <a:txBody>
                    <a:bodyPr/>
                    <a:lstStyle/>
                    <a:p>
                      <a:r>
                        <a:rPr lang="en-IN" sz="800" dirty="0"/>
                        <a:t>Transfer-learning-based deep learning</a:t>
                      </a:r>
                      <a:endParaRPr lang="en-US" sz="800" dirty="0"/>
                    </a:p>
                  </a:txBody>
                  <a:tcPr/>
                </a:tc>
                <a:tc>
                  <a:txBody>
                    <a:bodyPr/>
                    <a:lstStyle/>
                    <a:p>
                      <a:r>
                        <a:rPr lang="en-IN" sz="800" dirty="0"/>
                        <a:t>Transfer-learning-based deep learning</a:t>
                      </a:r>
                      <a:endParaRPr lang="en-US" sz="800" dirty="0"/>
                    </a:p>
                  </a:txBody>
                  <a:tcPr/>
                </a:tc>
                <a:tc>
                  <a:txBody>
                    <a:bodyPr/>
                    <a:lstStyle/>
                    <a:p>
                      <a:r>
                        <a:rPr lang="en-US" sz="800" b="0" dirty="0"/>
                        <a:t>Strongly supports diabetes severity estimation from fundus images</a:t>
                      </a:r>
                    </a:p>
                  </a:txBody>
                  <a:tcPr/>
                </a:tc>
                <a:tc>
                  <a:txBody>
                    <a:bodyPr/>
                    <a:lstStyle/>
                    <a:p>
                      <a:r>
                        <a:rPr lang="en-IN" sz="800" dirty="0"/>
                        <a:t>DenseNet-201 (transfer learning)</a:t>
                      </a:r>
                      <a:endParaRPr lang="en-US" sz="800" dirty="0"/>
                    </a:p>
                  </a:txBody>
                  <a:tcPr/>
                </a:tc>
                <a:tc>
                  <a:txBody>
                    <a:bodyPr/>
                    <a:lstStyle/>
                    <a:p>
                      <a:r>
                        <a:rPr lang="en-US" sz="800" dirty="0"/>
                        <a:t>High correlation with clinical values</a:t>
                      </a:r>
                    </a:p>
                    <a:p>
                      <a:r>
                        <a:rPr lang="en-IN" sz="800" dirty="0"/>
                        <a:t>Accuracy equivalent: ~80–85%</a:t>
                      </a:r>
                      <a:endParaRPr lang="en-US" sz="800" dirty="0"/>
                    </a:p>
                  </a:txBody>
                  <a:tcPr/>
                </a:tc>
                <a:tc>
                  <a:txBody>
                    <a:bodyPr/>
                    <a:lstStyle/>
                    <a:p>
                      <a:r>
                        <a:rPr lang="en-IN" sz="800" dirty="0"/>
                        <a:t>Non-invasive systemic prediction</a:t>
                      </a:r>
                      <a:endParaRPr lang="en-US" sz="800" dirty="0"/>
                    </a:p>
                  </a:txBody>
                  <a:tcPr/>
                </a:tc>
                <a:tc>
                  <a:txBody>
                    <a:bodyPr/>
                    <a:lstStyle/>
                    <a:p>
                      <a:r>
                        <a:rPr lang="en-IN" sz="800" dirty="0"/>
                        <a:t>Black-box model, limited explainability</a:t>
                      </a:r>
                      <a:endParaRPr lang="en-US" sz="800" dirty="0"/>
                    </a:p>
                  </a:txBody>
                  <a:tcPr/>
                </a:tc>
                <a:extLst>
                  <a:ext uri="{0D108BD9-81ED-4DB2-BD59-A6C34878D82A}">
                    <a16:rowId xmlns:a16="http://schemas.microsoft.com/office/drawing/2014/main" val="10003"/>
                  </a:ext>
                </a:extLst>
              </a:tr>
              <a:tr h="1123876">
                <a:tc>
                  <a:txBody>
                    <a:bodyPr/>
                    <a:lstStyle/>
                    <a:p>
                      <a:r>
                        <a:rPr lang="en-US" sz="800" dirty="0"/>
                        <a:t>[10]Automatic Detection of Microaneurysms in Retinal Fundus Images</a:t>
                      </a:r>
                    </a:p>
                  </a:txBody>
                  <a:tcPr/>
                </a:tc>
                <a:tc>
                  <a:txBody>
                    <a:bodyPr/>
                    <a:lstStyle/>
                    <a:p>
                      <a:pPr algn="l">
                        <a:buNone/>
                      </a:pPr>
                      <a:r>
                        <a:rPr lang="en-US" sz="800" b="0" dirty="0"/>
                        <a:t>Early detection of diabetic retinopathy through microaneurysm identification</a:t>
                      </a:r>
                    </a:p>
                  </a:txBody>
                  <a:tcPr anchor="ctr"/>
                </a:tc>
                <a:tc>
                  <a:txBody>
                    <a:bodyPr/>
                    <a:lstStyle/>
                    <a:p>
                      <a:r>
                        <a:rPr lang="en-US" sz="800" dirty="0"/>
                        <a:t>Deep learning-based lesion detection</a:t>
                      </a:r>
                    </a:p>
                  </a:txBody>
                  <a:tcPr/>
                </a:tc>
                <a:tc>
                  <a:txBody>
                    <a:bodyPr/>
                    <a:lstStyle/>
                    <a:p>
                      <a:r>
                        <a:rPr lang="en-US" sz="800" dirty="0"/>
                        <a:t>Accurate detection of microaneurysms improves early DR diagnosis</a:t>
                      </a:r>
                    </a:p>
                  </a:txBody>
                  <a:tcPr/>
                </a:tc>
                <a:tc>
                  <a:txBody>
                    <a:bodyPr/>
                    <a:lstStyle/>
                    <a:p>
                      <a:r>
                        <a:rPr lang="en-US" sz="800" dirty="0"/>
                        <a:t>Supports lesion-level analysis used in our project</a:t>
                      </a:r>
                      <a:endParaRPr lang="en-US" sz="800" b="0" dirty="0"/>
                    </a:p>
                  </a:txBody>
                  <a:tcPr/>
                </a:tc>
                <a:tc>
                  <a:txBody>
                    <a:bodyPr/>
                    <a:lstStyle/>
                    <a:p>
                      <a:r>
                        <a:rPr lang="en-IN" sz="800" dirty="0"/>
                        <a:t>CNN</a:t>
                      </a:r>
                      <a:endParaRPr lang="en-US" sz="800" dirty="0"/>
                    </a:p>
                  </a:txBody>
                  <a:tcPr/>
                </a:tc>
                <a:tc>
                  <a:txBody>
                    <a:bodyPr/>
                    <a:lstStyle/>
                    <a:p>
                      <a:r>
                        <a:rPr lang="en-IN" sz="800" dirty="0"/>
                        <a:t>Accuracy </a:t>
                      </a:r>
                    </a:p>
                    <a:p>
                      <a:r>
                        <a:rPr lang="en-IN" sz="800" dirty="0"/>
                        <a:t>90–95%</a:t>
                      </a:r>
                      <a:endParaRPr lang="en-US" sz="800" dirty="0"/>
                    </a:p>
                  </a:txBody>
                  <a:tcPr/>
                </a:tc>
                <a:tc>
                  <a:txBody>
                    <a:bodyPr/>
                    <a:lstStyle/>
                    <a:p>
                      <a:r>
                        <a:rPr lang="en-US" sz="800" dirty="0"/>
                        <a:t>Effective for early DR detection</a:t>
                      </a:r>
                    </a:p>
                  </a:txBody>
                  <a:tcPr/>
                </a:tc>
                <a:tc>
                  <a:txBody>
                    <a:bodyPr/>
                    <a:lstStyle/>
                    <a:p>
                      <a:r>
                        <a:rPr lang="en-US" sz="800" dirty="0"/>
                        <a:t>Single-lesion focus, no lesion density or macular risk analysis</a:t>
                      </a:r>
                    </a:p>
                  </a:txBody>
                  <a:tcPr/>
                </a:tc>
                <a:extLst>
                  <a:ext uri="{0D108BD9-81ED-4DB2-BD59-A6C34878D82A}">
                    <a16:rowId xmlns:a16="http://schemas.microsoft.com/office/drawing/2014/main" val="1423868528"/>
                  </a:ext>
                </a:extLst>
              </a:tr>
            </a:tbl>
          </a:graphicData>
        </a:graphic>
      </p:graphicFrame>
    </p:spTree>
    <p:extLst>
      <p:ext uri="{BB962C8B-B14F-4D97-AF65-F5344CB8AC3E}">
        <p14:creationId xmlns:p14="http://schemas.microsoft.com/office/powerpoint/2010/main" val="416034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380B9875-0545-C7A1-F58F-DE1C68DCE9C1}"/>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a:bodyPr>
          <a:lstStyle/>
          <a:p>
            <a:pPr indent="-310832">
              <a:lnSpc>
                <a:spcPct val="115000"/>
              </a:lnSpc>
              <a:buClr>
                <a:srgbClr val="595959"/>
              </a:buClr>
              <a:buSzPct val="58333"/>
              <a:buFont typeface="Arial"/>
              <a:buChar char="●"/>
            </a:pPr>
            <a:endParaRPr lang="en-IN" dirty="0">
              <a:solidFill>
                <a:srgbClr val="FF0000"/>
              </a:solidFill>
              <a:sym typeface="Arial"/>
            </a:endParaRPr>
          </a:p>
          <a:p>
            <a:pPr lvl="0" indent="-310832">
              <a:lnSpc>
                <a:spcPct val="115000"/>
              </a:lnSpc>
              <a:buClr>
                <a:srgbClr val="595959"/>
              </a:buClr>
              <a:buSzPct val="58333"/>
              <a:buChar char="●"/>
            </a:pPr>
            <a:endParaRPr lang="en-US" dirty="0">
              <a:solidFill>
                <a:srgbClr val="C00000"/>
              </a:solidFill>
            </a:endParaRPr>
          </a:p>
        </p:txBody>
      </p:sp>
      <p:sp>
        <p:nvSpPr>
          <p:cNvPr id="2" name="Rectangle 1">
            <a:extLst>
              <a:ext uri="{FF2B5EF4-FFF2-40B4-BE49-F238E27FC236}">
                <a16:creationId xmlns:a16="http://schemas.microsoft.com/office/drawing/2014/main" id="{C04B7CFA-BA3C-0437-0210-EF54A7A6FA62}"/>
              </a:ext>
            </a:extLst>
          </p:cNvPr>
          <p:cNvSpPr>
            <a:spLocks noChangeArrowheads="1"/>
          </p:cNvSpPr>
          <p:nvPr/>
        </p:nvSpPr>
        <p:spPr bwMode="auto">
          <a:xfrm>
            <a:off x="215900" y="832812"/>
            <a:ext cx="860588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Binary Classification Approach</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The system performs only binary </a:t>
            </a:r>
            <a:r>
              <a:rPr lang="en-US" altLang="en-US" sz="2000">
                <a:solidFill>
                  <a:schemeClr val="tx1"/>
                </a:solidFill>
                <a:latin typeface="Times New Roman" panose="02020603050405020304" pitchFamily="18" charset="0"/>
                <a:cs typeface="Times New Roman" panose="02020603050405020304" pitchFamily="18" charset="0"/>
              </a:rPr>
              <a:t>classification (yes/ no), </a:t>
            </a:r>
            <a:r>
              <a:rPr lang="en-US" altLang="en-US" sz="2000" dirty="0">
                <a:solidFill>
                  <a:schemeClr val="tx1"/>
                </a:solidFill>
                <a:latin typeface="Times New Roman" panose="02020603050405020304" pitchFamily="18" charset="0"/>
                <a:cs typeface="Times New Roman" panose="02020603050405020304" pitchFamily="18" charset="0"/>
              </a:rPr>
              <a:t>which does not provide information about disease progression or severity levels.</a:t>
            </a:r>
          </a:p>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Retinal Features Not Used for Severity Assessment</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Although important retinal features such as microaneurysms, hard exudates, and blood vessel abnormalities are extracted, the base paper uses them only for detection and not for evaluating the extent or severity of damage.</a:t>
            </a:r>
          </a:p>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No Mapping Between Retinal Damage and Diabetes Stages</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The extracted diabetic retinopathy features are not mapped to diabetes stages or progression levels, limiting clinical interpretation beyond screening.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8618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fontScale="85000" lnSpcReduction="20000"/>
          </a:bodyPr>
          <a:lstStyle/>
          <a:p>
            <a:pPr marL="146368" lvl="0" indent="0" algn="just">
              <a:lnSpc>
                <a:spcPct val="115000"/>
              </a:lnSpc>
              <a:buClr>
                <a:srgbClr val="595959"/>
              </a:buClr>
              <a:buSzPct val="58333"/>
            </a:pPr>
            <a:r>
              <a:rPr lang="en-US" dirty="0"/>
              <a:t>Diabetes is a long-term disease that requires regular monitoring to prevent serious complications. Blood glucose tests provide only temporary readings that can vary due to factors such as food intake, stress, and time of measurement, making it difficult to accurately assess the long-term severity of diabetes. Diabetic retinopathy causes gradual and permanent changes in the retina, including microaneurysms, hard exudates, cotton wool spots and abnormal blood vessel growth, which reflect prolonged exposure to high blood glucose levels. However, most existing approaches focus only on detecting diabetic retinopathy and do not utilize these retinal features to evaluate diabetes progression. Therefore, there is a need for a non-invasive system that analyzes fundus images to extract diabetic retinopathy features and reliably predict the stage of diabetes.</a:t>
            </a:r>
            <a:endParaRPr lang="en-US" dirty="0">
              <a:solidFill>
                <a:srgbClr val="C00000"/>
              </a:solidFill>
            </a:endParaRPr>
          </a:p>
        </p:txBody>
      </p:sp>
    </p:spTree>
    <p:extLst>
      <p:ext uri="{BB962C8B-B14F-4D97-AF65-F5344CB8AC3E}">
        <p14:creationId xmlns:p14="http://schemas.microsoft.com/office/powerpoint/2010/main" val="1455877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88E5-FFB1-425E-940A-95D584723842}"/>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Objectives</a:t>
            </a:r>
          </a:p>
        </p:txBody>
      </p:sp>
      <p:sp>
        <p:nvSpPr>
          <p:cNvPr id="9219" name="Slide Number Placeholder 2">
            <a:extLst>
              <a:ext uri="{FF2B5EF4-FFF2-40B4-BE49-F238E27FC236}">
                <a16:creationId xmlns:a16="http://schemas.microsoft.com/office/drawing/2014/main" id="{F4889C14-9D66-0646-7D3C-F1D5A979D4E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63C8792-CD54-4A9A-8DD3-F6B8644EA022}" type="slidenum">
              <a:rPr lang="en-US" altLang="en-US" sz="1000" smtClean="0">
                <a:solidFill>
                  <a:srgbClr val="595959"/>
                </a:solidFill>
              </a:rPr>
              <a:pPr/>
              <a:t>20</a:t>
            </a:fld>
            <a:endParaRPr lang="en-US" altLang="en-US" sz="1000">
              <a:solidFill>
                <a:srgbClr val="595959"/>
              </a:solidFill>
            </a:endParaRPr>
          </a:p>
        </p:txBody>
      </p:sp>
      <p:sp>
        <p:nvSpPr>
          <p:cNvPr id="3" name="Rectangle 1">
            <a:extLst>
              <a:ext uri="{FF2B5EF4-FFF2-40B4-BE49-F238E27FC236}">
                <a16:creationId xmlns:a16="http://schemas.microsoft.com/office/drawing/2014/main" id="{22F61602-C9E7-0625-AEB3-7B6FFDAEF597}"/>
              </a:ext>
            </a:extLst>
          </p:cNvPr>
          <p:cNvSpPr>
            <a:spLocks noGrp="1" noChangeArrowheads="1"/>
          </p:cNvSpPr>
          <p:nvPr>
            <p:ph type="body" sz="quarter" idx="13"/>
          </p:nvPr>
        </p:nvSpPr>
        <p:spPr bwMode="auto">
          <a:xfrm>
            <a:off x="457200" y="986700"/>
            <a:ext cx="82296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move beyond binary classification by developing a model that classifies retinal images into multiple diabetes severity levels instead of only DR / No DR.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utilize extracted retinal features such as microaneurysms, hard exudates, and blood vessel abnormalities for assessing the extent of retinal damage rather than mere detection.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map retinal damage patterns to diabetes progression stages, enabling clinically meaningful severity interpretation from retinal fundus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 automated severity prediction system that reflects long-term diabetes impact using stable retinal features.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AA6C-D284-F536-3AE8-41C65B8DA1AF}"/>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Proposed Solution</a:t>
            </a:r>
          </a:p>
        </p:txBody>
      </p:sp>
      <p:sp>
        <p:nvSpPr>
          <p:cNvPr id="10243" name="Slide Number Placeholder 2">
            <a:extLst>
              <a:ext uri="{FF2B5EF4-FFF2-40B4-BE49-F238E27FC236}">
                <a16:creationId xmlns:a16="http://schemas.microsoft.com/office/drawing/2014/main" id="{6D00ABFA-D88A-B7AF-7D4A-6012A136BF52}"/>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A9C45A0C-E776-438A-BBC0-372ED89C29E2}" type="slidenum">
              <a:rPr lang="en-US" altLang="en-US" sz="1000" smtClean="0">
                <a:solidFill>
                  <a:srgbClr val="595959"/>
                </a:solidFill>
              </a:rPr>
              <a:pPr/>
              <a:t>21</a:t>
            </a:fld>
            <a:endParaRPr lang="en-US" altLang="en-US" sz="1000">
              <a:solidFill>
                <a:srgbClr val="595959"/>
              </a:solidFill>
            </a:endParaRPr>
          </a:p>
        </p:txBody>
      </p:sp>
      <p:sp>
        <p:nvSpPr>
          <p:cNvPr id="5" name="Rectangle 2">
            <a:extLst>
              <a:ext uri="{FF2B5EF4-FFF2-40B4-BE49-F238E27FC236}">
                <a16:creationId xmlns:a16="http://schemas.microsoft.com/office/drawing/2014/main" id="{F7E53036-6FD2-286A-88EA-65678F8CA02D}"/>
              </a:ext>
            </a:extLst>
          </p:cNvPr>
          <p:cNvSpPr>
            <a:spLocks noGrp="1" noChangeArrowheads="1"/>
          </p:cNvSpPr>
          <p:nvPr>
            <p:ph type="body" sz="quarter" idx="13"/>
          </p:nvPr>
        </p:nvSpPr>
        <p:spPr bwMode="auto">
          <a:xfrm>
            <a:off x="729793" y="832812"/>
            <a:ext cx="768441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predicts multi-level diabetes severity from retinal fundus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Images are preprocessed to enhance lesions such as microaneurysms, exudates, and cotton wool spots.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Capsule Network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CapsNet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used instead of traditional CNN models.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CapsNet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preserves spatial relationships between retinal lesions using dynamic routing.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helps in better understanding disease progression.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output provides an interpretable severity level prediction suitable for clinical use.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161D63-8683-8FF9-982A-9DBB7B336F96}"/>
              </a:ext>
            </a:extLst>
          </p:cNvPr>
          <p:cNvSpPr>
            <a:spLocks noGrp="1"/>
          </p:cNvSpPr>
          <p:nvPr>
            <p:ph type="sldNum" idx="14"/>
          </p:nvPr>
        </p:nvSpPr>
        <p:spPr>
          <a:xfrm>
            <a:off x="8370887" y="4533410"/>
            <a:ext cx="549275" cy="393700"/>
          </a:xfrm>
        </p:spPr>
        <p:txBody>
          <a:bodyPr/>
          <a:lstStyle/>
          <a:p>
            <a:pPr>
              <a:defRPr/>
            </a:pPr>
            <a:fld id="{EF26C623-DE27-4A99-8424-AFD36C142E5A}" type="slidenum">
              <a:rPr lang="en-US" altLang="en-US" smtClean="0"/>
              <a:pPr>
                <a:defRPr/>
              </a:pPr>
              <a:t>22</a:t>
            </a:fld>
            <a:endParaRPr lang="en-US" altLang="en-US"/>
          </a:p>
        </p:txBody>
      </p:sp>
      <p:sp>
        <p:nvSpPr>
          <p:cNvPr id="33" name="Cylinder 32">
            <a:extLst>
              <a:ext uri="{FF2B5EF4-FFF2-40B4-BE49-F238E27FC236}">
                <a16:creationId xmlns:a16="http://schemas.microsoft.com/office/drawing/2014/main" id="{D308DDB5-836A-2627-D596-FB2C83597EA5}"/>
              </a:ext>
            </a:extLst>
          </p:cNvPr>
          <p:cNvSpPr/>
          <p:nvPr/>
        </p:nvSpPr>
        <p:spPr>
          <a:xfrm>
            <a:off x="139476" y="671095"/>
            <a:ext cx="1732133" cy="129712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6" name="Picture 45">
            <a:extLst>
              <a:ext uri="{FF2B5EF4-FFF2-40B4-BE49-F238E27FC236}">
                <a16:creationId xmlns:a16="http://schemas.microsoft.com/office/drawing/2014/main" id="{11FDFE26-B000-8C59-B0E6-D77ACE40FFE6}"/>
              </a:ext>
            </a:extLst>
          </p:cNvPr>
          <p:cNvPicPr>
            <a:picLocks noChangeAspect="1"/>
          </p:cNvPicPr>
          <p:nvPr/>
        </p:nvPicPr>
        <p:blipFill>
          <a:blip r:embed="rId2"/>
          <a:stretch>
            <a:fillRect/>
          </a:stretch>
        </p:blipFill>
        <p:spPr>
          <a:xfrm>
            <a:off x="869201" y="2239661"/>
            <a:ext cx="1841228" cy="673673"/>
          </a:xfrm>
          <a:prstGeom prst="rect">
            <a:avLst/>
          </a:prstGeom>
        </p:spPr>
      </p:pic>
      <p:pic>
        <p:nvPicPr>
          <p:cNvPr id="48" name="Picture 47">
            <a:extLst>
              <a:ext uri="{FF2B5EF4-FFF2-40B4-BE49-F238E27FC236}">
                <a16:creationId xmlns:a16="http://schemas.microsoft.com/office/drawing/2014/main" id="{0FBB878A-D2C7-A830-F875-A13A64B6355E}"/>
              </a:ext>
            </a:extLst>
          </p:cNvPr>
          <p:cNvPicPr>
            <a:picLocks noChangeAspect="1"/>
          </p:cNvPicPr>
          <p:nvPr/>
        </p:nvPicPr>
        <p:blipFill>
          <a:blip r:embed="rId3"/>
          <a:stretch>
            <a:fillRect/>
          </a:stretch>
        </p:blipFill>
        <p:spPr>
          <a:xfrm>
            <a:off x="869200" y="3184777"/>
            <a:ext cx="1841228" cy="673673"/>
          </a:xfrm>
          <a:prstGeom prst="rect">
            <a:avLst/>
          </a:prstGeom>
        </p:spPr>
      </p:pic>
      <p:sp>
        <p:nvSpPr>
          <p:cNvPr id="49" name="TextBox 48">
            <a:extLst>
              <a:ext uri="{FF2B5EF4-FFF2-40B4-BE49-F238E27FC236}">
                <a16:creationId xmlns:a16="http://schemas.microsoft.com/office/drawing/2014/main" id="{7BF6BBE3-C49D-5444-6E3D-D654CB286F4A}"/>
              </a:ext>
            </a:extLst>
          </p:cNvPr>
          <p:cNvSpPr txBox="1"/>
          <p:nvPr/>
        </p:nvSpPr>
        <p:spPr>
          <a:xfrm>
            <a:off x="824975" y="2895167"/>
            <a:ext cx="1885453" cy="307777"/>
          </a:xfrm>
          <a:prstGeom prst="rect">
            <a:avLst/>
          </a:prstGeom>
          <a:noFill/>
        </p:spPr>
        <p:txBody>
          <a:bodyPr wrap="none" rtlCol="0">
            <a:spAutoFit/>
          </a:bodyPr>
          <a:lstStyle/>
          <a:p>
            <a:r>
              <a:rPr lang="en-US" dirty="0"/>
              <a:t>Before preprocessing</a:t>
            </a:r>
            <a:endParaRPr lang="en-IN" dirty="0"/>
          </a:p>
        </p:txBody>
      </p:sp>
      <p:sp>
        <p:nvSpPr>
          <p:cNvPr id="50" name="TextBox 49">
            <a:extLst>
              <a:ext uri="{FF2B5EF4-FFF2-40B4-BE49-F238E27FC236}">
                <a16:creationId xmlns:a16="http://schemas.microsoft.com/office/drawing/2014/main" id="{273542D6-1AED-94DE-8766-CCEAC3DF7F4A}"/>
              </a:ext>
            </a:extLst>
          </p:cNvPr>
          <p:cNvSpPr txBox="1"/>
          <p:nvPr/>
        </p:nvSpPr>
        <p:spPr>
          <a:xfrm>
            <a:off x="921627" y="3843943"/>
            <a:ext cx="1736373" cy="307777"/>
          </a:xfrm>
          <a:prstGeom prst="rect">
            <a:avLst/>
          </a:prstGeom>
          <a:noFill/>
        </p:spPr>
        <p:txBody>
          <a:bodyPr wrap="none" rtlCol="0">
            <a:spAutoFit/>
          </a:bodyPr>
          <a:lstStyle/>
          <a:p>
            <a:r>
              <a:rPr lang="en-US" dirty="0"/>
              <a:t>After preprocessing</a:t>
            </a:r>
            <a:endParaRPr lang="en-IN" dirty="0"/>
          </a:p>
        </p:txBody>
      </p:sp>
      <p:sp>
        <p:nvSpPr>
          <p:cNvPr id="55" name="Slide Number Placeholder 3">
            <a:extLst>
              <a:ext uri="{FF2B5EF4-FFF2-40B4-BE49-F238E27FC236}">
                <a16:creationId xmlns:a16="http://schemas.microsoft.com/office/drawing/2014/main" id="{047E404D-8EA2-C972-85D5-7A643B65FA9E}"/>
              </a:ext>
            </a:extLst>
          </p:cNvPr>
          <p:cNvSpPr txBox="1">
            <a:spLocks/>
          </p:cNvSpPr>
          <p:nvPr/>
        </p:nvSpPr>
        <p:spPr>
          <a:xfrm>
            <a:off x="8370887" y="4533410"/>
            <a:ext cx="549275" cy="393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a:defRPr/>
            </a:pPr>
            <a:fld id="{EF26C623-DE27-4A99-8424-AFD36C142E5A}" type="slidenum">
              <a:rPr lang="en-US" altLang="en-US" smtClean="0"/>
              <a:pPr>
                <a:defRPr/>
              </a:pPr>
              <a:t>22</a:t>
            </a:fld>
            <a:endParaRPr lang="en-US" altLang="en-US"/>
          </a:p>
        </p:txBody>
      </p:sp>
      <p:pic>
        <p:nvPicPr>
          <p:cNvPr id="56" name="Picture 55">
            <a:extLst>
              <a:ext uri="{FF2B5EF4-FFF2-40B4-BE49-F238E27FC236}">
                <a16:creationId xmlns:a16="http://schemas.microsoft.com/office/drawing/2014/main" id="{4B46E93D-A985-415B-1156-6FDB09ABD1B7}"/>
              </a:ext>
            </a:extLst>
          </p:cNvPr>
          <p:cNvPicPr>
            <a:picLocks noChangeAspect="1"/>
          </p:cNvPicPr>
          <p:nvPr/>
        </p:nvPicPr>
        <p:blipFill>
          <a:blip r:embed="rId4"/>
          <a:stretch>
            <a:fillRect/>
          </a:stretch>
        </p:blipFill>
        <p:spPr>
          <a:xfrm>
            <a:off x="533716" y="1026896"/>
            <a:ext cx="943651" cy="673673"/>
          </a:xfrm>
          <a:prstGeom prst="rect">
            <a:avLst/>
          </a:prstGeom>
        </p:spPr>
      </p:pic>
      <p:sp>
        <p:nvSpPr>
          <p:cNvPr id="58" name="TextBox 57">
            <a:extLst>
              <a:ext uri="{FF2B5EF4-FFF2-40B4-BE49-F238E27FC236}">
                <a16:creationId xmlns:a16="http://schemas.microsoft.com/office/drawing/2014/main" id="{699CE38F-37D8-2A1A-D0A7-1E916BCB0D49}"/>
              </a:ext>
            </a:extLst>
          </p:cNvPr>
          <p:cNvSpPr txBox="1"/>
          <p:nvPr/>
        </p:nvSpPr>
        <p:spPr>
          <a:xfrm>
            <a:off x="333965" y="1641392"/>
            <a:ext cx="1406154" cy="307777"/>
          </a:xfrm>
          <a:prstGeom prst="rect">
            <a:avLst/>
          </a:prstGeom>
          <a:noFill/>
        </p:spPr>
        <p:txBody>
          <a:bodyPr wrap="none" rtlCol="0">
            <a:spAutoFit/>
          </a:bodyPr>
          <a:lstStyle/>
          <a:p>
            <a:r>
              <a:rPr lang="en-US" b="1" dirty="0"/>
              <a:t>Retina dataset</a:t>
            </a:r>
            <a:endParaRPr lang="en-IN" b="1" dirty="0"/>
          </a:p>
        </p:txBody>
      </p:sp>
      <p:sp>
        <p:nvSpPr>
          <p:cNvPr id="59" name="Rectangle: Rounded Corners 58">
            <a:extLst>
              <a:ext uri="{FF2B5EF4-FFF2-40B4-BE49-F238E27FC236}">
                <a16:creationId xmlns:a16="http://schemas.microsoft.com/office/drawing/2014/main" id="{E68F6FF2-7302-C2F1-1573-9EA7919C2726}"/>
              </a:ext>
            </a:extLst>
          </p:cNvPr>
          <p:cNvSpPr/>
          <p:nvPr/>
        </p:nvSpPr>
        <p:spPr>
          <a:xfrm>
            <a:off x="3075507" y="1641392"/>
            <a:ext cx="2512054" cy="2662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Picture 51">
            <a:extLst>
              <a:ext uri="{FF2B5EF4-FFF2-40B4-BE49-F238E27FC236}">
                <a16:creationId xmlns:a16="http://schemas.microsoft.com/office/drawing/2014/main" id="{F15A667A-C6DB-4024-EDFB-EEC83492A13A}"/>
              </a:ext>
            </a:extLst>
          </p:cNvPr>
          <p:cNvPicPr>
            <a:picLocks noChangeAspect="1"/>
          </p:cNvPicPr>
          <p:nvPr/>
        </p:nvPicPr>
        <p:blipFill>
          <a:blip r:embed="rId5"/>
          <a:stretch>
            <a:fillRect/>
          </a:stretch>
        </p:blipFill>
        <p:spPr>
          <a:xfrm>
            <a:off x="3337299" y="2777940"/>
            <a:ext cx="1890494" cy="1318518"/>
          </a:xfrm>
          <a:prstGeom prst="rect">
            <a:avLst/>
          </a:prstGeom>
        </p:spPr>
      </p:pic>
      <p:sp>
        <p:nvSpPr>
          <p:cNvPr id="60" name="TextBox 59">
            <a:extLst>
              <a:ext uri="{FF2B5EF4-FFF2-40B4-BE49-F238E27FC236}">
                <a16:creationId xmlns:a16="http://schemas.microsoft.com/office/drawing/2014/main" id="{F0C817FA-9A0F-F627-CB22-87C86109074D}"/>
              </a:ext>
            </a:extLst>
          </p:cNvPr>
          <p:cNvSpPr txBox="1"/>
          <p:nvPr/>
        </p:nvSpPr>
        <p:spPr>
          <a:xfrm>
            <a:off x="3493922" y="1762607"/>
            <a:ext cx="1751638" cy="95410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Feature Extraction</a:t>
            </a:r>
          </a:p>
          <a:p>
            <a:r>
              <a:rPr lang="en-US" b="1" dirty="0">
                <a:latin typeface="Times New Roman" panose="02020603050405020304" pitchFamily="18" charset="0"/>
                <a:cs typeface="Times New Roman" panose="02020603050405020304" pitchFamily="18" charset="0"/>
              </a:rPr>
              <a:t>Using </a:t>
            </a:r>
            <a:r>
              <a:rPr lang="en-IN" b="1" dirty="0">
                <a:latin typeface="Times New Roman" panose="02020603050405020304" pitchFamily="18" charset="0"/>
                <a:cs typeface="Times New Roman" panose="02020603050405020304" pitchFamily="18" charset="0"/>
              </a:rPr>
              <a:t>&amp; Classification Using Capsule Network</a:t>
            </a:r>
          </a:p>
        </p:txBody>
      </p:sp>
      <p:sp>
        <p:nvSpPr>
          <p:cNvPr id="66" name="Arrow: Down 65">
            <a:extLst>
              <a:ext uri="{FF2B5EF4-FFF2-40B4-BE49-F238E27FC236}">
                <a16:creationId xmlns:a16="http://schemas.microsoft.com/office/drawing/2014/main" id="{EEE9E303-F52C-8BD6-670D-EA094270DAD4}"/>
              </a:ext>
            </a:extLst>
          </p:cNvPr>
          <p:cNvSpPr/>
          <p:nvPr/>
        </p:nvSpPr>
        <p:spPr>
          <a:xfrm rot="16200000">
            <a:off x="2785618" y="2861953"/>
            <a:ext cx="149386" cy="37541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Arrow: Down 66">
            <a:extLst>
              <a:ext uri="{FF2B5EF4-FFF2-40B4-BE49-F238E27FC236}">
                <a16:creationId xmlns:a16="http://schemas.microsoft.com/office/drawing/2014/main" id="{2D2F3D13-50C7-FCCC-7D6A-DA6BBA11B095}"/>
              </a:ext>
            </a:extLst>
          </p:cNvPr>
          <p:cNvSpPr/>
          <p:nvPr/>
        </p:nvSpPr>
        <p:spPr>
          <a:xfrm rot="16200000">
            <a:off x="5906253" y="2679237"/>
            <a:ext cx="166447" cy="757910"/>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Down 67">
            <a:extLst>
              <a:ext uri="{FF2B5EF4-FFF2-40B4-BE49-F238E27FC236}">
                <a16:creationId xmlns:a16="http://schemas.microsoft.com/office/drawing/2014/main" id="{B7D73AE7-18FE-BAAA-E31E-A4927E484BEF}"/>
              </a:ext>
            </a:extLst>
          </p:cNvPr>
          <p:cNvSpPr/>
          <p:nvPr/>
        </p:nvSpPr>
        <p:spPr>
          <a:xfrm rot="19720157">
            <a:off x="2087083" y="1403198"/>
            <a:ext cx="149386" cy="81780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6">
            <p14:nvContentPartPr>
              <p14:cNvPr id="75" name="Ink 74">
                <a:extLst>
                  <a:ext uri="{FF2B5EF4-FFF2-40B4-BE49-F238E27FC236}">
                    <a16:creationId xmlns:a16="http://schemas.microsoft.com/office/drawing/2014/main" id="{6A61E6A7-A91E-704B-972B-B80DD6DE83CA}"/>
                  </a:ext>
                </a:extLst>
              </p14:cNvPr>
              <p14:cNvContentPartPr/>
              <p14:nvPr/>
            </p14:nvContentPartPr>
            <p14:xfrm>
              <a:off x="-887379" y="-143238"/>
              <a:ext cx="360" cy="360"/>
            </p14:xfrm>
          </p:contentPart>
        </mc:Choice>
        <mc:Fallback xmlns="">
          <p:pic>
            <p:nvPicPr>
              <p:cNvPr id="75" name="Ink 74">
                <a:extLst>
                  <a:ext uri="{FF2B5EF4-FFF2-40B4-BE49-F238E27FC236}">
                    <a16:creationId xmlns:a16="http://schemas.microsoft.com/office/drawing/2014/main" id="{6A61E6A7-A91E-704B-972B-B80DD6DE83CA}"/>
                  </a:ext>
                </a:extLst>
              </p:cNvPr>
              <p:cNvPicPr/>
              <p:nvPr/>
            </p:nvPicPr>
            <p:blipFill>
              <a:blip r:embed="rId8"/>
              <a:stretch>
                <a:fillRect/>
              </a:stretch>
            </p:blipFill>
            <p:spPr>
              <a:xfrm>
                <a:off x="-905379" y="-161238"/>
                <a:ext cx="36000" cy="36000"/>
              </a:xfrm>
              <a:prstGeom prst="rect">
                <a:avLst/>
              </a:prstGeom>
            </p:spPr>
          </p:pic>
        </mc:Fallback>
      </mc:AlternateContent>
      <p:sp>
        <p:nvSpPr>
          <p:cNvPr id="94" name="TextBox 93">
            <a:extLst>
              <a:ext uri="{FF2B5EF4-FFF2-40B4-BE49-F238E27FC236}">
                <a16:creationId xmlns:a16="http://schemas.microsoft.com/office/drawing/2014/main" id="{97A05908-99FA-2312-F8DC-15E52BE52DFE}"/>
              </a:ext>
            </a:extLst>
          </p:cNvPr>
          <p:cNvSpPr txBox="1"/>
          <p:nvPr/>
        </p:nvSpPr>
        <p:spPr>
          <a:xfrm>
            <a:off x="2208224" y="108706"/>
            <a:ext cx="4994804" cy="538609"/>
          </a:xfrm>
          <a:prstGeom prst="rect">
            <a:avLst/>
          </a:prstGeom>
          <a:noFill/>
        </p:spPr>
        <p:txBody>
          <a:bodyPr wrap="square">
            <a:spAutoFit/>
          </a:bodyPr>
          <a:lstStyle/>
          <a:p>
            <a:pPr algn="ctr"/>
            <a:r>
              <a:rPr lang="en-IN" sz="2900" b="1" dirty="0">
                <a:latin typeface="Times New Roman" panose="02020603050405020304" pitchFamily="18" charset="0"/>
                <a:cs typeface="Times New Roman" panose="02020603050405020304" pitchFamily="18" charset="0"/>
              </a:rPr>
              <a:t>Architecture diagram</a:t>
            </a:r>
          </a:p>
        </p:txBody>
      </p:sp>
      <p:sp>
        <p:nvSpPr>
          <p:cNvPr id="2" name="TextBox 1">
            <a:extLst>
              <a:ext uri="{FF2B5EF4-FFF2-40B4-BE49-F238E27FC236}">
                <a16:creationId xmlns:a16="http://schemas.microsoft.com/office/drawing/2014/main" id="{03A250B3-329F-29C6-AB4C-A0BA43D82AED}"/>
              </a:ext>
            </a:extLst>
          </p:cNvPr>
          <p:cNvSpPr txBox="1"/>
          <p:nvPr/>
        </p:nvSpPr>
        <p:spPr>
          <a:xfrm>
            <a:off x="6677046" y="1181878"/>
            <a:ext cx="1098735" cy="523220"/>
          </a:xfrm>
          <a:prstGeom prst="rect">
            <a:avLst/>
          </a:prstGeom>
          <a:noFill/>
        </p:spPr>
        <p:txBody>
          <a:bodyPr wrap="square" rtlCol="0">
            <a:spAutoFit/>
          </a:bodyPr>
          <a:lstStyle/>
          <a:p>
            <a:r>
              <a:rPr lang="en-IN" b="1" dirty="0"/>
              <a:t>Diabetes Severity</a:t>
            </a:r>
          </a:p>
        </p:txBody>
      </p:sp>
      <p:sp>
        <p:nvSpPr>
          <p:cNvPr id="5" name="Rectangle 4">
            <a:extLst>
              <a:ext uri="{FF2B5EF4-FFF2-40B4-BE49-F238E27FC236}">
                <a16:creationId xmlns:a16="http://schemas.microsoft.com/office/drawing/2014/main" id="{67CB5EC8-E881-4EA3-FE98-4FB8F3FA0FD1}"/>
              </a:ext>
            </a:extLst>
          </p:cNvPr>
          <p:cNvSpPr/>
          <p:nvPr/>
        </p:nvSpPr>
        <p:spPr>
          <a:xfrm>
            <a:off x="6391392" y="1795280"/>
            <a:ext cx="1537487" cy="2333852"/>
          </a:xfrm>
          <a:prstGeom prst="rect">
            <a:avLst/>
          </a:prstGeom>
          <a:solidFill>
            <a:schemeClr val="bg1"/>
          </a:solidFill>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dirty="0"/>
          </a:p>
          <a:p>
            <a:pPr algn="ctr"/>
            <a:endParaRPr lang="en-IN" dirty="0"/>
          </a:p>
        </p:txBody>
      </p:sp>
      <p:cxnSp>
        <p:nvCxnSpPr>
          <p:cNvPr id="7" name="Straight Connector 6">
            <a:extLst>
              <a:ext uri="{FF2B5EF4-FFF2-40B4-BE49-F238E27FC236}">
                <a16:creationId xmlns:a16="http://schemas.microsoft.com/office/drawing/2014/main" id="{5FB4956D-AF29-EDD1-6319-3556E0BE5AEC}"/>
              </a:ext>
            </a:extLst>
          </p:cNvPr>
          <p:cNvCxnSpPr/>
          <p:nvPr/>
        </p:nvCxnSpPr>
        <p:spPr>
          <a:xfrm>
            <a:off x="6368432" y="2239661"/>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49102CD-225E-A49C-8A46-6379EFC5E827}"/>
              </a:ext>
            </a:extLst>
          </p:cNvPr>
          <p:cNvCxnSpPr/>
          <p:nvPr/>
        </p:nvCxnSpPr>
        <p:spPr>
          <a:xfrm>
            <a:off x="6391392" y="2716714"/>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89969F-DF74-C693-143E-ABA5DD00F779}"/>
              </a:ext>
            </a:extLst>
          </p:cNvPr>
          <p:cNvCxnSpPr/>
          <p:nvPr/>
        </p:nvCxnSpPr>
        <p:spPr>
          <a:xfrm>
            <a:off x="6368432" y="3169726"/>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6D4166-1AC6-9822-726E-835B2F4C79EE}"/>
              </a:ext>
            </a:extLst>
          </p:cNvPr>
          <p:cNvCxnSpPr/>
          <p:nvPr/>
        </p:nvCxnSpPr>
        <p:spPr>
          <a:xfrm>
            <a:off x="6368432" y="3630143"/>
            <a:ext cx="1537487"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723DF1A-8F1A-9A34-7AC4-3A074E407129}"/>
              </a:ext>
            </a:extLst>
          </p:cNvPr>
          <p:cNvSpPr txBox="1"/>
          <p:nvPr/>
        </p:nvSpPr>
        <p:spPr>
          <a:xfrm>
            <a:off x="6466426" y="1896499"/>
            <a:ext cx="1341497" cy="523220"/>
          </a:xfrm>
          <a:prstGeom prst="rect">
            <a:avLst/>
          </a:prstGeom>
          <a:noFill/>
        </p:spPr>
        <p:txBody>
          <a:bodyPr wrap="square">
            <a:spAutoFit/>
          </a:bodyPr>
          <a:lstStyle/>
          <a:p>
            <a:pPr algn="ctr"/>
            <a:r>
              <a:rPr lang="en-IN" dirty="0"/>
              <a:t>No Diabetes</a:t>
            </a:r>
          </a:p>
          <a:p>
            <a:pPr algn="ctr"/>
            <a:endParaRPr lang="en-IN" dirty="0"/>
          </a:p>
        </p:txBody>
      </p:sp>
      <p:sp>
        <p:nvSpPr>
          <p:cNvPr id="13" name="TextBox 12">
            <a:extLst>
              <a:ext uri="{FF2B5EF4-FFF2-40B4-BE49-F238E27FC236}">
                <a16:creationId xmlns:a16="http://schemas.microsoft.com/office/drawing/2014/main" id="{0D780130-653B-B737-77AB-538B6760C0EC}"/>
              </a:ext>
            </a:extLst>
          </p:cNvPr>
          <p:cNvSpPr txBox="1"/>
          <p:nvPr/>
        </p:nvSpPr>
        <p:spPr>
          <a:xfrm>
            <a:off x="6888994" y="2350467"/>
            <a:ext cx="628507" cy="307777"/>
          </a:xfrm>
          <a:prstGeom prst="rect">
            <a:avLst/>
          </a:prstGeom>
          <a:noFill/>
        </p:spPr>
        <p:txBody>
          <a:bodyPr wrap="square" rtlCol="0">
            <a:spAutoFit/>
          </a:bodyPr>
          <a:lstStyle/>
          <a:p>
            <a:r>
              <a:rPr lang="en-IN" dirty="0"/>
              <a:t>Mild</a:t>
            </a:r>
          </a:p>
        </p:txBody>
      </p:sp>
      <p:sp>
        <p:nvSpPr>
          <p:cNvPr id="14" name="TextBox 13">
            <a:extLst>
              <a:ext uri="{FF2B5EF4-FFF2-40B4-BE49-F238E27FC236}">
                <a16:creationId xmlns:a16="http://schemas.microsoft.com/office/drawing/2014/main" id="{C0B207D7-EF11-836C-E2A9-6DD2A5D98593}"/>
              </a:ext>
            </a:extLst>
          </p:cNvPr>
          <p:cNvSpPr txBox="1"/>
          <p:nvPr/>
        </p:nvSpPr>
        <p:spPr>
          <a:xfrm>
            <a:off x="6677046" y="2777940"/>
            <a:ext cx="939681" cy="307777"/>
          </a:xfrm>
          <a:prstGeom prst="rect">
            <a:avLst/>
          </a:prstGeom>
          <a:noFill/>
        </p:spPr>
        <p:txBody>
          <a:bodyPr wrap="none" rtlCol="0">
            <a:spAutoFit/>
          </a:bodyPr>
          <a:lstStyle/>
          <a:p>
            <a:r>
              <a:rPr lang="en-IN" dirty="0"/>
              <a:t>Moderate</a:t>
            </a:r>
          </a:p>
        </p:txBody>
      </p:sp>
      <p:sp>
        <p:nvSpPr>
          <p:cNvPr id="15" name="TextBox 14">
            <a:extLst>
              <a:ext uri="{FF2B5EF4-FFF2-40B4-BE49-F238E27FC236}">
                <a16:creationId xmlns:a16="http://schemas.microsoft.com/office/drawing/2014/main" id="{65C63055-FCFA-AF12-C0A4-CFDDBF970D5D}"/>
              </a:ext>
            </a:extLst>
          </p:cNvPr>
          <p:cNvSpPr txBox="1"/>
          <p:nvPr/>
        </p:nvSpPr>
        <p:spPr>
          <a:xfrm>
            <a:off x="6733187" y="3261092"/>
            <a:ext cx="939681" cy="306594"/>
          </a:xfrm>
          <a:prstGeom prst="rect">
            <a:avLst/>
          </a:prstGeom>
          <a:noFill/>
        </p:spPr>
        <p:txBody>
          <a:bodyPr wrap="square" rtlCol="0">
            <a:spAutoFit/>
          </a:bodyPr>
          <a:lstStyle/>
          <a:p>
            <a:r>
              <a:rPr lang="en-IN" dirty="0"/>
              <a:t>Severe</a:t>
            </a:r>
          </a:p>
        </p:txBody>
      </p:sp>
      <p:sp>
        <p:nvSpPr>
          <p:cNvPr id="16" name="TextBox 15">
            <a:extLst>
              <a:ext uri="{FF2B5EF4-FFF2-40B4-BE49-F238E27FC236}">
                <a16:creationId xmlns:a16="http://schemas.microsoft.com/office/drawing/2014/main" id="{105EAE6D-F12C-7A53-7335-A5144C8E45F7}"/>
              </a:ext>
            </a:extLst>
          </p:cNvPr>
          <p:cNvSpPr txBox="1"/>
          <p:nvPr/>
        </p:nvSpPr>
        <p:spPr>
          <a:xfrm>
            <a:off x="6637808" y="3720326"/>
            <a:ext cx="1130438" cy="307777"/>
          </a:xfrm>
          <a:prstGeom prst="rect">
            <a:avLst/>
          </a:prstGeom>
          <a:noFill/>
        </p:spPr>
        <p:txBody>
          <a:bodyPr wrap="none" rtlCol="0">
            <a:spAutoFit/>
          </a:bodyPr>
          <a:lstStyle/>
          <a:p>
            <a:r>
              <a:rPr lang="en-IN" dirty="0"/>
              <a:t>Proliferative</a:t>
            </a:r>
          </a:p>
        </p:txBody>
      </p:sp>
    </p:spTree>
    <p:extLst>
      <p:ext uri="{BB962C8B-B14F-4D97-AF65-F5344CB8AC3E}">
        <p14:creationId xmlns:p14="http://schemas.microsoft.com/office/powerpoint/2010/main" val="408967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E072-FEAF-2AB3-5605-110CD9785DF1}"/>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defRPr/>
            </a:pPr>
            <a:r>
              <a:rPr lang="en-IN" dirty="0">
                <a:latin typeface="Times New Roman" panose="02020603050405020304" pitchFamily="18" charset="0"/>
                <a:cs typeface="Times New Roman" panose="02020603050405020304" pitchFamily="18" charset="0"/>
              </a:rPr>
              <a:t>Methodology</a:t>
            </a:r>
            <a:endParaRPr lang="en-US" dirty="0">
              <a:solidFill>
                <a:schemeClr val="dk1"/>
              </a:solidFill>
              <a:latin typeface="Times New Roman" panose="02020603050405020304" pitchFamily="18" charset="0"/>
              <a:cs typeface="Times New Roman" panose="02020603050405020304" pitchFamily="18" charset="0"/>
              <a:sym typeface="Arial"/>
            </a:endParaRPr>
          </a:p>
        </p:txBody>
      </p:sp>
      <p:sp>
        <p:nvSpPr>
          <p:cNvPr id="12291" name="Slide Number Placeholder 2">
            <a:extLst>
              <a:ext uri="{FF2B5EF4-FFF2-40B4-BE49-F238E27FC236}">
                <a16:creationId xmlns:a16="http://schemas.microsoft.com/office/drawing/2014/main" id="{5D4E9857-593F-94E3-B1F5-D6FF21535EE4}"/>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85B2634-3FD6-49B7-832A-3BFA1738CCD2}" type="slidenum">
              <a:rPr lang="en-US" altLang="en-US" sz="1000" smtClean="0">
                <a:solidFill>
                  <a:srgbClr val="595959"/>
                </a:solidFill>
              </a:rPr>
              <a:pPr/>
              <a:t>23</a:t>
            </a:fld>
            <a:endParaRPr lang="en-US" altLang="en-US" sz="1000">
              <a:solidFill>
                <a:srgbClr val="595959"/>
              </a:solidFill>
            </a:endParaRPr>
          </a:p>
        </p:txBody>
      </p:sp>
      <p:sp>
        <p:nvSpPr>
          <p:cNvPr id="3" name="Rectangle 1">
            <a:extLst>
              <a:ext uri="{FF2B5EF4-FFF2-40B4-BE49-F238E27FC236}">
                <a16:creationId xmlns:a16="http://schemas.microsoft.com/office/drawing/2014/main" id="{2F8895B9-7161-1136-E1B2-585352EB8880}"/>
              </a:ext>
            </a:extLst>
          </p:cNvPr>
          <p:cNvSpPr>
            <a:spLocks noGrp="1" noChangeArrowheads="1"/>
          </p:cNvSpPr>
          <p:nvPr>
            <p:ph type="body" sz="quarter" idx="13"/>
          </p:nvPr>
        </p:nvSpPr>
        <p:spPr bwMode="auto">
          <a:xfrm>
            <a:off x="467268" y="1004587"/>
            <a:ext cx="820946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Data Collection:</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Retinal fundus images are taken from the APTOS 2019 Diabetic Retinopathy Dataset.</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contains images representing different severity stages.</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Widely used and clinically validated dataset.</a:t>
            </a:r>
          </a:p>
          <a:p>
            <a:pPr algn="just"/>
            <a:r>
              <a:rPr lang="en-US" sz="2000" b="1" dirty="0">
                <a:latin typeface="Times New Roman" panose="02020603050405020304" pitchFamily="18" charset="0"/>
                <a:cs typeface="Times New Roman" panose="02020603050405020304" pitchFamily="18" charset="0"/>
              </a:rPr>
              <a:t>Image Preprocessing:</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Images are resized and normalized.</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CLAHE is applied to enhance contrast and highlight lesions.</a:t>
            </a:r>
          </a:p>
          <a:p>
            <a:pPr marL="5715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visibility of important retinal features.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E92D-0088-8732-34EA-18FD880F5C54}"/>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Methodology (</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65FA257A-AADC-1E01-2487-50E37590D65B}"/>
              </a:ext>
            </a:extLst>
          </p:cNvPr>
          <p:cNvSpPr>
            <a:spLocks noGrp="1"/>
          </p:cNvSpPr>
          <p:nvPr>
            <p:ph type="body" sz="quarter" idx="13"/>
          </p:nvPr>
        </p:nvSpPr>
        <p:spPr>
          <a:xfrm>
            <a:off x="190500" y="649693"/>
            <a:ext cx="8763000" cy="4406494"/>
          </a:xfrm>
        </p:spPr>
        <p:txBody>
          <a:bodyPr/>
          <a:lstStyle/>
          <a:p>
            <a:r>
              <a:rPr lang="en-US" sz="2000" b="1" dirty="0">
                <a:latin typeface="Times New Roman" panose="02020603050405020304" pitchFamily="18" charset="0"/>
                <a:cs typeface="Times New Roman" panose="02020603050405020304" pitchFamily="18" charset="0"/>
              </a:rPr>
              <a:t>Feature Extraction using Capsule Network</a:t>
            </a:r>
          </a:p>
          <a:p>
            <a:pPr marL="571500" indent="-34290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CapsNet</a:t>
            </a:r>
            <a:r>
              <a:rPr lang="en-US" sz="2000" dirty="0">
                <a:latin typeface="Times New Roman" panose="02020603050405020304" pitchFamily="18" charset="0"/>
                <a:cs typeface="Times New Roman" panose="02020603050405020304" pitchFamily="18" charset="0"/>
              </a:rPr>
              <a:t> extracts and learns retinal features.</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Convolution layers detect low-level features.</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Capsule layers capture spatial relationships between lesions.</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Dynamic routing improves classification accuracy.</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Preserves part–whole relationships in retinal structures.</a:t>
            </a:r>
          </a:p>
          <a:p>
            <a:r>
              <a:rPr lang="en-US" sz="2000" b="1" dirty="0">
                <a:latin typeface="Times New Roman" panose="02020603050405020304" pitchFamily="18" charset="0"/>
                <a:cs typeface="Times New Roman" panose="02020603050405020304" pitchFamily="18" charset="0"/>
              </a:rPr>
              <a:t>Severity Classification</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Output capsules represent severity levels.</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Multi-class prediction:</a:t>
            </a:r>
          </a:p>
          <a:p>
            <a:pPr marL="10287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Stage 1 – Mild</a:t>
            </a:r>
          </a:p>
          <a:p>
            <a:pPr marL="10287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Stage 2 – Moderate</a:t>
            </a:r>
          </a:p>
          <a:p>
            <a:pPr marL="10287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Stage 3 – Severe</a:t>
            </a:r>
          </a:p>
          <a:p>
            <a:pPr marL="10287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Stage 4 – Proliferative</a:t>
            </a:r>
          </a:p>
          <a:p>
            <a:pPr marL="5715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progression-based severity prediction.</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411969-6462-67B8-8259-736DBD7C5951}"/>
              </a:ext>
            </a:extLst>
          </p:cNvPr>
          <p:cNvSpPr>
            <a:spLocks noGrp="1"/>
          </p:cNvSpPr>
          <p:nvPr>
            <p:ph type="sldNum" idx="14"/>
          </p:nvPr>
        </p:nvSpPr>
        <p:spPr/>
        <p:txBody>
          <a:bodyPr/>
          <a:lstStyle/>
          <a:p>
            <a:pPr>
              <a:defRPr/>
            </a:pPr>
            <a:fld id="{EF26C623-DE27-4A99-8424-AFD36C142E5A}" type="slidenum">
              <a:rPr lang="en-US" altLang="en-US" smtClean="0"/>
              <a:pPr>
                <a:defRPr/>
              </a:pPr>
              <a:t>24</a:t>
            </a:fld>
            <a:endParaRPr lang="en-US" altLang="en-US"/>
          </a:p>
        </p:txBody>
      </p:sp>
    </p:spTree>
    <p:extLst>
      <p:ext uri="{BB962C8B-B14F-4D97-AF65-F5344CB8AC3E}">
        <p14:creationId xmlns:p14="http://schemas.microsoft.com/office/powerpoint/2010/main" val="1287255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8149-48D4-2E95-725A-F197355F92C8}"/>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Software and Hardware Requirements</a:t>
            </a:r>
          </a:p>
        </p:txBody>
      </p:sp>
      <p:sp>
        <p:nvSpPr>
          <p:cNvPr id="13315" name="Slide Number Placeholder 2">
            <a:extLst>
              <a:ext uri="{FF2B5EF4-FFF2-40B4-BE49-F238E27FC236}">
                <a16:creationId xmlns:a16="http://schemas.microsoft.com/office/drawing/2014/main" id="{EBEB7F36-444A-9B89-4FBD-32EA7AA6C0D9}"/>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59822C0A-A6BE-4604-9F79-E3C97FB3A7A3}" type="slidenum">
              <a:rPr lang="en-US" altLang="en-US" sz="1000" smtClean="0">
                <a:solidFill>
                  <a:srgbClr val="595959"/>
                </a:solidFill>
              </a:rPr>
              <a:pPr/>
              <a:t>25</a:t>
            </a:fld>
            <a:endParaRPr lang="en-US" altLang="en-US" sz="1000">
              <a:solidFill>
                <a:srgbClr val="595959"/>
              </a:solidFill>
            </a:endParaRPr>
          </a:p>
        </p:txBody>
      </p:sp>
      <p:graphicFrame>
        <p:nvGraphicFramePr>
          <p:cNvPr id="6" name="Table 5">
            <a:extLst>
              <a:ext uri="{FF2B5EF4-FFF2-40B4-BE49-F238E27FC236}">
                <a16:creationId xmlns:a16="http://schemas.microsoft.com/office/drawing/2014/main" id="{F7ED0FAA-E9A4-5CD3-9C79-FF70B985750E}"/>
              </a:ext>
            </a:extLst>
          </p:cNvPr>
          <p:cNvGraphicFramePr>
            <a:graphicFrameLocks noGrp="1"/>
          </p:cNvGraphicFramePr>
          <p:nvPr>
            <p:extLst>
              <p:ext uri="{D42A27DB-BD31-4B8C-83A1-F6EECF244321}">
                <p14:modId xmlns:p14="http://schemas.microsoft.com/office/powerpoint/2010/main" val="103298585"/>
              </p:ext>
            </p:extLst>
          </p:nvPr>
        </p:nvGraphicFramePr>
        <p:xfrm>
          <a:off x="571498" y="859355"/>
          <a:ext cx="8175626" cy="3809940"/>
        </p:xfrm>
        <a:graphic>
          <a:graphicData uri="http://schemas.openxmlformats.org/drawingml/2006/table">
            <a:tbl>
              <a:tblPr firstRow="1" bandRow="1">
                <a:tableStyleId>{5C22544A-7EE6-4342-B048-85BDC9FD1C3A}</a:tableStyleId>
              </a:tblPr>
              <a:tblGrid>
                <a:gridCol w="4017919">
                  <a:extLst>
                    <a:ext uri="{9D8B030D-6E8A-4147-A177-3AD203B41FA5}">
                      <a16:colId xmlns:a16="http://schemas.microsoft.com/office/drawing/2014/main" val="20000"/>
                    </a:ext>
                  </a:extLst>
                </a:gridCol>
                <a:gridCol w="4157707">
                  <a:extLst>
                    <a:ext uri="{9D8B030D-6E8A-4147-A177-3AD203B41FA5}">
                      <a16:colId xmlns:a16="http://schemas.microsoft.com/office/drawing/2014/main" val="20001"/>
                    </a:ext>
                  </a:extLst>
                </a:gridCol>
              </a:tblGrid>
              <a:tr h="304678">
                <a:tc>
                  <a:txBody>
                    <a:bodyPr/>
                    <a:lstStyle/>
                    <a:p>
                      <a:pPr algn="ctr"/>
                      <a:r>
                        <a:rPr lang="en-US" sz="1400" dirty="0">
                          <a:solidFill>
                            <a:srgbClr val="FFFF00"/>
                          </a:solidFill>
                        </a:rPr>
                        <a:t>SOFTWARE</a:t>
                      </a:r>
                    </a:p>
                  </a:txBody>
                  <a:tcPr marL="91448" marR="91448" marT="45705" marB="45705" anchor="ctr"/>
                </a:tc>
                <a:tc>
                  <a:txBody>
                    <a:bodyPr/>
                    <a:lstStyle/>
                    <a:p>
                      <a:pPr algn="ctr"/>
                      <a:r>
                        <a:rPr lang="en-US" sz="1400" dirty="0">
                          <a:solidFill>
                            <a:srgbClr val="FFFF00"/>
                          </a:solidFill>
                        </a:rPr>
                        <a:t>HARDWARE</a:t>
                      </a:r>
                    </a:p>
                  </a:txBody>
                  <a:tcPr marL="91448" marR="91448" marT="45705" marB="45705" anchor="ctr"/>
                </a:tc>
                <a:extLst>
                  <a:ext uri="{0D108BD9-81ED-4DB2-BD59-A6C34878D82A}">
                    <a16:rowId xmlns:a16="http://schemas.microsoft.com/office/drawing/2014/main" val="10000"/>
                  </a:ext>
                </a:extLst>
              </a:tr>
              <a:tr h="2379785">
                <a:tc>
                  <a:txBody>
                    <a:bodyPr/>
                    <a:lstStyle/>
                    <a:p>
                      <a:pPr algn="just"/>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 </a:t>
                      </a:r>
                    </a:p>
                    <a:p>
                      <a:pPr algn="just"/>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pPr algn="just"/>
                      <a:r>
                        <a:rPr lang="en-IN" b="1" dirty="0">
                          <a:latin typeface="Times New Roman" panose="02020603050405020304" pitchFamily="18" charset="0"/>
                          <a:cs typeface="Times New Roman" panose="02020603050405020304" pitchFamily="18" charset="0"/>
                        </a:rPr>
                        <a:t>Development Environment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 PyCharm </a:t>
                      </a:r>
                    </a:p>
                    <a:p>
                      <a:pPr algn="just"/>
                      <a:r>
                        <a:rPr lang="en-IN" b="1" dirty="0">
                          <a:latin typeface="Times New Roman" panose="02020603050405020304" pitchFamily="18" charset="0"/>
                          <a:cs typeface="Times New Roman" panose="02020603050405020304" pitchFamily="18" charset="0"/>
                        </a:rPr>
                        <a:t>Libraries &amp; Frameworks</a:t>
                      </a:r>
                      <a:r>
                        <a:rPr lang="en-IN" dirty="0">
                          <a:latin typeface="Times New Roman" panose="02020603050405020304" pitchFamily="18" charset="0"/>
                          <a:cs typeface="Times New Roman" panose="02020603050405020304" pitchFamily="18" charset="0"/>
                        </a:rPr>
                        <a:t>:</a:t>
                      </a:r>
                    </a:p>
                    <a:p>
                      <a:r>
                        <a:rPr lang="en-IN" b="0" dirty="0">
                          <a:latin typeface="Times New Roman" panose="02020603050405020304" pitchFamily="18" charset="0"/>
                          <a:cs typeface="Times New Roman" panose="02020603050405020304" pitchFamily="18" charset="0"/>
                        </a:rPr>
                        <a:t>TensorFlow / </a:t>
                      </a:r>
                      <a:r>
                        <a:rPr lang="en-IN" b="0" dirty="0" err="1">
                          <a:latin typeface="Times New Roman" panose="02020603050405020304" pitchFamily="18" charset="0"/>
                          <a:cs typeface="Times New Roman" panose="02020603050405020304" pitchFamily="18" charset="0"/>
                        </a:rPr>
                        <a:t>Keras</a:t>
                      </a:r>
                      <a:r>
                        <a:rPr lang="en-IN" b="0" dirty="0">
                          <a:latin typeface="Times New Roman" panose="02020603050405020304" pitchFamily="18" charset="0"/>
                          <a:cs typeface="Times New Roman" panose="02020603050405020304" pitchFamily="18" charset="0"/>
                        </a:rPr>
                        <a:t> or </a:t>
                      </a:r>
                      <a:r>
                        <a:rPr lang="en-IN" b="0" dirty="0" err="1">
                          <a:latin typeface="Times New Roman" panose="02020603050405020304" pitchFamily="18" charset="0"/>
                          <a:cs typeface="Times New Roman" panose="02020603050405020304" pitchFamily="18" charset="0"/>
                        </a:rPr>
                        <a:t>PyTorch</a:t>
                      </a:r>
                      <a:r>
                        <a:rPr lang="en-IN" b="0" dirty="0">
                          <a:latin typeface="Times New Roman" panose="02020603050405020304" pitchFamily="18" charset="0"/>
                          <a:cs typeface="Times New Roman" panose="02020603050405020304" pitchFamily="18" charset="0"/>
                        </a:rPr>
                        <a:t> (Capsule Network implementation for feature extraction &amp; classification)</a:t>
                      </a:r>
                    </a:p>
                    <a:p>
                      <a:r>
                        <a:rPr lang="en-IN" b="0" dirty="0">
                          <a:latin typeface="Times New Roman" panose="02020603050405020304" pitchFamily="18" charset="0"/>
                          <a:cs typeface="Times New Roman" panose="02020603050405020304" pitchFamily="18" charset="0"/>
                        </a:rPr>
                        <a:t>OpenCV (Image preprocessing and CLAHE enhancement)</a:t>
                      </a:r>
                    </a:p>
                    <a:p>
                      <a:r>
                        <a:rPr lang="en-IN" b="0" dirty="0">
                          <a:latin typeface="Times New Roman" panose="02020603050405020304" pitchFamily="18" charset="0"/>
                          <a:cs typeface="Times New Roman" panose="02020603050405020304" pitchFamily="18" charset="0"/>
                        </a:rPr>
                        <a:t>NumPy, Pandas (Data handling and numerical computation)</a:t>
                      </a:r>
                    </a:p>
                    <a:p>
                      <a:r>
                        <a:rPr lang="en-IN" b="0" dirty="0">
                          <a:latin typeface="Times New Roman" panose="02020603050405020304" pitchFamily="18" charset="0"/>
                          <a:cs typeface="Times New Roman" panose="02020603050405020304" pitchFamily="18" charset="0"/>
                        </a:rPr>
                        <a:t>Scikit-learn (Evaluation metrics and performance analysis)</a:t>
                      </a:r>
                    </a:p>
                    <a:p>
                      <a:r>
                        <a:rPr lang="en-IN" b="0" dirty="0">
                          <a:latin typeface="Times New Roman" panose="02020603050405020304" pitchFamily="18" charset="0"/>
                          <a:cs typeface="Times New Roman" panose="02020603050405020304" pitchFamily="18" charset="0"/>
                        </a:rPr>
                        <a:t>Matplotlib / Seaborn (Result visualization)</a:t>
                      </a:r>
                    </a:p>
                    <a:p>
                      <a:endParaRPr lang="en-US" sz="1400" dirty="0"/>
                    </a:p>
                  </a:txBody>
                  <a:tcPr marL="91448" marR="91448" marT="45705" marB="45705"/>
                </a:tc>
                <a:tc>
                  <a:txBody>
                    <a:bodyPr/>
                    <a:lstStyle/>
                    <a:p>
                      <a:pPr algn="just"/>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i5 or higher</a:t>
                      </a:r>
                    </a:p>
                    <a:p>
                      <a:pPr algn="just"/>
                      <a:r>
                        <a:rPr lang="en-IN" b="1" dirty="0">
                          <a:latin typeface="Times New Roman" panose="02020603050405020304" pitchFamily="18" charset="0"/>
                          <a:cs typeface="Times New Roman" panose="02020603050405020304" pitchFamily="18" charset="0"/>
                        </a:rPr>
                        <a:t>Memory (RAM)</a:t>
                      </a:r>
                      <a:r>
                        <a:rPr lang="en-IN" dirty="0">
                          <a:latin typeface="Times New Roman" panose="02020603050405020304" pitchFamily="18" charset="0"/>
                          <a:cs typeface="Times New Roman" panose="02020603050405020304" pitchFamily="18" charset="0"/>
                        </a:rPr>
                        <a:t>: Minimum 8 GB (16 GB recommended)</a:t>
                      </a:r>
                    </a:p>
                    <a:p>
                      <a:pPr algn="just"/>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Minimum 20 GB free disk space</a:t>
                      </a:r>
                    </a:p>
                    <a:p>
                      <a:pPr algn="just"/>
                      <a:r>
                        <a:rPr lang="en-IN" b="1" dirty="0">
                          <a:latin typeface="Times New Roman" panose="02020603050405020304" pitchFamily="18" charset="0"/>
                          <a:cs typeface="Times New Roman" panose="02020603050405020304" pitchFamily="18" charset="0"/>
                        </a:rPr>
                        <a:t>Input Devices</a:t>
                      </a:r>
                      <a:r>
                        <a:rPr lang="en-IN" dirty="0">
                          <a:latin typeface="Times New Roman" panose="02020603050405020304" pitchFamily="18" charset="0"/>
                          <a:cs typeface="Times New Roman" panose="02020603050405020304" pitchFamily="18" charset="0"/>
                        </a:rPr>
                        <a:t>: Keyboard and Mouse</a:t>
                      </a:r>
                    </a:p>
                    <a:p>
                      <a:pPr algn="just"/>
                      <a:r>
                        <a:rPr lang="en-IN" b="1" dirty="0">
                          <a:latin typeface="Times New Roman" panose="02020603050405020304" pitchFamily="18" charset="0"/>
                          <a:cs typeface="Times New Roman" panose="02020603050405020304" pitchFamily="18" charset="0"/>
                        </a:rPr>
                        <a:t>Output Device</a:t>
                      </a:r>
                      <a:r>
                        <a:rPr lang="en-IN" dirty="0">
                          <a:latin typeface="Times New Roman" panose="02020603050405020304" pitchFamily="18" charset="0"/>
                          <a:cs typeface="Times New Roman" panose="02020603050405020304" pitchFamily="18" charset="0"/>
                        </a:rPr>
                        <a:t>: Monitor</a:t>
                      </a:r>
                    </a:p>
                    <a:p>
                      <a:endParaRPr lang="en-US" sz="1400" dirty="0"/>
                    </a:p>
                  </a:txBody>
                  <a:tcPr marL="91448" marR="91448" marT="45705" marB="45705"/>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D383-7C2E-175D-CF39-99054404C8DC}"/>
              </a:ext>
            </a:extLst>
          </p:cNvPr>
          <p:cNvSpPr>
            <a:spLocks noGrp="1"/>
          </p:cNvSpPr>
          <p:nvPr>
            <p:ph type="ctrTitle"/>
          </p:nvPr>
        </p:nvSpPr>
        <p:spPr>
          <a:xfrm>
            <a:off x="0" y="0"/>
            <a:ext cx="9144000" cy="649288"/>
          </a:xfrm>
        </p:spPr>
        <p:txBody>
          <a:bodyPr>
            <a:normAutofit fontScale="90000"/>
          </a:bodyPr>
          <a:lstStyle/>
          <a:p>
            <a:pPr algn="l">
              <a:defRPr/>
            </a:pPr>
            <a:r>
              <a:rPr lang="en-US" dirty="0"/>
              <a:t>Datasets Details</a:t>
            </a:r>
          </a:p>
        </p:txBody>
      </p:sp>
      <p:sp>
        <p:nvSpPr>
          <p:cNvPr id="3" name="Text Placeholder 2">
            <a:extLst>
              <a:ext uri="{FF2B5EF4-FFF2-40B4-BE49-F238E27FC236}">
                <a16:creationId xmlns:a16="http://schemas.microsoft.com/office/drawing/2014/main" id="{CC669247-AE56-0F1C-7920-5A070ED37EF9}"/>
              </a:ext>
            </a:extLst>
          </p:cNvPr>
          <p:cNvSpPr>
            <a:spLocks noGrp="1"/>
          </p:cNvSpPr>
          <p:nvPr>
            <p:ph type="body" sz="quarter" idx="13"/>
          </p:nvPr>
        </p:nvSpPr>
        <p:spPr>
          <a:xfrm>
            <a:off x="190500" y="649287"/>
            <a:ext cx="8763000" cy="4295692"/>
          </a:xfrm>
        </p:spPr>
        <p:txBody>
          <a:bodyPr/>
          <a:lstStyle/>
          <a:p>
            <a:pPr marL="5143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DDR Diabetic Retinopathy Dataset </a:t>
            </a:r>
          </a:p>
          <a:p>
            <a:pPr marL="5143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Source: </a:t>
            </a:r>
            <a:r>
              <a:rPr lang="en-IN" sz="2000" dirty="0" err="1">
                <a:latin typeface="Times New Roman" panose="02020603050405020304" pitchFamily="18" charset="0"/>
                <a:cs typeface="Times New Roman" panose="02020603050405020304" pitchFamily="18" charset="0"/>
              </a:rPr>
              <a:t>Github</a:t>
            </a:r>
            <a:r>
              <a:rPr lang="en-IN" sz="2000" dirty="0">
                <a:latin typeface="Times New Roman" panose="02020603050405020304" pitchFamily="18" charset="0"/>
                <a:cs typeface="Times New Roman" panose="02020603050405020304" pitchFamily="18" charset="0"/>
              </a:rPr>
              <a:t> </a:t>
            </a:r>
          </a:p>
          <a:p>
            <a:pPr marL="5143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Link: </a:t>
            </a:r>
            <a:r>
              <a:rPr lang="en-IN" sz="2000" dirty="0">
                <a:latin typeface="Times New Roman" panose="02020603050405020304" pitchFamily="18" charset="0"/>
                <a:cs typeface="Times New Roman" panose="02020603050405020304" pitchFamily="18" charset="0"/>
              </a:rPr>
              <a:t>https://github.com/nkicsl/DDR-dataset </a:t>
            </a:r>
          </a:p>
          <a:p>
            <a:pPr marL="5143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Dataset Size</a:t>
            </a:r>
            <a:r>
              <a:rPr lang="en-IN" sz="2000" dirty="0">
                <a:latin typeface="Times New Roman" panose="02020603050405020304" pitchFamily="18" charset="0"/>
                <a:cs typeface="Times New Roman" panose="02020603050405020304" pitchFamily="18" charset="0"/>
              </a:rPr>
              <a:t>:13,673 retinal fundus images (for DR grading)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757 images with lesion segmentation mask </a:t>
            </a:r>
          </a:p>
          <a:p>
            <a:pPr marL="5143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Fields / Attributes: </a:t>
            </a:r>
          </a:p>
          <a:p>
            <a:pPr marL="9715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 ID (filename) </a:t>
            </a:r>
          </a:p>
          <a:p>
            <a:pPr marL="9715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DR Severity Label (0 to 4) </a:t>
            </a:r>
          </a:p>
          <a:p>
            <a:pPr marL="14287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0 = No DR </a:t>
            </a:r>
          </a:p>
          <a:p>
            <a:pPr marL="14287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1 = Mild </a:t>
            </a:r>
          </a:p>
          <a:p>
            <a:pPr marL="14287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2 = Moderate </a:t>
            </a:r>
          </a:p>
          <a:p>
            <a:pPr marL="14287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3 = Severe </a:t>
            </a:r>
          </a:p>
          <a:p>
            <a:pPr marL="14287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4 = Proliferative</a:t>
            </a:r>
          </a:p>
          <a:p>
            <a:pPr marL="1143000" lvl="2" indent="0"/>
            <a:endParaRPr lang="en-IN" sz="2000" dirty="0">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0CDA1D8E-9DE7-9299-8603-468CCDC455A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26</a:t>
            </a:fld>
            <a:endParaRPr lang="en-US" altLang="en-US" sz="1000">
              <a:solidFill>
                <a:srgbClr val="59595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103FF-271C-A4EE-20F2-BD6A7A8D7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B81BF-B280-F9DB-EDB9-F64ABD3E1FE4}"/>
              </a:ext>
            </a:extLst>
          </p:cNvPr>
          <p:cNvSpPr>
            <a:spLocks noGrp="1"/>
          </p:cNvSpPr>
          <p:nvPr>
            <p:ph type="ctrTitle"/>
          </p:nvPr>
        </p:nvSpPr>
        <p:spPr>
          <a:xfrm>
            <a:off x="0" y="0"/>
            <a:ext cx="9144000" cy="649288"/>
          </a:xfrm>
        </p:spPr>
        <p:txBody>
          <a:bodyPr>
            <a:normAutofit fontScale="90000"/>
          </a:bodyPr>
          <a:lstStyle/>
          <a:p>
            <a:pPr algn="l">
              <a:defRPr/>
            </a:pPr>
            <a:r>
              <a:rPr lang="en-US" dirty="0">
                <a:latin typeface="Times New Roman" panose="02020603050405020304" pitchFamily="18" charset="0"/>
                <a:cs typeface="Times New Roman" panose="02020603050405020304" pitchFamily="18" charset="0"/>
              </a:rPr>
              <a:t>Datasets Details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US" dirty="0"/>
          </a:p>
        </p:txBody>
      </p:sp>
      <p:sp>
        <p:nvSpPr>
          <p:cNvPr id="3" name="Text Placeholder 2">
            <a:extLst>
              <a:ext uri="{FF2B5EF4-FFF2-40B4-BE49-F238E27FC236}">
                <a16:creationId xmlns:a16="http://schemas.microsoft.com/office/drawing/2014/main" id="{E92CB53B-593C-BF37-3B74-90181000CDBB}"/>
              </a:ext>
            </a:extLst>
          </p:cNvPr>
          <p:cNvSpPr>
            <a:spLocks noGrp="1"/>
          </p:cNvSpPr>
          <p:nvPr>
            <p:ph type="body" sz="quarter" idx="13"/>
          </p:nvPr>
        </p:nvSpPr>
        <p:spPr>
          <a:xfrm>
            <a:off x="190500" y="649287"/>
            <a:ext cx="8763000" cy="4704766"/>
          </a:xfrm>
        </p:spPr>
        <p:txBody>
          <a:bodyPr/>
          <a:lstStyle/>
          <a:p>
            <a:pPr marL="5715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Lesion Annotations (Segmentation Masks):</a:t>
            </a:r>
          </a:p>
          <a:p>
            <a:pPr marL="10287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Microaneurysms (MA)</a:t>
            </a:r>
          </a:p>
          <a:p>
            <a:pPr marL="1028700" lvl="1"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Hemorrhages</a:t>
            </a:r>
            <a:r>
              <a:rPr lang="en-IN" sz="2000" dirty="0">
                <a:latin typeface="Times New Roman" panose="02020603050405020304" pitchFamily="18" charset="0"/>
                <a:cs typeface="Times New Roman" panose="02020603050405020304" pitchFamily="18" charset="0"/>
              </a:rPr>
              <a:t> (HE)</a:t>
            </a:r>
          </a:p>
          <a:p>
            <a:pPr marL="10287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Hard Exudates (EX)</a:t>
            </a:r>
          </a:p>
          <a:p>
            <a:pPr marL="10287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Soft Exudates (SE)</a:t>
            </a:r>
          </a:p>
          <a:p>
            <a:pPr marL="1485900" lvl="2"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876E2F61-8517-5B37-E587-8F9136C6E7E5}"/>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27</a:t>
            </a:fld>
            <a:endParaRPr lang="en-US" altLang="en-US" sz="1000">
              <a:solidFill>
                <a:srgbClr val="595959"/>
              </a:solidFill>
            </a:endParaRPr>
          </a:p>
        </p:txBody>
      </p:sp>
    </p:spTree>
    <p:extLst>
      <p:ext uri="{BB962C8B-B14F-4D97-AF65-F5344CB8AC3E}">
        <p14:creationId xmlns:p14="http://schemas.microsoft.com/office/powerpoint/2010/main" val="2706579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353;p10">
            <a:extLst>
              <a:ext uri="{FF2B5EF4-FFF2-40B4-BE49-F238E27FC236}">
                <a16:creationId xmlns:a16="http://schemas.microsoft.com/office/drawing/2014/main" id="{282C01C4-5AF4-E105-CF53-C6068852F6CC}"/>
              </a:ext>
            </a:extLst>
          </p:cNvPr>
          <p:cNvSpPr txBox="1">
            <a:spLocks noChangeArrowheads="1"/>
          </p:cNvSpPr>
          <p:nvPr/>
        </p:nvSpPr>
        <p:spPr bwMode="auto">
          <a:xfrm>
            <a:off x="33980" y="-16294"/>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 connectivity diagram</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7BF554AC-3717-081D-FA46-5C3F010DB62B}"/>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pic>
        <p:nvPicPr>
          <p:cNvPr id="17" name="Picture 16">
            <a:extLst>
              <a:ext uri="{FF2B5EF4-FFF2-40B4-BE49-F238E27FC236}">
                <a16:creationId xmlns:a16="http://schemas.microsoft.com/office/drawing/2014/main" id="{50EE91D3-6A8C-043D-B18B-325451DDC5D5}"/>
              </a:ext>
            </a:extLst>
          </p:cNvPr>
          <p:cNvPicPr>
            <a:picLocks noChangeAspect="1"/>
          </p:cNvPicPr>
          <p:nvPr/>
        </p:nvPicPr>
        <p:blipFill>
          <a:blip r:embed="rId3"/>
          <a:stretch>
            <a:fillRect/>
          </a:stretch>
        </p:blipFill>
        <p:spPr>
          <a:xfrm>
            <a:off x="347530" y="789551"/>
            <a:ext cx="7392822" cy="415846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CA73F-6CB3-D658-16E3-633EF3D0E96C}"/>
              </a:ext>
            </a:extLst>
          </p:cNvPr>
          <p:cNvSpPr>
            <a:spLocks noGrp="1"/>
          </p:cNvSpPr>
          <p:nvPr>
            <p:ph type="sldNum" idx="12"/>
          </p:nvPr>
        </p:nvSpPr>
        <p:spPr/>
        <p:txBody>
          <a:bodyPr/>
          <a:lstStyle/>
          <a:p>
            <a:pPr>
              <a:defRPr/>
            </a:pPr>
            <a:fld id="{AB5C6F64-D26D-4FBC-90B6-E341FAA65E65}" type="slidenum">
              <a:rPr lang="en-US" smtClean="0"/>
              <a:pPr>
                <a:defRPr/>
              </a:pPr>
              <a:t>29</a:t>
            </a:fld>
            <a:endParaRPr lang="en-US"/>
          </a:p>
        </p:txBody>
      </p:sp>
      <p:sp>
        <p:nvSpPr>
          <p:cNvPr id="3" name="Rectangle 2">
            <a:extLst>
              <a:ext uri="{FF2B5EF4-FFF2-40B4-BE49-F238E27FC236}">
                <a16:creationId xmlns:a16="http://schemas.microsoft.com/office/drawing/2014/main" id="{8EE731BC-4C84-6C4C-6EFB-43832CF50AE6}"/>
              </a:ext>
            </a:extLst>
          </p:cNvPr>
          <p:cNvSpPr/>
          <p:nvPr/>
        </p:nvSpPr>
        <p:spPr>
          <a:xfrm>
            <a:off x="3707904" y="81845"/>
            <a:ext cx="1512168" cy="9777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F398DA90-D3C8-BD90-B810-AD7FE9D19D27}"/>
              </a:ext>
            </a:extLst>
          </p:cNvPr>
          <p:cNvSpPr/>
          <p:nvPr/>
        </p:nvSpPr>
        <p:spPr>
          <a:xfrm>
            <a:off x="3954938" y="152669"/>
            <a:ext cx="1049110" cy="33084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Input module</a:t>
            </a:r>
            <a:endParaRPr lang="en-IN" sz="1200" dirty="0">
              <a:solidFill>
                <a:schemeClr val="tx1"/>
              </a:solidFill>
              <a:latin typeface="Bahnschrift Condensed" panose="020B0502040204020203" pitchFamily="34" charset="0"/>
            </a:endParaRPr>
          </a:p>
        </p:txBody>
      </p:sp>
      <p:sp>
        <p:nvSpPr>
          <p:cNvPr id="15" name="Rectangle: Rounded Corners 14">
            <a:extLst>
              <a:ext uri="{FF2B5EF4-FFF2-40B4-BE49-F238E27FC236}">
                <a16:creationId xmlns:a16="http://schemas.microsoft.com/office/drawing/2014/main" id="{0D6F8B22-1777-78DD-F287-A8D53CD7048E}"/>
              </a:ext>
            </a:extLst>
          </p:cNvPr>
          <p:cNvSpPr/>
          <p:nvPr/>
        </p:nvSpPr>
        <p:spPr>
          <a:xfrm>
            <a:off x="3995936" y="725555"/>
            <a:ext cx="936104" cy="2251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Preprocessing</a:t>
            </a:r>
            <a:endParaRPr lang="en-IN" sz="1200" dirty="0">
              <a:latin typeface="Bahnschrift Condensed" panose="020B0502040204020203" pitchFamily="34" charset="0"/>
            </a:endParaRPr>
          </a:p>
        </p:txBody>
      </p:sp>
      <p:sp>
        <p:nvSpPr>
          <p:cNvPr id="16" name="Rectangle 15">
            <a:extLst>
              <a:ext uri="{FF2B5EF4-FFF2-40B4-BE49-F238E27FC236}">
                <a16:creationId xmlns:a16="http://schemas.microsoft.com/office/drawing/2014/main" id="{253B225B-4883-5E08-48D4-AA3F64F234B5}"/>
              </a:ext>
            </a:extLst>
          </p:cNvPr>
          <p:cNvSpPr/>
          <p:nvPr/>
        </p:nvSpPr>
        <p:spPr>
          <a:xfrm>
            <a:off x="1580083" y="1319130"/>
            <a:ext cx="1440161" cy="103243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21EA8945-2652-408B-1A95-B11A594D4C5D}"/>
              </a:ext>
            </a:extLst>
          </p:cNvPr>
          <p:cNvSpPr/>
          <p:nvPr/>
        </p:nvSpPr>
        <p:spPr>
          <a:xfrm>
            <a:off x="5724128" y="1223277"/>
            <a:ext cx="1944217" cy="12241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2067EFCB-8903-BD6E-2E39-99453DFE53D9}"/>
              </a:ext>
            </a:extLst>
          </p:cNvPr>
          <p:cNvSpPr/>
          <p:nvPr/>
        </p:nvSpPr>
        <p:spPr>
          <a:xfrm>
            <a:off x="1842416" y="1491630"/>
            <a:ext cx="915497" cy="2160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Lesion mask</a:t>
            </a:r>
          </a:p>
        </p:txBody>
      </p:sp>
      <p:sp>
        <p:nvSpPr>
          <p:cNvPr id="20" name="Rectangle: Rounded Corners 19">
            <a:extLst>
              <a:ext uri="{FF2B5EF4-FFF2-40B4-BE49-F238E27FC236}">
                <a16:creationId xmlns:a16="http://schemas.microsoft.com/office/drawing/2014/main" id="{9378932C-8AA2-95E2-7ECF-F9A5E6805670}"/>
              </a:ext>
            </a:extLst>
          </p:cNvPr>
          <p:cNvSpPr/>
          <p:nvPr/>
        </p:nvSpPr>
        <p:spPr>
          <a:xfrm>
            <a:off x="1842415" y="2021652"/>
            <a:ext cx="915498" cy="21602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Segmentation </a:t>
            </a:r>
            <a:endParaRPr lang="en-IN" sz="1200" dirty="0">
              <a:solidFill>
                <a:schemeClr val="tx1"/>
              </a:solidFill>
              <a:latin typeface="Bahnschrift Condensed" panose="020B0502040204020203" pitchFamily="34" charset="0"/>
            </a:endParaRPr>
          </a:p>
        </p:txBody>
      </p:sp>
      <p:sp>
        <p:nvSpPr>
          <p:cNvPr id="25" name="Rectangle 24">
            <a:extLst>
              <a:ext uri="{FF2B5EF4-FFF2-40B4-BE49-F238E27FC236}">
                <a16:creationId xmlns:a16="http://schemas.microsoft.com/office/drawing/2014/main" id="{58A64C8D-5B6B-1133-B88B-89F59B99755D}"/>
              </a:ext>
            </a:extLst>
          </p:cNvPr>
          <p:cNvSpPr/>
          <p:nvPr/>
        </p:nvSpPr>
        <p:spPr>
          <a:xfrm>
            <a:off x="5403300" y="2859782"/>
            <a:ext cx="2605272" cy="17598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79E511F8-CD7D-63F7-B995-4672EE9986DB}"/>
              </a:ext>
            </a:extLst>
          </p:cNvPr>
          <p:cNvSpPr/>
          <p:nvPr/>
        </p:nvSpPr>
        <p:spPr>
          <a:xfrm>
            <a:off x="6051631" y="2983346"/>
            <a:ext cx="1224136" cy="36314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UKPDS lookup table</a:t>
            </a:r>
          </a:p>
        </p:txBody>
      </p:sp>
      <p:sp>
        <p:nvSpPr>
          <p:cNvPr id="28" name="Rectangle: Rounded Corners 27">
            <a:extLst>
              <a:ext uri="{FF2B5EF4-FFF2-40B4-BE49-F238E27FC236}">
                <a16:creationId xmlns:a16="http://schemas.microsoft.com/office/drawing/2014/main" id="{A96FE362-52CD-2BF6-63A9-3B00E55B4EB8}"/>
              </a:ext>
            </a:extLst>
          </p:cNvPr>
          <p:cNvSpPr/>
          <p:nvPr/>
        </p:nvSpPr>
        <p:spPr>
          <a:xfrm>
            <a:off x="6077447" y="3590804"/>
            <a:ext cx="1224136" cy="36314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Hb1Ac estimation</a:t>
            </a:r>
            <a:endParaRPr lang="en-IN" sz="1200" dirty="0">
              <a:solidFill>
                <a:schemeClr val="tx1"/>
              </a:solidFill>
              <a:latin typeface="Bahnschrift Condensed" panose="020B0502040204020203" pitchFamily="34" charset="0"/>
            </a:endParaRPr>
          </a:p>
        </p:txBody>
      </p:sp>
      <p:sp>
        <p:nvSpPr>
          <p:cNvPr id="29" name="Rectangle: Rounded Corners 28">
            <a:extLst>
              <a:ext uri="{FF2B5EF4-FFF2-40B4-BE49-F238E27FC236}">
                <a16:creationId xmlns:a16="http://schemas.microsoft.com/office/drawing/2014/main" id="{3046D5AC-61E2-A115-F6B4-56D88E7FA9F5}"/>
              </a:ext>
            </a:extLst>
          </p:cNvPr>
          <p:cNvSpPr/>
          <p:nvPr/>
        </p:nvSpPr>
        <p:spPr>
          <a:xfrm>
            <a:off x="5979527" y="4184743"/>
            <a:ext cx="1673914" cy="36314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Glucose level prediction</a:t>
            </a:r>
            <a:endParaRPr lang="en-IN" sz="1200" dirty="0">
              <a:solidFill>
                <a:schemeClr val="tx1"/>
              </a:solidFill>
              <a:latin typeface="Bahnschrift Condensed" panose="020B0502040204020203" pitchFamily="34" charset="0"/>
            </a:endParaRPr>
          </a:p>
        </p:txBody>
      </p:sp>
      <p:sp>
        <p:nvSpPr>
          <p:cNvPr id="30" name="Rectangle: Rounded Corners 29">
            <a:extLst>
              <a:ext uri="{FF2B5EF4-FFF2-40B4-BE49-F238E27FC236}">
                <a16:creationId xmlns:a16="http://schemas.microsoft.com/office/drawing/2014/main" id="{749748F9-6499-B2CB-20C8-D1BC6B980DDD}"/>
              </a:ext>
            </a:extLst>
          </p:cNvPr>
          <p:cNvSpPr/>
          <p:nvPr/>
        </p:nvSpPr>
        <p:spPr>
          <a:xfrm>
            <a:off x="6005441" y="1328887"/>
            <a:ext cx="1296143" cy="32548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Bahnschrift Condensed" panose="020B0502040204020203" pitchFamily="34" charset="0"/>
              </a:rPr>
              <a:t>C</a:t>
            </a:r>
            <a:r>
              <a:rPr lang="en-US" sz="1200" dirty="0" err="1">
                <a:solidFill>
                  <a:schemeClr val="tx1"/>
                </a:solidFill>
                <a:latin typeface="Bahnschrift Condensed" panose="020B0502040204020203" pitchFamily="34" charset="0"/>
              </a:rPr>
              <a:t>Severity</a:t>
            </a:r>
            <a:r>
              <a:rPr lang="en-US" sz="1200" dirty="0">
                <a:solidFill>
                  <a:schemeClr val="tx1"/>
                </a:solidFill>
                <a:latin typeface="Bahnschrift Condensed" panose="020B0502040204020203" pitchFamily="34" charset="0"/>
              </a:rPr>
              <a:t> prediction</a:t>
            </a:r>
            <a:endParaRPr lang="en-IN" sz="1200" dirty="0">
              <a:latin typeface="Bahnschrift Condensed" panose="020B0502040204020203" pitchFamily="34" charset="0"/>
            </a:endParaRPr>
          </a:p>
        </p:txBody>
      </p:sp>
      <p:sp>
        <p:nvSpPr>
          <p:cNvPr id="31" name="Rectangle: Rounded Corners 30">
            <a:extLst>
              <a:ext uri="{FF2B5EF4-FFF2-40B4-BE49-F238E27FC236}">
                <a16:creationId xmlns:a16="http://schemas.microsoft.com/office/drawing/2014/main" id="{26B343FF-B0FC-BAB6-5BF6-3F0B6CC8F69B}"/>
              </a:ext>
            </a:extLst>
          </p:cNvPr>
          <p:cNvSpPr/>
          <p:nvPr/>
        </p:nvSpPr>
        <p:spPr>
          <a:xfrm>
            <a:off x="6005440" y="1940780"/>
            <a:ext cx="1296143" cy="32548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ahnschrift Condensed" panose="020B0502040204020203" pitchFamily="34" charset="0"/>
              </a:rPr>
              <a:t>C</a:t>
            </a:r>
            <a:r>
              <a:rPr lang="en-US" sz="1200" dirty="0">
                <a:solidFill>
                  <a:schemeClr val="tx1"/>
                </a:solidFill>
                <a:latin typeface="Bahnschrift Condensed" panose="020B0502040204020203" pitchFamily="34" charset="0"/>
              </a:rPr>
              <a:t>DR grade</a:t>
            </a:r>
            <a:endParaRPr lang="en-IN" sz="1200" dirty="0">
              <a:latin typeface="Bahnschrift Condensed" panose="020B0502040204020203" pitchFamily="34" charset="0"/>
            </a:endParaRPr>
          </a:p>
        </p:txBody>
      </p:sp>
      <p:sp>
        <p:nvSpPr>
          <p:cNvPr id="32" name="Rectangle 31">
            <a:extLst>
              <a:ext uri="{FF2B5EF4-FFF2-40B4-BE49-F238E27FC236}">
                <a16:creationId xmlns:a16="http://schemas.microsoft.com/office/drawing/2014/main" id="{37C505AD-4488-4499-881E-07B6D90491EB}"/>
              </a:ext>
            </a:extLst>
          </p:cNvPr>
          <p:cNvSpPr/>
          <p:nvPr/>
        </p:nvSpPr>
        <p:spPr>
          <a:xfrm>
            <a:off x="3020244" y="4112972"/>
            <a:ext cx="975692" cy="4349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Output module</a:t>
            </a:r>
            <a:endParaRPr lang="en-IN" sz="1200" dirty="0">
              <a:solidFill>
                <a:schemeClr val="tx1"/>
              </a:solidFill>
              <a:latin typeface="Bahnschrift Condensed" panose="020B0502040204020203" pitchFamily="34" charset="0"/>
            </a:endParaRPr>
          </a:p>
        </p:txBody>
      </p:sp>
    </p:spTree>
    <p:extLst>
      <p:ext uri="{BB962C8B-B14F-4D97-AF65-F5344CB8AC3E}">
        <p14:creationId xmlns:p14="http://schemas.microsoft.com/office/powerpoint/2010/main" val="3920122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260265-72AA-051E-E961-03E1DD7BEDC7}"/>
              </a:ext>
            </a:extLst>
          </p:cNvPr>
          <p:cNvSpPr>
            <a:spLocks noGrp="1"/>
          </p:cNvSpPr>
          <p:nvPr>
            <p:ph type="sldNum" idx="12"/>
          </p:nvPr>
        </p:nvSpPr>
        <p:spPr/>
        <p:txBody>
          <a:bodyPr/>
          <a:lstStyle/>
          <a:p>
            <a:pPr>
              <a:defRPr/>
            </a:pPr>
            <a:fld id="{AB5C6F64-D26D-4FBC-90B6-E341FAA65E65}" type="slidenum">
              <a:rPr lang="en-US" smtClean="0"/>
              <a:pPr>
                <a:defRPr/>
              </a:pPr>
              <a:t>30</a:t>
            </a:fld>
            <a:endParaRPr lang="en-US" dirty="0"/>
          </a:p>
        </p:txBody>
      </p:sp>
      <p:sp>
        <p:nvSpPr>
          <p:cNvPr id="9" name="Rectangle: Rounded Corners 8">
            <a:extLst>
              <a:ext uri="{FF2B5EF4-FFF2-40B4-BE49-F238E27FC236}">
                <a16:creationId xmlns:a16="http://schemas.microsoft.com/office/drawing/2014/main" id="{653BDE9F-D933-F837-1695-7DD22C991577}"/>
              </a:ext>
            </a:extLst>
          </p:cNvPr>
          <p:cNvSpPr/>
          <p:nvPr/>
        </p:nvSpPr>
        <p:spPr>
          <a:xfrm>
            <a:off x="4072737" y="497600"/>
            <a:ext cx="973636"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Input image</a:t>
            </a:r>
            <a:endParaRPr lang="en-IN" sz="1200" dirty="0">
              <a:solidFill>
                <a:schemeClr val="tx1"/>
              </a:solidFill>
              <a:latin typeface="Bahnschrift Condensed" panose="020B0502040204020203" pitchFamily="34" charset="0"/>
            </a:endParaRPr>
          </a:p>
        </p:txBody>
      </p:sp>
      <p:sp>
        <p:nvSpPr>
          <p:cNvPr id="4" name="Diamond 3">
            <a:extLst>
              <a:ext uri="{FF2B5EF4-FFF2-40B4-BE49-F238E27FC236}">
                <a16:creationId xmlns:a16="http://schemas.microsoft.com/office/drawing/2014/main" id="{5061F684-2E56-60C8-B34C-A2EB37D68D2D}"/>
              </a:ext>
            </a:extLst>
          </p:cNvPr>
          <p:cNvSpPr/>
          <p:nvPr/>
        </p:nvSpPr>
        <p:spPr>
          <a:xfrm>
            <a:off x="3983277" y="846022"/>
            <a:ext cx="1160329" cy="638940"/>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Valid image? </a:t>
            </a:r>
            <a:endParaRPr lang="en-IN" sz="1200" dirty="0">
              <a:solidFill>
                <a:schemeClr val="tx1"/>
              </a:solidFill>
              <a:latin typeface="Bahnschrift Condensed" panose="020B0502040204020203" pitchFamily="34" charset="0"/>
            </a:endParaRPr>
          </a:p>
        </p:txBody>
      </p:sp>
      <p:sp>
        <p:nvSpPr>
          <p:cNvPr id="14" name="Diamond 13">
            <a:extLst>
              <a:ext uri="{FF2B5EF4-FFF2-40B4-BE49-F238E27FC236}">
                <a16:creationId xmlns:a16="http://schemas.microsoft.com/office/drawing/2014/main" id="{19CA15D6-171B-663B-01AB-148CF5539FD3}"/>
              </a:ext>
            </a:extLst>
          </p:cNvPr>
          <p:cNvSpPr/>
          <p:nvPr/>
        </p:nvSpPr>
        <p:spPr>
          <a:xfrm>
            <a:off x="3966517" y="2546834"/>
            <a:ext cx="1160329" cy="638940"/>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Lesion found ?</a:t>
            </a:r>
            <a:endParaRPr lang="en-IN" sz="1200" dirty="0">
              <a:solidFill>
                <a:schemeClr val="tx1"/>
              </a:solidFill>
              <a:latin typeface="Bahnschrift Condensed" panose="020B0502040204020203" pitchFamily="34" charset="0"/>
            </a:endParaRPr>
          </a:p>
        </p:txBody>
      </p:sp>
      <p:sp>
        <p:nvSpPr>
          <p:cNvPr id="16" name="Rectangle: Rounded Corners 15">
            <a:extLst>
              <a:ext uri="{FF2B5EF4-FFF2-40B4-BE49-F238E27FC236}">
                <a16:creationId xmlns:a16="http://schemas.microsoft.com/office/drawing/2014/main" id="{65970EDA-410F-2B69-80BF-74108F9782A7}"/>
              </a:ext>
            </a:extLst>
          </p:cNvPr>
          <p:cNvSpPr/>
          <p:nvPr/>
        </p:nvSpPr>
        <p:spPr>
          <a:xfrm>
            <a:off x="4009897" y="3372367"/>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Severity  Prediction</a:t>
            </a:r>
            <a:endParaRPr lang="en-IN" sz="1200" dirty="0">
              <a:solidFill>
                <a:schemeClr val="tx1"/>
              </a:solidFill>
              <a:latin typeface="Bahnschrift Condensed" panose="020B0502040204020203" pitchFamily="34" charset="0"/>
            </a:endParaRPr>
          </a:p>
        </p:txBody>
      </p:sp>
      <p:sp>
        <p:nvSpPr>
          <p:cNvPr id="17" name="Rectangle: Rounded Corners 16">
            <a:extLst>
              <a:ext uri="{FF2B5EF4-FFF2-40B4-BE49-F238E27FC236}">
                <a16:creationId xmlns:a16="http://schemas.microsoft.com/office/drawing/2014/main" id="{3804D3B6-1845-B1C0-5A2F-311FD7263D12}"/>
              </a:ext>
            </a:extLst>
          </p:cNvPr>
          <p:cNvSpPr/>
          <p:nvPr/>
        </p:nvSpPr>
        <p:spPr>
          <a:xfrm>
            <a:off x="4017516" y="4376364"/>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Display result</a:t>
            </a:r>
            <a:endParaRPr lang="en-IN" sz="1200" dirty="0">
              <a:solidFill>
                <a:schemeClr val="tx1"/>
              </a:solidFill>
              <a:latin typeface="Bahnschrift Condensed" panose="020B0502040204020203" pitchFamily="34" charset="0"/>
            </a:endParaRPr>
          </a:p>
        </p:txBody>
      </p:sp>
      <p:sp>
        <p:nvSpPr>
          <p:cNvPr id="18" name="Rectangle: Rounded Corners 17">
            <a:extLst>
              <a:ext uri="{FF2B5EF4-FFF2-40B4-BE49-F238E27FC236}">
                <a16:creationId xmlns:a16="http://schemas.microsoft.com/office/drawing/2014/main" id="{1C3F5F65-777A-EC7D-D9E5-1AD0CA15B76A}"/>
              </a:ext>
            </a:extLst>
          </p:cNvPr>
          <p:cNvSpPr/>
          <p:nvPr/>
        </p:nvSpPr>
        <p:spPr>
          <a:xfrm>
            <a:off x="4017516" y="3862210"/>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UKPDS </a:t>
            </a:r>
            <a:r>
              <a:rPr lang="en-US" sz="1200" dirty="0" err="1">
                <a:solidFill>
                  <a:schemeClr val="tx1"/>
                </a:solidFill>
                <a:latin typeface="Bahnschrift Condensed" panose="020B0502040204020203" pitchFamily="34" charset="0"/>
              </a:rPr>
              <a:t>lookup+CART</a:t>
            </a:r>
            <a:endParaRPr lang="en-IN" sz="1200" dirty="0">
              <a:solidFill>
                <a:schemeClr val="tx1"/>
              </a:solidFill>
              <a:latin typeface="Bahnschrift Condensed" panose="020B0502040204020203" pitchFamily="34" charset="0"/>
            </a:endParaRPr>
          </a:p>
        </p:txBody>
      </p:sp>
      <p:sp>
        <p:nvSpPr>
          <p:cNvPr id="19" name="Rectangle: Rounded Corners 18">
            <a:extLst>
              <a:ext uri="{FF2B5EF4-FFF2-40B4-BE49-F238E27FC236}">
                <a16:creationId xmlns:a16="http://schemas.microsoft.com/office/drawing/2014/main" id="{B8FD0122-B1E6-4884-4962-B41C82380966}"/>
              </a:ext>
            </a:extLst>
          </p:cNvPr>
          <p:cNvSpPr/>
          <p:nvPr/>
        </p:nvSpPr>
        <p:spPr>
          <a:xfrm>
            <a:off x="4161324" y="123478"/>
            <a:ext cx="770716" cy="182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start</a:t>
            </a:r>
            <a:endParaRPr lang="en-IN" sz="1200" dirty="0">
              <a:solidFill>
                <a:schemeClr val="tx1"/>
              </a:solidFill>
              <a:latin typeface="Bahnschrift Condensed" panose="020B0502040204020203" pitchFamily="34" charset="0"/>
            </a:endParaRPr>
          </a:p>
        </p:txBody>
      </p:sp>
      <p:sp>
        <p:nvSpPr>
          <p:cNvPr id="20" name="Rectangle: Rounded Corners 19">
            <a:extLst>
              <a:ext uri="{FF2B5EF4-FFF2-40B4-BE49-F238E27FC236}">
                <a16:creationId xmlns:a16="http://schemas.microsoft.com/office/drawing/2014/main" id="{670DB57F-D562-6D9F-7247-B915D2F5CD02}"/>
              </a:ext>
            </a:extLst>
          </p:cNvPr>
          <p:cNvSpPr/>
          <p:nvPr/>
        </p:nvSpPr>
        <p:spPr>
          <a:xfrm>
            <a:off x="4186642" y="4890518"/>
            <a:ext cx="770716" cy="182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End</a:t>
            </a:r>
            <a:endParaRPr lang="en-IN" sz="1200" dirty="0">
              <a:solidFill>
                <a:schemeClr val="tx1"/>
              </a:solidFill>
              <a:latin typeface="Bahnschrift Condensed" panose="020B0502040204020203" pitchFamily="34" charset="0"/>
            </a:endParaRPr>
          </a:p>
        </p:txBody>
      </p:sp>
      <p:sp>
        <p:nvSpPr>
          <p:cNvPr id="21" name="Rectangle: Rounded Corners 20">
            <a:extLst>
              <a:ext uri="{FF2B5EF4-FFF2-40B4-BE49-F238E27FC236}">
                <a16:creationId xmlns:a16="http://schemas.microsoft.com/office/drawing/2014/main" id="{E6BF7CD3-0881-4B24-2904-FD349732E9DF}"/>
              </a:ext>
            </a:extLst>
          </p:cNvPr>
          <p:cNvSpPr/>
          <p:nvPr/>
        </p:nvSpPr>
        <p:spPr>
          <a:xfrm>
            <a:off x="4017517" y="2159023"/>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U-net Segmentation</a:t>
            </a:r>
            <a:endParaRPr lang="en-IN" sz="1200" dirty="0">
              <a:solidFill>
                <a:schemeClr val="tx1"/>
              </a:solidFill>
              <a:latin typeface="Bahnschrift Condensed" panose="020B0502040204020203" pitchFamily="34" charset="0"/>
            </a:endParaRPr>
          </a:p>
        </p:txBody>
      </p:sp>
      <p:sp>
        <p:nvSpPr>
          <p:cNvPr id="23" name="Rectangle: Rounded Corners 22">
            <a:extLst>
              <a:ext uri="{FF2B5EF4-FFF2-40B4-BE49-F238E27FC236}">
                <a16:creationId xmlns:a16="http://schemas.microsoft.com/office/drawing/2014/main" id="{123DF3AF-0C01-8AB1-BDB5-46132A0A7F34}"/>
              </a:ext>
            </a:extLst>
          </p:cNvPr>
          <p:cNvSpPr/>
          <p:nvPr/>
        </p:nvSpPr>
        <p:spPr>
          <a:xfrm>
            <a:off x="4007471" y="1702539"/>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Preprocess image</a:t>
            </a:r>
            <a:endParaRPr lang="en-IN" sz="1200" dirty="0">
              <a:solidFill>
                <a:schemeClr val="tx1"/>
              </a:solidFill>
              <a:latin typeface="Bahnschrift Condensed" panose="020B0502040204020203" pitchFamily="34" charset="0"/>
            </a:endParaRPr>
          </a:p>
        </p:txBody>
      </p:sp>
      <p:sp>
        <p:nvSpPr>
          <p:cNvPr id="25" name="Rectangle: Rounded Corners 24">
            <a:extLst>
              <a:ext uri="{FF2B5EF4-FFF2-40B4-BE49-F238E27FC236}">
                <a16:creationId xmlns:a16="http://schemas.microsoft.com/office/drawing/2014/main" id="{53B4085B-C8D7-4166-C978-2B5FB97FF598}"/>
              </a:ext>
            </a:extLst>
          </p:cNvPr>
          <p:cNvSpPr/>
          <p:nvPr/>
        </p:nvSpPr>
        <p:spPr>
          <a:xfrm>
            <a:off x="7411977" y="987574"/>
            <a:ext cx="749499" cy="2386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Reject</a:t>
            </a:r>
            <a:endParaRPr lang="en-IN" sz="1200" dirty="0">
              <a:solidFill>
                <a:schemeClr val="tx1"/>
              </a:solidFill>
              <a:latin typeface="Bahnschrift Condensed" panose="020B0502040204020203" pitchFamily="34" charset="0"/>
            </a:endParaRPr>
          </a:p>
        </p:txBody>
      </p:sp>
      <p:sp>
        <p:nvSpPr>
          <p:cNvPr id="26" name="Rectangle: Rounded Corners 25">
            <a:extLst>
              <a:ext uri="{FF2B5EF4-FFF2-40B4-BE49-F238E27FC236}">
                <a16:creationId xmlns:a16="http://schemas.microsoft.com/office/drawing/2014/main" id="{EE7A72DB-2157-44B3-3A82-4DC3297B880C}"/>
              </a:ext>
            </a:extLst>
          </p:cNvPr>
          <p:cNvSpPr/>
          <p:nvPr/>
        </p:nvSpPr>
        <p:spPr>
          <a:xfrm>
            <a:off x="7411977" y="2715766"/>
            <a:ext cx="749499" cy="2386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Grade 0 </a:t>
            </a:r>
            <a:endParaRPr lang="en-IN" sz="1200" dirty="0">
              <a:solidFill>
                <a:schemeClr val="tx1"/>
              </a:solidFill>
              <a:latin typeface="Bahnschrift Condensed" panose="020B0502040204020203" pitchFamily="34" charset="0"/>
            </a:endParaRPr>
          </a:p>
        </p:txBody>
      </p:sp>
    </p:spTree>
    <p:extLst>
      <p:ext uri="{BB962C8B-B14F-4D97-AF65-F5344CB8AC3E}">
        <p14:creationId xmlns:p14="http://schemas.microsoft.com/office/powerpoint/2010/main" val="3380498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ylinder 8">
            <a:extLst>
              <a:ext uri="{FF2B5EF4-FFF2-40B4-BE49-F238E27FC236}">
                <a16:creationId xmlns:a16="http://schemas.microsoft.com/office/drawing/2014/main" id="{FBE2E79E-B906-9736-A1BB-03076F200310}"/>
              </a:ext>
            </a:extLst>
          </p:cNvPr>
          <p:cNvSpPr/>
          <p:nvPr/>
        </p:nvSpPr>
        <p:spPr>
          <a:xfrm>
            <a:off x="1187624" y="87474"/>
            <a:ext cx="720080" cy="64807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Bahnschrift Condensed" panose="020B0502040204020203" pitchFamily="34" charset="0"/>
              </a:rPr>
              <a:t>Fundus image input</a:t>
            </a:r>
            <a:endParaRPr lang="en-IN" sz="900" dirty="0">
              <a:solidFill>
                <a:schemeClr val="tx1"/>
              </a:solidFill>
              <a:latin typeface="Bahnschrift Condensed" panose="020B0502040204020203" pitchFamily="34" charset="0"/>
            </a:endParaRPr>
          </a:p>
        </p:txBody>
      </p:sp>
      <p:sp>
        <p:nvSpPr>
          <p:cNvPr id="10" name="Rectangle 9">
            <a:extLst>
              <a:ext uri="{FF2B5EF4-FFF2-40B4-BE49-F238E27FC236}">
                <a16:creationId xmlns:a16="http://schemas.microsoft.com/office/drawing/2014/main" id="{44A94EE1-2C54-BBDD-9CB9-6DE5210CD0AA}"/>
              </a:ext>
            </a:extLst>
          </p:cNvPr>
          <p:cNvSpPr/>
          <p:nvPr/>
        </p:nvSpPr>
        <p:spPr>
          <a:xfrm>
            <a:off x="3491880" y="195486"/>
            <a:ext cx="1800200" cy="432048"/>
          </a:xfrm>
          <a:prstGeom prst="rect">
            <a:avLst/>
          </a:prstGeom>
          <a:solidFill>
            <a:schemeClr val="accent1">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Bahnschrift Condensed" panose="020B0502040204020203" pitchFamily="34" charset="0"/>
              </a:rPr>
              <a:t>Preprocessing</a:t>
            </a:r>
          </a:p>
          <a:p>
            <a:pPr algn="ctr"/>
            <a:r>
              <a:rPr lang="en-US" sz="900" dirty="0"/>
              <a:t>Ben </a:t>
            </a:r>
            <a:r>
              <a:rPr lang="en-US" sz="900" dirty="0" err="1"/>
              <a:t>Graham+CLAHE+resize</a:t>
            </a:r>
            <a:endParaRPr lang="en-IN" sz="900" dirty="0"/>
          </a:p>
        </p:txBody>
      </p:sp>
      <p:sp>
        <p:nvSpPr>
          <p:cNvPr id="11" name="Rectangle 10">
            <a:extLst>
              <a:ext uri="{FF2B5EF4-FFF2-40B4-BE49-F238E27FC236}">
                <a16:creationId xmlns:a16="http://schemas.microsoft.com/office/drawing/2014/main" id="{B147A6E0-6EFE-5B08-623E-447283A09E18}"/>
              </a:ext>
            </a:extLst>
          </p:cNvPr>
          <p:cNvSpPr/>
          <p:nvPr/>
        </p:nvSpPr>
        <p:spPr>
          <a:xfrm>
            <a:off x="2856222" y="923393"/>
            <a:ext cx="3096344" cy="4320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U-Net segmentation</a:t>
            </a:r>
          </a:p>
          <a:p>
            <a:pPr algn="ctr"/>
            <a:r>
              <a:rPr lang="en-US" sz="900" dirty="0">
                <a:solidFill>
                  <a:schemeClr val="tx1"/>
                </a:solidFill>
              </a:rPr>
              <a:t>EfficientNet-B4 encoder</a:t>
            </a:r>
            <a:endParaRPr lang="en-IN" sz="900" dirty="0">
              <a:solidFill>
                <a:schemeClr val="tx1"/>
              </a:solidFill>
            </a:endParaRPr>
          </a:p>
        </p:txBody>
      </p:sp>
      <p:sp>
        <p:nvSpPr>
          <p:cNvPr id="12" name="Rectangle 11">
            <a:extLst>
              <a:ext uri="{FF2B5EF4-FFF2-40B4-BE49-F238E27FC236}">
                <a16:creationId xmlns:a16="http://schemas.microsoft.com/office/drawing/2014/main" id="{766D8470-351C-4381-6652-70C92D34E2FF}"/>
              </a:ext>
            </a:extLst>
          </p:cNvPr>
          <p:cNvSpPr/>
          <p:nvPr/>
        </p:nvSpPr>
        <p:spPr>
          <a:xfrm>
            <a:off x="3131840" y="1725047"/>
            <a:ext cx="2592288" cy="4320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Feature extraction</a:t>
            </a:r>
          </a:p>
          <a:p>
            <a:pPr algn="ctr"/>
            <a:r>
              <a:rPr lang="en-US" sz="900" dirty="0">
                <a:solidFill>
                  <a:schemeClr val="tx1"/>
                </a:solidFill>
              </a:rPr>
              <a:t>35 lesions+12 engineered features</a:t>
            </a:r>
            <a:endParaRPr lang="en-IN" sz="900" dirty="0">
              <a:solidFill>
                <a:schemeClr val="tx1"/>
              </a:solidFill>
            </a:endParaRPr>
          </a:p>
        </p:txBody>
      </p:sp>
      <p:sp>
        <p:nvSpPr>
          <p:cNvPr id="13" name="Rectangle 12">
            <a:extLst>
              <a:ext uri="{FF2B5EF4-FFF2-40B4-BE49-F238E27FC236}">
                <a16:creationId xmlns:a16="http://schemas.microsoft.com/office/drawing/2014/main" id="{9896E211-2A00-9A09-C896-CED9F3C7731D}"/>
              </a:ext>
            </a:extLst>
          </p:cNvPr>
          <p:cNvSpPr/>
          <p:nvPr/>
        </p:nvSpPr>
        <p:spPr>
          <a:xfrm>
            <a:off x="3491880" y="2526701"/>
            <a:ext cx="1944216" cy="4320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CNN classifier</a:t>
            </a:r>
          </a:p>
          <a:p>
            <a:pPr algn="ctr"/>
            <a:r>
              <a:rPr lang="en-US" sz="900" dirty="0">
                <a:solidFill>
                  <a:schemeClr val="tx1"/>
                </a:solidFill>
              </a:rPr>
              <a:t>DR grade prediction:0-4</a:t>
            </a:r>
            <a:endParaRPr lang="en-IN" sz="900" dirty="0">
              <a:solidFill>
                <a:schemeClr val="tx1"/>
              </a:solidFill>
            </a:endParaRPr>
          </a:p>
        </p:txBody>
      </p:sp>
      <p:sp>
        <p:nvSpPr>
          <p:cNvPr id="15" name="Rectangle 14">
            <a:extLst>
              <a:ext uri="{FF2B5EF4-FFF2-40B4-BE49-F238E27FC236}">
                <a16:creationId xmlns:a16="http://schemas.microsoft.com/office/drawing/2014/main" id="{46797CF9-F5A4-2880-46F4-899F13B7461E}"/>
              </a:ext>
            </a:extLst>
          </p:cNvPr>
          <p:cNvSpPr/>
          <p:nvPr/>
        </p:nvSpPr>
        <p:spPr>
          <a:xfrm>
            <a:off x="3167844" y="4030244"/>
            <a:ext cx="2592288" cy="4320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CART regression</a:t>
            </a:r>
          </a:p>
          <a:p>
            <a:pPr algn="ctr"/>
            <a:r>
              <a:rPr lang="en-US" sz="900" dirty="0">
                <a:solidFill>
                  <a:schemeClr val="tx1"/>
                </a:solidFill>
              </a:rPr>
              <a:t>HbA1c-&gt;glucose(mg/dL)</a:t>
            </a:r>
            <a:endParaRPr lang="en-IN" sz="900" dirty="0">
              <a:solidFill>
                <a:schemeClr val="tx1"/>
              </a:solidFill>
            </a:endParaRPr>
          </a:p>
        </p:txBody>
      </p:sp>
      <p:sp>
        <p:nvSpPr>
          <p:cNvPr id="16" name="Rectangle 15">
            <a:extLst>
              <a:ext uri="{FF2B5EF4-FFF2-40B4-BE49-F238E27FC236}">
                <a16:creationId xmlns:a16="http://schemas.microsoft.com/office/drawing/2014/main" id="{460F8A9E-7296-E1C0-3380-C9284887CF04}"/>
              </a:ext>
            </a:extLst>
          </p:cNvPr>
          <p:cNvSpPr/>
          <p:nvPr/>
        </p:nvSpPr>
        <p:spPr>
          <a:xfrm>
            <a:off x="3419872" y="3328499"/>
            <a:ext cx="2088232" cy="43204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UKPDS clinical lookup</a:t>
            </a:r>
          </a:p>
          <a:p>
            <a:pPr algn="ctr"/>
            <a:r>
              <a:rPr lang="en-US" sz="900" dirty="0">
                <a:solidFill>
                  <a:schemeClr val="tx1"/>
                </a:solidFill>
              </a:rPr>
              <a:t>DR grade-&gt;Hba1c range</a:t>
            </a:r>
            <a:endParaRPr lang="en-IN" sz="900" dirty="0">
              <a:solidFill>
                <a:schemeClr val="tx1"/>
              </a:solidFill>
            </a:endParaRPr>
          </a:p>
        </p:txBody>
      </p:sp>
      <p:sp>
        <p:nvSpPr>
          <p:cNvPr id="17" name="Rectangle 16">
            <a:extLst>
              <a:ext uri="{FF2B5EF4-FFF2-40B4-BE49-F238E27FC236}">
                <a16:creationId xmlns:a16="http://schemas.microsoft.com/office/drawing/2014/main" id="{91E61D54-E8BA-6433-7281-985C379E13E9}"/>
              </a:ext>
            </a:extLst>
          </p:cNvPr>
          <p:cNvSpPr/>
          <p:nvPr/>
        </p:nvSpPr>
        <p:spPr>
          <a:xfrm>
            <a:off x="2987824" y="4731990"/>
            <a:ext cx="3096344" cy="41151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Condensed" panose="020B0502040204020203" pitchFamily="34" charset="0"/>
              </a:rPr>
              <a:t>Output visualization</a:t>
            </a:r>
          </a:p>
          <a:p>
            <a:pPr algn="ctr"/>
            <a:r>
              <a:rPr lang="en-US" sz="900" dirty="0">
                <a:solidFill>
                  <a:schemeClr val="tx1"/>
                </a:solidFill>
              </a:rPr>
              <a:t>Lesion </a:t>
            </a:r>
            <a:r>
              <a:rPr lang="en-US" sz="900" dirty="0" err="1">
                <a:solidFill>
                  <a:schemeClr val="tx1"/>
                </a:solidFill>
              </a:rPr>
              <a:t>map.DR</a:t>
            </a:r>
            <a:r>
              <a:rPr lang="en-US" sz="900" dirty="0">
                <a:solidFill>
                  <a:schemeClr val="tx1"/>
                </a:solidFill>
              </a:rPr>
              <a:t> grade.Hba1c.glucose</a:t>
            </a:r>
            <a:endParaRPr lang="en-IN" sz="900" dirty="0">
              <a:solidFill>
                <a:schemeClr val="tx1"/>
              </a:solidFill>
            </a:endParaRPr>
          </a:p>
        </p:txBody>
      </p:sp>
      <p:cxnSp>
        <p:nvCxnSpPr>
          <p:cNvPr id="21" name="Straight Arrow Connector 20">
            <a:extLst>
              <a:ext uri="{FF2B5EF4-FFF2-40B4-BE49-F238E27FC236}">
                <a16:creationId xmlns:a16="http://schemas.microsoft.com/office/drawing/2014/main" id="{A4B09CB5-E6D5-C822-68F2-F33FEBFDEA81}"/>
              </a:ext>
            </a:extLst>
          </p:cNvPr>
          <p:cNvCxnSpPr>
            <a:stCxn id="9" idx="4"/>
            <a:endCxn id="10" idx="1"/>
          </p:cNvCxnSpPr>
          <p:nvPr/>
        </p:nvCxnSpPr>
        <p:spPr>
          <a:xfrm>
            <a:off x="1907704" y="411510"/>
            <a:ext cx="15841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14441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Google Shape;353;p10">
            <a:extLst>
              <a:ext uri="{FF2B5EF4-FFF2-40B4-BE49-F238E27FC236}">
                <a16:creationId xmlns:a16="http://schemas.microsoft.com/office/drawing/2014/main" id="{4F59C8A2-002C-F045-8E5E-FAD699B40539}"/>
              </a:ext>
            </a:extLst>
          </p:cNvPr>
          <p:cNvSpPr txBox="1">
            <a:spLocks noChangeArrowheads="1"/>
          </p:cNvSpPr>
          <p:nvPr/>
        </p:nvSpPr>
        <p:spPr bwMode="auto">
          <a:xfrm>
            <a:off x="107504" y="-11433"/>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Data flow diagram</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0535120F-2FB0-3766-91DA-868EAB126271}"/>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5" name="TextBox 4">
            <a:extLst>
              <a:ext uri="{FF2B5EF4-FFF2-40B4-BE49-F238E27FC236}">
                <a16:creationId xmlns:a16="http://schemas.microsoft.com/office/drawing/2014/main" id="{528B906E-443F-0E1D-2E69-2C387015B5B5}"/>
              </a:ext>
            </a:extLst>
          </p:cNvPr>
          <p:cNvSpPr txBox="1"/>
          <p:nvPr/>
        </p:nvSpPr>
        <p:spPr>
          <a:xfrm>
            <a:off x="309563" y="749300"/>
            <a:ext cx="8180387" cy="830997"/>
          </a:xfrm>
          <a:prstGeom prst="rect">
            <a:avLst/>
          </a:prstGeom>
          <a:noFill/>
        </p:spPr>
        <p:txBody>
          <a:bodyPr>
            <a:spAutoFit/>
          </a:bodyPr>
          <a:lstStyle/>
          <a:p>
            <a:pPr>
              <a:defRPr/>
            </a:pPr>
            <a:endParaRPr lang="en-US" sz="2400" dirty="0">
              <a:latin typeface="+mj-lt"/>
            </a:endParaRPr>
          </a:p>
          <a:p>
            <a:pPr marL="342900" indent="-342900">
              <a:buFont typeface="Wingdings" panose="05000000000000000000" pitchFamily="2" charset="2"/>
              <a:buChar char="q"/>
              <a:defRPr/>
            </a:pPr>
            <a:endParaRPr lang="en-IN" sz="2400" kern="100" dirty="0">
              <a:latin typeface="Times New Roman(Body)"/>
              <a:ea typeface="Calibri" panose="020F0502020204030204" pitchFamily="34"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Google Shape;353;p10">
            <a:extLst>
              <a:ext uri="{FF2B5EF4-FFF2-40B4-BE49-F238E27FC236}">
                <a16:creationId xmlns:a16="http://schemas.microsoft.com/office/drawing/2014/main" id="{F29BAD73-0E68-0E1B-97D9-2D33E27B14A6}"/>
              </a:ext>
            </a:extLst>
          </p:cNvPr>
          <p:cNvSpPr txBox="1">
            <a:spLocks noChangeArrowheads="1"/>
          </p:cNvSpPr>
          <p:nvPr/>
        </p:nvSpPr>
        <p:spPr bwMode="auto">
          <a:xfrm>
            <a:off x="107504" y="-53778"/>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Control flow diagram</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B15051C5-DB64-B433-28D5-C756BB6F1373}"/>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pic>
        <p:nvPicPr>
          <p:cNvPr id="16" name="Picture 15">
            <a:extLst>
              <a:ext uri="{FF2B5EF4-FFF2-40B4-BE49-F238E27FC236}">
                <a16:creationId xmlns:a16="http://schemas.microsoft.com/office/drawing/2014/main" id="{A8F79DC7-099D-5CDF-2BF5-D247BF3066BD}"/>
              </a:ext>
            </a:extLst>
          </p:cNvPr>
          <p:cNvPicPr>
            <a:picLocks noChangeAspect="1"/>
          </p:cNvPicPr>
          <p:nvPr/>
        </p:nvPicPr>
        <p:blipFill>
          <a:blip r:embed="rId3"/>
          <a:stretch>
            <a:fillRect/>
          </a:stretch>
        </p:blipFill>
        <p:spPr>
          <a:xfrm>
            <a:off x="3131840" y="597294"/>
            <a:ext cx="4248472" cy="442306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DC94BE16-323E-1E3F-DBD0-77BFAFEA69EA}"/>
              </a:ext>
            </a:extLst>
          </p:cNvPr>
          <p:cNvSpPr txBox="1">
            <a:spLocks noChangeArrowheads="1"/>
          </p:cNvSpPr>
          <p:nvPr/>
        </p:nvSpPr>
        <p:spPr bwMode="auto">
          <a:xfrm>
            <a:off x="635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Modules description(add slides for these)</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15BACA0E-BB7B-0BD7-2B29-19DCA9CD786B}"/>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5" name="TextBox 4">
            <a:extLst>
              <a:ext uri="{FF2B5EF4-FFF2-40B4-BE49-F238E27FC236}">
                <a16:creationId xmlns:a16="http://schemas.microsoft.com/office/drawing/2014/main" id="{C93F0017-6773-9E92-4246-8C924C187270}"/>
              </a:ext>
            </a:extLst>
          </p:cNvPr>
          <p:cNvSpPr txBox="1"/>
          <p:nvPr/>
        </p:nvSpPr>
        <p:spPr>
          <a:xfrm>
            <a:off x="309563" y="749300"/>
            <a:ext cx="8180387" cy="4154488"/>
          </a:xfrm>
          <a:prstGeom prst="rect">
            <a:avLst/>
          </a:prstGeom>
          <a:noFill/>
        </p:spPr>
        <p:txBody>
          <a:bodyPr>
            <a:spAutoFit/>
          </a:bodyPr>
          <a:lstStyle/>
          <a:p>
            <a:pPr marL="342900" indent="-342900">
              <a:buFont typeface="Wingdings" panose="05000000000000000000" pitchFamily="2" charset="2"/>
              <a:buChar char="q"/>
              <a:defRPr/>
            </a:pPr>
            <a:r>
              <a:rPr lang="en-IN" sz="2400" kern="100" dirty="0">
                <a:latin typeface="Times New Roman (Body)"/>
                <a:ea typeface="Calibri" panose="020F0502020204030204" pitchFamily="34" charset="0"/>
                <a:cs typeface="Times New Roman" panose="02020603050405020304" pitchFamily="18" charset="0"/>
              </a:rPr>
              <a:t>Present each module as a </a:t>
            </a:r>
            <a:r>
              <a:rPr lang="en-IN" sz="2400" b="1" kern="100" dirty="0">
                <a:latin typeface="Times New Roman (Body)"/>
                <a:ea typeface="Calibri" panose="020F0502020204030204" pitchFamily="34" charset="0"/>
                <a:cs typeface="Times New Roman" panose="02020603050405020304" pitchFamily="18" charset="0"/>
              </a:rPr>
              <a:t>self-contained unit</a:t>
            </a:r>
            <a:r>
              <a:rPr lang="en-IN" sz="2400" kern="100" dirty="0">
                <a:latin typeface="Times New Roman (Body)"/>
                <a:ea typeface="Calibri" panose="020F0502020204030204" pitchFamily="34" charset="0"/>
                <a:cs typeface="Times New Roman" panose="02020603050405020304" pitchFamily="18" charset="0"/>
              </a:rPr>
              <a:t> with a clear role.</a:t>
            </a:r>
          </a:p>
          <a:p>
            <a:pPr marL="342900" indent="-342900">
              <a:buFont typeface="Wingdings" panose="05000000000000000000" pitchFamily="2" charset="2"/>
              <a:buChar char="q"/>
              <a:defRPr/>
            </a:pPr>
            <a:r>
              <a:rPr lang="en-US" sz="2400" kern="100" dirty="0">
                <a:latin typeface="Times New Roman (Body)"/>
                <a:ea typeface="Calibri" panose="020F0502020204030204" pitchFamily="34" charset="0"/>
                <a:cs typeface="Times New Roman" panose="02020603050405020304" pitchFamily="18" charset="0"/>
              </a:rPr>
              <a:t>For each module, explain: </a:t>
            </a:r>
          </a:p>
          <a:p>
            <a:pPr marL="800100" lvl="1" indent="-342900">
              <a:buFont typeface="Wingdings" panose="05000000000000000000" pitchFamily="2" charset="2"/>
              <a:buChar char="q"/>
              <a:defRPr/>
            </a:pPr>
            <a:r>
              <a:rPr lang="en-US" sz="2400" kern="100" dirty="0">
                <a:latin typeface="Times New Roman (Body)"/>
                <a:ea typeface="Calibri" panose="020F0502020204030204" pitchFamily="34" charset="0"/>
                <a:cs typeface="Times New Roman" panose="02020603050405020304" pitchFamily="18" charset="0"/>
              </a:rPr>
              <a:t>Inputs (data, parameters)</a:t>
            </a:r>
          </a:p>
          <a:p>
            <a:pPr marL="800100" lvl="1" indent="-342900">
              <a:buFont typeface="Wingdings" panose="05000000000000000000" pitchFamily="2" charset="2"/>
              <a:buChar char="q"/>
              <a:defRPr/>
            </a:pPr>
            <a:r>
              <a:rPr lang="en-US" sz="2400" kern="100" dirty="0">
                <a:latin typeface="Times New Roman (Body)"/>
                <a:ea typeface="Calibri" panose="020F0502020204030204" pitchFamily="34" charset="0"/>
                <a:cs typeface="Times New Roman" panose="02020603050405020304" pitchFamily="18" charset="0"/>
              </a:rPr>
              <a:t>Processing logic (algorithms, methods, tools)</a:t>
            </a:r>
          </a:p>
          <a:p>
            <a:pPr marL="800100" lvl="1" indent="-342900">
              <a:buFont typeface="Wingdings" panose="05000000000000000000" pitchFamily="2" charset="2"/>
              <a:buChar char="q"/>
              <a:defRPr/>
            </a:pPr>
            <a:r>
              <a:rPr lang="en-US" sz="2400" kern="100" dirty="0">
                <a:latin typeface="Times New Roman (Body)"/>
                <a:ea typeface="Calibri" panose="020F0502020204030204" pitchFamily="34" charset="0"/>
                <a:cs typeface="Times New Roman" panose="02020603050405020304" pitchFamily="18" charset="0"/>
              </a:rPr>
              <a:t>Outputs (cleaned data, features, predictions, metrics)</a:t>
            </a:r>
          </a:p>
          <a:p>
            <a:pPr marL="342900" indent="-342900">
              <a:buFont typeface="Wingdings" panose="05000000000000000000" pitchFamily="2" charset="2"/>
              <a:buChar char="q"/>
              <a:defRPr/>
            </a:pPr>
            <a:r>
              <a:rPr lang="en-US" sz="2400" kern="100" dirty="0">
                <a:latin typeface="Times New Roman (Body)"/>
                <a:ea typeface="Calibri" panose="020F0502020204030204" pitchFamily="34" charset="0"/>
                <a:cs typeface="Times New Roman" panose="02020603050405020304" pitchFamily="18" charset="0"/>
              </a:rPr>
              <a:t>Interdependences: Show how modules depend on each other.</a:t>
            </a:r>
            <a:endParaRPr lang="en-IN" sz="2400" kern="100" dirty="0">
              <a:latin typeface="Times New Roman (Body)"/>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defRPr/>
            </a:pPr>
            <a:r>
              <a:rPr lang="en-IN" sz="2400" dirty="0">
                <a:latin typeface="Calibri" panose="020F0502020204030204" pitchFamily="34" charset="0"/>
                <a:ea typeface="Calibri" panose="020F0502020204030204" pitchFamily="34" charset="0"/>
                <a:cs typeface="Times New Roman" panose="02020603050405020304" pitchFamily="18" charset="0"/>
              </a:rPr>
              <a:t>Mention specific libraries, frameworks, or algorithms used in each module.</a:t>
            </a:r>
            <a:endParaRPr lang="en-US" sz="2400" kern="100" dirty="0">
              <a:latin typeface="Times New Roman (Body)"/>
              <a:ea typeface="Calibri" panose="020F0502020204030204" pitchFamily="34" charset="0"/>
              <a:cs typeface="Times New Roman" panose="02020603050405020304" pitchFamily="18" charset="0"/>
            </a:endParaRPr>
          </a:p>
          <a:p>
            <a:pPr lvl="1">
              <a:defRPr/>
            </a:pPr>
            <a:endParaRPr lang="en-US" sz="2400" kern="100" dirty="0">
              <a:latin typeface="Times New Roman (Body)"/>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defRPr/>
            </a:pPr>
            <a:endParaRPr lang="en-IN" sz="2400" kern="100" dirty="0">
              <a:latin typeface="Times New Roman(Body)"/>
              <a:ea typeface="Calibri" panose="020F0502020204030204" pitchFamily="34"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4FF15-7FBD-E39E-5752-EE62519D332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D0B272E-A254-5C4C-1E19-D8888CB2143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5FF89DDA-8225-B3D0-C1F9-D490BBB191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35</a:t>
            </a:fld>
            <a:endParaRPr/>
          </a:p>
        </p:txBody>
      </p:sp>
      <p:sp>
        <p:nvSpPr>
          <p:cNvPr id="45" name="Google Shape;45;p3">
            <a:extLst>
              <a:ext uri="{FF2B5EF4-FFF2-40B4-BE49-F238E27FC236}">
                <a16:creationId xmlns:a16="http://schemas.microsoft.com/office/drawing/2014/main" id="{279FA729-90EA-EB63-86E6-4B9A5DEBA070}"/>
              </a:ext>
            </a:extLst>
          </p:cNvPr>
          <p:cNvSpPr txBox="1">
            <a:spLocks noGrp="1"/>
          </p:cNvSpPr>
          <p:nvPr>
            <p:ph type="body" idx="1"/>
          </p:nvPr>
        </p:nvSpPr>
        <p:spPr>
          <a:xfrm>
            <a:off x="-235130" y="506185"/>
            <a:ext cx="9144000" cy="4637315"/>
          </a:xfrm>
          <a:prstGeom prst="rect">
            <a:avLst/>
          </a:prstGeom>
          <a:noFill/>
          <a:ln>
            <a:noFill/>
          </a:ln>
        </p:spPr>
        <p:txBody>
          <a:bodyPr spcFirstLastPara="1" wrap="square" lIns="91425" tIns="91425" rIns="91425" bIns="91425" anchor="t" anchorCtr="0">
            <a:normAutofit/>
          </a:bodyPr>
          <a:lstStyle/>
          <a:p>
            <a:pPr algn="just"/>
            <a:r>
              <a:rPr lang="en-IN" sz="1900" dirty="0"/>
              <a:t>[1] Y. Rim, K. S. Lee, and J. Lee, “Diabetes Detection from Non-Diabetic Retinopathy Fundus Images Using Deep Learning,” IEEE Access, vol. 8, pp. 190647–190656, 2020, </a:t>
            </a:r>
            <a:r>
              <a:rPr lang="en-IN" sz="1900" dirty="0" err="1"/>
              <a:t>doi</a:t>
            </a:r>
            <a:r>
              <a:rPr lang="en-IN" sz="1900" dirty="0"/>
              <a:t>: 10.1109/ACCESS.2020.3032465.</a:t>
            </a:r>
          </a:p>
          <a:p>
            <a:pPr algn="just"/>
            <a:r>
              <a:rPr lang="en-IN" sz="1900" dirty="0"/>
              <a:t>[2] D. S. Ting et al., “A Deep Learning System for Predicting Time to Progression of Diabetic Retinopathy,” Nature Medicine, vol. 25, no. 3, pp. 454–461, 2019, </a:t>
            </a:r>
            <a:r>
              <a:rPr lang="en-IN" sz="1900" dirty="0" err="1"/>
              <a:t>doi</a:t>
            </a:r>
            <a:r>
              <a:rPr lang="en-IN" sz="1900" dirty="0"/>
              <a:t>: 10.1038/s41591-019-0404-1.</a:t>
            </a:r>
          </a:p>
          <a:p>
            <a:pPr algn="just"/>
            <a:r>
              <a:rPr lang="en-IN" sz="1900" dirty="0"/>
              <a:t>[3] M. Arsalan, S. O. Gilani, A. U. Rehman, and K. S. Kwak, “Predicting Diabetic Retinopathy Development Stages of Fundus Images Using Deep Learning Based on Combined Features,” Sensors, vol. 21, no. 10, pp. 1–18, 2021, </a:t>
            </a:r>
            <a:r>
              <a:rPr lang="en-IN" sz="1900" dirty="0" err="1"/>
              <a:t>doi</a:t>
            </a:r>
            <a:r>
              <a:rPr lang="en-IN" sz="1900" dirty="0"/>
              <a:t>: 10.3390/s21103445.</a:t>
            </a:r>
          </a:p>
          <a:p>
            <a:pPr algn="just"/>
            <a:r>
              <a:rPr lang="en-IN" sz="1900" dirty="0"/>
              <a:t>[4] J. Gulshan et al., “Use of Artificial Intelligence with Retinal Imaging in Screening for Diabetes-Associated Complications: A Systematic Review,” The Lancet Digital Health, vol. 2, no. 4, pp. e153–e162, 2020, </a:t>
            </a:r>
            <a:r>
              <a:rPr lang="en-IN" sz="1900" dirty="0" err="1"/>
              <a:t>doi</a:t>
            </a:r>
            <a:r>
              <a:rPr lang="en-IN" sz="1900" dirty="0"/>
              <a:t>: 10.1016/S2589-7500(20)30036-4.</a:t>
            </a:r>
          </a:p>
          <a:p>
            <a:pPr algn="just"/>
            <a:r>
              <a:rPr lang="en-IN" sz="1900" dirty="0"/>
              <a:t>[5] S. Li, Y. Hu, and J. Wang, “Analysis of Diabetic Retinopathy Based on Deep Learning Approach,” Computers in Biology and Medicine, vol. 123, pp. 103882, 2020, </a:t>
            </a:r>
            <a:r>
              <a:rPr lang="en-IN" sz="1900" dirty="0" err="1"/>
              <a:t>doi</a:t>
            </a:r>
            <a:r>
              <a:rPr lang="en-IN" sz="1900" dirty="0"/>
              <a:t>: 10.1016/j.compbiomed.2020.103882.</a:t>
            </a:r>
          </a:p>
          <a:p>
            <a:pPr marL="146368" indent="0" algn="just">
              <a:lnSpc>
                <a:spcPct val="115000"/>
              </a:lnSpc>
              <a:buClr>
                <a:srgbClr val="595959"/>
              </a:buClr>
              <a:buSzPct val="58333"/>
            </a:pPr>
            <a:endParaRPr lang="en-US" sz="1900" dirty="0">
              <a:solidFill>
                <a:srgbClr val="FF0000"/>
              </a:solidFill>
              <a:sym typeface="Arial"/>
            </a:endParaRPr>
          </a:p>
          <a:p>
            <a:pPr lvl="0" indent="-310832" algn="just">
              <a:lnSpc>
                <a:spcPct val="115000"/>
              </a:lnSpc>
              <a:buClr>
                <a:srgbClr val="595959"/>
              </a:buClr>
              <a:buSzPct val="58333"/>
              <a:buChar char="●"/>
            </a:pPr>
            <a:endParaRPr lang="en-US" sz="1900" dirty="0">
              <a:solidFill>
                <a:srgbClr val="C00000"/>
              </a:solidFill>
            </a:endParaRPr>
          </a:p>
        </p:txBody>
      </p:sp>
    </p:spTree>
    <p:extLst>
      <p:ext uri="{BB962C8B-B14F-4D97-AF65-F5344CB8AC3E}">
        <p14:creationId xmlns:p14="http://schemas.microsoft.com/office/powerpoint/2010/main" val="9370865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6AC6A0-2838-9F3B-C4E0-7F9BA22151D6}"/>
              </a:ext>
            </a:extLst>
          </p:cNvPr>
          <p:cNvSpPr>
            <a:spLocks noGrp="1"/>
          </p:cNvSpPr>
          <p:nvPr>
            <p:ph type="body" sz="quarter" idx="13"/>
          </p:nvPr>
        </p:nvSpPr>
        <p:spPr>
          <a:xfrm>
            <a:off x="0" y="0"/>
            <a:ext cx="8769531" cy="4394200"/>
          </a:xfrm>
        </p:spPr>
        <p:txBody>
          <a:bodyPr/>
          <a:lstStyle/>
          <a:p>
            <a:pPr algn="just"/>
            <a:r>
              <a:rPr lang="en-IN" sz="1900" dirty="0">
                <a:latin typeface="Times New Roman" panose="02020603050405020304" pitchFamily="18" charset="0"/>
                <a:cs typeface="Times New Roman" panose="02020603050405020304" pitchFamily="18" charset="0"/>
              </a:rPr>
              <a:t>[6] Z. Poplin et al., “Predicting Systemic Health Features from Retinal Fundus Images Using Transfer-Learning-Based Artificial Intelligence Models,” Nature Biomedical Engineering, vol. 2, no. 3, pp. 158–164, 2018, </a:t>
            </a:r>
            <a:r>
              <a:rPr lang="en-IN" sz="1900" dirty="0" err="1">
                <a:latin typeface="Times New Roman" panose="02020603050405020304" pitchFamily="18" charset="0"/>
                <a:cs typeface="Times New Roman" panose="02020603050405020304" pitchFamily="18" charset="0"/>
              </a:rPr>
              <a:t>doi</a:t>
            </a:r>
            <a:r>
              <a:rPr lang="en-IN" sz="1900" dirty="0">
                <a:latin typeface="Times New Roman" panose="02020603050405020304" pitchFamily="18" charset="0"/>
                <a:cs typeface="Times New Roman" panose="02020603050405020304" pitchFamily="18" charset="0"/>
              </a:rPr>
              <a:t>: 10.1038/s41551-018-0195-0.</a:t>
            </a:r>
          </a:p>
          <a:p>
            <a:pPr algn="just"/>
            <a:r>
              <a:rPr lang="en-IN" sz="1900" dirty="0">
                <a:latin typeface="Times New Roman" panose="02020603050405020304" pitchFamily="18" charset="0"/>
                <a:cs typeface="Times New Roman" panose="02020603050405020304" pitchFamily="18" charset="0"/>
              </a:rPr>
              <a:t>[7] M. </a:t>
            </a:r>
            <a:r>
              <a:rPr lang="en-IN" sz="1900" dirty="0" err="1">
                <a:latin typeface="Times New Roman" panose="02020603050405020304" pitchFamily="18" charset="0"/>
                <a:cs typeface="Times New Roman" panose="02020603050405020304" pitchFamily="18" charset="0"/>
              </a:rPr>
              <a:t>Bellemo</a:t>
            </a:r>
            <a:r>
              <a:rPr lang="en-IN" sz="1900" dirty="0">
                <a:latin typeface="Times New Roman" panose="02020603050405020304" pitchFamily="18" charset="0"/>
                <a:cs typeface="Times New Roman" panose="02020603050405020304" pitchFamily="18" charset="0"/>
              </a:rPr>
              <a:t> et al., “Artificial Intelligence Using Retinal Imaging to Predict Multiple Diabetes-Associated Complications,” Diabetes Care, vol. 44, no. 5, pp. 1233–1241, 2021, </a:t>
            </a:r>
            <a:r>
              <a:rPr lang="en-IN" sz="1900" dirty="0" err="1">
                <a:latin typeface="Times New Roman" panose="02020603050405020304" pitchFamily="18" charset="0"/>
                <a:cs typeface="Times New Roman" panose="02020603050405020304" pitchFamily="18" charset="0"/>
              </a:rPr>
              <a:t>doi</a:t>
            </a:r>
            <a:r>
              <a:rPr lang="en-IN" sz="1900" dirty="0">
                <a:latin typeface="Times New Roman" panose="02020603050405020304" pitchFamily="18" charset="0"/>
                <a:cs typeface="Times New Roman" panose="02020603050405020304" pitchFamily="18" charset="0"/>
              </a:rPr>
              <a:t>: 10.2337/dc20-2250.</a:t>
            </a:r>
          </a:p>
          <a:p>
            <a:pPr algn="just"/>
            <a:r>
              <a:rPr lang="en-IN" sz="1900" dirty="0">
                <a:latin typeface="Times New Roman" panose="02020603050405020304" pitchFamily="18" charset="0"/>
                <a:cs typeface="Times New Roman" panose="02020603050405020304" pitchFamily="18" charset="0"/>
              </a:rPr>
              <a:t>[8] M. Arsalan, D. S. Kim, and K. S. Kwak, “Hybrid Deep Learning Framework for Multi-Stage Diabetic Retinopathy Classification,” IEEE Access, vol. 9, pp. 127356–127369, 2021, </a:t>
            </a:r>
            <a:r>
              <a:rPr lang="en-IN" sz="1900" dirty="0" err="1">
                <a:latin typeface="Times New Roman" panose="02020603050405020304" pitchFamily="18" charset="0"/>
                <a:cs typeface="Times New Roman" panose="02020603050405020304" pitchFamily="18" charset="0"/>
              </a:rPr>
              <a:t>doi</a:t>
            </a:r>
            <a:r>
              <a:rPr lang="en-IN" sz="1900" dirty="0">
                <a:latin typeface="Times New Roman" panose="02020603050405020304" pitchFamily="18" charset="0"/>
                <a:cs typeface="Times New Roman" panose="02020603050405020304" pitchFamily="18" charset="0"/>
              </a:rPr>
              <a:t>: 10.1109/ACCESS.2021.3112178.</a:t>
            </a:r>
          </a:p>
          <a:p>
            <a:pPr algn="just"/>
            <a:r>
              <a:rPr lang="en-IN" sz="1900" dirty="0">
                <a:latin typeface="Times New Roman" panose="02020603050405020304" pitchFamily="18" charset="0"/>
                <a:cs typeface="Times New Roman" panose="02020603050405020304" pitchFamily="18" charset="0"/>
              </a:rPr>
              <a:t>[9] G. Li, X. Chen, and Y. Wang, “A Deep Learning Model for Screening Type 2 Diabetes from Retinal Photographs,” Journal of Biomedical Informatics, vol. 109, pp. 103525, 2020, </a:t>
            </a:r>
            <a:r>
              <a:rPr lang="en-IN" sz="1900" dirty="0" err="1">
                <a:latin typeface="Times New Roman" panose="02020603050405020304" pitchFamily="18" charset="0"/>
                <a:cs typeface="Times New Roman" panose="02020603050405020304" pitchFamily="18" charset="0"/>
              </a:rPr>
              <a:t>doi</a:t>
            </a:r>
            <a:r>
              <a:rPr lang="en-IN" sz="1900" dirty="0">
                <a:latin typeface="Times New Roman" panose="02020603050405020304" pitchFamily="18" charset="0"/>
                <a:cs typeface="Times New Roman" panose="02020603050405020304" pitchFamily="18" charset="0"/>
              </a:rPr>
              <a:t>: 10.1016/j.jbi.2020.103525.</a:t>
            </a:r>
          </a:p>
          <a:p>
            <a:pPr algn="just"/>
            <a:r>
              <a:rPr lang="en-IN" sz="1900" dirty="0">
                <a:latin typeface="Times New Roman" panose="02020603050405020304" pitchFamily="18" charset="0"/>
                <a:cs typeface="Times New Roman" panose="02020603050405020304" pitchFamily="18" charset="0"/>
              </a:rPr>
              <a:t>[10] Y. Rim, J. Lee, and K. S. Lee, “Diabetes Detection from Retinal Fundus Images without Visible Diabetic Retinopathy Using Deep Learning,” IEEE Journal of Biomedical and Health Informatics, vol. 24, no. 10, pp. 2802–2811, 2020, </a:t>
            </a:r>
            <a:r>
              <a:rPr lang="en-IN" sz="1900" dirty="0" err="1">
                <a:latin typeface="Times New Roman" panose="02020603050405020304" pitchFamily="18" charset="0"/>
                <a:cs typeface="Times New Roman" panose="02020603050405020304" pitchFamily="18" charset="0"/>
              </a:rPr>
              <a:t>doi</a:t>
            </a:r>
            <a:r>
              <a:rPr lang="en-IN" sz="1900" dirty="0">
                <a:latin typeface="Times New Roman" panose="02020603050405020304" pitchFamily="18" charset="0"/>
                <a:cs typeface="Times New Roman" panose="02020603050405020304" pitchFamily="18" charset="0"/>
              </a:rPr>
              <a:t>: 10.1109/JBHI.2020.2973836.</a:t>
            </a:r>
          </a:p>
          <a:p>
            <a:pPr algn="just"/>
            <a:endParaRPr lang="en-IN" sz="19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F24F94-032C-3C02-4C4B-476F42BC4559}"/>
              </a:ext>
            </a:extLst>
          </p:cNvPr>
          <p:cNvSpPr>
            <a:spLocks noGrp="1"/>
          </p:cNvSpPr>
          <p:nvPr>
            <p:ph type="sldNum" idx="14"/>
          </p:nvPr>
        </p:nvSpPr>
        <p:spPr/>
        <p:txBody>
          <a:bodyPr/>
          <a:lstStyle/>
          <a:p>
            <a:pPr>
              <a:defRPr/>
            </a:pPr>
            <a:fld id="{EF26C623-DE27-4A99-8424-AFD36C142E5A}" type="slidenum">
              <a:rPr lang="en-US" altLang="en-US" smtClean="0"/>
              <a:pPr>
                <a:defRPr/>
              </a:pPr>
              <a:t>36</a:t>
            </a:fld>
            <a:endParaRPr lang="en-US" altLang="en-US"/>
          </a:p>
        </p:txBody>
      </p:sp>
    </p:spTree>
    <p:extLst>
      <p:ext uri="{BB962C8B-B14F-4D97-AF65-F5344CB8AC3E}">
        <p14:creationId xmlns:p14="http://schemas.microsoft.com/office/powerpoint/2010/main" val="871726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37</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5687</TotalTime>
  <Words>3246</Words>
  <Application>Microsoft Office PowerPoint</Application>
  <PresentationFormat>On-screen Show (16:9)</PresentationFormat>
  <Paragraphs>461</Paragraphs>
  <Slides>37</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Arial</vt:lpstr>
      <vt:lpstr>Bahnschrift Condensed</vt:lpstr>
      <vt:lpstr>Calibri</vt:lpstr>
      <vt:lpstr>Times New Roman</vt:lpstr>
      <vt:lpstr>Times New Roman (Body)</vt:lpstr>
      <vt:lpstr>Times New Roman(Body)</vt:lpstr>
      <vt:lpstr>Wingdings</vt:lpstr>
      <vt:lpstr>2_Simple Light</vt:lpstr>
      <vt:lpstr>1_Simple Light</vt:lpstr>
      <vt:lpstr>    Gokaraju Rangaraju Institute of Engineering and Technology  (Autonomous) Department of Data Science  Mini Project Work (CSE(DS))</vt:lpstr>
      <vt:lpstr>Diabetes Severity Prediction using  Retinal Images  </vt:lpstr>
      <vt:lpstr>Introduction</vt:lpstr>
      <vt:lpstr>PowerPoint Presentation</vt:lpstr>
      <vt:lpstr>Literature review:</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 Summary</vt:lpstr>
      <vt:lpstr>Literature Review Summary(Cont…)</vt:lpstr>
      <vt:lpstr>Literature Review Summary(Cont…)</vt:lpstr>
      <vt:lpstr>Research Gaps</vt:lpstr>
      <vt:lpstr>Problem statement</vt:lpstr>
      <vt:lpstr>Objectives</vt:lpstr>
      <vt:lpstr>Proposed Solution</vt:lpstr>
      <vt:lpstr>PowerPoint Presentation</vt:lpstr>
      <vt:lpstr>Methodology</vt:lpstr>
      <vt:lpstr>Methodology (Cont…)</vt:lpstr>
      <vt:lpstr>Software and Hardware Requirements</vt:lpstr>
      <vt:lpstr>Datasets Details</vt:lpstr>
      <vt:lpstr>Datasets Details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Shivani P</cp:lastModifiedBy>
  <cp:revision>24</cp:revision>
  <dcterms:modified xsi:type="dcterms:W3CDTF">2026-03-28T17:02:19Z</dcterms:modified>
</cp:coreProperties>
</file>