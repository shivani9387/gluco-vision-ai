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31"/>
  </p:notesMasterIdLst>
  <p:sldIdLst>
    <p:sldId id="256" r:id="rId3"/>
    <p:sldId id="257" r:id="rId4"/>
    <p:sldId id="258" r:id="rId5"/>
    <p:sldId id="270" r:id="rId6"/>
    <p:sldId id="291" r:id="rId7"/>
    <p:sldId id="292" r:id="rId8"/>
    <p:sldId id="293" r:id="rId9"/>
    <p:sldId id="294" r:id="rId10"/>
    <p:sldId id="295" r:id="rId11"/>
    <p:sldId id="296" r:id="rId12"/>
    <p:sldId id="297" r:id="rId13"/>
    <p:sldId id="298" r:id="rId14"/>
    <p:sldId id="299" r:id="rId15"/>
    <p:sldId id="273" r:id="rId16"/>
    <p:sldId id="300" r:id="rId17"/>
    <p:sldId id="301" r:id="rId18"/>
    <p:sldId id="274" r:id="rId19"/>
    <p:sldId id="275" r:id="rId20"/>
    <p:sldId id="283" r:id="rId21"/>
    <p:sldId id="284" r:id="rId22"/>
    <p:sldId id="288" r:id="rId23"/>
    <p:sldId id="285" r:id="rId24"/>
    <p:sldId id="290" r:id="rId25"/>
    <p:sldId id="286" r:id="rId26"/>
    <p:sldId id="281" r:id="rId27"/>
    <p:sldId id="287" r:id="rId28"/>
    <p:sldId id="277" r:id="rId29"/>
    <p:sldId id="264" r:id="rId3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47F73A31-7B69-4B1C-8DB7-2589D1A5BA3E}">
          <p14:sldIdLst>
            <p14:sldId id="256"/>
            <p14:sldId id="257"/>
            <p14:sldId id="258"/>
            <p14:sldId id="270"/>
            <p14:sldId id="291"/>
            <p14:sldId id="292"/>
            <p14:sldId id="293"/>
            <p14:sldId id="294"/>
            <p14:sldId id="295"/>
            <p14:sldId id="296"/>
            <p14:sldId id="297"/>
            <p14:sldId id="298"/>
            <p14:sldId id="299"/>
            <p14:sldId id="273"/>
            <p14:sldId id="300"/>
            <p14:sldId id="301"/>
          </p14:sldIdLst>
        </p14:section>
        <p14:section name="Untitled Section" id="{4BA4DC8F-0842-4C1E-A260-1F6E2C6D092C}">
          <p14:sldIdLst>
            <p14:sldId id="274"/>
            <p14:sldId id="275"/>
            <p14:sldId id="283"/>
            <p14:sldId id="284"/>
            <p14:sldId id="288"/>
            <p14:sldId id="285"/>
            <p14:sldId id="290"/>
            <p14:sldId id="286"/>
            <p14:sldId id="281"/>
            <p14:sldId id="287"/>
            <p14:sldId id="277"/>
            <p14:sldId id="264"/>
          </p14:sldIdLst>
        </p14:section>
      </p14:sectionLst>
    </p:ex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gZpxF7Zee30fhjMZJOO9uuOAEd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E30A33-2A6B-4B48-9D1B-5D369C3A7D19}" v="39" dt="2026-02-03T13:08:53.6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varScale="1">
        <p:scale>
          <a:sx n="100" d="100"/>
          <a:sy n="100" d="100"/>
        </p:scale>
        <p:origin x="86" y="39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customschemas.google.com/relationships/presentationmetadata" Target="metadata"/><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ni P" userId="9aeb2b5d3e97835f" providerId="LiveId" clId="{D3825000-BAFA-4C99-BB50-242C38187AC7}"/>
    <pc:docChg chg="undo custSel addSld delSld modSld sldOrd addSection modSection">
      <pc:chgData name="Shivani P" userId="9aeb2b5d3e97835f" providerId="LiveId" clId="{D3825000-BAFA-4C99-BB50-242C38187AC7}" dt="2026-02-03T13:10:54.880" v="598" actId="1076"/>
      <pc:docMkLst>
        <pc:docMk/>
      </pc:docMkLst>
      <pc:sldChg chg="modSp mod">
        <pc:chgData name="Shivani P" userId="9aeb2b5d3e97835f" providerId="LiveId" clId="{D3825000-BAFA-4C99-BB50-242C38187AC7}" dt="2026-02-03T12:50:17.297" v="497" actId="27636"/>
        <pc:sldMkLst>
          <pc:docMk/>
          <pc:sldMk cId="522939078" sldId="270"/>
        </pc:sldMkLst>
        <pc:spChg chg="mod">
          <ac:chgData name="Shivani P" userId="9aeb2b5d3e97835f" providerId="LiveId" clId="{D3825000-BAFA-4C99-BB50-242C38187AC7}" dt="2026-02-03T12:13:07.661" v="22" actId="122"/>
          <ac:spMkLst>
            <pc:docMk/>
            <pc:sldMk cId="522939078" sldId="270"/>
            <ac:spMk id="43" creationId="{2589EB08-967C-C56D-0967-33712A36F7C2}"/>
          </ac:spMkLst>
        </pc:spChg>
        <pc:spChg chg="mod">
          <ac:chgData name="Shivani P" userId="9aeb2b5d3e97835f" providerId="LiveId" clId="{D3825000-BAFA-4C99-BB50-242C38187AC7}" dt="2026-02-03T12:50:17.297" v="497" actId="27636"/>
          <ac:spMkLst>
            <pc:docMk/>
            <pc:sldMk cId="522939078" sldId="270"/>
            <ac:spMk id="45" creationId="{FA2DB6E5-5B84-C64C-AD8C-83B6D5466B3C}"/>
          </ac:spMkLst>
        </pc:spChg>
      </pc:sldChg>
      <pc:sldChg chg="addSp delSp modSp mod">
        <pc:chgData name="Shivani P" userId="9aeb2b5d3e97835f" providerId="LiveId" clId="{D3825000-BAFA-4C99-BB50-242C38187AC7}" dt="2026-02-03T12:33:21.097" v="416" actId="122"/>
        <pc:sldMkLst>
          <pc:docMk/>
          <pc:sldMk cId="0" sldId="273"/>
        </pc:sldMkLst>
        <pc:spChg chg="mod">
          <ac:chgData name="Shivani P" userId="9aeb2b5d3e97835f" providerId="LiveId" clId="{D3825000-BAFA-4C99-BB50-242C38187AC7}" dt="2026-02-03T12:33:21.097" v="416" actId="122"/>
          <ac:spMkLst>
            <pc:docMk/>
            <pc:sldMk cId="0" sldId="273"/>
            <ac:spMk id="2" creationId="{3F19E59E-1471-3092-E172-784AF4FD655A}"/>
          </ac:spMkLst>
        </pc:spChg>
        <pc:graphicFrameChg chg="add mod">
          <ac:chgData name="Shivani P" userId="9aeb2b5d3e97835f" providerId="LiveId" clId="{D3825000-BAFA-4C99-BB50-242C38187AC7}" dt="2026-02-03T12:22:14.137" v="214"/>
          <ac:graphicFrameMkLst>
            <pc:docMk/>
            <pc:sldMk cId="0" sldId="273"/>
            <ac:graphicFrameMk id="3" creationId="{6BEC0A26-BA6C-66A5-64B0-20F89C5D3883}"/>
          </ac:graphicFrameMkLst>
        </pc:graphicFrameChg>
        <pc:graphicFrameChg chg="del">
          <ac:chgData name="Shivani P" userId="9aeb2b5d3e97835f" providerId="LiveId" clId="{D3825000-BAFA-4C99-BB50-242C38187AC7}" dt="2026-02-03T12:21:35.499" v="213" actId="21"/>
          <ac:graphicFrameMkLst>
            <pc:docMk/>
            <pc:sldMk cId="0" sldId="273"/>
            <ac:graphicFrameMk id="7" creationId="{6BEC0A26-BA6C-66A5-64B0-20F89C5D3883}"/>
          </ac:graphicFrameMkLst>
        </pc:graphicFrameChg>
      </pc:sldChg>
      <pc:sldChg chg="modSp new mod">
        <pc:chgData name="Shivani P" userId="9aeb2b5d3e97835f" providerId="LiveId" clId="{D3825000-BAFA-4C99-BB50-242C38187AC7}" dt="2026-02-03T12:50:05.891" v="495"/>
        <pc:sldMkLst>
          <pc:docMk/>
          <pc:sldMk cId="111458740" sldId="291"/>
        </pc:sldMkLst>
        <pc:spChg chg="mod">
          <ac:chgData name="Shivani P" userId="9aeb2b5d3e97835f" providerId="LiveId" clId="{D3825000-BAFA-4C99-BB50-242C38187AC7}" dt="2026-02-03T12:29:31.848" v="239"/>
          <ac:spMkLst>
            <pc:docMk/>
            <pc:sldMk cId="111458740" sldId="291"/>
            <ac:spMk id="2" creationId="{FA013585-FFDF-93BC-D450-B70296867BE3}"/>
          </ac:spMkLst>
        </pc:spChg>
        <pc:spChg chg="mod">
          <ac:chgData name="Shivani P" userId="9aeb2b5d3e97835f" providerId="LiveId" clId="{D3825000-BAFA-4C99-BB50-242C38187AC7}" dt="2026-02-03T12:50:05.891" v="495"/>
          <ac:spMkLst>
            <pc:docMk/>
            <pc:sldMk cId="111458740" sldId="291"/>
            <ac:spMk id="3" creationId="{4EE8C5C5-F74F-361B-BE19-7DA7FBBACE39}"/>
          </ac:spMkLst>
        </pc:spChg>
      </pc:sldChg>
      <pc:sldChg chg="modSp new mod">
        <pc:chgData name="Shivani P" userId="9aeb2b5d3e97835f" providerId="LiveId" clId="{D3825000-BAFA-4C99-BB50-242C38187AC7}" dt="2026-02-03T12:53:02.235" v="514" actId="123"/>
        <pc:sldMkLst>
          <pc:docMk/>
          <pc:sldMk cId="1238649059" sldId="292"/>
        </pc:sldMkLst>
        <pc:spChg chg="mod">
          <ac:chgData name="Shivani P" userId="9aeb2b5d3e97835f" providerId="LiveId" clId="{D3825000-BAFA-4C99-BB50-242C38187AC7}" dt="2026-02-03T12:29:56.574" v="257"/>
          <ac:spMkLst>
            <pc:docMk/>
            <pc:sldMk cId="1238649059" sldId="292"/>
            <ac:spMk id="2" creationId="{04C3C523-0E3B-E486-C19C-9CDFC5B0C552}"/>
          </ac:spMkLst>
        </pc:spChg>
        <pc:spChg chg="mod">
          <ac:chgData name="Shivani P" userId="9aeb2b5d3e97835f" providerId="LiveId" clId="{D3825000-BAFA-4C99-BB50-242C38187AC7}" dt="2026-02-03T12:53:02.235" v="514" actId="123"/>
          <ac:spMkLst>
            <pc:docMk/>
            <pc:sldMk cId="1238649059" sldId="292"/>
            <ac:spMk id="3" creationId="{CF32755A-B1EB-C076-89D0-9A591BCFEAE7}"/>
          </ac:spMkLst>
        </pc:spChg>
      </pc:sldChg>
      <pc:sldChg chg="modSp new mod">
        <pc:chgData name="Shivani P" userId="9aeb2b5d3e97835f" providerId="LiveId" clId="{D3825000-BAFA-4C99-BB50-242C38187AC7}" dt="2026-02-03T12:54:53.240" v="525" actId="20577"/>
        <pc:sldMkLst>
          <pc:docMk/>
          <pc:sldMk cId="294622514" sldId="293"/>
        </pc:sldMkLst>
        <pc:spChg chg="mod">
          <ac:chgData name="Shivani P" userId="9aeb2b5d3e97835f" providerId="LiveId" clId="{D3825000-BAFA-4C99-BB50-242C38187AC7}" dt="2026-02-03T12:30:07.912" v="275"/>
          <ac:spMkLst>
            <pc:docMk/>
            <pc:sldMk cId="294622514" sldId="293"/>
            <ac:spMk id="2" creationId="{94631F96-9528-340C-5950-F300AE70D7C2}"/>
          </ac:spMkLst>
        </pc:spChg>
        <pc:spChg chg="mod">
          <ac:chgData name="Shivani P" userId="9aeb2b5d3e97835f" providerId="LiveId" clId="{D3825000-BAFA-4C99-BB50-242C38187AC7}" dt="2026-02-03T12:54:53.240" v="525" actId="20577"/>
          <ac:spMkLst>
            <pc:docMk/>
            <pc:sldMk cId="294622514" sldId="293"/>
            <ac:spMk id="3" creationId="{0405B5CE-242B-760D-AA2C-F4DEC4639A0D}"/>
          </ac:spMkLst>
        </pc:spChg>
      </pc:sldChg>
      <pc:sldChg chg="modSp new mod">
        <pc:chgData name="Shivani P" userId="9aeb2b5d3e97835f" providerId="LiveId" clId="{D3825000-BAFA-4C99-BB50-242C38187AC7}" dt="2026-02-03T12:58:14.765" v="532" actId="12"/>
        <pc:sldMkLst>
          <pc:docMk/>
          <pc:sldMk cId="874953780" sldId="294"/>
        </pc:sldMkLst>
        <pc:spChg chg="mod">
          <ac:chgData name="Shivani P" userId="9aeb2b5d3e97835f" providerId="LiveId" clId="{D3825000-BAFA-4C99-BB50-242C38187AC7}" dt="2026-02-03T12:30:19.024" v="293"/>
          <ac:spMkLst>
            <pc:docMk/>
            <pc:sldMk cId="874953780" sldId="294"/>
            <ac:spMk id="2" creationId="{8CC2BCAC-ED26-C728-2F0C-015B721BA13B}"/>
          </ac:spMkLst>
        </pc:spChg>
        <pc:spChg chg="mod">
          <ac:chgData name="Shivani P" userId="9aeb2b5d3e97835f" providerId="LiveId" clId="{D3825000-BAFA-4C99-BB50-242C38187AC7}" dt="2026-02-03T12:58:14.765" v="532" actId="12"/>
          <ac:spMkLst>
            <pc:docMk/>
            <pc:sldMk cId="874953780" sldId="294"/>
            <ac:spMk id="3" creationId="{FF2855A4-5BBB-AD63-848B-E1200C3FDA31}"/>
          </ac:spMkLst>
        </pc:spChg>
      </pc:sldChg>
      <pc:sldChg chg="modSp new mod">
        <pc:chgData name="Shivani P" userId="9aeb2b5d3e97835f" providerId="LiveId" clId="{D3825000-BAFA-4C99-BB50-242C38187AC7}" dt="2026-02-03T13:00:50.645" v="543" actId="20577"/>
        <pc:sldMkLst>
          <pc:docMk/>
          <pc:sldMk cId="2495902840" sldId="295"/>
        </pc:sldMkLst>
        <pc:spChg chg="mod">
          <ac:chgData name="Shivani P" userId="9aeb2b5d3e97835f" providerId="LiveId" clId="{D3825000-BAFA-4C99-BB50-242C38187AC7}" dt="2026-02-03T12:30:27.855" v="311"/>
          <ac:spMkLst>
            <pc:docMk/>
            <pc:sldMk cId="2495902840" sldId="295"/>
            <ac:spMk id="2" creationId="{22D23A42-93D9-F406-21AA-604CDAD712E1}"/>
          </ac:spMkLst>
        </pc:spChg>
        <pc:spChg chg="mod">
          <ac:chgData name="Shivani P" userId="9aeb2b5d3e97835f" providerId="LiveId" clId="{D3825000-BAFA-4C99-BB50-242C38187AC7}" dt="2026-02-03T13:00:50.645" v="543" actId="20577"/>
          <ac:spMkLst>
            <pc:docMk/>
            <pc:sldMk cId="2495902840" sldId="295"/>
            <ac:spMk id="3" creationId="{4A899CB8-044C-C1D3-8C8A-3E948330DCE4}"/>
          </ac:spMkLst>
        </pc:spChg>
      </pc:sldChg>
      <pc:sldChg chg="modSp new mod">
        <pc:chgData name="Shivani P" userId="9aeb2b5d3e97835f" providerId="LiveId" clId="{D3825000-BAFA-4C99-BB50-242C38187AC7}" dt="2026-02-03T13:02:31.787" v="559" actId="123"/>
        <pc:sldMkLst>
          <pc:docMk/>
          <pc:sldMk cId="2017724112" sldId="296"/>
        </pc:sldMkLst>
        <pc:spChg chg="mod">
          <ac:chgData name="Shivani P" userId="9aeb2b5d3e97835f" providerId="LiveId" clId="{D3825000-BAFA-4C99-BB50-242C38187AC7}" dt="2026-02-03T12:30:35.461" v="329"/>
          <ac:spMkLst>
            <pc:docMk/>
            <pc:sldMk cId="2017724112" sldId="296"/>
            <ac:spMk id="2" creationId="{C30542E9-9F5F-C660-988D-66CDBDEED17E}"/>
          </ac:spMkLst>
        </pc:spChg>
        <pc:spChg chg="mod">
          <ac:chgData name="Shivani P" userId="9aeb2b5d3e97835f" providerId="LiveId" clId="{D3825000-BAFA-4C99-BB50-242C38187AC7}" dt="2026-02-03T13:02:31.787" v="559" actId="123"/>
          <ac:spMkLst>
            <pc:docMk/>
            <pc:sldMk cId="2017724112" sldId="296"/>
            <ac:spMk id="3" creationId="{64B5F353-70C5-CA27-EEE2-1D281B42A642}"/>
          </ac:spMkLst>
        </pc:spChg>
      </pc:sldChg>
      <pc:sldChg chg="modSp new mod">
        <pc:chgData name="Shivani P" userId="9aeb2b5d3e97835f" providerId="LiveId" clId="{D3825000-BAFA-4C99-BB50-242C38187AC7}" dt="2026-02-03T13:04:25.283" v="573" actId="123"/>
        <pc:sldMkLst>
          <pc:docMk/>
          <pc:sldMk cId="3516653716" sldId="297"/>
        </pc:sldMkLst>
        <pc:spChg chg="mod">
          <ac:chgData name="Shivani P" userId="9aeb2b5d3e97835f" providerId="LiveId" clId="{D3825000-BAFA-4C99-BB50-242C38187AC7}" dt="2026-02-03T12:30:41.464" v="347"/>
          <ac:spMkLst>
            <pc:docMk/>
            <pc:sldMk cId="3516653716" sldId="297"/>
            <ac:spMk id="2" creationId="{78C80A72-59B9-0CAC-9AC1-B786DA2671D0}"/>
          </ac:spMkLst>
        </pc:spChg>
        <pc:spChg chg="mod">
          <ac:chgData name="Shivani P" userId="9aeb2b5d3e97835f" providerId="LiveId" clId="{D3825000-BAFA-4C99-BB50-242C38187AC7}" dt="2026-02-03T13:04:25.283" v="573" actId="123"/>
          <ac:spMkLst>
            <pc:docMk/>
            <pc:sldMk cId="3516653716" sldId="297"/>
            <ac:spMk id="3" creationId="{8CC008C4-E649-8A8A-95F9-F19755E11117}"/>
          </ac:spMkLst>
        </pc:spChg>
      </pc:sldChg>
      <pc:sldChg chg="modSp new mod">
        <pc:chgData name="Shivani P" userId="9aeb2b5d3e97835f" providerId="LiveId" clId="{D3825000-BAFA-4C99-BB50-242C38187AC7}" dt="2026-02-03T13:07:25.341" v="584" actId="20577"/>
        <pc:sldMkLst>
          <pc:docMk/>
          <pc:sldMk cId="360905417" sldId="298"/>
        </pc:sldMkLst>
        <pc:spChg chg="mod">
          <ac:chgData name="Shivani P" userId="9aeb2b5d3e97835f" providerId="LiveId" clId="{D3825000-BAFA-4C99-BB50-242C38187AC7}" dt="2026-02-03T12:30:51.643" v="365"/>
          <ac:spMkLst>
            <pc:docMk/>
            <pc:sldMk cId="360905417" sldId="298"/>
            <ac:spMk id="2" creationId="{DAF8F9E9-13DF-CFBA-C6EF-CBB317C81D03}"/>
          </ac:spMkLst>
        </pc:spChg>
        <pc:spChg chg="mod">
          <ac:chgData name="Shivani P" userId="9aeb2b5d3e97835f" providerId="LiveId" clId="{D3825000-BAFA-4C99-BB50-242C38187AC7}" dt="2026-02-03T13:07:25.341" v="584" actId="20577"/>
          <ac:spMkLst>
            <pc:docMk/>
            <pc:sldMk cId="360905417" sldId="298"/>
            <ac:spMk id="3" creationId="{58C0643C-DE90-AC7D-C55C-6DC900411CB3}"/>
          </ac:spMkLst>
        </pc:spChg>
      </pc:sldChg>
      <pc:sldChg chg="modSp new mod ord">
        <pc:chgData name="Shivani P" userId="9aeb2b5d3e97835f" providerId="LiveId" clId="{D3825000-BAFA-4C99-BB50-242C38187AC7}" dt="2026-02-03T13:09:25.120" v="595" actId="20577"/>
        <pc:sldMkLst>
          <pc:docMk/>
          <pc:sldMk cId="263048436" sldId="299"/>
        </pc:sldMkLst>
        <pc:spChg chg="mod">
          <ac:chgData name="Shivani P" userId="9aeb2b5d3e97835f" providerId="LiveId" clId="{D3825000-BAFA-4C99-BB50-242C38187AC7}" dt="2026-02-03T12:31:04.801" v="383"/>
          <ac:spMkLst>
            <pc:docMk/>
            <pc:sldMk cId="263048436" sldId="299"/>
            <ac:spMk id="2" creationId="{7B3F6984-7695-10B7-E5F0-1BD27F754AB8}"/>
          </ac:spMkLst>
        </pc:spChg>
        <pc:spChg chg="mod">
          <ac:chgData name="Shivani P" userId="9aeb2b5d3e97835f" providerId="LiveId" clId="{D3825000-BAFA-4C99-BB50-242C38187AC7}" dt="2026-02-03T13:09:25.120" v="595" actId="20577"/>
          <ac:spMkLst>
            <pc:docMk/>
            <pc:sldMk cId="263048436" sldId="299"/>
            <ac:spMk id="3" creationId="{3443CD40-E9CA-12CB-542D-40ABFBAAAC4C}"/>
          </ac:spMkLst>
        </pc:spChg>
      </pc:sldChg>
      <pc:sldChg chg="addSp modSp new mod">
        <pc:chgData name="Shivani P" userId="9aeb2b5d3e97835f" providerId="LiveId" clId="{D3825000-BAFA-4C99-BB50-242C38187AC7}" dt="2026-02-03T13:10:54.880" v="598" actId="1076"/>
        <pc:sldMkLst>
          <pc:docMk/>
          <pc:sldMk cId="2426412428" sldId="300"/>
        </pc:sldMkLst>
        <pc:spChg chg="mod">
          <ac:chgData name="Shivani P" userId="9aeb2b5d3e97835f" providerId="LiveId" clId="{D3825000-BAFA-4C99-BB50-242C38187AC7}" dt="2026-02-03T12:33:25.732" v="417"/>
          <ac:spMkLst>
            <pc:docMk/>
            <pc:sldMk cId="2426412428" sldId="300"/>
            <ac:spMk id="2" creationId="{2767283C-9F8D-7284-5C6C-6BA5B317F5A4}"/>
          </ac:spMkLst>
        </pc:spChg>
        <pc:graphicFrameChg chg="add mod">
          <ac:chgData name="Shivani P" userId="9aeb2b5d3e97835f" providerId="LiveId" clId="{D3825000-BAFA-4C99-BB50-242C38187AC7}" dt="2026-02-03T13:10:54.880" v="598" actId="1076"/>
          <ac:graphicFrameMkLst>
            <pc:docMk/>
            <pc:sldMk cId="2426412428" sldId="300"/>
            <ac:graphicFrameMk id="7" creationId="{CBFC0FB3-0B51-9FA2-02D6-F15F87D0973C}"/>
          </ac:graphicFrameMkLst>
        </pc:graphicFrameChg>
      </pc:sldChg>
      <pc:sldChg chg="addSp modSp new mod">
        <pc:chgData name="Shivani P" userId="9aeb2b5d3e97835f" providerId="LiveId" clId="{D3825000-BAFA-4C99-BB50-242C38187AC7}" dt="2026-02-03T13:10:44.566" v="597" actId="14100"/>
        <pc:sldMkLst>
          <pc:docMk/>
          <pc:sldMk cId="4160349350" sldId="301"/>
        </pc:sldMkLst>
        <pc:spChg chg="mod">
          <ac:chgData name="Shivani P" userId="9aeb2b5d3e97835f" providerId="LiveId" clId="{D3825000-BAFA-4C99-BB50-242C38187AC7}" dt="2026-02-03T12:33:31.883" v="418"/>
          <ac:spMkLst>
            <pc:docMk/>
            <pc:sldMk cId="4160349350" sldId="301"/>
            <ac:spMk id="2" creationId="{07E8211F-BEEA-6719-FBCF-DAC7633ED0B2}"/>
          </ac:spMkLst>
        </pc:spChg>
        <pc:graphicFrameChg chg="add mod modGraphic">
          <ac:chgData name="Shivani P" userId="9aeb2b5d3e97835f" providerId="LiveId" clId="{D3825000-BAFA-4C99-BB50-242C38187AC7}" dt="2026-02-03T13:10:44.566" v="597" actId="14100"/>
          <ac:graphicFrameMkLst>
            <pc:docMk/>
            <pc:sldMk cId="4160349350" sldId="301"/>
            <ac:graphicFrameMk id="7" creationId="{2FB94173-9C3A-F2C6-C4E9-498148FE290E}"/>
          </ac:graphicFrameMkLst>
        </pc:graphicFrameChg>
      </pc:sldChg>
      <pc:sldChg chg="modSp new del mod">
        <pc:chgData name="Shivani P" userId="9aeb2b5d3e97835f" providerId="LiveId" clId="{D3825000-BAFA-4C99-BB50-242C38187AC7}" dt="2026-02-03T12:28:03.002" v="221" actId="2696"/>
        <pc:sldMkLst>
          <pc:docMk/>
          <pc:sldMk cId="3270878789" sldId="302"/>
        </pc:sldMkLst>
        <pc:spChg chg="mod">
          <ac:chgData name="Shivani P" userId="9aeb2b5d3e97835f" providerId="LiveId" clId="{D3825000-BAFA-4C99-BB50-242C38187AC7}" dt="2026-02-03T12:22:14.249" v="217" actId="27636"/>
          <ac:spMkLst>
            <pc:docMk/>
            <pc:sldMk cId="3270878789" sldId="302"/>
            <ac:spMk id="2" creationId="{309EAFE6-FF4F-D0E2-BAEC-969064F36BB6}"/>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3T10:03:00.438"/>
    </inkml:context>
    <inkml:brush xml:id="br0">
      <inkml:brushProperty name="width" value="0.1" units="cm"/>
      <inkml:brushProperty name="height" value="0.1" units="cm"/>
      <inkml:brushProperty name="color" value="#008C3A"/>
    </inkml:brush>
  </inkml:definitions>
  <inkml:trace contextRef="#ctx0" brushRef="#br0">0 0 6553,'0'0'0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9FAFE32-CEDA-A93C-E9A5-102F8B9AFCB9}"/>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4F8909E9-26BB-F7A3-3DBE-79B4A7BF2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0A31E941-34CB-C6AD-A8EC-235E4F54B7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2412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CAA1D8C8-E5FB-49B8-2844-FBD0463A12E5}"/>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C1E2E304-B8E6-8FA0-436B-C44B4D2B5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48907E54-98A0-29F9-4262-E0209BD26A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8512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37CA00E1-8294-C57C-FE6F-5903F5594153}"/>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95E97D6-30C2-C8A4-5778-9FA1ADDA4D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D8C7529-5149-BFE0-CED7-557988A9AB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1512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userDrawn="1">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0" y="0"/>
            <a:ext cx="9144000" cy="649693"/>
          </a:xfrm>
          <a:prstGeom prst="rect">
            <a:avLst/>
          </a:prstGeom>
        </p:spPr>
        <p:txBody>
          <a:bodyPr spcFirstLastPara="1">
            <a:normAutofit/>
          </a:bodyPr>
          <a:lstStyle>
            <a:lvl1pPr lvl="0" algn="ctr">
              <a:spcBef>
                <a:spcPts val="0"/>
              </a:spcBef>
              <a:spcAft>
                <a:spcPts val="0"/>
              </a:spcAft>
              <a:buSzPts val="5200"/>
              <a:buNone/>
              <a:tabLst>
                <a:tab pos="4127500" algn="l"/>
              </a:tabLst>
              <a:defRPr sz="3200" b="1" baseline="0">
                <a:latin typeface="+mj-l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dirty="0"/>
          </a:p>
        </p:txBody>
      </p:sp>
      <p:sp>
        <p:nvSpPr>
          <p:cNvPr id="3" name="Text Placeholder 2"/>
          <p:cNvSpPr>
            <a:spLocks noGrp="1"/>
          </p:cNvSpPr>
          <p:nvPr>
            <p:ph type="body" sz="quarter" idx="13"/>
          </p:nvPr>
        </p:nvSpPr>
        <p:spPr>
          <a:xfrm>
            <a:off x="165100" y="914400"/>
            <a:ext cx="8763000" cy="3479800"/>
          </a:xfrm>
        </p:spPr>
        <p:txBody>
          <a:bodyPr/>
          <a:lstStyle>
            <a:lvl1pPr>
              <a:defRPr sz="2400">
                <a:latin typeface="+mn-lt"/>
              </a:defRPr>
            </a:lvl1pPr>
            <a:lvl2pPr>
              <a:defRPr sz="2200">
                <a:latin typeface="+mn-lt"/>
              </a:defRPr>
            </a:lvl2pPr>
            <a:lvl3pPr>
              <a:defRPr sz="2200">
                <a:latin typeface="+mn-lt"/>
              </a:defRPr>
            </a:lvl3pPr>
            <a:lvl4pPr>
              <a:defRPr sz="2000">
                <a:latin typeface="+mn-lt"/>
              </a:defRPr>
            </a:lvl4pPr>
            <a:lvl5pPr>
              <a:defRPr sz="20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12;p2">
            <a:extLst>
              <a:ext uri="{FF2B5EF4-FFF2-40B4-BE49-F238E27FC236}">
                <a16:creationId xmlns:a16="http://schemas.microsoft.com/office/drawing/2014/main" id="{79D5018C-57F8-566E-E5B7-23C181761D73}"/>
              </a:ext>
            </a:extLst>
          </p:cNvPr>
          <p:cNvSpPr txBox="1">
            <a:spLocks noGrp="1"/>
          </p:cNvSpPr>
          <p:nvPr>
            <p:ph type="sldNum" idx="14"/>
          </p:nvPr>
        </p:nvSpPr>
        <p:spPr/>
        <p:txBody>
          <a:bodyPr/>
          <a:lstStyle>
            <a:lvl1pPr>
              <a:defRPr/>
            </a:lvl1pPr>
          </a:lstStyle>
          <a:p>
            <a:pPr>
              <a:defRPr/>
            </a:pPr>
            <a:fld id="{EF26C623-DE27-4A99-8424-AFD36C142E5A}" type="slidenum">
              <a:rPr lang="en-US" altLang="en-US"/>
              <a:pPr>
                <a:defRPr/>
              </a:pPr>
              <a:t>‹#›</a:t>
            </a:fld>
            <a:endParaRPr lang="en-US" altLang="en-US"/>
          </a:p>
        </p:txBody>
      </p:sp>
      <p:sp>
        <p:nvSpPr>
          <p:cNvPr id="4" name="Footer Placeholder 4">
            <a:extLst>
              <a:ext uri="{FF2B5EF4-FFF2-40B4-BE49-F238E27FC236}">
                <a16:creationId xmlns:a16="http://schemas.microsoft.com/office/drawing/2014/main" id="{60F15494-8374-819B-5661-D082F4F305F8}"/>
              </a:ext>
            </a:extLst>
          </p:cNvPr>
          <p:cNvSpPr>
            <a:spLocks noGrp="1"/>
          </p:cNvSpPr>
          <p:nvPr>
            <p:ph type="ftr" sz="quarter" idx="15"/>
          </p:nvPr>
        </p:nvSpPr>
        <p:spPr bwMode="auto">
          <a:xfrm>
            <a:off x="2706688" y="4760913"/>
            <a:ext cx="3538537" cy="198437"/>
          </a:xfrm>
          <a:prstGeom prst="rect">
            <a:avLst/>
          </a:prstGeom>
        </p:spPr>
        <p:txBody>
          <a:bodyPr vert="horz" wrap="square" lIns="91440" tIns="45720" rIns="91440" bIns="45720" numCol="1" anchor="ctr" anchorCtr="0" compatLnSpc="1">
            <a:prstTxWarp prst="textNoShape">
              <a:avLst/>
            </a:prstTxWarp>
          </a:bodyPr>
          <a:lstStyle>
            <a:lvl1pPr algn="ctr" eaLnBrk="1" hangingPunct="1">
              <a:buClr>
                <a:srgbClr val="000000"/>
              </a:buClr>
              <a:buFont typeface="Arial" pitchFamily="34" charset="0"/>
              <a:buNone/>
              <a:defRPr sz="900" b="1">
                <a:solidFill>
                  <a:srgbClr val="898989"/>
                </a:solidFill>
              </a:defRPr>
            </a:lvl1pPr>
          </a:lstStyle>
          <a:p>
            <a:pPr>
              <a:defRPr/>
            </a:pPr>
            <a:r>
              <a:rPr lang="en-US"/>
              <a:t>Department of CSE (AI &amp; ML) - Review 0- Abstract Selection</a:t>
            </a:r>
          </a:p>
        </p:txBody>
      </p:sp>
    </p:spTree>
    <p:extLst>
      <p:ext uri="{BB962C8B-B14F-4D97-AF65-F5344CB8AC3E}">
        <p14:creationId xmlns:p14="http://schemas.microsoft.com/office/powerpoint/2010/main" val="112121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16"/>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16"/>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3"/>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15"/>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15"/>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15"/>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 Id="rId9"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1"/>
          <p:cNvSpPr txBox="1">
            <a:spLocks noGrp="1"/>
          </p:cNvSpPr>
          <p:nvPr>
            <p:ph type="ctrTitle"/>
          </p:nvPr>
        </p:nvSpPr>
        <p:spPr>
          <a:xfrm>
            <a:off x="-9525" y="738187"/>
            <a:ext cx="9144000" cy="1712912"/>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236363"/>
              <a:buNone/>
            </a:pP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r>
              <a:rPr lang="en-US" sz="2700" b="1" i="0" u="none" dirty="0">
                <a:solidFill>
                  <a:srgbClr val="000000"/>
                </a:solidFill>
                <a:latin typeface="Times New Roman"/>
                <a:ea typeface="Times New Roman"/>
                <a:cs typeface="Times New Roman"/>
                <a:sym typeface="Times New Roman"/>
              </a:rPr>
              <a:t>Gokaraju Rangaraju Institute of Engineering and Technology </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(Autonomous)</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Department of Data Science</a:t>
            </a:r>
            <a:br>
              <a:rPr lang="en-US" sz="1800" b="1" i="0" u="none" dirty="0">
                <a:solidFill>
                  <a:srgbClr val="000000"/>
                </a:solidFill>
                <a:latin typeface="Times New Roman"/>
                <a:ea typeface="Times New Roman"/>
                <a:cs typeface="Times New Roman"/>
                <a:sym typeface="Times New Roman"/>
              </a:rPr>
            </a:br>
            <a:br>
              <a:rPr lang="en-US" sz="1800" b="1" i="0" u="none" dirty="0">
                <a:solidFill>
                  <a:srgbClr val="000000"/>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M</a:t>
            </a:r>
            <a:r>
              <a:rPr lang="en-US" sz="1800" dirty="0">
                <a:solidFill>
                  <a:schemeClr val="dk1"/>
                </a:solidFill>
              </a:rPr>
              <a:t>ini</a:t>
            </a:r>
            <a:r>
              <a:rPr lang="en-US" sz="1800" b="1" i="0" u="none" dirty="0">
                <a:solidFill>
                  <a:schemeClr val="dk1"/>
                </a:solidFill>
                <a:latin typeface="Times New Roman"/>
                <a:ea typeface="Times New Roman"/>
                <a:cs typeface="Times New Roman"/>
                <a:sym typeface="Times New Roman"/>
              </a:rPr>
              <a:t> Project Work</a:t>
            </a:r>
            <a:br>
              <a:rPr lang="en-US" sz="1800" b="1" i="0" u="none" dirty="0">
                <a:solidFill>
                  <a:schemeClr val="dk1"/>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(CSE(DS))</a:t>
            </a:r>
            <a:endParaRPr dirty="0"/>
          </a:p>
        </p:txBody>
      </p:sp>
      <p:sp>
        <p:nvSpPr>
          <p:cNvPr id="29" name="Google Shape;29;p1"/>
          <p:cNvSpPr txBox="1">
            <a:spLocks noGrp="1"/>
          </p:cNvSpPr>
          <p:nvPr>
            <p:ph type="subTitle" idx="4294967295"/>
          </p:nvPr>
        </p:nvSpPr>
        <p:spPr>
          <a:xfrm>
            <a:off x="0" y="2571750"/>
            <a:ext cx="9144000" cy="523875"/>
          </a:xfrm>
          <a:prstGeom prst="rect">
            <a:avLst/>
          </a:prstGeom>
          <a:noFill/>
          <a:ln>
            <a:noFill/>
          </a:ln>
        </p:spPr>
        <p:txBody>
          <a:bodyPr spcFirstLastPara="1" wrap="square" lIns="91425" tIns="91425" rIns="91425" bIns="91425" anchor="t" anchorCtr="0">
            <a:noAutofit/>
          </a:bodyPr>
          <a:lstStyle/>
          <a:p>
            <a:pPr marL="0" indent="0" algn="ctr" eaLnBrk="1" hangingPunct="1">
              <a:lnSpc>
                <a:spcPct val="115000"/>
              </a:lnSpc>
              <a:buClr>
                <a:srgbClr val="595959"/>
              </a:buClr>
              <a:buSzPts val="1800"/>
              <a:defRPr/>
            </a:pPr>
            <a:r>
              <a:rPr lang="en-US" altLang="en-US" sz="2400" b="1" dirty="0">
                <a:solidFill>
                  <a:schemeClr val="accent1">
                    <a:lumMod val="75000"/>
                  </a:schemeClr>
                </a:solidFill>
                <a:latin typeface="Times New Roman" panose="02020603050405020304" pitchFamily="18" charset="0"/>
                <a:cs typeface="Times New Roman" panose="02020603050405020304" pitchFamily="18" charset="0"/>
              </a:rPr>
              <a:t>Review2: Architecture Design Presentation</a:t>
            </a:r>
          </a:p>
          <a:p>
            <a:pPr marL="0" indent="0" algn="ctr" eaLnBrk="1" hangingPunct="1">
              <a:lnSpc>
                <a:spcPct val="115000"/>
              </a:lnSpc>
              <a:buClr>
                <a:srgbClr val="595959"/>
              </a:buClr>
              <a:buSzPts val="1800"/>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marL="0" indent="0" algn="ctr" eaLnBrk="1" hangingPunct="1">
              <a:lnSpc>
                <a:spcPct val="115000"/>
              </a:lnSpc>
              <a:buClr>
                <a:srgbClr val="595959"/>
              </a:buClr>
              <a:buSzPts val="1800"/>
              <a:defRPr/>
            </a:pPr>
            <a:endParaRPr lang="en-US" altLang="en-US" sz="2400" b="1" dirty="0">
              <a:solidFill>
                <a:schemeClr val="tx1"/>
              </a:solidFill>
              <a:latin typeface="Times New Roman" panose="02020603050405020304" pitchFamily="18" charset="0"/>
              <a:cs typeface="Times New Roman" panose="02020603050405020304" pitchFamily="18" charset="0"/>
            </a:endParaRPr>
          </a:p>
        </p:txBody>
      </p:sp>
      <p:sp>
        <p:nvSpPr>
          <p:cNvPr id="30" name="Google Shape;30;p1"/>
          <p:cNvSpPr txBox="1"/>
          <p:nvPr/>
        </p:nvSpPr>
        <p:spPr>
          <a:xfrm>
            <a:off x="301625" y="3609268"/>
            <a:ext cx="4260900" cy="1419932"/>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Presented by:</a:t>
            </a:r>
            <a:endParaRPr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1. R.Sravya(23241A67J3)</a:t>
            </a:r>
            <a:endParaRPr lang="it-IT" sz="1600"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2. P.Shivani(24245A6718)</a:t>
            </a:r>
            <a:endParaRPr lang="it-IT" sz="1600"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3. M.Lohitha(23241A67G5)</a:t>
            </a:r>
            <a:endParaRPr lang="it-IT" sz="1600" dirty="0">
              <a:solidFill>
                <a:schemeClr val="dk1"/>
              </a:solidFill>
            </a:endParaRPr>
          </a:p>
          <a:p>
            <a:pPr marL="0" lvl="0" indent="0" algn="l" rtl="0">
              <a:spcBef>
                <a:spcPts val="0"/>
              </a:spcBef>
              <a:spcAft>
                <a:spcPts val="0"/>
              </a:spcAft>
              <a:buClr>
                <a:schemeClr val="dk1"/>
              </a:buClr>
              <a:buSzPts val="1600"/>
              <a:buFont typeface="Times New Roman"/>
              <a:buNone/>
            </a:pPr>
            <a:endParaRPr dirty="0"/>
          </a:p>
        </p:txBody>
      </p:sp>
      <p:sp>
        <p:nvSpPr>
          <p:cNvPr id="31" name="Google Shape;31;p1"/>
          <p:cNvSpPr txBox="1"/>
          <p:nvPr/>
        </p:nvSpPr>
        <p:spPr>
          <a:xfrm>
            <a:off x="5689600" y="3609268"/>
            <a:ext cx="3294062" cy="1419932"/>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Under the Guidance of:</a:t>
            </a:r>
            <a:endParaRPr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Name: Dr. M. Kiran Kumar</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Designation : Associate Professor,</a:t>
            </a:r>
          </a:p>
          <a:p>
            <a:pPr lvl="0">
              <a:lnSpc>
                <a:spcPct val="90000"/>
              </a:lnSpc>
              <a:buClr>
                <a:srgbClr val="006600"/>
              </a:buClr>
              <a:buSzPts val="1600"/>
            </a:pPr>
            <a:r>
              <a:rPr lang="en-US" sz="1600" b="1" dirty="0">
                <a:solidFill>
                  <a:srgbClr val="006600"/>
                </a:solidFill>
                <a:latin typeface="Times New Roman"/>
                <a:cs typeface="Times New Roman"/>
                <a:sym typeface="Times New Roman"/>
              </a:rPr>
              <a:t>                        Dean AAC</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Department: DS</a:t>
            </a:r>
            <a:endParaRPr lang="en-US" sz="1600" b="1"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rgbClr val="006600"/>
              </a:buClr>
              <a:buSzPts val="1600"/>
              <a:buFont typeface="Times New Roman"/>
              <a:buNone/>
            </a:pPr>
            <a:endParaRPr sz="1600" b="1" dirty="0">
              <a:solidFill>
                <a:schemeClr val="dk1"/>
              </a:solidFill>
              <a:latin typeface="Times New Roman"/>
              <a:ea typeface="Times New Roman"/>
              <a:cs typeface="Times New Roman"/>
              <a:sym typeface="Times New Roman"/>
            </a:endParaRPr>
          </a:p>
        </p:txBody>
      </p:sp>
      <p:pic>
        <p:nvPicPr>
          <p:cNvPr id="32" name="Google Shape;32;p1"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
        <p:nvSpPr>
          <p:cNvPr id="2" name="Google Shape;29;p1">
            <a:extLst>
              <a:ext uri="{FF2B5EF4-FFF2-40B4-BE49-F238E27FC236}">
                <a16:creationId xmlns:a16="http://schemas.microsoft.com/office/drawing/2014/main" id="{4E4E8026-6D09-B9F9-7CEF-C9E669326CBF}"/>
              </a:ext>
            </a:extLst>
          </p:cNvPr>
          <p:cNvSpPr txBox="1">
            <a:spLocks/>
          </p:cNvSpPr>
          <p:nvPr/>
        </p:nvSpPr>
        <p:spPr>
          <a:xfrm>
            <a:off x="5644" y="3085393"/>
            <a:ext cx="1992489" cy="5238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indent="0">
              <a:lnSpc>
                <a:spcPct val="115000"/>
              </a:lnSpc>
              <a:buSzPts val="2200"/>
            </a:pPr>
            <a:r>
              <a:rPr lang="en-US" sz="1800" b="1" dirty="0">
                <a:solidFill>
                  <a:srgbClr val="0D5BDC"/>
                </a:solidFill>
                <a:latin typeface="Times New Roman"/>
                <a:ea typeface="Times New Roman"/>
                <a:cs typeface="Times New Roman"/>
                <a:sym typeface="Times New Roman"/>
              </a:rPr>
              <a:t>Batch No - 16  </a:t>
            </a:r>
            <a:endParaRPr lang="en-US" sz="1800" dirty="0"/>
          </a:p>
          <a:p>
            <a:pPr marL="0" indent="0" algn="ctr">
              <a:lnSpc>
                <a:spcPct val="115000"/>
              </a:lnSpc>
              <a:buSzPts val="2200"/>
            </a:pPr>
            <a:endParaRPr lang="en-US" sz="2200" b="1" dirty="0">
              <a:solidFill>
                <a:srgbClr val="0D5BDC"/>
              </a:solidFill>
              <a:latin typeface="Times New Roman"/>
              <a:ea typeface="Times New Roman"/>
              <a:cs typeface="Times New Roman"/>
              <a:sym typeface="Times New Roman"/>
            </a:endParaRPr>
          </a:p>
          <a:p>
            <a:pPr marL="342900" indent="-342900"/>
            <a:endParaRPr lang="en-US" sz="2200" b="1" dirty="0">
              <a:solidFill>
                <a:srgbClr val="0D5BD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2"/>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lvl="0"/>
            <a:r>
              <a:rPr lang="en-IN" sz="3200" b="1" dirty="0">
                <a:latin typeface="Times New Roman" panose="02020603050405020304" pitchFamily="18" charset="0"/>
                <a:cs typeface="Times New Roman" panose="02020603050405020304" pitchFamily="18" charset="0"/>
              </a:rPr>
              <a:t>Diabetes Severity Prediction using </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Retinal Images </a:t>
            </a:r>
            <a:br>
              <a:rPr lang="en-IN" sz="3200" dirty="0"/>
            </a:br>
            <a:endParaRPr dirty="0"/>
          </a:p>
        </p:txBody>
      </p:sp>
      <p:sp>
        <p:nvSpPr>
          <p:cNvPr id="38" name="Google Shape;38;p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3"/>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Introduction</a:t>
            </a:r>
            <a:endParaRPr dirty="0"/>
          </a:p>
        </p:txBody>
      </p:sp>
      <p:sp>
        <p:nvSpPr>
          <p:cNvPr id="44" name="Google Shape;44;p3"/>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a:t>
            </a:fld>
            <a:endParaRPr/>
          </a:p>
        </p:txBody>
      </p:sp>
      <p:sp>
        <p:nvSpPr>
          <p:cNvPr id="5" name="Text Placeholder 4">
            <a:extLst>
              <a:ext uri="{FF2B5EF4-FFF2-40B4-BE49-F238E27FC236}">
                <a16:creationId xmlns:a16="http://schemas.microsoft.com/office/drawing/2014/main" id="{845E921E-33C8-8311-43C1-54574A12F395}"/>
              </a:ext>
            </a:extLst>
          </p:cNvPr>
          <p:cNvSpPr>
            <a:spLocks noGrp="1" noChangeArrowheads="1"/>
          </p:cNvSpPr>
          <p:nvPr>
            <p:ph type="body" idx="1"/>
          </p:nvPr>
        </p:nvSpPr>
        <p:spPr bwMode="auto">
          <a:xfrm>
            <a:off x="592667" y="609173"/>
            <a:ext cx="798750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Diabetes is a chronic disease that requires continuous long-term monitoring to prevent serious complications.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Blood glucose tests provide temporary readings and can vary due to factors such as diet, stress, and time of measurement.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Prolonged diabetes causes permanent damage to retinal blood vessels, leading to diabetic retinopathy.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Retinal fundus images clearly capture stable features such as microaneurysms, hard exudates, cotton wool spots, and abnormal blood vessels.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retinal abnormalities reflect long-term glucose exposure and indicate disease progression.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Therefore, retinal image analysis provides a reliable and non-invasive method for assessing diabetes severity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0C1304B-E03C-8903-D002-0706EEED05FF}"/>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2589EB08-967C-C56D-0967-33712A36F7C2}"/>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0841F032-491B-A16B-BD40-8CC55E4BBE7E}"/>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4</a:t>
            </a:fld>
            <a:endParaRPr/>
          </a:p>
        </p:txBody>
      </p:sp>
      <p:sp>
        <p:nvSpPr>
          <p:cNvPr id="45" name="Google Shape;45;p3">
            <a:extLst>
              <a:ext uri="{FF2B5EF4-FFF2-40B4-BE49-F238E27FC236}">
                <a16:creationId xmlns:a16="http://schemas.microsoft.com/office/drawing/2014/main" id="{FA2DB6E5-5B84-C64C-AD8C-83B6D5466B3C}"/>
              </a:ext>
            </a:extLst>
          </p:cNvPr>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rmAutofit fontScale="92500" lnSpcReduction="10000"/>
          </a:bodyPr>
          <a:lstStyle/>
          <a:p>
            <a:pPr marL="146368" lvl="0" indent="0">
              <a:lnSpc>
                <a:spcPct val="115000"/>
              </a:lnSpc>
              <a:buClr>
                <a:srgbClr val="595959"/>
              </a:buClr>
              <a:buSzPct val="58333"/>
            </a:pPr>
            <a:r>
              <a:rPr lang="en-US" b="1" dirty="0"/>
              <a:t>[1] Title :</a:t>
            </a:r>
            <a:r>
              <a:rPr lang="en-IN" b="1" dirty="0"/>
              <a:t>Diabetes Detection from Non-Diabetic Retinopathy Fundus Images</a:t>
            </a:r>
          </a:p>
          <a:p>
            <a:pPr marL="571500" indent="-342900">
              <a:buFont typeface="Arial" panose="020B0604020202020204" pitchFamily="34" charset="0"/>
              <a:buChar char="•"/>
            </a:pPr>
            <a:r>
              <a:rPr lang="en-US" sz="2100" b="1" dirty="0"/>
              <a:t>Problem:</a:t>
            </a:r>
            <a:br>
              <a:rPr lang="en-US" sz="2100" dirty="0"/>
            </a:br>
            <a:r>
              <a:rPr lang="en-US" sz="2100" dirty="0">
                <a:latin typeface="Times New Roman" panose="02020603050405020304" pitchFamily="18" charset="0"/>
                <a:cs typeface="Times New Roman" panose="02020603050405020304" pitchFamily="18" charset="0"/>
              </a:rPr>
              <a:t>Traditional</a:t>
            </a:r>
            <a:r>
              <a:rPr lang="en-US" sz="2100" dirty="0"/>
              <a:t> diabetes diagnosis relies on blood tests, which provide only short-term glucose readings and may not reflect long-term disease status.</a:t>
            </a:r>
          </a:p>
          <a:p>
            <a:pPr marL="571500" indent="-342900">
              <a:buFont typeface="Arial" panose="020B0604020202020204" pitchFamily="34" charset="0"/>
              <a:buChar char="•"/>
            </a:pPr>
            <a:r>
              <a:rPr lang="en-US" sz="2100" b="1" dirty="0"/>
              <a:t>Approach:</a:t>
            </a:r>
            <a:br>
              <a:rPr lang="en-US" sz="2100" dirty="0"/>
            </a:br>
            <a:r>
              <a:rPr lang="en-US" sz="2100" dirty="0"/>
              <a:t>The paper proposes using retinal fundus images to detect diabetes even in the absence of visible diabetic retinopathy.</a:t>
            </a:r>
          </a:p>
          <a:p>
            <a:pPr marL="571500" indent="-342900">
              <a:buFont typeface="Arial" panose="020B0604020202020204" pitchFamily="34" charset="0"/>
              <a:buChar char="•"/>
            </a:pPr>
            <a:r>
              <a:rPr lang="en-US" sz="2100" b="1" dirty="0"/>
              <a:t>Achievement:</a:t>
            </a:r>
            <a:br>
              <a:rPr lang="en-US" sz="2100" dirty="0"/>
            </a:br>
            <a:r>
              <a:rPr lang="en-US" sz="2100" dirty="0"/>
              <a:t>Successfully detects diabetes from fundus images even without visible diabetic retinopathy.</a:t>
            </a:r>
          </a:p>
          <a:p>
            <a:pPr marL="489268" lvl="0" indent="-342900">
              <a:lnSpc>
                <a:spcPct val="115000"/>
              </a:lnSpc>
              <a:buClr>
                <a:srgbClr val="595959"/>
              </a:buClr>
              <a:buSzPct val="58333"/>
              <a:buFont typeface="Arial" panose="020B0604020202020204" pitchFamily="34" charset="0"/>
              <a:buChar char="•"/>
            </a:pPr>
            <a:endParaRPr lang="en-US" b="1" dirty="0"/>
          </a:p>
          <a:p>
            <a:pPr marL="146368" lvl="0" indent="0">
              <a:lnSpc>
                <a:spcPct val="115000"/>
              </a:lnSpc>
              <a:buClr>
                <a:srgbClr val="595959"/>
              </a:buClr>
              <a:buSzPct val="58333"/>
            </a:pPr>
            <a:endParaRPr lang="en-US" b="1" dirty="0">
              <a:solidFill>
                <a:srgbClr val="C00000"/>
              </a:solidFill>
            </a:endParaRPr>
          </a:p>
          <a:p>
            <a:endParaRPr lang="en-IN" dirty="0"/>
          </a:p>
          <a:p>
            <a:pPr marL="146368" lvl="0" indent="0">
              <a:lnSpc>
                <a:spcPct val="115000"/>
              </a:lnSpc>
              <a:buClr>
                <a:srgbClr val="595959"/>
              </a:buClr>
              <a:buSzPct val="58333"/>
            </a:pPr>
            <a:endParaRPr lang="en-US" dirty="0">
              <a:solidFill>
                <a:srgbClr val="C00000"/>
              </a:solidFill>
            </a:endParaRPr>
          </a:p>
        </p:txBody>
      </p:sp>
    </p:spTree>
    <p:extLst>
      <p:ext uri="{BB962C8B-B14F-4D97-AF65-F5344CB8AC3E}">
        <p14:creationId xmlns:p14="http://schemas.microsoft.com/office/powerpoint/2010/main" val="522939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13585-FFDF-93BC-D450-B70296867BE3}"/>
              </a:ext>
            </a:extLst>
          </p:cNvPr>
          <p:cNvSpPr>
            <a:spLocks noGrp="1"/>
          </p:cNvSpPr>
          <p:nvPr>
            <p:ph type="ctrTitle"/>
          </p:nvPr>
        </p:nvSpPr>
        <p:spPr/>
        <p:txBody>
          <a:bodyPr>
            <a:normAutofit fontScale="90000"/>
          </a:bodyPr>
          <a:lstStyle/>
          <a:p>
            <a:r>
              <a:rPr lang="en-IN" dirty="0"/>
              <a:t>Literature review(</a:t>
            </a:r>
            <a:r>
              <a:rPr lang="en-IN" dirty="0" err="1"/>
              <a:t>Cont</a:t>
            </a:r>
            <a:r>
              <a:rPr lang="en-IN" dirty="0"/>
              <a:t>…):</a:t>
            </a:r>
          </a:p>
        </p:txBody>
      </p:sp>
      <p:sp>
        <p:nvSpPr>
          <p:cNvPr id="3" name="Text Placeholder 2">
            <a:extLst>
              <a:ext uri="{FF2B5EF4-FFF2-40B4-BE49-F238E27FC236}">
                <a16:creationId xmlns:a16="http://schemas.microsoft.com/office/drawing/2014/main" id="{4EE8C5C5-F74F-361B-BE19-7DA7FBBACE39}"/>
              </a:ext>
            </a:extLst>
          </p:cNvPr>
          <p:cNvSpPr>
            <a:spLocks noGrp="1"/>
          </p:cNvSpPr>
          <p:nvPr>
            <p:ph type="body" sz="quarter" idx="13"/>
          </p:nvPr>
        </p:nvSpPr>
        <p:spPr>
          <a:xfrm>
            <a:off x="156369" y="807720"/>
            <a:ext cx="8831262" cy="3924300"/>
          </a:xfrm>
        </p:spPr>
        <p:txBody>
          <a:bodyPr/>
          <a:lstStyle/>
          <a:p>
            <a:pPr marL="146368" lvl="0" indent="0">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[2] Title :A Deep Learning System for Predicting Time to Progression of Diabetic Retinopathy(2024)</a:t>
            </a:r>
          </a:p>
          <a:p>
            <a:pPr marL="489268" lvl="0" indent="-342900">
              <a:lnSpc>
                <a:spcPct val="115000"/>
              </a:lnSpc>
              <a:buClr>
                <a:srgbClr val="595959"/>
              </a:buClr>
              <a:buSzPct val="58333"/>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Problem:</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progression of diabetic retinopathy varies significantly among individuals, making it difficult to predict disease worsening and optimize screening intervals.</a:t>
            </a:r>
          </a:p>
          <a:p>
            <a:pPr marL="5715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Approach:</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Uses deep learning models trained on longitudinal fundus images to predict the time to diabetic retinopathy progression.</a:t>
            </a:r>
          </a:p>
          <a:p>
            <a:pPr marL="5715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Achievement: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system achieves high predictive performance and enables personalized screening intervals, potentially reducing unnecessary frequent screenings while maintaining patient safety.</a:t>
            </a:r>
          </a:p>
          <a:p>
            <a:pPr marL="571500" indent="-3429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489268" lvl="0" indent="-342900">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p>
        </p:txBody>
      </p:sp>
      <p:sp>
        <p:nvSpPr>
          <p:cNvPr id="4" name="Slide Number Placeholder 3">
            <a:extLst>
              <a:ext uri="{FF2B5EF4-FFF2-40B4-BE49-F238E27FC236}">
                <a16:creationId xmlns:a16="http://schemas.microsoft.com/office/drawing/2014/main" id="{E854D27F-BF6D-EE64-1327-5B621FF916F8}"/>
              </a:ext>
            </a:extLst>
          </p:cNvPr>
          <p:cNvSpPr>
            <a:spLocks noGrp="1"/>
          </p:cNvSpPr>
          <p:nvPr>
            <p:ph type="sldNum" idx="14"/>
          </p:nvPr>
        </p:nvSpPr>
        <p:spPr/>
        <p:txBody>
          <a:bodyPr/>
          <a:lstStyle/>
          <a:p>
            <a:pPr>
              <a:defRPr/>
            </a:pPr>
            <a:fld id="{EF26C623-DE27-4A99-8424-AFD36C142E5A}" type="slidenum">
              <a:rPr lang="en-US" altLang="en-US" smtClean="0"/>
              <a:pPr>
                <a:defRPr/>
              </a:pPr>
              <a:t>5</a:t>
            </a:fld>
            <a:endParaRPr lang="en-US" altLang="en-US"/>
          </a:p>
        </p:txBody>
      </p:sp>
    </p:spTree>
    <p:extLst>
      <p:ext uri="{BB962C8B-B14F-4D97-AF65-F5344CB8AC3E}">
        <p14:creationId xmlns:p14="http://schemas.microsoft.com/office/powerpoint/2010/main" val="111458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3C523-0E3B-E486-C19C-9CDFC5B0C552}"/>
              </a:ext>
            </a:extLst>
          </p:cNvPr>
          <p:cNvSpPr>
            <a:spLocks noGrp="1"/>
          </p:cNvSpPr>
          <p:nvPr>
            <p:ph type="ctrTitle"/>
          </p:nvPr>
        </p:nvSpPr>
        <p:spPr/>
        <p:txBody>
          <a:bodyPr>
            <a:normAutofit fontScale="90000"/>
          </a:bodyPr>
          <a:lstStyle/>
          <a:p>
            <a:r>
              <a:rPr lang="en-IN" dirty="0"/>
              <a:t>Literature review(</a:t>
            </a:r>
            <a:r>
              <a:rPr lang="en-IN" dirty="0" err="1"/>
              <a:t>Cont</a:t>
            </a:r>
            <a:r>
              <a:rPr lang="en-IN" dirty="0"/>
              <a:t>…):</a:t>
            </a:r>
          </a:p>
        </p:txBody>
      </p:sp>
      <p:sp>
        <p:nvSpPr>
          <p:cNvPr id="3" name="Text Placeholder 2">
            <a:extLst>
              <a:ext uri="{FF2B5EF4-FFF2-40B4-BE49-F238E27FC236}">
                <a16:creationId xmlns:a16="http://schemas.microsoft.com/office/drawing/2014/main" id="{CF32755A-B1EB-C076-89D0-9A591BCFEAE7}"/>
              </a:ext>
            </a:extLst>
          </p:cNvPr>
          <p:cNvSpPr>
            <a:spLocks noGrp="1"/>
          </p:cNvSpPr>
          <p:nvPr>
            <p:ph type="body" sz="quarter" idx="13"/>
          </p:nvPr>
        </p:nvSpPr>
        <p:spPr>
          <a:xfrm>
            <a:off x="193040" y="914400"/>
            <a:ext cx="8757920" cy="3748087"/>
          </a:xfrm>
        </p:spPr>
        <p:txBody>
          <a:bodyPr/>
          <a:lstStyle/>
          <a:p>
            <a:pPr marL="146368" lvl="0" indent="0">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[3] Title :Predicting Diabetic Retinopathy Development Stages of Fundus Images Using Deep Learning Based on Combined Features(2023)</a:t>
            </a:r>
            <a:endParaRPr lang="en-IN" sz="1800" b="1" dirty="0">
              <a:latin typeface="Times New Roman" panose="02020603050405020304" pitchFamily="18" charset="0"/>
              <a:cs typeface="Times New Roman" panose="02020603050405020304" pitchFamily="18" charset="0"/>
            </a:endParaRP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Accurate prediction of diabetic retinopathy severity stages from fundus images is</a:t>
            </a:r>
          </a:p>
          <a:p>
            <a:pPr algn="just"/>
            <a:r>
              <a:rPr lang="en-US" sz="1800" dirty="0">
                <a:latin typeface="Times New Roman" panose="02020603050405020304" pitchFamily="18" charset="0"/>
                <a:cs typeface="Times New Roman" panose="02020603050405020304" pitchFamily="18" charset="0"/>
              </a:rPr>
              <a:t>challenging due to complex retinal feature variations.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deep learning to extract CNN-based features from fundus images and combines them</a:t>
            </a:r>
          </a:p>
          <a:p>
            <a:pPr algn="just"/>
            <a:r>
              <a:rPr lang="en-US" sz="1800" dirty="0">
                <a:latin typeface="Times New Roman" panose="02020603050405020304" pitchFamily="18" charset="0"/>
                <a:cs typeface="Times New Roman" panose="02020603050405020304" pitchFamily="18" charset="0"/>
              </a:rPr>
              <a:t>with dimensionality reduction for multi-stage DR classification.</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Successfully classifies multiple diabetic retinopathy stages, demonstrating improved</a:t>
            </a:r>
          </a:p>
          <a:p>
            <a:pPr algn="just"/>
            <a:r>
              <a:rPr lang="en-US" sz="1800" dirty="0">
                <a:latin typeface="Times New Roman" panose="02020603050405020304" pitchFamily="18" charset="0"/>
                <a:cs typeface="Times New Roman" panose="02020603050405020304" pitchFamily="18" charset="0"/>
              </a:rPr>
              <a:t>performance over binary detection methods.</a:t>
            </a:r>
          </a:p>
          <a:p>
            <a:pPr marL="489268" lvl="0" indent="-342900" algn="just">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DAC987B-CFD1-3175-AD90-C316EB3AFB2D}"/>
              </a:ext>
            </a:extLst>
          </p:cNvPr>
          <p:cNvSpPr>
            <a:spLocks noGrp="1"/>
          </p:cNvSpPr>
          <p:nvPr>
            <p:ph type="sldNum" idx="14"/>
          </p:nvPr>
        </p:nvSpPr>
        <p:spPr/>
        <p:txBody>
          <a:bodyPr/>
          <a:lstStyle/>
          <a:p>
            <a:pPr>
              <a:defRPr/>
            </a:pPr>
            <a:fld id="{EF26C623-DE27-4A99-8424-AFD36C142E5A}" type="slidenum">
              <a:rPr lang="en-US" altLang="en-US" smtClean="0"/>
              <a:pPr>
                <a:defRPr/>
              </a:pPr>
              <a:t>6</a:t>
            </a:fld>
            <a:endParaRPr lang="en-US" altLang="en-US"/>
          </a:p>
        </p:txBody>
      </p:sp>
    </p:spTree>
    <p:extLst>
      <p:ext uri="{BB962C8B-B14F-4D97-AF65-F5344CB8AC3E}">
        <p14:creationId xmlns:p14="http://schemas.microsoft.com/office/powerpoint/2010/main" val="1238649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31F96-9528-340C-5950-F300AE70D7C2}"/>
              </a:ext>
            </a:extLst>
          </p:cNvPr>
          <p:cNvSpPr>
            <a:spLocks noGrp="1"/>
          </p:cNvSpPr>
          <p:nvPr>
            <p:ph type="ctrTitle"/>
          </p:nvPr>
        </p:nvSpPr>
        <p:spPr/>
        <p:txBody>
          <a:bodyPr>
            <a:normAutofit fontScale="90000"/>
          </a:bodyPr>
          <a:lstStyle/>
          <a:p>
            <a:r>
              <a:rPr lang="en-IN" dirty="0"/>
              <a:t>Literature review(</a:t>
            </a:r>
            <a:r>
              <a:rPr lang="en-IN" dirty="0" err="1"/>
              <a:t>Cont</a:t>
            </a:r>
            <a:r>
              <a:rPr lang="en-IN" dirty="0"/>
              <a:t>…):</a:t>
            </a:r>
          </a:p>
        </p:txBody>
      </p:sp>
      <p:sp>
        <p:nvSpPr>
          <p:cNvPr id="3" name="Text Placeholder 2">
            <a:extLst>
              <a:ext uri="{FF2B5EF4-FFF2-40B4-BE49-F238E27FC236}">
                <a16:creationId xmlns:a16="http://schemas.microsoft.com/office/drawing/2014/main" id="{0405B5CE-242B-760D-AA2C-F4DEC4639A0D}"/>
              </a:ext>
            </a:extLst>
          </p:cNvPr>
          <p:cNvSpPr>
            <a:spLocks noGrp="1"/>
          </p:cNvSpPr>
          <p:nvPr>
            <p:ph type="body" sz="quarter" idx="13"/>
          </p:nvPr>
        </p:nvSpPr>
        <p:spPr/>
        <p:txBody>
          <a:bodyPr/>
          <a:lstStyle/>
          <a:p>
            <a:pPr marL="146368" lvl="0" indent="0">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[4] Title :Use of Artificial Intelligence with Retinal Imaging in Screening for Diabetes-Associated Complications: A Systematic Review(2025)</a:t>
            </a:r>
            <a:endParaRPr lang="en-IN" sz="1800" b="1" dirty="0">
              <a:latin typeface="Times New Roman" panose="02020603050405020304" pitchFamily="18" charset="0"/>
              <a:cs typeface="Times New Roman" panose="02020603050405020304" pitchFamily="18" charset="0"/>
            </a:endParaRP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Problem:</a:t>
            </a:r>
          </a:p>
          <a:p>
            <a:r>
              <a:rPr lang="en-US" sz="1800" dirty="0">
                <a:latin typeface="Times New Roman" panose="02020603050405020304" pitchFamily="18" charset="0"/>
                <a:cs typeface="Times New Roman" panose="02020603050405020304" pitchFamily="18" charset="0"/>
              </a:rPr>
              <a:t>Existing AI-based retinal screening methods are fragmented, and their effectiveness for</a:t>
            </a:r>
          </a:p>
          <a:p>
            <a:r>
              <a:rPr lang="en-US" sz="1800" dirty="0">
                <a:latin typeface="Times New Roman" panose="02020603050405020304" pitchFamily="18" charset="0"/>
                <a:cs typeface="Times New Roman" panose="02020603050405020304" pitchFamily="18" charset="0"/>
              </a:rPr>
              <a:t>detecting diabetes-associated complications is not clearly consolidated.</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Approach:</a:t>
            </a:r>
          </a:p>
          <a:p>
            <a:r>
              <a:rPr lang="en-US" sz="1800" dirty="0">
                <a:latin typeface="Times New Roman" panose="02020603050405020304" pitchFamily="18" charset="0"/>
                <a:cs typeface="Times New Roman" panose="02020603050405020304" pitchFamily="18" charset="0"/>
              </a:rPr>
              <a:t>Systematically reviews and analyzes published AI models that use retinal imaging to</a:t>
            </a:r>
          </a:p>
          <a:p>
            <a:r>
              <a:rPr lang="en-US" sz="1800" dirty="0">
                <a:latin typeface="Times New Roman" panose="02020603050405020304" pitchFamily="18" charset="0"/>
                <a:cs typeface="Times New Roman" panose="02020603050405020304" pitchFamily="18" charset="0"/>
              </a:rPr>
              <a:t>screen for diabetic complications.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Achievement:</a:t>
            </a:r>
          </a:p>
          <a:p>
            <a:r>
              <a:rPr lang="en-US" sz="1800" dirty="0">
                <a:latin typeface="Times New Roman" panose="02020603050405020304" pitchFamily="18" charset="0"/>
                <a:cs typeface="Times New Roman" panose="02020603050405020304" pitchFamily="18" charset="0"/>
              </a:rPr>
              <a:t>Highlights the potential of fundus images for non-invasive assessment of long-term</a:t>
            </a:r>
          </a:p>
          <a:p>
            <a:r>
              <a:rPr lang="en-US" sz="1800" dirty="0">
                <a:latin typeface="Times New Roman" panose="02020603050405020304" pitchFamily="18" charset="0"/>
                <a:cs typeface="Times New Roman" panose="02020603050405020304" pitchFamily="18" charset="0"/>
              </a:rPr>
              <a:t>diabetic complications and identifies key research gaps.</a:t>
            </a:r>
          </a:p>
          <a:p>
            <a:endParaRPr lang="en-US" sz="1800" dirty="0">
              <a:latin typeface="Times New Roman" panose="02020603050405020304" pitchFamily="18" charset="0"/>
              <a:cs typeface="Times New Roman" panose="02020603050405020304" pitchFamily="18" charset="0"/>
            </a:endParaRPr>
          </a:p>
          <a:p>
            <a:pPr marL="489268" lvl="0" indent="-342900" algn="just">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E261DEE-E361-CBFA-B44B-CD23168FDA9E}"/>
              </a:ext>
            </a:extLst>
          </p:cNvPr>
          <p:cNvSpPr>
            <a:spLocks noGrp="1"/>
          </p:cNvSpPr>
          <p:nvPr>
            <p:ph type="sldNum" idx="14"/>
          </p:nvPr>
        </p:nvSpPr>
        <p:spPr/>
        <p:txBody>
          <a:bodyPr/>
          <a:lstStyle/>
          <a:p>
            <a:pPr>
              <a:defRPr/>
            </a:pPr>
            <a:fld id="{EF26C623-DE27-4A99-8424-AFD36C142E5A}" type="slidenum">
              <a:rPr lang="en-US" altLang="en-US" smtClean="0"/>
              <a:pPr>
                <a:defRPr/>
              </a:pPr>
              <a:t>7</a:t>
            </a:fld>
            <a:endParaRPr lang="en-US" altLang="en-US"/>
          </a:p>
        </p:txBody>
      </p:sp>
    </p:spTree>
    <p:extLst>
      <p:ext uri="{BB962C8B-B14F-4D97-AF65-F5344CB8AC3E}">
        <p14:creationId xmlns:p14="http://schemas.microsoft.com/office/powerpoint/2010/main" val="294622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2BCAC-ED26-C728-2F0C-015B721BA13B}"/>
              </a:ext>
            </a:extLst>
          </p:cNvPr>
          <p:cNvSpPr>
            <a:spLocks noGrp="1"/>
          </p:cNvSpPr>
          <p:nvPr>
            <p:ph type="ctrTitle"/>
          </p:nvPr>
        </p:nvSpPr>
        <p:spPr/>
        <p:txBody>
          <a:bodyPr>
            <a:normAutofit fontScale="90000"/>
          </a:bodyPr>
          <a:lstStyle/>
          <a:p>
            <a:r>
              <a:rPr lang="en-IN" dirty="0"/>
              <a:t>Literature review(</a:t>
            </a:r>
            <a:r>
              <a:rPr lang="en-IN" dirty="0" err="1"/>
              <a:t>Cont</a:t>
            </a:r>
            <a:r>
              <a:rPr lang="en-IN" dirty="0"/>
              <a:t>…):</a:t>
            </a:r>
          </a:p>
        </p:txBody>
      </p:sp>
      <p:sp>
        <p:nvSpPr>
          <p:cNvPr id="3" name="Text Placeholder 2">
            <a:extLst>
              <a:ext uri="{FF2B5EF4-FFF2-40B4-BE49-F238E27FC236}">
                <a16:creationId xmlns:a16="http://schemas.microsoft.com/office/drawing/2014/main" id="{FF2855A4-5BBB-AD63-848B-E1200C3FDA31}"/>
              </a:ext>
            </a:extLst>
          </p:cNvPr>
          <p:cNvSpPr>
            <a:spLocks noGrp="1"/>
          </p:cNvSpPr>
          <p:nvPr>
            <p:ph type="body" sz="quarter" idx="13"/>
          </p:nvPr>
        </p:nvSpPr>
        <p:spPr>
          <a:xfrm>
            <a:off x="165100" y="914399"/>
            <a:ext cx="8925560" cy="3748087"/>
          </a:xfrm>
        </p:spPr>
        <p:txBody>
          <a:bodyPr/>
          <a:lstStyle/>
          <a:p>
            <a:r>
              <a:rPr lang="en-US" sz="1800" b="1" dirty="0">
                <a:latin typeface="Times New Roman" panose="02020603050405020304" pitchFamily="18" charset="0"/>
                <a:cs typeface="Times New Roman" panose="02020603050405020304" pitchFamily="18" charset="0"/>
              </a:rPr>
              <a:t>[5]Title :Use of Artificial Intelligence with Retinal Imaging in Screening for</a:t>
            </a:r>
          </a:p>
          <a:p>
            <a:r>
              <a:rPr lang="en-US" sz="1800" b="1" dirty="0">
                <a:latin typeface="Times New Roman" panose="02020603050405020304" pitchFamily="18" charset="0"/>
                <a:cs typeface="Times New Roman" panose="02020603050405020304" pitchFamily="18" charset="0"/>
              </a:rPr>
              <a:t>Diabetes-Associated Complications(2023)</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Problem:</a:t>
            </a:r>
          </a:p>
          <a:p>
            <a:pPr marL="228600" indent="0"/>
            <a:r>
              <a:rPr lang="en-US" sz="1800" dirty="0">
                <a:latin typeface="Times New Roman" panose="02020603050405020304" pitchFamily="18" charset="0"/>
                <a:cs typeface="Times New Roman" panose="02020603050405020304" pitchFamily="18" charset="0"/>
              </a:rPr>
              <a:t>Diabetes-associated complications are usually detected using separate clinical tests, making early and unified screening difficult.</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Approach:</a:t>
            </a:r>
          </a:p>
          <a:p>
            <a:pPr marL="228600" indent="0"/>
            <a:r>
              <a:rPr lang="en-US" sz="1800" dirty="0">
                <a:latin typeface="Times New Roman" panose="02020603050405020304" pitchFamily="18" charset="0"/>
                <a:cs typeface="Times New Roman" panose="02020603050405020304" pitchFamily="18" charset="0"/>
              </a:rPr>
              <a:t>Reviews AI and deep learning models that analyze retinal fundus images to detect multiple diabetes-related complications.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Achievement:</a:t>
            </a:r>
          </a:p>
          <a:p>
            <a:pPr marL="228600" indent="0"/>
            <a:r>
              <a:rPr lang="en-US" sz="1800" dirty="0">
                <a:latin typeface="Times New Roman" panose="02020603050405020304" pitchFamily="18" charset="0"/>
                <a:cs typeface="Times New Roman" panose="02020603050405020304" pitchFamily="18" charset="0"/>
              </a:rPr>
              <a:t>Demonstrates that retinal images can non-invasively predict various diabetes-related complications beyond diabetic retinopathy.</a:t>
            </a: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p>
        </p:txBody>
      </p:sp>
      <p:sp>
        <p:nvSpPr>
          <p:cNvPr id="4" name="Slide Number Placeholder 3">
            <a:extLst>
              <a:ext uri="{FF2B5EF4-FFF2-40B4-BE49-F238E27FC236}">
                <a16:creationId xmlns:a16="http://schemas.microsoft.com/office/drawing/2014/main" id="{FD8689D1-CCDC-C8BA-0581-A45BCDA0F507}"/>
              </a:ext>
            </a:extLst>
          </p:cNvPr>
          <p:cNvSpPr>
            <a:spLocks noGrp="1"/>
          </p:cNvSpPr>
          <p:nvPr>
            <p:ph type="sldNum" idx="14"/>
          </p:nvPr>
        </p:nvSpPr>
        <p:spPr/>
        <p:txBody>
          <a:bodyPr/>
          <a:lstStyle/>
          <a:p>
            <a:pPr>
              <a:defRPr/>
            </a:pPr>
            <a:fld id="{EF26C623-DE27-4A99-8424-AFD36C142E5A}" type="slidenum">
              <a:rPr lang="en-US" altLang="en-US" smtClean="0"/>
              <a:pPr>
                <a:defRPr/>
              </a:pPr>
              <a:t>8</a:t>
            </a:fld>
            <a:endParaRPr lang="en-US" altLang="en-US"/>
          </a:p>
        </p:txBody>
      </p:sp>
    </p:spTree>
    <p:extLst>
      <p:ext uri="{BB962C8B-B14F-4D97-AF65-F5344CB8AC3E}">
        <p14:creationId xmlns:p14="http://schemas.microsoft.com/office/powerpoint/2010/main" val="874953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3A42-93D9-F406-21AA-604CDAD712E1}"/>
              </a:ext>
            </a:extLst>
          </p:cNvPr>
          <p:cNvSpPr>
            <a:spLocks noGrp="1"/>
          </p:cNvSpPr>
          <p:nvPr>
            <p:ph type="ctrTitle"/>
          </p:nvPr>
        </p:nvSpPr>
        <p:spPr/>
        <p:txBody>
          <a:bodyPr>
            <a:normAutofit fontScale="90000"/>
          </a:bodyPr>
          <a:lstStyle/>
          <a:p>
            <a:r>
              <a:rPr lang="en-IN" dirty="0"/>
              <a:t>Literature review(</a:t>
            </a:r>
            <a:r>
              <a:rPr lang="en-IN" dirty="0" err="1"/>
              <a:t>Cont</a:t>
            </a:r>
            <a:r>
              <a:rPr lang="en-IN" dirty="0"/>
              <a:t>…):</a:t>
            </a:r>
          </a:p>
        </p:txBody>
      </p:sp>
      <p:sp>
        <p:nvSpPr>
          <p:cNvPr id="3" name="Text Placeholder 2">
            <a:extLst>
              <a:ext uri="{FF2B5EF4-FFF2-40B4-BE49-F238E27FC236}">
                <a16:creationId xmlns:a16="http://schemas.microsoft.com/office/drawing/2014/main" id="{4A899CB8-044C-C1D3-8C8A-3E948330DCE4}"/>
              </a:ext>
            </a:extLst>
          </p:cNvPr>
          <p:cNvSpPr>
            <a:spLocks noGrp="1"/>
          </p:cNvSpPr>
          <p:nvPr>
            <p:ph type="body" sz="quarter" idx="13"/>
          </p:nvPr>
        </p:nvSpPr>
        <p:spPr/>
        <p:txBody>
          <a:bodyPr/>
          <a:lstStyle/>
          <a:p>
            <a:pPr marL="146368" lvl="0" indent="0">
              <a:lnSpc>
                <a:spcPct val="115000"/>
              </a:lnSpc>
              <a:buClr>
                <a:srgbClr val="595959"/>
              </a:buClr>
              <a:buSzPct val="58333"/>
            </a:pPr>
            <a:r>
              <a:rPr lang="en-US" sz="1800" b="1" dirty="0">
                <a:latin typeface="Times New Roman" panose="02020603050405020304" pitchFamily="18" charset="0"/>
                <a:cs typeface="Times New Roman" panose="02020603050405020304" pitchFamily="18" charset="0"/>
              </a:rPr>
              <a:t>[6] Title :Analysis of Diabetic Retinopathy Based on Deep Learning</a:t>
            </a:r>
            <a:endParaRPr lang="en-IN" sz="1800" b="1" dirty="0">
              <a:latin typeface="Times New Roman" panose="02020603050405020304" pitchFamily="18" charset="0"/>
              <a:cs typeface="Times New Roman" panose="02020603050405020304" pitchFamily="18" charset="0"/>
            </a:endParaRP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Problem:</a:t>
            </a:r>
          </a:p>
          <a:p>
            <a:r>
              <a:rPr lang="en-US" sz="1800" dirty="0">
                <a:latin typeface="Times New Roman" panose="02020603050405020304" pitchFamily="18" charset="0"/>
                <a:cs typeface="Times New Roman" panose="02020603050405020304" pitchFamily="18" charset="0"/>
              </a:rPr>
              <a:t>Accurate analysis of diabetic retinopathy using retinal images is challenging due to the</a:t>
            </a:r>
          </a:p>
          <a:p>
            <a:r>
              <a:rPr lang="en-US" sz="1800" dirty="0">
                <a:latin typeface="Times New Roman" panose="02020603050405020304" pitchFamily="18" charset="0"/>
                <a:cs typeface="Times New Roman" panose="02020603050405020304" pitchFamily="18" charset="0"/>
              </a:rPr>
              <a:t>complexity and variability of retinal features.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Approach:</a:t>
            </a:r>
          </a:p>
          <a:p>
            <a:r>
              <a:rPr lang="en-US" sz="1800" dirty="0">
                <a:latin typeface="Times New Roman" panose="02020603050405020304" pitchFamily="18" charset="0"/>
                <a:cs typeface="Times New Roman" panose="02020603050405020304" pitchFamily="18" charset="0"/>
              </a:rPr>
              <a:t>Reviews and analyzes deep learning–based methods applied to retinal fundus images for</a:t>
            </a:r>
          </a:p>
          <a:p>
            <a:r>
              <a:rPr lang="en-US" sz="1800" dirty="0">
                <a:latin typeface="Times New Roman" panose="02020603050405020304" pitchFamily="18" charset="0"/>
                <a:cs typeface="Times New Roman" panose="02020603050405020304" pitchFamily="18" charset="0"/>
              </a:rPr>
              <a:t>diabetic retinopathy analysis.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Achievement:</a:t>
            </a:r>
          </a:p>
          <a:p>
            <a:r>
              <a:rPr lang="en-US" sz="1800" dirty="0">
                <a:latin typeface="Times New Roman" panose="02020603050405020304" pitchFamily="18" charset="0"/>
                <a:cs typeface="Times New Roman" panose="02020603050405020304" pitchFamily="18" charset="0"/>
              </a:rPr>
              <a:t>Demonstrates that deep learning techniques effectively improve diabetic retinopathy</a:t>
            </a:r>
          </a:p>
          <a:p>
            <a:r>
              <a:rPr lang="en-US" sz="1800" dirty="0">
                <a:latin typeface="Times New Roman" panose="02020603050405020304" pitchFamily="18" charset="0"/>
                <a:cs typeface="Times New Roman" panose="02020603050405020304" pitchFamily="18" charset="0"/>
              </a:rPr>
              <a:t>detection and analysis from fundus images.</a:t>
            </a:r>
          </a:p>
          <a:p>
            <a:endParaRPr lang="en-US" sz="1800" dirty="0">
              <a:latin typeface="Times New Roman" panose="02020603050405020304" pitchFamily="18" charset="0"/>
              <a:cs typeface="Times New Roman" panose="02020603050405020304" pitchFamily="18" charset="0"/>
            </a:endParaRPr>
          </a:p>
          <a:p>
            <a:pPr marL="489268" lvl="0" indent="-342900" algn="just">
              <a:lnSpc>
                <a:spcPct val="115000"/>
              </a:lnSpc>
              <a:buClr>
                <a:srgbClr val="595959"/>
              </a:buClr>
              <a:buSzPct val="58333"/>
              <a:buFont typeface="Arial" panose="020B0604020202020204" pitchFamily="34" charset="0"/>
              <a:buChar char="•"/>
            </a:pPr>
            <a:endParaRPr lang="en-US" sz="1800" b="1" dirty="0">
              <a:latin typeface="Times New Roman" panose="02020603050405020304" pitchFamily="18" charset="0"/>
              <a:cs typeface="Times New Roman" panose="02020603050405020304" pitchFamily="18" charset="0"/>
            </a:endParaRPr>
          </a:p>
          <a:p>
            <a:pPr marL="146368" lvl="0" indent="0">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p>
        </p:txBody>
      </p:sp>
      <p:sp>
        <p:nvSpPr>
          <p:cNvPr id="4" name="Slide Number Placeholder 3">
            <a:extLst>
              <a:ext uri="{FF2B5EF4-FFF2-40B4-BE49-F238E27FC236}">
                <a16:creationId xmlns:a16="http://schemas.microsoft.com/office/drawing/2014/main" id="{2CAE6ED7-9B65-5232-92A2-2764461A9505}"/>
              </a:ext>
            </a:extLst>
          </p:cNvPr>
          <p:cNvSpPr>
            <a:spLocks noGrp="1"/>
          </p:cNvSpPr>
          <p:nvPr>
            <p:ph type="sldNum" idx="14"/>
          </p:nvPr>
        </p:nvSpPr>
        <p:spPr/>
        <p:txBody>
          <a:bodyPr/>
          <a:lstStyle/>
          <a:p>
            <a:pPr>
              <a:defRPr/>
            </a:pPr>
            <a:fld id="{EF26C623-DE27-4A99-8424-AFD36C142E5A}" type="slidenum">
              <a:rPr lang="en-US" altLang="en-US" smtClean="0"/>
              <a:pPr>
                <a:defRPr/>
              </a:pPr>
              <a:t>9</a:t>
            </a:fld>
            <a:endParaRPr lang="en-US" altLang="en-US"/>
          </a:p>
        </p:txBody>
      </p:sp>
    </p:spTree>
    <p:extLst>
      <p:ext uri="{BB962C8B-B14F-4D97-AF65-F5344CB8AC3E}">
        <p14:creationId xmlns:p14="http://schemas.microsoft.com/office/powerpoint/2010/main" val="2495902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42E9-9F5F-C660-988D-66CDBDEED17E}"/>
              </a:ext>
            </a:extLst>
          </p:cNvPr>
          <p:cNvSpPr>
            <a:spLocks noGrp="1"/>
          </p:cNvSpPr>
          <p:nvPr>
            <p:ph type="ctrTitle"/>
          </p:nvPr>
        </p:nvSpPr>
        <p:spPr/>
        <p:txBody>
          <a:bodyPr>
            <a:normAutofit fontScale="90000"/>
          </a:bodyPr>
          <a:lstStyle/>
          <a:p>
            <a:r>
              <a:rPr lang="en-IN" dirty="0"/>
              <a:t>Literature review(</a:t>
            </a:r>
            <a:r>
              <a:rPr lang="en-IN" dirty="0" err="1"/>
              <a:t>Cont</a:t>
            </a:r>
            <a:r>
              <a:rPr lang="en-IN" dirty="0"/>
              <a:t>…):</a:t>
            </a:r>
          </a:p>
        </p:txBody>
      </p:sp>
      <p:sp>
        <p:nvSpPr>
          <p:cNvPr id="3" name="Text Placeholder 2">
            <a:extLst>
              <a:ext uri="{FF2B5EF4-FFF2-40B4-BE49-F238E27FC236}">
                <a16:creationId xmlns:a16="http://schemas.microsoft.com/office/drawing/2014/main" id="{64B5F353-70C5-CA27-EEE2-1D281B42A642}"/>
              </a:ext>
            </a:extLst>
          </p:cNvPr>
          <p:cNvSpPr>
            <a:spLocks noGrp="1"/>
          </p:cNvSpPr>
          <p:nvPr>
            <p:ph type="body" sz="quarter" idx="13"/>
          </p:nvPr>
        </p:nvSpPr>
        <p:spPr/>
        <p:txBody>
          <a:bodyPr/>
          <a:lstStyle/>
          <a:p>
            <a:pPr algn="just"/>
            <a:r>
              <a:rPr lang="en-US" sz="1800" b="1" dirty="0">
                <a:latin typeface="Times New Roman" panose="02020603050405020304" pitchFamily="18" charset="0"/>
                <a:cs typeface="Times New Roman" panose="02020603050405020304" pitchFamily="18" charset="0"/>
              </a:rPr>
              <a:t>[7] Title :Predicting Systemic Health Features from Retinal Fundus Images</a:t>
            </a:r>
          </a:p>
          <a:p>
            <a:pPr algn="just"/>
            <a:r>
              <a:rPr lang="en-US" sz="1800" b="1" dirty="0">
                <a:latin typeface="Times New Roman" panose="02020603050405020304" pitchFamily="18" charset="0"/>
                <a:cs typeface="Times New Roman" panose="02020603050405020304" pitchFamily="18" charset="0"/>
              </a:rPr>
              <a:t>Using Transfer-Learning-Based Artificial Intelligence Models(2024)</a:t>
            </a:r>
            <a:endParaRPr lang="en-IN" sz="1800" b="1" dirty="0">
              <a:latin typeface="Times New Roman" panose="02020603050405020304" pitchFamily="18" charset="0"/>
              <a:cs typeface="Times New Roman" panose="02020603050405020304" pitchFamily="18" charset="0"/>
            </a:endParaRPr>
          </a:p>
          <a:p>
            <a:pPr marL="5143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Problem:</a:t>
            </a:r>
          </a:p>
          <a:p>
            <a:pPr algn="just"/>
            <a:r>
              <a:rPr lang="en-US" sz="1800" dirty="0">
                <a:latin typeface="Times New Roman" panose="02020603050405020304" pitchFamily="18" charset="0"/>
                <a:cs typeface="Times New Roman" panose="02020603050405020304" pitchFamily="18" charset="0"/>
              </a:rPr>
              <a:t>Assessing systemic health conditions such as diabetes and hypertension usually requires</a:t>
            </a:r>
          </a:p>
          <a:p>
            <a:pPr algn="just"/>
            <a:r>
              <a:rPr lang="en-US" sz="1800" dirty="0">
                <a:latin typeface="Times New Roman" panose="02020603050405020304" pitchFamily="18" charset="0"/>
                <a:cs typeface="Times New Roman" panose="02020603050405020304" pitchFamily="18" charset="0"/>
              </a:rPr>
              <a:t>invasive clinical tests.</a:t>
            </a:r>
          </a:p>
          <a:p>
            <a:pPr marL="5143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Approach:</a:t>
            </a:r>
          </a:p>
          <a:p>
            <a:pPr algn="just"/>
            <a:r>
              <a:rPr lang="en-US" sz="1800" dirty="0">
                <a:latin typeface="Times New Roman" panose="02020603050405020304" pitchFamily="18" charset="0"/>
                <a:cs typeface="Times New Roman" panose="02020603050405020304" pitchFamily="18" charset="0"/>
              </a:rPr>
              <a:t>Uses transfer learning–based deep learning models trained on retinal fundus images to</a:t>
            </a:r>
          </a:p>
          <a:p>
            <a:pPr algn="just"/>
            <a:r>
              <a:rPr lang="en-US" sz="1800" dirty="0">
                <a:latin typeface="Times New Roman" panose="02020603050405020304" pitchFamily="18" charset="0"/>
                <a:cs typeface="Times New Roman" panose="02020603050405020304" pitchFamily="18" charset="0"/>
              </a:rPr>
              <a:t>predict systemic health indicators.</a:t>
            </a:r>
          </a:p>
          <a:p>
            <a:pPr marL="5143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Achievement:</a:t>
            </a:r>
          </a:p>
          <a:p>
            <a:pPr algn="just"/>
            <a:r>
              <a:rPr lang="en-US" sz="1800" dirty="0">
                <a:latin typeface="Times New Roman" panose="02020603050405020304" pitchFamily="18" charset="0"/>
                <a:cs typeface="Times New Roman" panose="02020603050405020304" pitchFamily="18" charset="0"/>
              </a:rPr>
              <a:t>Shows that retinal fundus images can non-invasively predict long-term systemic health</a:t>
            </a:r>
          </a:p>
          <a:p>
            <a:pPr algn="just"/>
            <a:r>
              <a:rPr lang="en-US" sz="1800" dirty="0">
                <a:latin typeface="Times New Roman" panose="02020603050405020304" pitchFamily="18" charset="0"/>
                <a:cs typeface="Times New Roman" panose="02020603050405020304" pitchFamily="18" charset="0"/>
              </a:rPr>
              <a:t>markers, including diabetes-related indicators.</a:t>
            </a: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gn="just">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p>
        </p:txBody>
      </p:sp>
      <p:sp>
        <p:nvSpPr>
          <p:cNvPr id="4" name="Slide Number Placeholder 3">
            <a:extLst>
              <a:ext uri="{FF2B5EF4-FFF2-40B4-BE49-F238E27FC236}">
                <a16:creationId xmlns:a16="http://schemas.microsoft.com/office/drawing/2014/main" id="{160FF937-22DA-351F-3D27-64A8167C2885}"/>
              </a:ext>
            </a:extLst>
          </p:cNvPr>
          <p:cNvSpPr>
            <a:spLocks noGrp="1"/>
          </p:cNvSpPr>
          <p:nvPr>
            <p:ph type="sldNum" idx="14"/>
          </p:nvPr>
        </p:nvSpPr>
        <p:spPr/>
        <p:txBody>
          <a:bodyPr/>
          <a:lstStyle/>
          <a:p>
            <a:pPr>
              <a:defRPr/>
            </a:pPr>
            <a:fld id="{EF26C623-DE27-4A99-8424-AFD36C142E5A}" type="slidenum">
              <a:rPr lang="en-US" altLang="en-US" smtClean="0"/>
              <a:pPr>
                <a:defRPr/>
              </a:pPr>
              <a:t>10</a:t>
            </a:fld>
            <a:endParaRPr lang="en-US" altLang="en-US"/>
          </a:p>
        </p:txBody>
      </p:sp>
    </p:spTree>
    <p:extLst>
      <p:ext uri="{BB962C8B-B14F-4D97-AF65-F5344CB8AC3E}">
        <p14:creationId xmlns:p14="http://schemas.microsoft.com/office/powerpoint/2010/main" val="2017724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80A72-59B9-0CAC-9AC1-B786DA2671D0}"/>
              </a:ext>
            </a:extLst>
          </p:cNvPr>
          <p:cNvSpPr>
            <a:spLocks noGrp="1"/>
          </p:cNvSpPr>
          <p:nvPr>
            <p:ph type="ctrTitle"/>
          </p:nvPr>
        </p:nvSpPr>
        <p:spPr/>
        <p:txBody>
          <a:bodyPr>
            <a:normAutofit fontScale="90000"/>
          </a:bodyPr>
          <a:lstStyle/>
          <a:p>
            <a:r>
              <a:rPr lang="en-IN" dirty="0"/>
              <a:t>Literature review(</a:t>
            </a:r>
            <a:r>
              <a:rPr lang="en-IN" dirty="0" err="1"/>
              <a:t>Cont</a:t>
            </a:r>
            <a:r>
              <a:rPr lang="en-IN" dirty="0"/>
              <a:t>…):</a:t>
            </a:r>
          </a:p>
        </p:txBody>
      </p:sp>
      <p:sp>
        <p:nvSpPr>
          <p:cNvPr id="3" name="Text Placeholder 2">
            <a:extLst>
              <a:ext uri="{FF2B5EF4-FFF2-40B4-BE49-F238E27FC236}">
                <a16:creationId xmlns:a16="http://schemas.microsoft.com/office/drawing/2014/main" id="{8CC008C4-E649-8A8A-95F9-F19755E11117}"/>
              </a:ext>
            </a:extLst>
          </p:cNvPr>
          <p:cNvSpPr>
            <a:spLocks noGrp="1"/>
          </p:cNvSpPr>
          <p:nvPr>
            <p:ph type="body" sz="quarter" idx="13"/>
          </p:nvPr>
        </p:nvSpPr>
        <p:spPr>
          <a:xfrm>
            <a:off x="165100" y="914399"/>
            <a:ext cx="8978900" cy="3748087"/>
          </a:xfrm>
        </p:spPr>
        <p:txBody>
          <a:bodyPr/>
          <a:lstStyle/>
          <a:p>
            <a:r>
              <a:rPr lang="en-US" sz="1800" b="1" dirty="0">
                <a:latin typeface="Times New Roman" panose="02020603050405020304" pitchFamily="18" charset="0"/>
                <a:cs typeface="Times New Roman" panose="02020603050405020304" pitchFamily="18" charset="0"/>
              </a:rPr>
              <a:t>[8] Title :Predicting Diabetic Retinopathy Development Stages of Fundus</a:t>
            </a:r>
          </a:p>
          <a:p>
            <a:r>
              <a:rPr lang="en-US" sz="1800" b="1" dirty="0">
                <a:latin typeface="Times New Roman" panose="02020603050405020304" pitchFamily="18" charset="0"/>
                <a:cs typeface="Times New Roman" panose="02020603050405020304" pitchFamily="18" charset="0"/>
              </a:rPr>
              <a:t>Images(2024)</a:t>
            </a:r>
          </a:p>
          <a:p>
            <a:r>
              <a:rPr lang="en-US" sz="1800" b="1" dirty="0">
                <a:latin typeface="Times New Roman" panose="02020603050405020304" pitchFamily="18" charset="0"/>
                <a:cs typeface="Times New Roman" panose="02020603050405020304" pitchFamily="18" charset="0"/>
              </a:rPr>
              <a:t>Using Deep Learning Based on Combined Features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Problem:</a:t>
            </a:r>
          </a:p>
          <a:p>
            <a:r>
              <a:rPr lang="en-US" sz="1800" dirty="0">
                <a:latin typeface="Times New Roman" panose="02020603050405020304" pitchFamily="18" charset="0"/>
                <a:cs typeface="Times New Roman" panose="02020603050405020304" pitchFamily="18" charset="0"/>
              </a:rPr>
              <a:t>Accurate classification of multiple diabetic retinopathy stages from fundus images is</a:t>
            </a:r>
          </a:p>
          <a:p>
            <a:r>
              <a:rPr lang="en-US" sz="1800" dirty="0">
                <a:latin typeface="Times New Roman" panose="02020603050405020304" pitchFamily="18" charset="0"/>
                <a:cs typeface="Times New Roman" panose="02020603050405020304" pitchFamily="18" charset="0"/>
              </a:rPr>
              <a:t>challenging due to complex and diverse retinal features.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Approach:</a:t>
            </a:r>
          </a:p>
          <a:p>
            <a:r>
              <a:rPr lang="en-US" sz="1800" dirty="0">
                <a:latin typeface="Times New Roman" panose="02020603050405020304" pitchFamily="18" charset="0"/>
                <a:cs typeface="Times New Roman" panose="02020603050405020304" pitchFamily="18" charset="0"/>
              </a:rPr>
              <a:t>Uses hybrid deep learning methods combining CNN-based deep features with handcrafted</a:t>
            </a:r>
          </a:p>
          <a:p>
            <a:r>
              <a:rPr lang="en-US" sz="1800" dirty="0">
                <a:latin typeface="Times New Roman" panose="02020603050405020304" pitchFamily="18" charset="0"/>
                <a:cs typeface="Times New Roman" panose="02020603050405020304" pitchFamily="18" charset="0"/>
              </a:rPr>
              <a:t>features for multi-stage DR classification.</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Achievement:</a:t>
            </a:r>
          </a:p>
          <a:p>
            <a:r>
              <a:rPr lang="en-US" sz="1800" dirty="0">
                <a:latin typeface="Times New Roman" panose="02020603050405020304" pitchFamily="18" charset="0"/>
                <a:cs typeface="Times New Roman" panose="02020603050405020304" pitchFamily="18" charset="0"/>
              </a:rPr>
              <a:t>Achieves very high accuracy in classifying five diabetic retinopathy stages using combined</a:t>
            </a:r>
          </a:p>
          <a:p>
            <a:pPr algn="just"/>
            <a:r>
              <a:rPr lang="en-US" sz="1800" dirty="0">
                <a:latin typeface="Times New Roman" panose="02020603050405020304" pitchFamily="18" charset="0"/>
                <a:cs typeface="Times New Roman" panose="02020603050405020304" pitchFamily="18" charset="0"/>
              </a:rPr>
              <a:t>feature representation.</a:t>
            </a:r>
          </a:p>
          <a:p>
            <a:endParaRPr lang="en-US" sz="1800" b="1" dirty="0">
              <a:latin typeface="Times New Roman" panose="02020603050405020304" pitchFamily="18" charset="0"/>
              <a:cs typeface="Times New Roman" panose="02020603050405020304" pitchFamily="18" charset="0"/>
            </a:endParaRP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p>
        </p:txBody>
      </p:sp>
      <p:sp>
        <p:nvSpPr>
          <p:cNvPr id="4" name="Slide Number Placeholder 3">
            <a:extLst>
              <a:ext uri="{FF2B5EF4-FFF2-40B4-BE49-F238E27FC236}">
                <a16:creationId xmlns:a16="http://schemas.microsoft.com/office/drawing/2014/main" id="{EE203C66-FC42-C456-431F-5436CB5CD515}"/>
              </a:ext>
            </a:extLst>
          </p:cNvPr>
          <p:cNvSpPr>
            <a:spLocks noGrp="1"/>
          </p:cNvSpPr>
          <p:nvPr>
            <p:ph type="sldNum" idx="14"/>
          </p:nvPr>
        </p:nvSpPr>
        <p:spPr/>
        <p:txBody>
          <a:bodyPr/>
          <a:lstStyle/>
          <a:p>
            <a:pPr>
              <a:defRPr/>
            </a:pPr>
            <a:fld id="{EF26C623-DE27-4A99-8424-AFD36C142E5A}" type="slidenum">
              <a:rPr lang="en-US" altLang="en-US" smtClean="0"/>
              <a:pPr>
                <a:defRPr/>
              </a:pPr>
              <a:t>11</a:t>
            </a:fld>
            <a:endParaRPr lang="en-US" altLang="en-US"/>
          </a:p>
        </p:txBody>
      </p:sp>
    </p:spTree>
    <p:extLst>
      <p:ext uri="{BB962C8B-B14F-4D97-AF65-F5344CB8AC3E}">
        <p14:creationId xmlns:p14="http://schemas.microsoft.com/office/powerpoint/2010/main" val="3516653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8F9E9-13DF-CFBA-C6EF-CBB317C81D03}"/>
              </a:ext>
            </a:extLst>
          </p:cNvPr>
          <p:cNvSpPr>
            <a:spLocks noGrp="1"/>
          </p:cNvSpPr>
          <p:nvPr>
            <p:ph type="ctrTitle"/>
          </p:nvPr>
        </p:nvSpPr>
        <p:spPr/>
        <p:txBody>
          <a:bodyPr>
            <a:normAutofit fontScale="90000"/>
          </a:bodyPr>
          <a:lstStyle/>
          <a:p>
            <a:r>
              <a:rPr lang="en-IN" dirty="0"/>
              <a:t>Literature review(</a:t>
            </a:r>
            <a:r>
              <a:rPr lang="en-IN" dirty="0" err="1"/>
              <a:t>Cont</a:t>
            </a:r>
            <a:r>
              <a:rPr lang="en-IN" dirty="0"/>
              <a:t>…):</a:t>
            </a:r>
          </a:p>
        </p:txBody>
      </p:sp>
      <p:sp>
        <p:nvSpPr>
          <p:cNvPr id="3" name="Text Placeholder 2">
            <a:extLst>
              <a:ext uri="{FF2B5EF4-FFF2-40B4-BE49-F238E27FC236}">
                <a16:creationId xmlns:a16="http://schemas.microsoft.com/office/drawing/2014/main" id="{58C0643C-DE90-AC7D-C55C-6DC900411CB3}"/>
              </a:ext>
            </a:extLst>
          </p:cNvPr>
          <p:cNvSpPr>
            <a:spLocks noGrp="1"/>
          </p:cNvSpPr>
          <p:nvPr>
            <p:ph type="body" sz="quarter" idx="13"/>
          </p:nvPr>
        </p:nvSpPr>
        <p:spPr/>
        <p:txBody>
          <a:bodyPr/>
          <a:lstStyle/>
          <a:p>
            <a:r>
              <a:rPr lang="en-US" sz="1800" b="1" dirty="0">
                <a:latin typeface="Times New Roman" panose="02020603050405020304" pitchFamily="18" charset="0"/>
                <a:cs typeface="Times New Roman" panose="02020603050405020304" pitchFamily="18" charset="0"/>
              </a:rPr>
              <a:t>[9] Title :A Deep Learning Model for Screening Type 2 Diabetes from Retinal</a:t>
            </a:r>
          </a:p>
          <a:p>
            <a:r>
              <a:rPr lang="en-US" sz="1800" b="1" dirty="0">
                <a:latin typeface="Times New Roman" panose="02020603050405020304" pitchFamily="18" charset="0"/>
                <a:cs typeface="Times New Roman" panose="02020603050405020304" pitchFamily="18" charset="0"/>
              </a:rPr>
              <a:t>Photographs(2024)</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Problem:</a:t>
            </a:r>
          </a:p>
          <a:p>
            <a:r>
              <a:rPr lang="en-US" sz="1800" dirty="0">
                <a:latin typeface="Times New Roman" panose="02020603050405020304" pitchFamily="18" charset="0"/>
                <a:cs typeface="Times New Roman" panose="02020603050405020304" pitchFamily="18" charset="0"/>
              </a:rPr>
              <a:t>Early screening of type 2 diabetes usually relies on invasive blood tests and may miss</a:t>
            </a:r>
          </a:p>
          <a:p>
            <a:r>
              <a:rPr lang="en-US" sz="1800" dirty="0">
                <a:latin typeface="Times New Roman" panose="02020603050405020304" pitchFamily="18" charset="0"/>
                <a:cs typeface="Times New Roman" panose="02020603050405020304" pitchFamily="18" charset="0"/>
              </a:rPr>
              <a:t>long-term metabolic patterns.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Approach:</a:t>
            </a:r>
          </a:p>
          <a:p>
            <a:r>
              <a:rPr lang="en-US" sz="1800" dirty="0">
                <a:latin typeface="Times New Roman" panose="02020603050405020304" pitchFamily="18" charset="0"/>
                <a:cs typeface="Times New Roman" panose="02020603050405020304" pitchFamily="18" charset="0"/>
              </a:rPr>
              <a:t>Uses deep learning models to analyze retinal fundus images for non-invasive screening of</a:t>
            </a:r>
          </a:p>
          <a:p>
            <a:r>
              <a:rPr lang="en-US" sz="1800" dirty="0">
                <a:latin typeface="Times New Roman" panose="02020603050405020304" pitchFamily="18" charset="0"/>
                <a:cs typeface="Times New Roman" panose="02020603050405020304" pitchFamily="18" charset="0"/>
              </a:rPr>
              <a:t>type 2 diabetes.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Achievement:</a:t>
            </a:r>
          </a:p>
          <a:p>
            <a:r>
              <a:rPr lang="en-US" sz="1800" dirty="0">
                <a:latin typeface="Times New Roman" panose="02020603050405020304" pitchFamily="18" charset="0"/>
                <a:cs typeface="Times New Roman" panose="02020603050405020304" pitchFamily="18" charset="0"/>
              </a:rPr>
              <a:t>Demonstrates that fundus images can be used to screen type 2 diabetes and related</a:t>
            </a:r>
          </a:p>
          <a:p>
            <a:r>
              <a:rPr lang="en-US" sz="1800" dirty="0">
                <a:latin typeface="Times New Roman" panose="02020603050405020304" pitchFamily="18" charset="0"/>
                <a:cs typeface="Times New Roman" panose="02020603050405020304" pitchFamily="18" charset="0"/>
              </a:rPr>
              <a:t>metabolic risk factors non-invasively.</a:t>
            </a:r>
          </a:p>
          <a:p>
            <a:endParaRPr lang="en-US" sz="1800" b="1" dirty="0">
              <a:latin typeface="Times New Roman" panose="02020603050405020304" pitchFamily="18" charset="0"/>
              <a:cs typeface="Times New Roman" panose="02020603050405020304" pitchFamily="18" charset="0"/>
            </a:endParaRP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p>
        </p:txBody>
      </p:sp>
      <p:sp>
        <p:nvSpPr>
          <p:cNvPr id="4" name="Slide Number Placeholder 3">
            <a:extLst>
              <a:ext uri="{FF2B5EF4-FFF2-40B4-BE49-F238E27FC236}">
                <a16:creationId xmlns:a16="http://schemas.microsoft.com/office/drawing/2014/main" id="{5F83DA23-1826-AD53-3F23-03B753BE6954}"/>
              </a:ext>
            </a:extLst>
          </p:cNvPr>
          <p:cNvSpPr>
            <a:spLocks noGrp="1"/>
          </p:cNvSpPr>
          <p:nvPr>
            <p:ph type="sldNum" idx="14"/>
          </p:nvPr>
        </p:nvSpPr>
        <p:spPr/>
        <p:txBody>
          <a:bodyPr/>
          <a:lstStyle/>
          <a:p>
            <a:pPr>
              <a:defRPr/>
            </a:pPr>
            <a:fld id="{EF26C623-DE27-4A99-8424-AFD36C142E5A}" type="slidenum">
              <a:rPr lang="en-US" altLang="en-US" smtClean="0"/>
              <a:pPr>
                <a:defRPr/>
              </a:pPr>
              <a:t>12</a:t>
            </a:fld>
            <a:endParaRPr lang="en-US" altLang="en-US"/>
          </a:p>
        </p:txBody>
      </p:sp>
    </p:spTree>
    <p:extLst>
      <p:ext uri="{BB962C8B-B14F-4D97-AF65-F5344CB8AC3E}">
        <p14:creationId xmlns:p14="http://schemas.microsoft.com/office/powerpoint/2010/main" val="360905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F6984-7695-10B7-E5F0-1BD27F754AB8}"/>
              </a:ext>
            </a:extLst>
          </p:cNvPr>
          <p:cNvSpPr>
            <a:spLocks noGrp="1"/>
          </p:cNvSpPr>
          <p:nvPr>
            <p:ph type="ctrTitle"/>
          </p:nvPr>
        </p:nvSpPr>
        <p:spPr/>
        <p:txBody>
          <a:bodyPr>
            <a:normAutofit fontScale="90000"/>
          </a:bodyPr>
          <a:lstStyle/>
          <a:p>
            <a:r>
              <a:rPr lang="en-IN" dirty="0"/>
              <a:t>Literature review(</a:t>
            </a:r>
            <a:r>
              <a:rPr lang="en-IN" dirty="0" err="1"/>
              <a:t>Cont</a:t>
            </a:r>
            <a:r>
              <a:rPr lang="en-IN" dirty="0"/>
              <a:t>…):</a:t>
            </a:r>
          </a:p>
        </p:txBody>
      </p:sp>
      <p:sp>
        <p:nvSpPr>
          <p:cNvPr id="3" name="Text Placeholder 2">
            <a:extLst>
              <a:ext uri="{FF2B5EF4-FFF2-40B4-BE49-F238E27FC236}">
                <a16:creationId xmlns:a16="http://schemas.microsoft.com/office/drawing/2014/main" id="{3443CD40-E9CA-12CB-542D-40ABFBAAAC4C}"/>
              </a:ext>
            </a:extLst>
          </p:cNvPr>
          <p:cNvSpPr>
            <a:spLocks noGrp="1"/>
          </p:cNvSpPr>
          <p:nvPr>
            <p:ph type="body" sz="quarter" idx="13"/>
          </p:nvPr>
        </p:nvSpPr>
        <p:spPr/>
        <p:txBody>
          <a:bodyPr/>
          <a:lstStyle/>
          <a:p>
            <a:r>
              <a:rPr lang="en-US" sz="1800" b="1" dirty="0">
                <a:latin typeface="Times New Roman" panose="02020603050405020304" pitchFamily="18" charset="0"/>
                <a:cs typeface="Times New Roman" panose="02020603050405020304" pitchFamily="18" charset="0"/>
              </a:rPr>
              <a:t>[10] Title :Automatic Detection of Microaneurysms in Retinal Fundus Images</a:t>
            </a:r>
          </a:p>
          <a:p>
            <a:r>
              <a:rPr lang="en-US" sz="1800" b="1" dirty="0">
                <a:latin typeface="Times New Roman" panose="02020603050405020304" pitchFamily="18" charset="0"/>
                <a:cs typeface="Times New Roman" panose="02020603050405020304" pitchFamily="18" charset="0"/>
              </a:rPr>
              <a:t>Using Deep Learning</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Problem:</a:t>
            </a:r>
          </a:p>
          <a:p>
            <a:r>
              <a:rPr lang="en-US" sz="1800" dirty="0">
                <a:latin typeface="Times New Roman" panose="02020603050405020304" pitchFamily="18" charset="0"/>
                <a:cs typeface="Times New Roman" panose="02020603050405020304" pitchFamily="18" charset="0"/>
              </a:rPr>
              <a:t>Early detection of diabetic retinopathy is difficult because microaneurysms are very small</a:t>
            </a:r>
          </a:p>
          <a:p>
            <a:r>
              <a:rPr lang="en-US" sz="1800" dirty="0">
                <a:latin typeface="Times New Roman" panose="02020603050405020304" pitchFamily="18" charset="0"/>
                <a:cs typeface="Times New Roman" panose="02020603050405020304" pitchFamily="18" charset="0"/>
              </a:rPr>
              <a:t>and hard to identify manually in fundus images.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Approach:</a:t>
            </a:r>
          </a:p>
          <a:p>
            <a:r>
              <a:rPr lang="en-US" sz="1800" dirty="0">
                <a:latin typeface="Times New Roman" panose="02020603050405020304" pitchFamily="18" charset="0"/>
                <a:cs typeface="Times New Roman" panose="02020603050405020304" pitchFamily="18" charset="0"/>
              </a:rPr>
              <a:t>Uses deep learning–based models to automatically detect microaneurysms from retinal</a:t>
            </a:r>
          </a:p>
          <a:p>
            <a:r>
              <a:rPr lang="en-US" sz="1800" dirty="0">
                <a:latin typeface="Times New Roman" panose="02020603050405020304" pitchFamily="18" charset="0"/>
                <a:cs typeface="Times New Roman" panose="02020603050405020304" pitchFamily="18" charset="0"/>
              </a:rPr>
              <a:t>fundus images.</a:t>
            </a:r>
          </a:p>
          <a:p>
            <a:pPr marL="5143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Achievement:</a:t>
            </a:r>
          </a:p>
          <a:p>
            <a:r>
              <a:rPr lang="en-US" sz="1800" dirty="0">
                <a:latin typeface="Times New Roman" panose="02020603050405020304" pitchFamily="18" charset="0"/>
                <a:cs typeface="Times New Roman" panose="02020603050405020304" pitchFamily="18" charset="0"/>
              </a:rPr>
              <a:t>Improves early diabetic retinopathy detection accuracy by reliably identifying</a:t>
            </a:r>
          </a:p>
          <a:p>
            <a:r>
              <a:rPr lang="en-US" sz="1800" dirty="0">
                <a:latin typeface="Times New Roman" panose="02020603050405020304" pitchFamily="18" charset="0"/>
                <a:cs typeface="Times New Roman" panose="02020603050405020304" pitchFamily="18" charset="0"/>
              </a:rPr>
              <a:t>microaneurysms.</a:t>
            </a:r>
          </a:p>
          <a:p>
            <a:endParaRPr lang="en-US" sz="1800" b="1" dirty="0">
              <a:latin typeface="Times New Roman" panose="02020603050405020304" pitchFamily="18" charset="0"/>
              <a:cs typeface="Times New Roman" panose="02020603050405020304" pitchFamily="18" charset="0"/>
            </a:endParaRPr>
          </a:p>
          <a:p>
            <a:pPr marL="571500" indent="-34290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146368" lvl="0" indent="0">
              <a:lnSpc>
                <a:spcPct val="115000"/>
              </a:lnSpc>
              <a:buClr>
                <a:srgbClr val="595959"/>
              </a:buClr>
              <a:buSzPct val="58333"/>
            </a:pPr>
            <a:endParaRPr lang="en-US" sz="1800" b="1" dirty="0">
              <a:solidFill>
                <a:srgbClr val="C00000"/>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A8E77E0E-9005-79F6-BECE-699E93AC2D93}"/>
              </a:ext>
            </a:extLst>
          </p:cNvPr>
          <p:cNvSpPr>
            <a:spLocks noGrp="1"/>
          </p:cNvSpPr>
          <p:nvPr>
            <p:ph type="sldNum" idx="14"/>
          </p:nvPr>
        </p:nvSpPr>
        <p:spPr/>
        <p:txBody>
          <a:bodyPr/>
          <a:lstStyle/>
          <a:p>
            <a:pPr>
              <a:defRPr/>
            </a:pPr>
            <a:fld id="{EF26C623-DE27-4A99-8424-AFD36C142E5A}" type="slidenum">
              <a:rPr lang="en-US" altLang="en-US" smtClean="0"/>
              <a:pPr>
                <a:defRPr/>
              </a:pPr>
              <a:t>13</a:t>
            </a:fld>
            <a:endParaRPr lang="en-US" altLang="en-US"/>
          </a:p>
        </p:txBody>
      </p:sp>
    </p:spTree>
    <p:extLst>
      <p:ext uri="{BB962C8B-B14F-4D97-AF65-F5344CB8AC3E}">
        <p14:creationId xmlns:p14="http://schemas.microsoft.com/office/powerpoint/2010/main" val="263048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E59E-1471-3092-E172-784AF4FD655A}"/>
              </a:ext>
            </a:extLst>
          </p:cNvPr>
          <p:cNvSpPr>
            <a:spLocks noGrp="1"/>
          </p:cNvSpPr>
          <p:nvPr>
            <p:ph type="ctrTitle"/>
          </p:nvPr>
        </p:nvSpPr>
        <p:spPr>
          <a:xfrm>
            <a:off x="0" y="0"/>
            <a:ext cx="9144000" cy="649288"/>
          </a:xfrm>
        </p:spPr>
        <p:txBody>
          <a:bodyPr>
            <a:normAutofit fontScale="90000"/>
          </a:bodyPr>
          <a:lstStyle/>
          <a:p>
            <a:pPr>
              <a:buClr>
                <a:schemeClr val="dk1"/>
              </a:buClr>
              <a:defRPr/>
            </a:pPr>
            <a:r>
              <a:rPr lang="en-US" dirty="0">
                <a:solidFill>
                  <a:schemeClr val="dk1"/>
                </a:solidFill>
                <a:sym typeface="Arial"/>
              </a:rPr>
              <a:t>Literature Review </a:t>
            </a:r>
            <a:r>
              <a:rPr lang="en-US" dirty="0">
                <a:solidFill>
                  <a:schemeClr val="dk1"/>
                </a:solidFill>
              </a:rPr>
              <a:t>Summery</a:t>
            </a:r>
            <a:endParaRPr lang="en-US" dirty="0">
              <a:solidFill>
                <a:schemeClr val="dk1"/>
              </a:solidFill>
              <a:sym typeface="Arial"/>
            </a:endParaRPr>
          </a:p>
        </p:txBody>
      </p:sp>
      <p:sp>
        <p:nvSpPr>
          <p:cNvPr id="9219" name="Slide Number Placeholder 2">
            <a:extLst>
              <a:ext uri="{FF2B5EF4-FFF2-40B4-BE49-F238E27FC236}">
                <a16:creationId xmlns:a16="http://schemas.microsoft.com/office/drawing/2014/main" id="{3115DD56-608E-6233-B559-288E13D42543}"/>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14</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951B64F4-5B40-3328-32DC-FDAB01F24396}"/>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3" name="Table 2">
            <a:extLst>
              <a:ext uri="{FF2B5EF4-FFF2-40B4-BE49-F238E27FC236}">
                <a16:creationId xmlns:a16="http://schemas.microsoft.com/office/drawing/2014/main" id="{6BEC0A26-BA6C-66A5-64B0-20F89C5D3883}"/>
              </a:ext>
            </a:extLst>
          </p:cNvPr>
          <p:cNvGraphicFramePr>
            <a:graphicFrameLocks noGrp="1"/>
          </p:cNvGraphicFramePr>
          <p:nvPr>
            <p:extLst>
              <p:ext uri="{D42A27DB-BD31-4B8C-83A1-F6EECF244321}">
                <p14:modId xmlns:p14="http://schemas.microsoft.com/office/powerpoint/2010/main" val="1091864153"/>
              </p:ext>
            </p:extLst>
          </p:nvPr>
        </p:nvGraphicFramePr>
        <p:xfrm>
          <a:off x="80337" y="923610"/>
          <a:ext cx="8911445" cy="3935727"/>
        </p:xfrm>
        <a:graphic>
          <a:graphicData uri="http://schemas.openxmlformats.org/drawingml/2006/table">
            <a:tbl>
              <a:tblPr firstRow="1" bandRow="1">
                <a:tableStyleId>{5C22544A-7EE6-4342-B048-85BDC9FD1C3A}</a:tableStyleId>
              </a:tblPr>
              <a:tblGrid>
                <a:gridCol w="783179">
                  <a:extLst>
                    <a:ext uri="{9D8B030D-6E8A-4147-A177-3AD203B41FA5}">
                      <a16:colId xmlns:a16="http://schemas.microsoft.com/office/drawing/2014/main" val="20000"/>
                    </a:ext>
                  </a:extLst>
                </a:gridCol>
                <a:gridCol w="1090976">
                  <a:extLst>
                    <a:ext uri="{9D8B030D-6E8A-4147-A177-3AD203B41FA5}">
                      <a16:colId xmlns:a16="http://schemas.microsoft.com/office/drawing/2014/main" val="20001"/>
                    </a:ext>
                  </a:extLst>
                </a:gridCol>
                <a:gridCol w="1098979">
                  <a:extLst>
                    <a:ext uri="{9D8B030D-6E8A-4147-A177-3AD203B41FA5}">
                      <a16:colId xmlns:a16="http://schemas.microsoft.com/office/drawing/2014/main" val="20002"/>
                    </a:ext>
                  </a:extLst>
                </a:gridCol>
                <a:gridCol w="952332">
                  <a:extLst>
                    <a:ext uri="{9D8B030D-6E8A-4147-A177-3AD203B41FA5}">
                      <a16:colId xmlns:a16="http://schemas.microsoft.com/office/drawing/2014/main" val="20003"/>
                    </a:ext>
                  </a:extLst>
                </a:gridCol>
                <a:gridCol w="1028323">
                  <a:extLst>
                    <a:ext uri="{9D8B030D-6E8A-4147-A177-3AD203B41FA5}">
                      <a16:colId xmlns:a16="http://schemas.microsoft.com/office/drawing/2014/main" val="20004"/>
                    </a:ext>
                  </a:extLst>
                </a:gridCol>
                <a:gridCol w="993294">
                  <a:extLst>
                    <a:ext uri="{9D8B030D-6E8A-4147-A177-3AD203B41FA5}">
                      <a16:colId xmlns:a16="http://schemas.microsoft.com/office/drawing/2014/main" val="20005"/>
                    </a:ext>
                  </a:extLst>
                </a:gridCol>
                <a:gridCol w="985534">
                  <a:extLst>
                    <a:ext uri="{9D8B030D-6E8A-4147-A177-3AD203B41FA5}">
                      <a16:colId xmlns:a16="http://schemas.microsoft.com/office/drawing/2014/main" val="20006"/>
                    </a:ext>
                  </a:extLst>
                </a:gridCol>
                <a:gridCol w="989414">
                  <a:extLst>
                    <a:ext uri="{9D8B030D-6E8A-4147-A177-3AD203B41FA5}">
                      <a16:colId xmlns:a16="http://schemas.microsoft.com/office/drawing/2014/main" val="20007"/>
                    </a:ext>
                  </a:extLst>
                </a:gridCol>
                <a:gridCol w="989414">
                  <a:extLst>
                    <a:ext uri="{9D8B030D-6E8A-4147-A177-3AD203B41FA5}">
                      <a16:colId xmlns:a16="http://schemas.microsoft.com/office/drawing/2014/main" val="20008"/>
                    </a:ext>
                  </a:extLst>
                </a:gridCol>
              </a:tblGrid>
              <a:tr h="1430469">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835086">
                <a:tc>
                  <a:txBody>
                    <a:bodyPr/>
                    <a:lstStyle/>
                    <a:p>
                      <a:r>
                        <a:rPr lang="en-US" sz="800" dirty="0"/>
                        <a:t>[1] A Lightweight Classification System for Early DR (2025)</a:t>
                      </a:r>
                    </a:p>
                  </a:txBody>
                  <a:tcPr/>
                </a:tc>
                <a:tc>
                  <a:txBody>
                    <a:bodyPr/>
                    <a:lstStyle/>
                    <a:p>
                      <a:r>
                        <a:rPr lang="en-US" sz="800" dirty="0"/>
                        <a:t>Early detection of diabetic retinopathy using low-complexity systems</a:t>
                      </a:r>
                    </a:p>
                  </a:txBody>
                  <a:tcPr/>
                </a:tc>
                <a:tc>
                  <a:txBody>
                    <a:bodyPr/>
                    <a:lstStyle/>
                    <a:p>
                      <a:r>
                        <a:rPr lang="en-US" sz="800" dirty="0"/>
                        <a:t>Image processing + ML-based feature extraction</a:t>
                      </a:r>
                    </a:p>
                  </a:txBody>
                  <a:tcPr/>
                </a:tc>
                <a:tc>
                  <a:txBody>
                    <a:bodyPr/>
                    <a:lstStyle/>
                    <a:p>
                      <a:r>
                        <a:rPr lang="en-IN" sz="800" dirty="0"/>
                        <a:t>Efficient early DR detection</a:t>
                      </a:r>
                      <a:endParaRPr lang="en-US" sz="800" dirty="0"/>
                    </a:p>
                  </a:txBody>
                  <a:tcPr/>
                </a:tc>
                <a:tc>
                  <a:txBody>
                    <a:bodyPr/>
                    <a:lstStyle/>
                    <a:p>
                      <a:r>
                        <a:rPr lang="en-US" sz="800" b="0" dirty="0"/>
                        <a:t>Forms the base paper for lesion extraction</a:t>
                      </a:r>
                    </a:p>
                  </a:txBody>
                  <a:tcPr/>
                </a:tc>
                <a:tc>
                  <a:txBody>
                    <a:bodyPr/>
                    <a:lstStyle/>
                    <a:p>
                      <a:r>
                        <a:rPr lang="en-IN" sz="800" dirty="0"/>
                        <a:t>Morphological ops, ML classifiers</a:t>
                      </a:r>
                      <a:endParaRPr lang="en-US" sz="800" dirty="0"/>
                    </a:p>
                  </a:txBody>
                  <a:tcPr/>
                </a:tc>
                <a:tc>
                  <a:txBody>
                    <a:bodyPr/>
                    <a:lstStyle/>
                    <a:p>
                      <a:r>
                        <a:rPr lang="en-US" sz="800" dirty="0"/>
                        <a:t>High accuracy for binary DR</a:t>
                      </a:r>
                    </a:p>
                    <a:p>
                      <a:r>
                        <a:rPr lang="en-IN" sz="800" b="0" dirty="0"/>
                        <a:t>Accuracy: 96–98%</a:t>
                      </a:r>
                      <a:endParaRPr lang="en-US" sz="800" b="0" dirty="0"/>
                    </a:p>
                  </a:txBody>
                  <a:tcPr/>
                </a:tc>
                <a:tc>
                  <a:txBody>
                    <a:bodyPr/>
                    <a:lstStyle/>
                    <a:p>
                      <a:r>
                        <a:rPr lang="en-IN" sz="800" dirty="0"/>
                        <a:t>Lightweight, low cost</a:t>
                      </a:r>
                      <a:endParaRPr lang="en-US" sz="800" dirty="0"/>
                    </a:p>
                  </a:txBody>
                  <a:tcPr/>
                </a:tc>
                <a:tc>
                  <a:txBody>
                    <a:bodyPr/>
                    <a:lstStyle/>
                    <a:p>
                      <a:r>
                        <a:rPr lang="en-US" sz="800" dirty="0"/>
                        <a:t>Binary output, no severity or macular analysis</a:t>
                      </a:r>
                    </a:p>
                  </a:txBody>
                  <a:tcPr/>
                </a:tc>
                <a:extLst>
                  <a:ext uri="{0D108BD9-81ED-4DB2-BD59-A6C34878D82A}">
                    <a16:rowId xmlns:a16="http://schemas.microsoft.com/office/drawing/2014/main" val="10001"/>
                  </a:ext>
                </a:extLst>
              </a:tr>
              <a:tr h="835086">
                <a:tc>
                  <a:txBody>
                    <a:bodyPr/>
                    <a:lstStyle/>
                    <a:p>
                      <a:r>
                        <a:rPr lang="en-US" sz="800" dirty="0"/>
                        <a:t>[2] </a:t>
                      </a:r>
                      <a:r>
                        <a:rPr lang="en-US" sz="800" dirty="0" err="1"/>
                        <a:t>DeepDR</a:t>
                      </a:r>
                      <a:r>
                        <a:rPr lang="en-US" sz="800" dirty="0"/>
                        <a:t> Plus: Predicting Time to DR Progression (2024)</a:t>
                      </a:r>
                    </a:p>
                  </a:txBody>
                  <a:tcPr/>
                </a:tc>
                <a:tc>
                  <a:txBody>
                    <a:bodyPr/>
                    <a:lstStyle/>
                    <a:p>
                      <a:r>
                        <a:rPr lang="en-IN" sz="800" dirty="0"/>
                        <a:t>Predict future DR progression timelines</a:t>
                      </a:r>
                      <a:endParaRPr lang="en-US" sz="800" dirty="0"/>
                    </a:p>
                  </a:txBody>
                  <a:tcPr/>
                </a:tc>
                <a:tc>
                  <a:txBody>
                    <a:bodyPr/>
                    <a:lstStyle/>
                    <a:p>
                      <a:r>
                        <a:rPr lang="en-US" sz="800" dirty="0"/>
                        <a:t>Deep learning on longitudinal fundus images</a:t>
                      </a:r>
                    </a:p>
                  </a:txBody>
                  <a:tcPr/>
                </a:tc>
                <a:tc>
                  <a:txBody>
                    <a:bodyPr/>
                    <a:lstStyle/>
                    <a:p>
                      <a:pPr>
                        <a:buNone/>
                      </a:pPr>
                      <a:r>
                        <a:rPr lang="en-US" sz="800" dirty="0"/>
                        <a:t>Accurate prediction of DR progression</a:t>
                      </a:r>
                    </a:p>
                  </a:txBody>
                  <a:tcPr anchor="ctr"/>
                </a:tc>
                <a:tc>
                  <a:txBody>
                    <a:bodyPr/>
                    <a:lstStyle/>
                    <a:p>
                      <a:r>
                        <a:rPr lang="en-IN" sz="800" b="0" dirty="0"/>
                        <a:t>Supports progression-based analysis</a:t>
                      </a:r>
                      <a:endParaRPr lang="en-US" sz="800" b="0" dirty="0"/>
                    </a:p>
                  </a:txBody>
                  <a:tcPr/>
                </a:tc>
                <a:tc>
                  <a:txBody>
                    <a:bodyPr/>
                    <a:lstStyle/>
                    <a:p>
                      <a:r>
                        <a:rPr lang="en-IN" sz="800" dirty="0"/>
                        <a:t>CNN-based DL</a:t>
                      </a:r>
                      <a:endParaRPr lang="en-US" sz="800" dirty="0"/>
                    </a:p>
                  </a:txBody>
                  <a:tcPr/>
                </a:tc>
                <a:tc>
                  <a:txBody>
                    <a:bodyPr/>
                    <a:lstStyle/>
                    <a:p>
                      <a:r>
                        <a:rPr lang="en-IN" sz="800" b="0" dirty="0"/>
                        <a:t>Accuracy: 94–97%</a:t>
                      </a:r>
                      <a:endParaRPr lang="en-US" sz="800" b="0" dirty="0"/>
                    </a:p>
                  </a:txBody>
                  <a:tcPr/>
                </a:tc>
                <a:tc>
                  <a:txBody>
                    <a:bodyPr/>
                    <a:lstStyle/>
                    <a:p>
                      <a:r>
                        <a:rPr lang="en-IN" sz="800" dirty="0"/>
                        <a:t>Personalized screening</a:t>
                      </a:r>
                      <a:endParaRPr lang="en-US" sz="800" dirty="0"/>
                    </a:p>
                  </a:txBody>
                  <a:tcPr/>
                </a:tc>
                <a:tc>
                  <a:txBody>
                    <a:bodyPr/>
                    <a:lstStyle/>
                    <a:p>
                      <a:r>
                        <a:rPr lang="en-IN" sz="800" dirty="0"/>
                        <a:t>Black-box, no lesion explainability</a:t>
                      </a:r>
                      <a:endParaRPr lang="en-US" sz="800" dirty="0"/>
                    </a:p>
                  </a:txBody>
                  <a:tcPr/>
                </a:tc>
                <a:extLst>
                  <a:ext uri="{0D108BD9-81ED-4DB2-BD59-A6C34878D82A}">
                    <a16:rowId xmlns:a16="http://schemas.microsoft.com/office/drawing/2014/main" val="10002"/>
                  </a:ext>
                </a:extLst>
              </a:tr>
              <a:tr h="835086">
                <a:tc>
                  <a:txBody>
                    <a:bodyPr/>
                    <a:lstStyle/>
                    <a:p>
                      <a:r>
                        <a:rPr lang="en-IN" sz="800" dirty="0"/>
                        <a:t>[3] Diabetes Detection from Non-DR Fundus Images (2024)</a:t>
                      </a:r>
                      <a:endParaRPr lang="en-US" sz="800" dirty="0"/>
                    </a:p>
                  </a:txBody>
                  <a:tcPr/>
                </a:tc>
                <a:tc>
                  <a:txBody>
                    <a:bodyPr/>
                    <a:lstStyle/>
                    <a:p>
                      <a:r>
                        <a:rPr lang="en-US" sz="800" dirty="0"/>
                        <a:t>Detect diabetes without visible DR</a:t>
                      </a:r>
                    </a:p>
                  </a:txBody>
                  <a:tcPr/>
                </a:tc>
                <a:tc>
                  <a:txBody>
                    <a:bodyPr/>
                    <a:lstStyle/>
                    <a:p>
                      <a:r>
                        <a:rPr lang="en-IN" sz="800" dirty="0"/>
                        <a:t>Deep learning classification</a:t>
                      </a:r>
                      <a:endParaRPr lang="en-US" sz="800" dirty="0"/>
                    </a:p>
                  </a:txBody>
                  <a:tcPr/>
                </a:tc>
                <a:tc>
                  <a:txBody>
                    <a:bodyPr/>
                    <a:lstStyle/>
                    <a:p>
                      <a:r>
                        <a:rPr lang="en-IN" sz="800" dirty="0"/>
                        <a:t>Retina shows diabetes biomarkers</a:t>
                      </a:r>
                      <a:endParaRPr lang="en-US" sz="800" dirty="0"/>
                    </a:p>
                  </a:txBody>
                  <a:tcPr/>
                </a:tc>
                <a:tc>
                  <a:txBody>
                    <a:bodyPr/>
                    <a:lstStyle/>
                    <a:p>
                      <a:r>
                        <a:rPr lang="en-IN" sz="800" b="0" dirty="0"/>
                        <a:t>Justifies diabetes severity estimation</a:t>
                      </a:r>
                      <a:endParaRPr lang="en-US" sz="800" b="0" dirty="0"/>
                    </a:p>
                  </a:txBody>
                  <a:tcPr/>
                </a:tc>
                <a:tc>
                  <a:txBody>
                    <a:bodyPr/>
                    <a:lstStyle/>
                    <a:p>
                      <a:r>
                        <a:rPr lang="en-IN" sz="800" dirty="0"/>
                        <a:t>CNN</a:t>
                      </a:r>
                      <a:endParaRPr lang="en-US" sz="800" dirty="0"/>
                    </a:p>
                  </a:txBody>
                  <a:tcPr/>
                </a:tc>
                <a:tc>
                  <a:txBody>
                    <a:bodyPr/>
                    <a:lstStyle/>
                    <a:p>
                      <a:r>
                        <a:rPr lang="en-IN" sz="800" b="0" dirty="0"/>
                        <a:t>Accuracy: 95–98%</a:t>
                      </a:r>
                      <a:endParaRPr lang="en-US" sz="800" b="0" dirty="0"/>
                    </a:p>
                  </a:txBody>
                  <a:tcPr/>
                </a:tc>
                <a:tc>
                  <a:txBody>
                    <a:bodyPr/>
                    <a:lstStyle/>
                    <a:p>
                      <a:r>
                        <a:rPr lang="en-IN" sz="800" b="0" dirty="0"/>
                        <a:t>Non-invasive screening</a:t>
                      </a:r>
                      <a:endParaRPr lang="en-US" sz="800" b="0" dirty="0"/>
                    </a:p>
                  </a:txBody>
                  <a:tcPr/>
                </a:tc>
                <a:tc>
                  <a:txBody>
                    <a:bodyPr/>
                    <a:lstStyle/>
                    <a:p>
                      <a:r>
                        <a:rPr lang="en-US" sz="800" dirty="0"/>
                        <a:t>No lesion or spatial analysis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7283C-9F8D-7284-5C6C-6BA5B317F5A4}"/>
              </a:ext>
            </a:extLst>
          </p:cNvPr>
          <p:cNvSpPr>
            <a:spLocks noGrp="1"/>
          </p:cNvSpPr>
          <p:nvPr>
            <p:ph type="ctrTitle"/>
          </p:nvPr>
        </p:nvSpPr>
        <p:spPr/>
        <p:txBody>
          <a:bodyPr>
            <a:normAutofit fontScale="90000"/>
          </a:bodyPr>
          <a:lstStyle/>
          <a:p>
            <a:r>
              <a:rPr lang="en-US" dirty="0">
                <a:solidFill>
                  <a:schemeClr val="dk1"/>
                </a:solidFill>
                <a:latin typeface="Times New Roman" panose="02020603050405020304" pitchFamily="18" charset="0"/>
                <a:cs typeface="Times New Roman" panose="02020603050405020304" pitchFamily="18" charset="0"/>
              </a:rPr>
              <a:t>Literature Review Summery(</a:t>
            </a:r>
            <a:r>
              <a:rPr lang="en-US" dirty="0" err="1">
                <a:solidFill>
                  <a:schemeClr val="dk1"/>
                </a:solidFill>
                <a:latin typeface="Times New Roman" panose="02020603050405020304" pitchFamily="18" charset="0"/>
                <a:cs typeface="Times New Roman" panose="02020603050405020304" pitchFamily="18" charset="0"/>
              </a:rPr>
              <a:t>Cont</a:t>
            </a:r>
            <a:r>
              <a:rPr lang="en-US" dirty="0">
                <a:solidFill>
                  <a:schemeClr val="dk1"/>
                </a:solidFill>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B1632A61-26C8-857E-D92E-E10342DCBF20}"/>
              </a:ext>
            </a:extLst>
          </p:cNvPr>
          <p:cNvSpPr>
            <a:spLocks noGrp="1"/>
          </p:cNvSpPr>
          <p:nvPr>
            <p:ph type="body" sz="quarter" idx="13"/>
          </p:nvPr>
        </p:nvSpPr>
        <p:spPr/>
        <p:txBody>
          <a:bodyPr/>
          <a:lstStyle/>
          <a:p>
            <a:endParaRPr lang="en-IN" dirty="0"/>
          </a:p>
        </p:txBody>
      </p:sp>
      <p:sp>
        <p:nvSpPr>
          <p:cNvPr id="4" name="Slide Number Placeholder 3">
            <a:extLst>
              <a:ext uri="{FF2B5EF4-FFF2-40B4-BE49-F238E27FC236}">
                <a16:creationId xmlns:a16="http://schemas.microsoft.com/office/drawing/2014/main" id="{40CE238F-B370-BCB2-6021-E178430C45D8}"/>
              </a:ext>
            </a:extLst>
          </p:cNvPr>
          <p:cNvSpPr>
            <a:spLocks noGrp="1"/>
          </p:cNvSpPr>
          <p:nvPr>
            <p:ph type="sldNum" idx="14"/>
          </p:nvPr>
        </p:nvSpPr>
        <p:spPr/>
        <p:txBody>
          <a:bodyPr/>
          <a:lstStyle/>
          <a:p>
            <a:pPr>
              <a:defRPr/>
            </a:pPr>
            <a:fld id="{EF26C623-DE27-4A99-8424-AFD36C142E5A}" type="slidenum">
              <a:rPr lang="en-US" altLang="en-US" smtClean="0"/>
              <a:pPr>
                <a:defRPr/>
              </a:pPr>
              <a:t>15</a:t>
            </a:fld>
            <a:endParaRPr lang="en-US" altLang="en-US"/>
          </a:p>
        </p:txBody>
      </p:sp>
      <p:graphicFrame>
        <p:nvGraphicFramePr>
          <p:cNvPr id="7" name="Table 6">
            <a:extLst>
              <a:ext uri="{FF2B5EF4-FFF2-40B4-BE49-F238E27FC236}">
                <a16:creationId xmlns:a16="http://schemas.microsoft.com/office/drawing/2014/main" id="{CBFC0FB3-0B51-9FA2-02D6-F15F87D0973C}"/>
              </a:ext>
            </a:extLst>
          </p:cNvPr>
          <p:cNvGraphicFramePr>
            <a:graphicFrameLocks noGrp="1"/>
          </p:cNvGraphicFramePr>
          <p:nvPr>
            <p:extLst>
              <p:ext uri="{D42A27DB-BD31-4B8C-83A1-F6EECF244321}">
                <p14:modId xmlns:p14="http://schemas.microsoft.com/office/powerpoint/2010/main" val="2445433699"/>
              </p:ext>
            </p:extLst>
          </p:nvPr>
        </p:nvGraphicFramePr>
        <p:xfrm>
          <a:off x="165100" y="749300"/>
          <a:ext cx="8813800" cy="4195443"/>
        </p:xfrm>
        <a:graphic>
          <a:graphicData uri="http://schemas.openxmlformats.org/drawingml/2006/table">
            <a:tbl>
              <a:tblPr firstRow="1" bandRow="1">
                <a:tableStyleId>{5C22544A-7EE6-4342-B048-85BDC9FD1C3A}</a:tableStyleId>
              </a:tblPr>
              <a:tblGrid>
                <a:gridCol w="758609">
                  <a:extLst>
                    <a:ext uri="{9D8B030D-6E8A-4147-A177-3AD203B41FA5}">
                      <a16:colId xmlns:a16="http://schemas.microsoft.com/office/drawing/2014/main" val="20000"/>
                    </a:ext>
                  </a:extLst>
                </a:gridCol>
                <a:gridCol w="1081168">
                  <a:extLst>
                    <a:ext uri="{9D8B030D-6E8A-4147-A177-3AD203B41FA5}">
                      <a16:colId xmlns:a16="http://schemas.microsoft.com/office/drawing/2014/main" val="20001"/>
                    </a:ext>
                  </a:extLst>
                </a:gridCol>
                <a:gridCol w="1090909">
                  <a:extLst>
                    <a:ext uri="{9D8B030D-6E8A-4147-A177-3AD203B41FA5}">
                      <a16:colId xmlns:a16="http://schemas.microsoft.com/office/drawing/2014/main" val="20002"/>
                    </a:ext>
                  </a:extLst>
                </a:gridCol>
                <a:gridCol w="980519">
                  <a:extLst>
                    <a:ext uri="{9D8B030D-6E8A-4147-A177-3AD203B41FA5}">
                      <a16:colId xmlns:a16="http://schemas.microsoft.com/office/drawing/2014/main" val="20003"/>
                    </a:ext>
                  </a:extLst>
                </a:gridCol>
                <a:gridCol w="980519">
                  <a:extLst>
                    <a:ext uri="{9D8B030D-6E8A-4147-A177-3AD203B41FA5}">
                      <a16:colId xmlns:a16="http://schemas.microsoft.com/office/drawing/2014/main" val="20004"/>
                    </a:ext>
                  </a:extLst>
                </a:gridCol>
                <a:gridCol w="980519">
                  <a:extLst>
                    <a:ext uri="{9D8B030D-6E8A-4147-A177-3AD203B41FA5}">
                      <a16:colId xmlns:a16="http://schemas.microsoft.com/office/drawing/2014/main" val="20005"/>
                    </a:ext>
                  </a:extLst>
                </a:gridCol>
                <a:gridCol w="980519">
                  <a:extLst>
                    <a:ext uri="{9D8B030D-6E8A-4147-A177-3AD203B41FA5}">
                      <a16:colId xmlns:a16="http://schemas.microsoft.com/office/drawing/2014/main" val="20006"/>
                    </a:ext>
                  </a:extLst>
                </a:gridCol>
                <a:gridCol w="980519">
                  <a:extLst>
                    <a:ext uri="{9D8B030D-6E8A-4147-A177-3AD203B41FA5}">
                      <a16:colId xmlns:a16="http://schemas.microsoft.com/office/drawing/2014/main" val="20007"/>
                    </a:ext>
                  </a:extLst>
                </a:gridCol>
                <a:gridCol w="980519">
                  <a:extLst>
                    <a:ext uri="{9D8B030D-6E8A-4147-A177-3AD203B41FA5}">
                      <a16:colId xmlns:a16="http://schemas.microsoft.com/office/drawing/2014/main" val="20008"/>
                    </a:ext>
                  </a:extLst>
                </a:gridCol>
              </a:tblGrid>
              <a:tr h="1434669">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961618">
                <a:tc>
                  <a:txBody>
                    <a:bodyPr/>
                    <a:lstStyle/>
                    <a:p>
                      <a:r>
                        <a:rPr lang="en-US" sz="800" dirty="0"/>
                        <a:t>[4] Predicting DR Stages Using Combined Features (2023)</a:t>
                      </a:r>
                      <a:endParaRPr lang="en-US" sz="800" b="0" dirty="0"/>
                    </a:p>
                  </a:txBody>
                  <a:tcPr/>
                </a:tc>
                <a:tc>
                  <a:txBody>
                    <a:bodyPr/>
                    <a:lstStyle/>
                    <a:p>
                      <a:r>
                        <a:rPr lang="en-IN" sz="800" dirty="0"/>
                        <a:t>Multi-stage DR classification</a:t>
                      </a:r>
                      <a:endParaRPr lang="en-US" sz="800" b="0" dirty="0"/>
                    </a:p>
                  </a:txBody>
                  <a:tcPr/>
                </a:tc>
                <a:tc>
                  <a:txBody>
                    <a:bodyPr/>
                    <a:lstStyle/>
                    <a:p>
                      <a:r>
                        <a:rPr lang="en-IN" sz="800" dirty="0"/>
                        <a:t>CNN + handcrafted features</a:t>
                      </a:r>
                      <a:endParaRPr lang="en-US" sz="800" b="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dirty="0"/>
                        <a:t>High accuracy for DR stages</a:t>
                      </a:r>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b="0" dirty="0"/>
                        <a:t>Supports beyond-binary classification</a:t>
                      </a:r>
                      <a:endParaRPr lang="en-US" sz="800" b="0" dirty="0"/>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b="0" dirty="0" err="1"/>
                        <a:t>DenseNet</a:t>
                      </a:r>
                      <a:r>
                        <a:rPr lang="en-IN" sz="800" b="0" dirty="0"/>
                        <a:t>, </a:t>
                      </a:r>
                      <a:r>
                        <a:rPr lang="en-IN" sz="800" b="0" dirty="0" err="1"/>
                        <a:t>AlexNet</a:t>
                      </a:r>
                      <a:r>
                        <a:rPr lang="en-IN" sz="800" b="0" dirty="0"/>
                        <a:t>, ANN</a:t>
                      </a:r>
                      <a:endParaRPr lang="en-US" sz="800" b="0" dirty="0"/>
                    </a:p>
                    <a:p>
                      <a:endParaRPr lang="en-US" sz="800" b="0" dirty="0"/>
                    </a:p>
                  </a:txBody>
                  <a:tcPr/>
                </a:tc>
                <a:tc>
                  <a:txBody>
                    <a:bodyPr/>
                    <a:lstStyle/>
                    <a:p>
                      <a:r>
                        <a:rPr lang="en-IN" sz="800" dirty="0"/>
                        <a:t>Up to 99%</a:t>
                      </a:r>
                      <a:endParaRPr lang="en-US" sz="800" dirty="0"/>
                    </a:p>
                  </a:txBody>
                  <a:tcPr/>
                </a:tc>
                <a:tc>
                  <a:txBody>
                    <a:bodyPr/>
                    <a:lstStyle/>
                    <a:p>
                      <a:r>
                        <a:rPr lang="en-IN" sz="800" dirty="0"/>
                        <a:t>Multi-stage output</a:t>
                      </a:r>
                      <a:endParaRPr lang="en-US" sz="800" dirty="0"/>
                    </a:p>
                  </a:txBody>
                  <a:tcPr/>
                </a:tc>
                <a:tc>
                  <a:txBody>
                    <a:bodyPr/>
                    <a:lstStyle/>
                    <a:p>
                      <a:r>
                        <a:rPr lang="en-US" sz="800" dirty="0"/>
                        <a:t>No macular risk or lesion location</a:t>
                      </a:r>
                    </a:p>
                  </a:txBody>
                  <a:tcPr/>
                </a:tc>
                <a:extLst>
                  <a:ext uri="{0D108BD9-81ED-4DB2-BD59-A6C34878D82A}">
                    <a16:rowId xmlns:a16="http://schemas.microsoft.com/office/drawing/2014/main" val="10001"/>
                  </a:ext>
                </a:extLst>
              </a:tr>
              <a:tr h="837538">
                <a:tc>
                  <a:txBody>
                    <a:bodyPr/>
                    <a:lstStyle/>
                    <a:p>
                      <a:r>
                        <a:rPr lang="en-US" sz="800" b="0" dirty="0"/>
                        <a:t>[5] AI with Retinal Imaging for Diabetes Complications (2025)</a:t>
                      </a:r>
                    </a:p>
                  </a:txBody>
                  <a:tcPr/>
                </a:tc>
                <a:tc>
                  <a:txBody>
                    <a:bodyPr/>
                    <a:lstStyle/>
                    <a:p>
                      <a:r>
                        <a:rPr lang="en-US" sz="800" dirty="0"/>
                        <a:t>Review AI for diabetes complication screening</a:t>
                      </a:r>
                    </a:p>
                  </a:txBody>
                  <a:tcPr/>
                </a:tc>
                <a:tc>
                  <a:txBody>
                    <a:bodyPr/>
                    <a:lstStyle/>
                    <a:p>
                      <a:r>
                        <a:rPr lang="en-IN" sz="800" dirty="0"/>
                        <a:t>Systematic review</a:t>
                      </a:r>
                      <a:endParaRPr lang="en-US" sz="800" dirty="0"/>
                    </a:p>
                  </a:txBody>
                  <a:tcPr/>
                </a:tc>
                <a:tc>
                  <a:txBody>
                    <a:bodyPr/>
                    <a:lstStyle/>
                    <a:p>
                      <a:r>
                        <a:rPr lang="en-IN" sz="800" dirty="0"/>
                        <a:t>Retina reflects systemic damage</a:t>
                      </a:r>
                      <a:endParaRPr lang="en-US" sz="800" dirty="0"/>
                    </a:p>
                  </a:txBody>
                  <a:tcPr/>
                </a:tc>
                <a:tc>
                  <a:txBody>
                    <a:bodyPr/>
                    <a:lstStyle/>
                    <a:p>
                      <a:r>
                        <a:rPr lang="en-IN" sz="800" b="0" dirty="0"/>
                        <a:t>Supports multi-disease prediction</a:t>
                      </a:r>
                      <a:endParaRPr lang="en-US" sz="800" b="0" dirty="0"/>
                    </a:p>
                  </a:txBody>
                  <a:tcPr/>
                </a:tc>
                <a:tc>
                  <a:txBody>
                    <a:bodyPr/>
                    <a:lstStyle/>
                    <a:p>
                      <a:r>
                        <a:rPr lang="en-IN" sz="800" b="0" dirty="0"/>
                        <a:t>CNNs, U-Net</a:t>
                      </a:r>
                      <a:endParaRPr lang="en-US" sz="800" b="0" dirty="0"/>
                    </a:p>
                  </a:txBody>
                  <a:tcPr/>
                </a:tc>
                <a:tc>
                  <a:txBody>
                    <a:bodyPr/>
                    <a:lstStyle/>
                    <a:p>
                      <a:r>
                        <a:rPr lang="en-IN" sz="800" dirty="0"/>
                        <a:t>AUC &gt; 0.8 (reported)</a:t>
                      </a:r>
                    </a:p>
                    <a:p>
                      <a:r>
                        <a:rPr lang="en-IN" sz="800" dirty="0"/>
                        <a:t>80–85% </a:t>
                      </a:r>
                      <a:endParaRPr lang="en-US" sz="800" dirty="0"/>
                    </a:p>
                  </a:txBody>
                  <a:tcPr/>
                </a:tc>
                <a:tc>
                  <a:txBody>
                    <a:bodyPr/>
                    <a:lstStyle/>
                    <a:p>
                      <a:r>
                        <a:rPr lang="en-IN" sz="800" dirty="0"/>
                        <a:t>Broad clinical scope</a:t>
                      </a:r>
                      <a:endParaRPr lang="en-US" sz="800" dirty="0"/>
                    </a:p>
                  </a:txBody>
                  <a:tcPr/>
                </a:tc>
                <a:tc>
                  <a:txBody>
                    <a:bodyPr/>
                    <a:lstStyle/>
                    <a:p>
                      <a:r>
                        <a:rPr lang="en-IN" sz="800" dirty="0"/>
                        <a:t>Limited real-world validation</a:t>
                      </a:r>
                      <a:endParaRPr lang="en-US" sz="800" dirty="0"/>
                    </a:p>
                  </a:txBody>
                  <a:tcPr/>
                </a:tc>
                <a:extLst>
                  <a:ext uri="{0D108BD9-81ED-4DB2-BD59-A6C34878D82A}">
                    <a16:rowId xmlns:a16="http://schemas.microsoft.com/office/drawing/2014/main" val="10002"/>
                  </a:ext>
                </a:extLst>
              </a:tr>
              <a:tr h="961618">
                <a:tc>
                  <a:txBody>
                    <a:bodyPr/>
                    <a:lstStyle/>
                    <a:p>
                      <a:r>
                        <a:rPr lang="en-US" sz="800" dirty="0"/>
                        <a:t>[6] Predicting Systemic Health from Fundus Images (2024)</a:t>
                      </a:r>
                    </a:p>
                  </a:txBody>
                  <a:tcPr/>
                </a:tc>
                <a:tc>
                  <a:txBody>
                    <a:bodyPr/>
                    <a:lstStyle/>
                    <a:p>
                      <a:r>
                        <a:rPr lang="en-US" sz="800" dirty="0"/>
                        <a:t>Predict HbA1c, BP, age from retina</a:t>
                      </a:r>
                    </a:p>
                  </a:txBody>
                  <a:tcPr/>
                </a:tc>
                <a:tc>
                  <a:txBody>
                    <a:bodyPr/>
                    <a:lstStyle/>
                    <a:p>
                      <a:r>
                        <a:rPr lang="en-IN" sz="800" dirty="0"/>
                        <a:t>Transfer learning DL</a:t>
                      </a:r>
                      <a:endParaRPr lang="en-US" sz="800" dirty="0"/>
                    </a:p>
                  </a:txBody>
                  <a:tcPr/>
                </a:tc>
                <a:tc>
                  <a:txBody>
                    <a:bodyPr/>
                    <a:lstStyle/>
                    <a:p>
                      <a:r>
                        <a:rPr lang="en-IN" sz="800" dirty="0"/>
                        <a:t>Retina predicts systemic markers</a:t>
                      </a:r>
                      <a:endParaRPr lang="en-US" sz="800" dirty="0"/>
                    </a:p>
                  </a:txBody>
                  <a:tcPr/>
                </a:tc>
                <a:tc>
                  <a:txBody>
                    <a:bodyPr/>
                    <a:lstStyle/>
                    <a:p>
                      <a:r>
                        <a:rPr lang="en-IN" sz="800" b="0" dirty="0"/>
                        <a:t>Supports glucose-level estimation concept</a:t>
                      </a:r>
                      <a:endParaRPr lang="en-US" sz="800" b="0" dirty="0"/>
                    </a:p>
                  </a:txBody>
                  <a:tcPr/>
                </a:tc>
                <a:tc>
                  <a:txBody>
                    <a:bodyPr/>
                    <a:lstStyle/>
                    <a:p>
                      <a:r>
                        <a:rPr lang="en-IN" sz="800" b="0" dirty="0" err="1"/>
                        <a:t>DenseNet</a:t>
                      </a:r>
                      <a:endParaRPr lang="en-US" sz="800" b="0" dirty="0"/>
                    </a:p>
                  </a:txBody>
                  <a:tcPr/>
                </a:tc>
                <a:tc>
                  <a:txBody>
                    <a:bodyPr/>
                    <a:lstStyle/>
                    <a:p>
                      <a:r>
                        <a:rPr lang="en-IN" sz="800" dirty="0"/>
                        <a:t>Strong correlations</a:t>
                      </a:r>
                    </a:p>
                    <a:p>
                      <a:r>
                        <a:rPr lang="en-IN" sz="800" dirty="0"/>
                        <a:t>Accuracy equivalent: ~75–85%</a:t>
                      </a:r>
                      <a:endParaRPr lang="en-US" sz="800" dirty="0"/>
                    </a:p>
                  </a:txBody>
                  <a:tcPr/>
                </a:tc>
                <a:tc>
                  <a:txBody>
                    <a:bodyPr/>
                    <a:lstStyle/>
                    <a:p>
                      <a:r>
                        <a:rPr lang="en-IN" sz="800" dirty="0"/>
                        <a:t>Non-invasive</a:t>
                      </a:r>
                      <a:endParaRPr lang="en-US" sz="800" dirty="0"/>
                    </a:p>
                  </a:txBody>
                  <a:tcPr/>
                </a:tc>
                <a:tc>
                  <a:txBody>
                    <a:bodyPr/>
                    <a:lstStyle/>
                    <a:p>
                      <a:r>
                        <a:rPr lang="en-IN" sz="800" dirty="0"/>
                        <a:t>Limited interpretability</a:t>
                      </a:r>
                      <a:endParaRPr lang="en-US" sz="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26412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211F-BEEA-6719-FBCF-DAC7633ED0B2}"/>
              </a:ext>
            </a:extLst>
          </p:cNvPr>
          <p:cNvSpPr>
            <a:spLocks noGrp="1"/>
          </p:cNvSpPr>
          <p:nvPr>
            <p:ph type="ctrTitle"/>
          </p:nvPr>
        </p:nvSpPr>
        <p:spPr/>
        <p:txBody>
          <a:bodyPr>
            <a:normAutofit fontScale="90000"/>
          </a:bodyPr>
          <a:lstStyle/>
          <a:p>
            <a:r>
              <a:rPr lang="en-US" dirty="0">
                <a:solidFill>
                  <a:schemeClr val="dk1"/>
                </a:solidFill>
                <a:latin typeface="Times New Roman" panose="02020603050405020304" pitchFamily="18" charset="0"/>
                <a:cs typeface="Times New Roman" panose="02020603050405020304" pitchFamily="18" charset="0"/>
              </a:rPr>
              <a:t>Literature Review Summery(</a:t>
            </a:r>
            <a:r>
              <a:rPr lang="en-US" dirty="0" err="1">
                <a:solidFill>
                  <a:schemeClr val="dk1"/>
                </a:solidFill>
                <a:latin typeface="Times New Roman" panose="02020603050405020304" pitchFamily="18" charset="0"/>
                <a:cs typeface="Times New Roman" panose="02020603050405020304" pitchFamily="18" charset="0"/>
              </a:rPr>
              <a:t>Cont</a:t>
            </a:r>
            <a:r>
              <a:rPr lang="en-US" dirty="0">
                <a:solidFill>
                  <a:schemeClr val="dk1"/>
                </a:solidFill>
                <a:latin typeface="Times New Roman" panose="02020603050405020304" pitchFamily="18" charset="0"/>
                <a:cs typeface="Times New Roman" panose="02020603050405020304" pitchFamily="18" charset="0"/>
              </a:rPr>
              <a:t>…)</a:t>
            </a:r>
            <a:endParaRPr lang="en-IN" dirty="0"/>
          </a:p>
        </p:txBody>
      </p:sp>
      <p:sp>
        <p:nvSpPr>
          <p:cNvPr id="3" name="Text Placeholder 2">
            <a:extLst>
              <a:ext uri="{FF2B5EF4-FFF2-40B4-BE49-F238E27FC236}">
                <a16:creationId xmlns:a16="http://schemas.microsoft.com/office/drawing/2014/main" id="{24AAE9B3-2059-5DB7-6D42-BB25B6F3CEC8}"/>
              </a:ext>
            </a:extLst>
          </p:cNvPr>
          <p:cNvSpPr>
            <a:spLocks noGrp="1"/>
          </p:cNvSpPr>
          <p:nvPr>
            <p:ph type="body" sz="quarter" idx="13"/>
          </p:nvPr>
        </p:nvSpPr>
        <p:spPr/>
        <p:txBody>
          <a:bodyPr/>
          <a:lstStyle/>
          <a:p>
            <a:endParaRPr lang="en-IN" dirty="0"/>
          </a:p>
        </p:txBody>
      </p:sp>
      <p:sp>
        <p:nvSpPr>
          <p:cNvPr id="4" name="Slide Number Placeholder 3">
            <a:extLst>
              <a:ext uri="{FF2B5EF4-FFF2-40B4-BE49-F238E27FC236}">
                <a16:creationId xmlns:a16="http://schemas.microsoft.com/office/drawing/2014/main" id="{4F2006AB-1335-BA49-5DA3-9AF788BFEC21}"/>
              </a:ext>
            </a:extLst>
          </p:cNvPr>
          <p:cNvSpPr>
            <a:spLocks noGrp="1"/>
          </p:cNvSpPr>
          <p:nvPr>
            <p:ph type="sldNum" idx="14"/>
          </p:nvPr>
        </p:nvSpPr>
        <p:spPr/>
        <p:txBody>
          <a:bodyPr/>
          <a:lstStyle/>
          <a:p>
            <a:pPr>
              <a:defRPr/>
            </a:pPr>
            <a:fld id="{EF26C623-DE27-4A99-8424-AFD36C142E5A}" type="slidenum">
              <a:rPr lang="en-US" altLang="en-US" smtClean="0"/>
              <a:pPr>
                <a:defRPr/>
              </a:pPr>
              <a:t>16</a:t>
            </a:fld>
            <a:endParaRPr lang="en-US" altLang="en-US"/>
          </a:p>
        </p:txBody>
      </p:sp>
      <p:graphicFrame>
        <p:nvGraphicFramePr>
          <p:cNvPr id="7" name="Table 6">
            <a:extLst>
              <a:ext uri="{FF2B5EF4-FFF2-40B4-BE49-F238E27FC236}">
                <a16:creationId xmlns:a16="http://schemas.microsoft.com/office/drawing/2014/main" id="{2FB94173-9C3A-F2C6-C4E9-498148FE290E}"/>
              </a:ext>
            </a:extLst>
          </p:cNvPr>
          <p:cNvGraphicFramePr>
            <a:graphicFrameLocks noGrp="1"/>
          </p:cNvGraphicFramePr>
          <p:nvPr>
            <p:extLst>
              <p:ext uri="{D42A27DB-BD31-4B8C-83A1-F6EECF244321}">
                <p14:modId xmlns:p14="http://schemas.microsoft.com/office/powerpoint/2010/main" val="3296289088"/>
              </p:ext>
            </p:extLst>
          </p:nvPr>
        </p:nvGraphicFramePr>
        <p:xfrm>
          <a:off x="122237" y="548322"/>
          <a:ext cx="9021763" cy="5275821"/>
        </p:xfrm>
        <a:graphic>
          <a:graphicData uri="http://schemas.openxmlformats.org/drawingml/2006/table">
            <a:tbl>
              <a:tblPr firstRow="1" bandRow="1">
                <a:tableStyleId>{5C22544A-7EE6-4342-B048-85BDC9FD1C3A}</a:tableStyleId>
              </a:tblPr>
              <a:tblGrid>
                <a:gridCol w="786666">
                  <a:extLst>
                    <a:ext uri="{9D8B030D-6E8A-4147-A177-3AD203B41FA5}">
                      <a16:colId xmlns:a16="http://schemas.microsoft.com/office/drawing/2014/main" val="20000"/>
                    </a:ext>
                  </a:extLst>
                </a:gridCol>
                <a:gridCol w="1105315">
                  <a:extLst>
                    <a:ext uri="{9D8B030D-6E8A-4147-A177-3AD203B41FA5}">
                      <a16:colId xmlns:a16="http://schemas.microsoft.com/office/drawing/2014/main" val="20001"/>
                    </a:ext>
                  </a:extLst>
                </a:gridCol>
                <a:gridCol w="1115274">
                  <a:extLst>
                    <a:ext uri="{9D8B030D-6E8A-4147-A177-3AD203B41FA5}">
                      <a16:colId xmlns:a16="http://schemas.microsoft.com/office/drawing/2014/main" val="20002"/>
                    </a:ext>
                  </a:extLst>
                </a:gridCol>
                <a:gridCol w="1002418">
                  <a:extLst>
                    <a:ext uri="{9D8B030D-6E8A-4147-A177-3AD203B41FA5}">
                      <a16:colId xmlns:a16="http://schemas.microsoft.com/office/drawing/2014/main" val="20003"/>
                    </a:ext>
                  </a:extLst>
                </a:gridCol>
                <a:gridCol w="1002418">
                  <a:extLst>
                    <a:ext uri="{9D8B030D-6E8A-4147-A177-3AD203B41FA5}">
                      <a16:colId xmlns:a16="http://schemas.microsoft.com/office/drawing/2014/main" val="20004"/>
                    </a:ext>
                  </a:extLst>
                </a:gridCol>
                <a:gridCol w="1002418">
                  <a:extLst>
                    <a:ext uri="{9D8B030D-6E8A-4147-A177-3AD203B41FA5}">
                      <a16:colId xmlns:a16="http://schemas.microsoft.com/office/drawing/2014/main" val="20005"/>
                    </a:ext>
                  </a:extLst>
                </a:gridCol>
                <a:gridCol w="1002418">
                  <a:extLst>
                    <a:ext uri="{9D8B030D-6E8A-4147-A177-3AD203B41FA5}">
                      <a16:colId xmlns:a16="http://schemas.microsoft.com/office/drawing/2014/main" val="20006"/>
                    </a:ext>
                  </a:extLst>
                </a:gridCol>
                <a:gridCol w="1002418">
                  <a:extLst>
                    <a:ext uri="{9D8B030D-6E8A-4147-A177-3AD203B41FA5}">
                      <a16:colId xmlns:a16="http://schemas.microsoft.com/office/drawing/2014/main" val="20007"/>
                    </a:ext>
                  </a:extLst>
                </a:gridCol>
                <a:gridCol w="1002418">
                  <a:extLst>
                    <a:ext uri="{9D8B030D-6E8A-4147-A177-3AD203B41FA5}">
                      <a16:colId xmlns:a16="http://schemas.microsoft.com/office/drawing/2014/main" val="20008"/>
                    </a:ext>
                  </a:extLst>
                </a:gridCol>
              </a:tblGrid>
              <a:tr h="1158487">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788225">
                <a:tc>
                  <a:txBody>
                    <a:bodyPr/>
                    <a:lstStyle/>
                    <a:p>
                      <a:r>
                        <a:rPr lang="en-IN" sz="800" dirty="0"/>
                        <a:t>[7] DL Model for Type 2 Diabetes Screening (2024)</a:t>
                      </a:r>
                      <a:endParaRPr lang="en-US" sz="800" dirty="0"/>
                    </a:p>
                  </a:txBody>
                  <a:tcPr/>
                </a:tc>
                <a:tc>
                  <a:txBody>
                    <a:bodyPr/>
                    <a:lstStyle/>
                    <a:p>
                      <a:r>
                        <a:rPr lang="en-US" sz="800" dirty="0"/>
                        <a:t>Screen diabetes from fundus images</a:t>
                      </a:r>
                    </a:p>
                  </a:txBody>
                  <a:tcPr/>
                </a:tc>
                <a:tc>
                  <a:txBody>
                    <a:bodyPr/>
                    <a:lstStyle/>
                    <a:p>
                      <a:r>
                        <a:rPr lang="en-IN" sz="800" dirty="0"/>
                        <a:t>DL + clinical data</a:t>
                      </a:r>
                      <a:endParaRPr lang="en-US" sz="800" dirty="0"/>
                    </a:p>
                  </a:txBody>
                  <a:tcPr/>
                </a:tc>
                <a:tc>
                  <a:txBody>
                    <a:bodyPr/>
                    <a:lstStyle/>
                    <a:p>
                      <a:r>
                        <a:rPr lang="en-IN" sz="800" dirty="0"/>
                        <a:t>Fundus predicts diabetes risk</a:t>
                      </a:r>
                      <a:endParaRPr lang="en-US" sz="800" dirty="0"/>
                    </a:p>
                  </a:txBody>
                  <a:tcPr/>
                </a:tc>
                <a:tc>
                  <a:txBody>
                    <a:bodyPr/>
                    <a:lstStyle/>
                    <a:p>
                      <a:r>
                        <a:rPr lang="en-IN" sz="800" b="0" dirty="0"/>
                        <a:t>Supports diabetes screening</a:t>
                      </a:r>
                      <a:endParaRPr lang="en-US" sz="800" b="0" dirty="0"/>
                    </a:p>
                  </a:txBody>
                  <a:tcPr/>
                </a:tc>
                <a:tc>
                  <a:txBody>
                    <a:bodyPr/>
                    <a:lstStyle/>
                    <a:p>
                      <a:r>
                        <a:rPr lang="en-IN" sz="800" dirty="0"/>
                        <a:t>ResNet-18</a:t>
                      </a:r>
                      <a:endParaRPr lang="en-US" sz="800" dirty="0"/>
                    </a:p>
                  </a:txBody>
                  <a:tcPr/>
                </a:tc>
                <a:tc>
                  <a:txBody>
                    <a:bodyPr/>
                    <a:lstStyle/>
                    <a:p>
                      <a:r>
                        <a:rPr lang="en-IN" sz="800" b="0" dirty="0"/>
                        <a:t>Accuracy: 92–96%</a:t>
                      </a:r>
                      <a:endParaRPr lang="en-US" sz="800" b="0" dirty="0"/>
                    </a:p>
                  </a:txBody>
                  <a:tcPr/>
                </a:tc>
                <a:tc>
                  <a:txBody>
                    <a:bodyPr/>
                    <a:lstStyle/>
                    <a:p>
                      <a:r>
                        <a:rPr lang="en-IN" sz="800" dirty="0"/>
                        <a:t>Population screening</a:t>
                      </a:r>
                      <a:endParaRPr lang="en-US" sz="800" dirty="0"/>
                    </a:p>
                  </a:txBody>
                  <a:tcPr/>
                </a:tc>
                <a:tc>
                  <a:txBody>
                    <a:bodyPr/>
                    <a:lstStyle/>
                    <a:p>
                      <a:r>
                        <a:rPr lang="en-IN" sz="800" dirty="0"/>
                        <a:t>No lesion analysis</a:t>
                      </a:r>
                      <a:endParaRPr lang="en-US" sz="800" dirty="0"/>
                    </a:p>
                  </a:txBody>
                  <a:tcPr/>
                </a:tc>
                <a:extLst>
                  <a:ext uri="{0D108BD9-81ED-4DB2-BD59-A6C34878D82A}">
                    <a16:rowId xmlns:a16="http://schemas.microsoft.com/office/drawing/2014/main" val="10001"/>
                  </a:ext>
                </a:extLst>
              </a:tr>
              <a:tr h="927178">
                <a:tc>
                  <a:txBody>
                    <a:bodyPr/>
                    <a:lstStyle/>
                    <a:p>
                      <a:r>
                        <a:rPr lang="en-US" sz="800" dirty="0"/>
                        <a:t>[8] Analysis of Diabetic Retinopathy Based on Deep Learning (2023)</a:t>
                      </a:r>
                    </a:p>
                  </a:txBody>
                  <a:tcPr/>
                </a:tc>
                <a:tc>
                  <a:txBody>
                    <a:bodyPr/>
                    <a:lstStyle/>
                    <a:p>
                      <a:r>
                        <a:rPr lang="en-US" sz="800" dirty="0"/>
                        <a:t>Automate DR severity detection to reduce manual diagnosis</a:t>
                      </a:r>
                    </a:p>
                  </a:txBody>
                  <a:tcPr/>
                </a:tc>
                <a:tc>
                  <a:txBody>
                    <a:bodyPr/>
                    <a:lstStyle/>
                    <a:p>
                      <a:r>
                        <a:rPr lang="en-US" sz="800" dirty="0"/>
                        <a:t>Deep learning with feature selection and classification</a:t>
                      </a:r>
                    </a:p>
                  </a:txBody>
                  <a:tcPr/>
                </a:tc>
                <a:tc>
                  <a:txBody>
                    <a:bodyPr/>
                    <a:lstStyle/>
                    <a:p>
                      <a:r>
                        <a:rPr lang="en-US" sz="800" dirty="0"/>
                        <a:t>Accurate multi-class DR severity detection</a:t>
                      </a:r>
                    </a:p>
                  </a:txBody>
                  <a:tcPr/>
                </a:tc>
                <a:tc>
                  <a:txBody>
                    <a:bodyPr/>
                    <a:lstStyle/>
                    <a:p>
                      <a:r>
                        <a:rPr lang="en-US" sz="800" b="0" dirty="0"/>
                        <a:t>Supports severity-based analysis beyond binary DR</a:t>
                      </a:r>
                    </a:p>
                  </a:txBody>
                  <a:tcPr/>
                </a:tc>
                <a:tc>
                  <a:txBody>
                    <a:bodyPr/>
                    <a:lstStyle/>
                    <a:p>
                      <a:r>
                        <a:rPr lang="en-US" sz="800" dirty="0"/>
                        <a:t>CNN, Ant Colony Optimization, SVM</a:t>
                      </a:r>
                    </a:p>
                  </a:txBody>
                  <a:tcPr/>
                </a:tc>
                <a:tc>
                  <a:txBody>
                    <a:bodyPr/>
                    <a:lstStyle/>
                    <a:p>
                      <a:r>
                        <a:rPr lang="en-IN" sz="800" b="0" dirty="0"/>
                        <a:t>Accuracy: 97–99%</a:t>
                      </a:r>
                      <a:endParaRPr lang="en-US" sz="800" b="0" dirty="0"/>
                    </a:p>
                  </a:txBody>
                  <a:tcPr/>
                </a:tc>
                <a:tc>
                  <a:txBody>
                    <a:bodyPr/>
                    <a:lstStyle/>
                    <a:p>
                      <a:r>
                        <a:rPr lang="en-IN" sz="800" dirty="0"/>
                        <a:t>Automated and scalable</a:t>
                      </a:r>
                      <a:endParaRPr lang="en-US" sz="800" dirty="0"/>
                    </a:p>
                  </a:txBody>
                  <a:tcPr/>
                </a:tc>
                <a:tc>
                  <a:txBody>
                    <a:bodyPr/>
                    <a:lstStyle/>
                    <a:p>
                      <a:r>
                        <a:rPr lang="en-US" sz="800" dirty="0"/>
                        <a:t>No lesion density, no macular threat analysis</a:t>
                      </a:r>
                    </a:p>
                  </a:txBody>
                  <a:tcPr/>
                </a:tc>
                <a:extLst>
                  <a:ext uri="{0D108BD9-81ED-4DB2-BD59-A6C34878D82A}">
                    <a16:rowId xmlns:a16="http://schemas.microsoft.com/office/drawing/2014/main" val="10002"/>
                  </a:ext>
                </a:extLst>
              </a:tr>
              <a:tr h="1108309">
                <a:tc>
                  <a:txBody>
                    <a:bodyPr/>
                    <a:lstStyle/>
                    <a:p>
                      <a:r>
                        <a:rPr lang="en-US" sz="800" dirty="0"/>
                        <a:t>[9]Predicting Systemic Health Features from Retinal Fundus Images (2024)</a:t>
                      </a:r>
                    </a:p>
                  </a:txBody>
                  <a:tcPr/>
                </a:tc>
                <a:tc>
                  <a:txBody>
                    <a:bodyPr/>
                    <a:lstStyle/>
                    <a:p>
                      <a:r>
                        <a:rPr lang="en-US" sz="800" dirty="0"/>
                        <a:t>Predict systemic parameters (HbA1c, BP) from retinal images</a:t>
                      </a:r>
                    </a:p>
                  </a:txBody>
                  <a:tcPr/>
                </a:tc>
                <a:tc>
                  <a:txBody>
                    <a:bodyPr/>
                    <a:lstStyle/>
                    <a:p>
                      <a:r>
                        <a:rPr lang="en-IN" sz="800" dirty="0"/>
                        <a:t>Transfer-learning-based deep learning</a:t>
                      </a:r>
                      <a:endParaRPr lang="en-US" sz="800" dirty="0"/>
                    </a:p>
                  </a:txBody>
                  <a:tcPr/>
                </a:tc>
                <a:tc>
                  <a:txBody>
                    <a:bodyPr/>
                    <a:lstStyle/>
                    <a:p>
                      <a:r>
                        <a:rPr lang="en-IN" sz="800" dirty="0"/>
                        <a:t>Transfer-learning-based deep learning</a:t>
                      </a:r>
                      <a:endParaRPr lang="en-US" sz="800" dirty="0"/>
                    </a:p>
                  </a:txBody>
                  <a:tcPr/>
                </a:tc>
                <a:tc>
                  <a:txBody>
                    <a:bodyPr/>
                    <a:lstStyle/>
                    <a:p>
                      <a:r>
                        <a:rPr lang="en-US" sz="800" b="0" dirty="0"/>
                        <a:t>Strongly supports diabetes severity estimation from fundus images</a:t>
                      </a:r>
                    </a:p>
                  </a:txBody>
                  <a:tcPr/>
                </a:tc>
                <a:tc>
                  <a:txBody>
                    <a:bodyPr/>
                    <a:lstStyle/>
                    <a:p>
                      <a:r>
                        <a:rPr lang="en-IN" sz="800" dirty="0"/>
                        <a:t>DenseNet-201 (transfer learning)</a:t>
                      </a:r>
                      <a:endParaRPr lang="en-US" sz="800" dirty="0"/>
                    </a:p>
                  </a:txBody>
                  <a:tcPr/>
                </a:tc>
                <a:tc>
                  <a:txBody>
                    <a:bodyPr/>
                    <a:lstStyle/>
                    <a:p>
                      <a:r>
                        <a:rPr lang="en-US" sz="800" dirty="0"/>
                        <a:t>High correlation with clinical values</a:t>
                      </a:r>
                    </a:p>
                    <a:p>
                      <a:r>
                        <a:rPr lang="en-IN" sz="800" dirty="0"/>
                        <a:t>Accuracy equivalent: ~80–85%</a:t>
                      </a:r>
                      <a:endParaRPr lang="en-US" sz="800" dirty="0"/>
                    </a:p>
                  </a:txBody>
                  <a:tcPr/>
                </a:tc>
                <a:tc>
                  <a:txBody>
                    <a:bodyPr/>
                    <a:lstStyle/>
                    <a:p>
                      <a:r>
                        <a:rPr lang="en-IN" sz="800" dirty="0"/>
                        <a:t>Non-invasive systemic prediction</a:t>
                      </a:r>
                      <a:endParaRPr lang="en-US" sz="800" dirty="0"/>
                    </a:p>
                  </a:txBody>
                  <a:tcPr/>
                </a:tc>
                <a:tc>
                  <a:txBody>
                    <a:bodyPr/>
                    <a:lstStyle/>
                    <a:p>
                      <a:r>
                        <a:rPr lang="en-IN" sz="800" dirty="0"/>
                        <a:t>Black-box model, limited explainability</a:t>
                      </a:r>
                      <a:endParaRPr lang="en-US" sz="800" dirty="0"/>
                    </a:p>
                  </a:txBody>
                  <a:tcPr/>
                </a:tc>
                <a:extLst>
                  <a:ext uri="{0D108BD9-81ED-4DB2-BD59-A6C34878D82A}">
                    <a16:rowId xmlns:a16="http://schemas.microsoft.com/office/drawing/2014/main" val="10003"/>
                  </a:ext>
                </a:extLst>
              </a:tr>
              <a:tr h="1275920">
                <a:tc>
                  <a:txBody>
                    <a:bodyPr/>
                    <a:lstStyle/>
                    <a:p>
                      <a:r>
                        <a:rPr lang="en-US" sz="800" dirty="0"/>
                        <a:t>[10]Automatic Detection of Microaneurysms in Retinal Fundus Images Using DL</a:t>
                      </a:r>
                    </a:p>
                  </a:txBody>
                  <a:tcPr/>
                </a:tc>
                <a:tc>
                  <a:txBody>
                    <a:bodyPr/>
                    <a:lstStyle/>
                    <a:p>
                      <a:pPr algn="l">
                        <a:buNone/>
                      </a:pPr>
                      <a:r>
                        <a:rPr lang="en-US" sz="800" b="0" dirty="0"/>
                        <a:t>Early detection of diabetic retinopathy through microaneurysm identification</a:t>
                      </a:r>
                    </a:p>
                  </a:txBody>
                  <a:tcPr anchor="ctr"/>
                </a:tc>
                <a:tc>
                  <a:txBody>
                    <a:bodyPr/>
                    <a:lstStyle/>
                    <a:p>
                      <a:r>
                        <a:rPr lang="en-US" sz="800" dirty="0"/>
                        <a:t>Deep learning-based lesion detection</a:t>
                      </a:r>
                    </a:p>
                  </a:txBody>
                  <a:tcPr/>
                </a:tc>
                <a:tc>
                  <a:txBody>
                    <a:bodyPr/>
                    <a:lstStyle/>
                    <a:p>
                      <a:r>
                        <a:rPr lang="en-US" sz="800" dirty="0"/>
                        <a:t>Accurate detection of microaneurysms improves early DR diagnosis</a:t>
                      </a:r>
                    </a:p>
                  </a:txBody>
                  <a:tcPr/>
                </a:tc>
                <a:tc>
                  <a:txBody>
                    <a:bodyPr/>
                    <a:lstStyle/>
                    <a:p>
                      <a:r>
                        <a:rPr lang="en-US" sz="800" dirty="0"/>
                        <a:t>Supports lesion-level analysis used in our project</a:t>
                      </a:r>
                      <a:endParaRPr lang="en-US" sz="800" b="0" dirty="0"/>
                    </a:p>
                  </a:txBody>
                  <a:tcPr/>
                </a:tc>
                <a:tc>
                  <a:txBody>
                    <a:bodyPr/>
                    <a:lstStyle/>
                    <a:p>
                      <a:r>
                        <a:rPr lang="en-IN" sz="800" dirty="0"/>
                        <a:t>CNN</a:t>
                      </a:r>
                      <a:endParaRPr lang="en-US" sz="800" dirty="0"/>
                    </a:p>
                  </a:txBody>
                  <a:tcPr/>
                </a:tc>
                <a:tc>
                  <a:txBody>
                    <a:bodyPr/>
                    <a:lstStyle/>
                    <a:p>
                      <a:r>
                        <a:rPr lang="en-IN" sz="800" dirty="0"/>
                        <a:t>Accuracy </a:t>
                      </a:r>
                    </a:p>
                    <a:p>
                      <a:r>
                        <a:rPr lang="en-IN" sz="800" dirty="0"/>
                        <a:t>90–95%</a:t>
                      </a:r>
                      <a:endParaRPr lang="en-US" sz="800" dirty="0"/>
                    </a:p>
                  </a:txBody>
                  <a:tcPr/>
                </a:tc>
                <a:tc>
                  <a:txBody>
                    <a:bodyPr/>
                    <a:lstStyle/>
                    <a:p>
                      <a:r>
                        <a:rPr lang="en-US" sz="800" dirty="0"/>
                        <a:t>Effective for early DR detection</a:t>
                      </a:r>
                    </a:p>
                  </a:txBody>
                  <a:tcPr/>
                </a:tc>
                <a:tc>
                  <a:txBody>
                    <a:bodyPr/>
                    <a:lstStyle/>
                    <a:p>
                      <a:r>
                        <a:rPr lang="en-US" sz="800" dirty="0"/>
                        <a:t>Single-lesion focus, no lesion density or macular risk analysis</a:t>
                      </a:r>
                    </a:p>
                  </a:txBody>
                  <a:tcPr/>
                </a:tc>
                <a:extLst>
                  <a:ext uri="{0D108BD9-81ED-4DB2-BD59-A6C34878D82A}">
                    <a16:rowId xmlns:a16="http://schemas.microsoft.com/office/drawing/2014/main" val="1423868528"/>
                  </a:ext>
                </a:extLst>
              </a:tr>
            </a:tbl>
          </a:graphicData>
        </a:graphic>
      </p:graphicFrame>
    </p:spTree>
    <p:extLst>
      <p:ext uri="{BB962C8B-B14F-4D97-AF65-F5344CB8AC3E}">
        <p14:creationId xmlns:p14="http://schemas.microsoft.com/office/powerpoint/2010/main" val="4160349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0D8562F3-EF4E-4EA1-8416-F769F14D18B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7430083-762D-3B6E-DAC3-3D98EE6A2F41}"/>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Research Gaps</a:t>
            </a:r>
            <a:endParaRPr dirty="0"/>
          </a:p>
        </p:txBody>
      </p:sp>
      <p:sp>
        <p:nvSpPr>
          <p:cNvPr id="44" name="Google Shape;44;p3">
            <a:extLst>
              <a:ext uri="{FF2B5EF4-FFF2-40B4-BE49-F238E27FC236}">
                <a16:creationId xmlns:a16="http://schemas.microsoft.com/office/drawing/2014/main" id="{5FD84FE6-1EF7-E90B-9561-FC7CF4214F1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17</a:t>
            </a:fld>
            <a:endParaRPr/>
          </a:p>
        </p:txBody>
      </p:sp>
      <p:sp>
        <p:nvSpPr>
          <p:cNvPr id="45" name="Google Shape;45;p3">
            <a:extLst>
              <a:ext uri="{FF2B5EF4-FFF2-40B4-BE49-F238E27FC236}">
                <a16:creationId xmlns:a16="http://schemas.microsoft.com/office/drawing/2014/main" id="{380B9875-0545-C7A1-F58F-DE1C68DCE9C1}"/>
              </a:ext>
            </a:extLst>
          </p:cNvPr>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rmAutofit/>
          </a:bodyPr>
          <a:lstStyle/>
          <a:p>
            <a:pPr indent="-310832">
              <a:lnSpc>
                <a:spcPct val="115000"/>
              </a:lnSpc>
              <a:buClr>
                <a:srgbClr val="595959"/>
              </a:buClr>
              <a:buSzPct val="58333"/>
              <a:buFont typeface="Arial"/>
              <a:buChar char="●"/>
            </a:pPr>
            <a:endParaRPr lang="en-IN" dirty="0">
              <a:solidFill>
                <a:srgbClr val="FF0000"/>
              </a:solidFill>
              <a:sym typeface="Arial"/>
            </a:endParaRPr>
          </a:p>
          <a:p>
            <a:pPr lvl="0" indent="-310832">
              <a:lnSpc>
                <a:spcPct val="115000"/>
              </a:lnSpc>
              <a:buClr>
                <a:srgbClr val="595959"/>
              </a:buClr>
              <a:buSzPct val="58333"/>
              <a:buChar char="●"/>
            </a:pPr>
            <a:endParaRPr lang="en-US" dirty="0">
              <a:solidFill>
                <a:srgbClr val="C00000"/>
              </a:solidFill>
            </a:endParaRPr>
          </a:p>
        </p:txBody>
      </p:sp>
      <p:sp>
        <p:nvSpPr>
          <p:cNvPr id="2" name="Rectangle 1">
            <a:extLst>
              <a:ext uri="{FF2B5EF4-FFF2-40B4-BE49-F238E27FC236}">
                <a16:creationId xmlns:a16="http://schemas.microsoft.com/office/drawing/2014/main" id="{C04B7CFA-BA3C-0437-0210-EF54A7A6FA62}"/>
              </a:ext>
            </a:extLst>
          </p:cNvPr>
          <p:cNvSpPr>
            <a:spLocks noChangeArrowheads="1"/>
          </p:cNvSpPr>
          <p:nvPr/>
        </p:nvSpPr>
        <p:spPr bwMode="auto">
          <a:xfrm>
            <a:off x="215900" y="832812"/>
            <a:ext cx="8373979"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Binary Classification Approach</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The system performs only binary classification (DR / No DR), which does not provide information about disease progression or severity levels.</a:t>
            </a:r>
          </a:p>
          <a:p>
            <a:pPr marL="342900" lvl="0" indent="-342900"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Retinal Features Not Used for Severity Assessment</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Although important retinal features such as microaneurysms, hard exudates, and blood vessel abnormalities are extracted, the base paper uses them only for detection and not for evaluating the extent or severity of damage.</a:t>
            </a:r>
          </a:p>
          <a:p>
            <a:pPr marL="342900" lvl="0" indent="-342900" eaLnBrk="0" fontAlgn="base" hangingPunct="0">
              <a:spcBef>
                <a:spcPct val="0"/>
              </a:spcBef>
              <a:spcAft>
                <a:spcPct val="0"/>
              </a:spcAft>
              <a:buClrTx/>
              <a:buFont typeface="Arial" panose="020B0604020202020204" pitchFamily="34" charset="0"/>
              <a:buChar char="•"/>
            </a:pPr>
            <a:r>
              <a:rPr lang="en-US" altLang="en-US" sz="2000" b="1" dirty="0">
                <a:solidFill>
                  <a:schemeClr val="tx1"/>
                </a:solidFill>
                <a:latin typeface="Times New Roman" panose="02020603050405020304" pitchFamily="18" charset="0"/>
                <a:cs typeface="Times New Roman" panose="02020603050405020304" pitchFamily="18" charset="0"/>
              </a:rPr>
              <a:t>No Mapping Between Retinal Damage and Diabetes Stages</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The extracted diabetic retinopathy features are not mapped to diabetes stages or progression levels, limiting clinical interpretation beyond screening.</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8618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291C7F78-E42D-F789-412D-53C660C0DFA4}"/>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364DABB-86F0-041F-1690-AD45B814158A}"/>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rtl="0">
              <a:lnSpc>
                <a:spcPct val="100000"/>
              </a:lnSpc>
              <a:spcBef>
                <a:spcPts val="0"/>
              </a:spcBef>
              <a:spcAft>
                <a:spcPts val="0"/>
              </a:spcAft>
              <a:buSzPts val="5200"/>
              <a:buNone/>
            </a:pPr>
            <a:r>
              <a:rPr lang="en-IN" dirty="0"/>
              <a:t>Problem statement</a:t>
            </a:r>
            <a:endParaRPr dirty="0"/>
          </a:p>
        </p:txBody>
      </p:sp>
      <p:sp>
        <p:nvSpPr>
          <p:cNvPr id="44" name="Google Shape;44;p3">
            <a:extLst>
              <a:ext uri="{FF2B5EF4-FFF2-40B4-BE49-F238E27FC236}">
                <a16:creationId xmlns:a16="http://schemas.microsoft.com/office/drawing/2014/main" id="{105073AE-3BAB-9959-75E9-6BDAB9C42CE1}"/>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18</a:t>
            </a:fld>
            <a:endParaRPr/>
          </a:p>
        </p:txBody>
      </p:sp>
      <p:sp>
        <p:nvSpPr>
          <p:cNvPr id="45" name="Google Shape;45;p3">
            <a:extLst>
              <a:ext uri="{FF2B5EF4-FFF2-40B4-BE49-F238E27FC236}">
                <a16:creationId xmlns:a16="http://schemas.microsoft.com/office/drawing/2014/main" id="{186DEA44-DE74-8BF1-9FD0-1F1BEEF60B05}"/>
              </a:ext>
            </a:extLst>
          </p:cNvPr>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rmAutofit fontScale="85000" lnSpcReduction="20000"/>
          </a:bodyPr>
          <a:lstStyle/>
          <a:p>
            <a:pPr marL="146368" lvl="0" indent="0" algn="just">
              <a:lnSpc>
                <a:spcPct val="115000"/>
              </a:lnSpc>
              <a:buClr>
                <a:srgbClr val="595959"/>
              </a:buClr>
              <a:buSzPct val="58333"/>
            </a:pPr>
            <a:r>
              <a:rPr lang="en-US" dirty="0"/>
              <a:t>Diabetes is a long-term disease that requires regular monitoring to prevent serious complications. Blood glucose tests provide only temporary readings that can vary due to factors such as food intake, stress, and time of measurement, making it difficult to accurately assess the long-term severity of diabetes. Diabetic retinopathy causes gradual and permanent changes in the retina, including microaneurysms, hard exudates, cotton wool spots and abnormal blood vessel growth, which reflect prolonged exposure to high blood glucose levels. However, most existing approaches focus only on detecting diabetic retinopathy and do not utilize these retinal features to evaluate diabetes progression. Therefore, there is a need for a non-invasive system that analyzes fundus images to extract diabetic retinopathy features and reliably predict the stage of diabetes.</a:t>
            </a:r>
            <a:endParaRPr lang="en-US" dirty="0">
              <a:solidFill>
                <a:srgbClr val="C00000"/>
              </a:solidFill>
            </a:endParaRPr>
          </a:p>
        </p:txBody>
      </p:sp>
    </p:spTree>
    <p:extLst>
      <p:ext uri="{BB962C8B-B14F-4D97-AF65-F5344CB8AC3E}">
        <p14:creationId xmlns:p14="http://schemas.microsoft.com/office/powerpoint/2010/main" val="1455877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88E5-FFB1-425E-940A-95D584723842}"/>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buFont typeface="Arial"/>
              <a:buNone/>
              <a:defRPr/>
            </a:pPr>
            <a:r>
              <a:rPr lang="en-US" dirty="0">
                <a:solidFill>
                  <a:schemeClr val="dk1"/>
                </a:solidFill>
                <a:latin typeface="Times New Roman" panose="02020603050405020304" pitchFamily="18" charset="0"/>
                <a:cs typeface="Times New Roman" panose="02020603050405020304" pitchFamily="18" charset="0"/>
                <a:sym typeface="Arial"/>
              </a:rPr>
              <a:t>Objectives</a:t>
            </a:r>
          </a:p>
        </p:txBody>
      </p:sp>
      <p:sp>
        <p:nvSpPr>
          <p:cNvPr id="9219" name="Slide Number Placeholder 2">
            <a:extLst>
              <a:ext uri="{FF2B5EF4-FFF2-40B4-BE49-F238E27FC236}">
                <a16:creationId xmlns:a16="http://schemas.microsoft.com/office/drawing/2014/main" id="{F4889C14-9D66-0646-7D3C-F1D5A979D4ED}"/>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263C8792-CD54-4A9A-8DD3-F6B8644EA022}" type="slidenum">
              <a:rPr lang="en-US" altLang="en-US" sz="1000" smtClean="0">
                <a:solidFill>
                  <a:srgbClr val="595959"/>
                </a:solidFill>
              </a:rPr>
              <a:pPr/>
              <a:t>19</a:t>
            </a:fld>
            <a:endParaRPr lang="en-US" altLang="en-US" sz="1000">
              <a:solidFill>
                <a:srgbClr val="595959"/>
              </a:solidFill>
            </a:endParaRPr>
          </a:p>
        </p:txBody>
      </p:sp>
      <p:sp>
        <p:nvSpPr>
          <p:cNvPr id="3" name="Rectangle 1">
            <a:extLst>
              <a:ext uri="{FF2B5EF4-FFF2-40B4-BE49-F238E27FC236}">
                <a16:creationId xmlns:a16="http://schemas.microsoft.com/office/drawing/2014/main" id="{22F61602-C9E7-0625-AEB3-7B6FFDAEF597}"/>
              </a:ext>
            </a:extLst>
          </p:cNvPr>
          <p:cNvSpPr>
            <a:spLocks noGrp="1" noChangeArrowheads="1"/>
          </p:cNvSpPr>
          <p:nvPr>
            <p:ph type="body" sz="quarter" idx="13"/>
          </p:nvPr>
        </p:nvSpPr>
        <p:spPr bwMode="auto">
          <a:xfrm>
            <a:off x="457200" y="986700"/>
            <a:ext cx="82296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move beyond binary classification by developing a model that classifies retinal images into multiple diabetes severity levels instead of only DR / No DR.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utilize extracted retinal features such as microaneurysms, hard exudates, and blood vessel abnormalities for assessing the extent of retinal damage rather than mere detection.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map retinal damage patterns to diabetes progression stages, enabling clinically meaningful severity interpretation from retinal fundus images.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 automated severity prediction system that reflects long-term diabetes impact using stable retinal features.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3AA6C-D284-F536-3AE8-41C65B8DA1AF}"/>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buFont typeface="Arial"/>
              <a:buNone/>
              <a:defRPr/>
            </a:pPr>
            <a:r>
              <a:rPr lang="en-US" dirty="0">
                <a:solidFill>
                  <a:schemeClr val="dk1"/>
                </a:solidFill>
                <a:latin typeface="Times New Roman" panose="02020603050405020304" pitchFamily="18" charset="0"/>
                <a:cs typeface="Times New Roman" panose="02020603050405020304" pitchFamily="18" charset="0"/>
                <a:sym typeface="Arial"/>
              </a:rPr>
              <a:t>Proposed Solution</a:t>
            </a:r>
          </a:p>
        </p:txBody>
      </p:sp>
      <p:sp>
        <p:nvSpPr>
          <p:cNvPr id="10243" name="Slide Number Placeholder 2">
            <a:extLst>
              <a:ext uri="{FF2B5EF4-FFF2-40B4-BE49-F238E27FC236}">
                <a16:creationId xmlns:a16="http://schemas.microsoft.com/office/drawing/2014/main" id="{6D00ABFA-D88A-B7AF-7D4A-6012A136BF52}"/>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A9C45A0C-E776-438A-BBC0-372ED89C29E2}" type="slidenum">
              <a:rPr lang="en-US" altLang="en-US" sz="1000" smtClean="0">
                <a:solidFill>
                  <a:srgbClr val="595959"/>
                </a:solidFill>
              </a:rPr>
              <a:pPr/>
              <a:t>20</a:t>
            </a:fld>
            <a:endParaRPr lang="en-US" altLang="en-US" sz="1000">
              <a:solidFill>
                <a:srgbClr val="595959"/>
              </a:solidFill>
            </a:endParaRPr>
          </a:p>
        </p:txBody>
      </p:sp>
      <p:sp>
        <p:nvSpPr>
          <p:cNvPr id="3" name="Rectangle 1">
            <a:extLst>
              <a:ext uri="{FF2B5EF4-FFF2-40B4-BE49-F238E27FC236}">
                <a16:creationId xmlns:a16="http://schemas.microsoft.com/office/drawing/2014/main" id="{26EFC69F-DC38-FCB1-1400-FDE65E378933}"/>
              </a:ext>
            </a:extLst>
          </p:cNvPr>
          <p:cNvSpPr>
            <a:spLocks noGrp="1" noChangeArrowheads="1"/>
          </p:cNvSpPr>
          <p:nvPr>
            <p:ph type="body" sz="quarter" idx="13"/>
          </p:nvPr>
        </p:nvSpPr>
        <p:spPr bwMode="auto">
          <a:xfrm>
            <a:off x="122238" y="649288"/>
            <a:ext cx="885666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The proposed system extends the lightweight retinal analysis approach by moving from early-stage binary detection to multi-level diabetes severity prediction.</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Retinal fundus images are preprocessed to enhance important features such as microaneurysms, exudates, cotton wool spots and blood vessel abnormalities.</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Multiple Piconet-based lightweight models are used instead of a single classifier to analyze retinal damage patterns.</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Each Piconet independently learns specific retinal features related to diabetes progression.</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Swarm technology is applied to combine outputs from all Piconets through collaborative decision-making.</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The fused result is used to predict diabetes severity levels rather than simple DR detection.</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The system provides a reliable and interpretable severity assessment suitable for clinical use.</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161D63-8683-8FF9-982A-9DBB7B336F96}"/>
              </a:ext>
            </a:extLst>
          </p:cNvPr>
          <p:cNvSpPr>
            <a:spLocks noGrp="1"/>
          </p:cNvSpPr>
          <p:nvPr>
            <p:ph type="sldNum" idx="14"/>
          </p:nvPr>
        </p:nvSpPr>
        <p:spPr>
          <a:xfrm>
            <a:off x="8370887" y="4533410"/>
            <a:ext cx="549275" cy="393700"/>
          </a:xfrm>
        </p:spPr>
        <p:txBody>
          <a:bodyPr/>
          <a:lstStyle/>
          <a:p>
            <a:pPr>
              <a:defRPr/>
            </a:pPr>
            <a:fld id="{EF26C623-DE27-4A99-8424-AFD36C142E5A}" type="slidenum">
              <a:rPr lang="en-US" altLang="en-US" smtClean="0"/>
              <a:pPr>
                <a:defRPr/>
              </a:pPr>
              <a:t>21</a:t>
            </a:fld>
            <a:endParaRPr lang="en-US" altLang="en-US"/>
          </a:p>
        </p:txBody>
      </p:sp>
      <p:sp>
        <p:nvSpPr>
          <p:cNvPr id="33" name="Cylinder 32">
            <a:extLst>
              <a:ext uri="{FF2B5EF4-FFF2-40B4-BE49-F238E27FC236}">
                <a16:creationId xmlns:a16="http://schemas.microsoft.com/office/drawing/2014/main" id="{D308DDB5-836A-2627-D596-FB2C83597EA5}"/>
              </a:ext>
            </a:extLst>
          </p:cNvPr>
          <p:cNvSpPr/>
          <p:nvPr/>
        </p:nvSpPr>
        <p:spPr>
          <a:xfrm>
            <a:off x="139476" y="671095"/>
            <a:ext cx="1732133" cy="129712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6" name="Picture 45">
            <a:extLst>
              <a:ext uri="{FF2B5EF4-FFF2-40B4-BE49-F238E27FC236}">
                <a16:creationId xmlns:a16="http://schemas.microsoft.com/office/drawing/2014/main" id="{11FDFE26-B000-8C59-B0E6-D77ACE40FFE6}"/>
              </a:ext>
            </a:extLst>
          </p:cNvPr>
          <p:cNvPicPr>
            <a:picLocks noChangeAspect="1"/>
          </p:cNvPicPr>
          <p:nvPr/>
        </p:nvPicPr>
        <p:blipFill>
          <a:blip r:embed="rId2"/>
          <a:stretch>
            <a:fillRect/>
          </a:stretch>
        </p:blipFill>
        <p:spPr>
          <a:xfrm>
            <a:off x="869201" y="2239661"/>
            <a:ext cx="1841228" cy="673673"/>
          </a:xfrm>
          <a:prstGeom prst="rect">
            <a:avLst/>
          </a:prstGeom>
        </p:spPr>
      </p:pic>
      <p:pic>
        <p:nvPicPr>
          <p:cNvPr id="48" name="Picture 47">
            <a:extLst>
              <a:ext uri="{FF2B5EF4-FFF2-40B4-BE49-F238E27FC236}">
                <a16:creationId xmlns:a16="http://schemas.microsoft.com/office/drawing/2014/main" id="{0FBB878A-D2C7-A830-F875-A13A64B6355E}"/>
              </a:ext>
            </a:extLst>
          </p:cNvPr>
          <p:cNvPicPr>
            <a:picLocks noChangeAspect="1"/>
          </p:cNvPicPr>
          <p:nvPr/>
        </p:nvPicPr>
        <p:blipFill>
          <a:blip r:embed="rId3"/>
          <a:stretch>
            <a:fillRect/>
          </a:stretch>
        </p:blipFill>
        <p:spPr>
          <a:xfrm>
            <a:off x="869200" y="3184777"/>
            <a:ext cx="1841228" cy="673673"/>
          </a:xfrm>
          <a:prstGeom prst="rect">
            <a:avLst/>
          </a:prstGeom>
        </p:spPr>
      </p:pic>
      <p:sp>
        <p:nvSpPr>
          <p:cNvPr id="49" name="TextBox 48">
            <a:extLst>
              <a:ext uri="{FF2B5EF4-FFF2-40B4-BE49-F238E27FC236}">
                <a16:creationId xmlns:a16="http://schemas.microsoft.com/office/drawing/2014/main" id="{7BF6BBE3-C49D-5444-6E3D-D654CB286F4A}"/>
              </a:ext>
            </a:extLst>
          </p:cNvPr>
          <p:cNvSpPr txBox="1"/>
          <p:nvPr/>
        </p:nvSpPr>
        <p:spPr>
          <a:xfrm>
            <a:off x="824975" y="2895167"/>
            <a:ext cx="1885453" cy="307777"/>
          </a:xfrm>
          <a:prstGeom prst="rect">
            <a:avLst/>
          </a:prstGeom>
          <a:noFill/>
        </p:spPr>
        <p:txBody>
          <a:bodyPr wrap="none" rtlCol="0">
            <a:spAutoFit/>
          </a:bodyPr>
          <a:lstStyle/>
          <a:p>
            <a:r>
              <a:rPr lang="en-US" dirty="0"/>
              <a:t>Before preprocessing</a:t>
            </a:r>
            <a:endParaRPr lang="en-IN" dirty="0"/>
          </a:p>
        </p:txBody>
      </p:sp>
      <p:sp>
        <p:nvSpPr>
          <p:cNvPr id="50" name="TextBox 49">
            <a:extLst>
              <a:ext uri="{FF2B5EF4-FFF2-40B4-BE49-F238E27FC236}">
                <a16:creationId xmlns:a16="http://schemas.microsoft.com/office/drawing/2014/main" id="{273542D6-1AED-94DE-8766-CCEAC3DF7F4A}"/>
              </a:ext>
            </a:extLst>
          </p:cNvPr>
          <p:cNvSpPr txBox="1"/>
          <p:nvPr/>
        </p:nvSpPr>
        <p:spPr>
          <a:xfrm>
            <a:off x="921627" y="3843943"/>
            <a:ext cx="1736373" cy="307777"/>
          </a:xfrm>
          <a:prstGeom prst="rect">
            <a:avLst/>
          </a:prstGeom>
          <a:noFill/>
        </p:spPr>
        <p:txBody>
          <a:bodyPr wrap="none" rtlCol="0">
            <a:spAutoFit/>
          </a:bodyPr>
          <a:lstStyle/>
          <a:p>
            <a:r>
              <a:rPr lang="en-US" dirty="0"/>
              <a:t>After preprocessing</a:t>
            </a:r>
            <a:endParaRPr lang="en-IN" dirty="0"/>
          </a:p>
        </p:txBody>
      </p:sp>
      <p:sp>
        <p:nvSpPr>
          <p:cNvPr id="55" name="Slide Number Placeholder 3">
            <a:extLst>
              <a:ext uri="{FF2B5EF4-FFF2-40B4-BE49-F238E27FC236}">
                <a16:creationId xmlns:a16="http://schemas.microsoft.com/office/drawing/2014/main" id="{047E404D-8EA2-C972-85D5-7A643B65FA9E}"/>
              </a:ext>
            </a:extLst>
          </p:cNvPr>
          <p:cNvSpPr txBox="1">
            <a:spLocks/>
          </p:cNvSpPr>
          <p:nvPr/>
        </p:nvSpPr>
        <p:spPr>
          <a:xfrm>
            <a:off x="8370887" y="4533410"/>
            <a:ext cx="549275" cy="393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a:defRPr/>
            </a:pPr>
            <a:fld id="{EF26C623-DE27-4A99-8424-AFD36C142E5A}" type="slidenum">
              <a:rPr lang="en-US" altLang="en-US" smtClean="0"/>
              <a:pPr>
                <a:defRPr/>
              </a:pPr>
              <a:t>21</a:t>
            </a:fld>
            <a:endParaRPr lang="en-US" altLang="en-US"/>
          </a:p>
        </p:txBody>
      </p:sp>
      <p:pic>
        <p:nvPicPr>
          <p:cNvPr id="56" name="Picture 55">
            <a:extLst>
              <a:ext uri="{FF2B5EF4-FFF2-40B4-BE49-F238E27FC236}">
                <a16:creationId xmlns:a16="http://schemas.microsoft.com/office/drawing/2014/main" id="{4B46E93D-A985-415B-1156-6FDB09ABD1B7}"/>
              </a:ext>
            </a:extLst>
          </p:cNvPr>
          <p:cNvPicPr>
            <a:picLocks noChangeAspect="1"/>
          </p:cNvPicPr>
          <p:nvPr/>
        </p:nvPicPr>
        <p:blipFill>
          <a:blip r:embed="rId4"/>
          <a:stretch>
            <a:fillRect/>
          </a:stretch>
        </p:blipFill>
        <p:spPr>
          <a:xfrm>
            <a:off x="533716" y="1026896"/>
            <a:ext cx="943651" cy="673673"/>
          </a:xfrm>
          <a:prstGeom prst="rect">
            <a:avLst/>
          </a:prstGeom>
        </p:spPr>
      </p:pic>
      <p:sp>
        <p:nvSpPr>
          <p:cNvPr id="58" name="TextBox 57">
            <a:extLst>
              <a:ext uri="{FF2B5EF4-FFF2-40B4-BE49-F238E27FC236}">
                <a16:creationId xmlns:a16="http://schemas.microsoft.com/office/drawing/2014/main" id="{699CE38F-37D8-2A1A-D0A7-1E916BCB0D49}"/>
              </a:ext>
            </a:extLst>
          </p:cNvPr>
          <p:cNvSpPr txBox="1"/>
          <p:nvPr/>
        </p:nvSpPr>
        <p:spPr>
          <a:xfrm>
            <a:off x="333965" y="1641392"/>
            <a:ext cx="1455848" cy="307777"/>
          </a:xfrm>
          <a:prstGeom prst="rect">
            <a:avLst/>
          </a:prstGeom>
          <a:noFill/>
        </p:spPr>
        <p:txBody>
          <a:bodyPr wrap="none" rtlCol="0">
            <a:spAutoFit/>
          </a:bodyPr>
          <a:lstStyle/>
          <a:p>
            <a:r>
              <a:rPr lang="en-US" b="1" dirty="0"/>
              <a:t>Retinal dataset</a:t>
            </a:r>
            <a:endParaRPr lang="en-IN" b="1" dirty="0"/>
          </a:p>
        </p:txBody>
      </p:sp>
      <p:sp>
        <p:nvSpPr>
          <p:cNvPr id="59" name="Rectangle: Rounded Corners 58">
            <a:extLst>
              <a:ext uri="{FF2B5EF4-FFF2-40B4-BE49-F238E27FC236}">
                <a16:creationId xmlns:a16="http://schemas.microsoft.com/office/drawing/2014/main" id="{E68F6FF2-7302-C2F1-1573-9EA7919C2726}"/>
              </a:ext>
            </a:extLst>
          </p:cNvPr>
          <p:cNvSpPr/>
          <p:nvPr/>
        </p:nvSpPr>
        <p:spPr>
          <a:xfrm>
            <a:off x="3075507" y="1916508"/>
            <a:ext cx="1885453" cy="23871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2" name="Picture 51">
            <a:extLst>
              <a:ext uri="{FF2B5EF4-FFF2-40B4-BE49-F238E27FC236}">
                <a16:creationId xmlns:a16="http://schemas.microsoft.com/office/drawing/2014/main" id="{F15A667A-C6DB-4024-EDFB-EEC83492A13A}"/>
              </a:ext>
            </a:extLst>
          </p:cNvPr>
          <p:cNvPicPr>
            <a:picLocks noChangeAspect="1"/>
          </p:cNvPicPr>
          <p:nvPr/>
        </p:nvPicPr>
        <p:blipFill>
          <a:blip r:embed="rId5"/>
          <a:stretch>
            <a:fillRect/>
          </a:stretch>
        </p:blipFill>
        <p:spPr>
          <a:xfrm>
            <a:off x="3259923" y="2989543"/>
            <a:ext cx="1516620" cy="1057761"/>
          </a:xfrm>
          <a:prstGeom prst="rect">
            <a:avLst/>
          </a:prstGeom>
        </p:spPr>
      </p:pic>
      <p:sp>
        <p:nvSpPr>
          <p:cNvPr id="60" name="TextBox 59">
            <a:extLst>
              <a:ext uri="{FF2B5EF4-FFF2-40B4-BE49-F238E27FC236}">
                <a16:creationId xmlns:a16="http://schemas.microsoft.com/office/drawing/2014/main" id="{F0C817FA-9A0F-F627-CB22-87C86109074D}"/>
              </a:ext>
            </a:extLst>
          </p:cNvPr>
          <p:cNvSpPr txBox="1"/>
          <p:nvPr/>
        </p:nvSpPr>
        <p:spPr>
          <a:xfrm>
            <a:off x="3194931" y="2208553"/>
            <a:ext cx="1755609" cy="523220"/>
          </a:xfrm>
          <a:prstGeom prst="rect">
            <a:avLst/>
          </a:prstGeom>
          <a:noFill/>
        </p:spPr>
        <p:txBody>
          <a:bodyPr wrap="none" rtlCol="0">
            <a:spAutoFit/>
          </a:bodyPr>
          <a:lstStyle/>
          <a:p>
            <a:r>
              <a:rPr lang="en-US" b="1" dirty="0">
                <a:latin typeface="+mj-lt"/>
                <a:cs typeface="Times New Roman" panose="02020603050405020304" pitchFamily="18" charset="0"/>
              </a:rPr>
              <a:t>Feature Extraction</a:t>
            </a:r>
          </a:p>
          <a:p>
            <a:r>
              <a:rPr lang="en-US" b="1" dirty="0">
                <a:latin typeface="+mj-lt"/>
                <a:cs typeface="Times New Roman" panose="02020603050405020304" pitchFamily="18" charset="0"/>
              </a:rPr>
              <a:t>Using Piconets</a:t>
            </a:r>
            <a:endParaRPr lang="en-IN" b="1" dirty="0">
              <a:latin typeface="+mj-lt"/>
              <a:cs typeface="Times New Roman" panose="02020603050405020304" pitchFamily="18" charset="0"/>
            </a:endParaRPr>
          </a:p>
        </p:txBody>
      </p:sp>
      <p:sp>
        <p:nvSpPr>
          <p:cNvPr id="63" name="Rectangle: Rounded Corners 62">
            <a:extLst>
              <a:ext uri="{FF2B5EF4-FFF2-40B4-BE49-F238E27FC236}">
                <a16:creationId xmlns:a16="http://schemas.microsoft.com/office/drawing/2014/main" id="{C08BBFE6-E9F9-1EAC-27FB-3BE68525EFF3}"/>
              </a:ext>
            </a:extLst>
          </p:cNvPr>
          <p:cNvSpPr/>
          <p:nvPr/>
        </p:nvSpPr>
        <p:spPr>
          <a:xfrm>
            <a:off x="5298552" y="1352385"/>
            <a:ext cx="2128205" cy="35045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2" name="Picture 61">
            <a:extLst>
              <a:ext uri="{FF2B5EF4-FFF2-40B4-BE49-F238E27FC236}">
                <a16:creationId xmlns:a16="http://schemas.microsoft.com/office/drawing/2014/main" id="{7888FBF0-DB87-30E1-64E3-7A04193DDEC0}"/>
              </a:ext>
            </a:extLst>
          </p:cNvPr>
          <p:cNvPicPr>
            <a:picLocks noChangeAspect="1"/>
          </p:cNvPicPr>
          <p:nvPr/>
        </p:nvPicPr>
        <p:blipFill>
          <a:blip r:embed="rId6"/>
          <a:stretch>
            <a:fillRect/>
          </a:stretch>
        </p:blipFill>
        <p:spPr>
          <a:xfrm>
            <a:off x="5567000" y="2223917"/>
            <a:ext cx="1591307" cy="2518075"/>
          </a:xfrm>
          <a:prstGeom prst="rect">
            <a:avLst/>
          </a:prstGeom>
        </p:spPr>
      </p:pic>
      <p:sp>
        <p:nvSpPr>
          <p:cNvPr id="65" name="TextBox 64">
            <a:extLst>
              <a:ext uri="{FF2B5EF4-FFF2-40B4-BE49-F238E27FC236}">
                <a16:creationId xmlns:a16="http://schemas.microsoft.com/office/drawing/2014/main" id="{3552C118-55B4-385F-C8CF-11275F542D37}"/>
              </a:ext>
            </a:extLst>
          </p:cNvPr>
          <p:cNvSpPr txBox="1"/>
          <p:nvPr/>
        </p:nvSpPr>
        <p:spPr>
          <a:xfrm>
            <a:off x="5599400" y="1652064"/>
            <a:ext cx="1603628" cy="523220"/>
          </a:xfrm>
          <a:prstGeom prst="rect">
            <a:avLst/>
          </a:prstGeom>
          <a:noFill/>
        </p:spPr>
        <p:txBody>
          <a:bodyPr wrap="square">
            <a:spAutoFit/>
          </a:bodyPr>
          <a:lstStyle/>
          <a:p>
            <a:r>
              <a:rPr lang="en-IN" b="1" dirty="0"/>
              <a:t>Swarm-Based Decision Making</a:t>
            </a:r>
          </a:p>
        </p:txBody>
      </p:sp>
      <p:sp>
        <p:nvSpPr>
          <p:cNvPr id="66" name="Arrow: Down 65">
            <a:extLst>
              <a:ext uri="{FF2B5EF4-FFF2-40B4-BE49-F238E27FC236}">
                <a16:creationId xmlns:a16="http://schemas.microsoft.com/office/drawing/2014/main" id="{EEE9E303-F52C-8BD6-670D-EA094270DAD4}"/>
              </a:ext>
            </a:extLst>
          </p:cNvPr>
          <p:cNvSpPr/>
          <p:nvPr/>
        </p:nvSpPr>
        <p:spPr>
          <a:xfrm rot="16200000">
            <a:off x="2785618" y="2861953"/>
            <a:ext cx="149386" cy="375418"/>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Arrow: Down 66">
            <a:extLst>
              <a:ext uri="{FF2B5EF4-FFF2-40B4-BE49-F238E27FC236}">
                <a16:creationId xmlns:a16="http://schemas.microsoft.com/office/drawing/2014/main" id="{2D2F3D13-50C7-FCCC-7D6A-DA6BBA11B095}"/>
              </a:ext>
            </a:extLst>
          </p:cNvPr>
          <p:cNvSpPr/>
          <p:nvPr/>
        </p:nvSpPr>
        <p:spPr>
          <a:xfrm rot="16200000">
            <a:off x="5070683" y="3021471"/>
            <a:ext cx="149386" cy="339084"/>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Arrow: Down 67">
            <a:extLst>
              <a:ext uri="{FF2B5EF4-FFF2-40B4-BE49-F238E27FC236}">
                <a16:creationId xmlns:a16="http://schemas.microsoft.com/office/drawing/2014/main" id="{B7D73AE7-18FE-BAAA-E31E-A4927E484BEF}"/>
              </a:ext>
            </a:extLst>
          </p:cNvPr>
          <p:cNvSpPr/>
          <p:nvPr/>
        </p:nvSpPr>
        <p:spPr>
          <a:xfrm rot="19720157">
            <a:off x="2087083" y="1403198"/>
            <a:ext cx="149386" cy="817808"/>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7">
            <p14:nvContentPartPr>
              <p14:cNvPr id="75" name="Ink 74">
                <a:extLst>
                  <a:ext uri="{FF2B5EF4-FFF2-40B4-BE49-F238E27FC236}">
                    <a16:creationId xmlns:a16="http://schemas.microsoft.com/office/drawing/2014/main" id="{6A61E6A7-A91E-704B-972B-B80DD6DE83CA}"/>
                  </a:ext>
                </a:extLst>
              </p14:cNvPr>
              <p14:cNvContentPartPr/>
              <p14:nvPr/>
            </p14:nvContentPartPr>
            <p14:xfrm>
              <a:off x="-887379" y="-143238"/>
              <a:ext cx="360" cy="360"/>
            </p14:xfrm>
          </p:contentPart>
        </mc:Choice>
        <mc:Fallback xmlns="">
          <p:pic>
            <p:nvPicPr>
              <p:cNvPr id="75" name="Ink 74">
                <a:extLst>
                  <a:ext uri="{FF2B5EF4-FFF2-40B4-BE49-F238E27FC236}">
                    <a16:creationId xmlns:a16="http://schemas.microsoft.com/office/drawing/2014/main" id="{6A61E6A7-A91E-704B-972B-B80DD6DE83CA}"/>
                  </a:ext>
                </a:extLst>
              </p:cNvPr>
              <p:cNvPicPr/>
              <p:nvPr/>
            </p:nvPicPr>
            <p:blipFill>
              <a:blip r:embed="rId8"/>
              <a:stretch>
                <a:fillRect/>
              </a:stretch>
            </p:blipFill>
            <p:spPr>
              <a:xfrm>
                <a:off x="-905379" y="-161238"/>
                <a:ext cx="36000" cy="36000"/>
              </a:xfrm>
              <a:prstGeom prst="rect">
                <a:avLst/>
              </a:prstGeom>
            </p:spPr>
          </p:pic>
        </mc:Fallback>
      </mc:AlternateContent>
      <p:pic>
        <p:nvPicPr>
          <p:cNvPr id="79" name="Picture 78">
            <a:extLst>
              <a:ext uri="{FF2B5EF4-FFF2-40B4-BE49-F238E27FC236}">
                <a16:creationId xmlns:a16="http://schemas.microsoft.com/office/drawing/2014/main" id="{429A5880-58D7-2684-E2B6-E2CE8AB322ED}"/>
              </a:ext>
            </a:extLst>
          </p:cNvPr>
          <p:cNvPicPr>
            <a:picLocks noChangeAspect="1"/>
          </p:cNvPicPr>
          <p:nvPr/>
        </p:nvPicPr>
        <p:blipFill>
          <a:blip r:embed="rId9"/>
          <a:stretch>
            <a:fillRect/>
          </a:stretch>
        </p:blipFill>
        <p:spPr>
          <a:xfrm>
            <a:off x="7519103" y="2157640"/>
            <a:ext cx="1732133" cy="1782830"/>
          </a:xfrm>
          <a:prstGeom prst="rect">
            <a:avLst/>
          </a:prstGeom>
        </p:spPr>
      </p:pic>
      <p:sp>
        <p:nvSpPr>
          <p:cNvPr id="80" name="TextBox 79">
            <a:extLst>
              <a:ext uri="{FF2B5EF4-FFF2-40B4-BE49-F238E27FC236}">
                <a16:creationId xmlns:a16="http://schemas.microsoft.com/office/drawing/2014/main" id="{1579BE33-D1FB-A87A-8ECE-9FCD49C9F2A6}"/>
              </a:ext>
            </a:extLst>
          </p:cNvPr>
          <p:cNvSpPr txBox="1"/>
          <p:nvPr/>
        </p:nvSpPr>
        <p:spPr>
          <a:xfrm>
            <a:off x="8083645" y="2470163"/>
            <a:ext cx="603050" cy="307777"/>
          </a:xfrm>
          <a:prstGeom prst="rect">
            <a:avLst/>
          </a:prstGeom>
          <a:noFill/>
        </p:spPr>
        <p:txBody>
          <a:bodyPr wrap="none" rtlCol="0">
            <a:spAutoFit/>
          </a:bodyPr>
          <a:lstStyle/>
          <a:p>
            <a:r>
              <a:rPr lang="en-IN" b="1" dirty="0"/>
              <a:t>early</a:t>
            </a:r>
          </a:p>
        </p:txBody>
      </p:sp>
      <p:sp>
        <p:nvSpPr>
          <p:cNvPr id="86" name="TextBox 85">
            <a:extLst>
              <a:ext uri="{FF2B5EF4-FFF2-40B4-BE49-F238E27FC236}">
                <a16:creationId xmlns:a16="http://schemas.microsoft.com/office/drawing/2014/main" id="{06EE03FE-65C0-74A4-91B3-E3F20B9CB061}"/>
              </a:ext>
            </a:extLst>
          </p:cNvPr>
          <p:cNvSpPr txBox="1"/>
          <p:nvPr/>
        </p:nvSpPr>
        <p:spPr>
          <a:xfrm>
            <a:off x="7875664" y="2919938"/>
            <a:ext cx="1029932" cy="307777"/>
          </a:xfrm>
          <a:prstGeom prst="rect">
            <a:avLst/>
          </a:prstGeom>
          <a:noFill/>
        </p:spPr>
        <p:txBody>
          <a:bodyPr wrap="square">
            <a:spAutoFit/>
          </a:bodyPr>
          <a:lstStyle/>
          <a:p>
            <a:r>
              <a:rPr lang="en-IN" b="1" dirty="0"/>
              <a:t>moderate</a:t>
            </a:r>
          </a:p>
        </p:txBody>
      </p:sp>
      <p:sp>
        <p:nvSpPr>
          <p:cNvPr id="88" name="TextBox 87">
            <a:extLst>
              <a:ext uri="{FF2B5EF4-FFF2-40B4-BE49-F238E27FC236}">
                <a16:creationId xmlns:a16="http://schemas.microsoft.com/office/drawing/2014/main" id="{5BAAD8B1-9F48-1C25-B7F9-7FA11F318837}"/>
              </a:ext>
            </a:extLst>
          </p:cNvPr>
          <p:cNvSpPr txBox="1"/>
          <p:nvPr/>
        </p:nvSpPr>
        <p:spPr>
          <a:xfrm>
            <a:off x="8137882" y="3369713"/>
            <a:ext cx="559831" cy="307777"/>
          </a:xfrm>
          <a:prstGeom prst="rect">
            <a:avLst/>
          </a:prstGeom>
          <a:noFill/>
        </p:spPr>
        <p:txBody>
          <a:bodyPr wrap="square">
            <a:spAutoFit/>
          </a:bodyPr>
          <a:lstStyle/>
          <a:p>
            <a:r>
              <a:rPr lang="en-IN" b="1" dirty="0"/>
              <a:t>high</a:t>
            </a:r>
          </a:p>
        </p:txBody>
      </p:sp>
      <p:sp>
        <p:nvSpPr>
          <p:cNvPr id="92" name="Arrow: Down 91">
            <a:extLst>
              <a:ext uri="{FF2B5EF4-FFF2-40B4-BE49-F238E27FC236}">
                <a16:creationId xmlns:a16="http://schemas.microsoft.com/office/drawing/2014/main" id="{10DD22CB-9ECF-0977-A2AB-5CF422CF925D}"/>
              </a:ext>
            </a:extLst>
          </p:cNvPr>
          <p:cNvSpPr/>
          <p:nvPr/>
        </p:nvSpPr>
        <p:spPr>
          <a:xfrm rot="16200000">
            <a:off x="7563186" y="2969587"/>
            <a:ext cx="149386" cy="366869"/>
          </a:xfrm>
          <a:prstGeom prst="down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TextBox 93">
            <a:extLst>
              <a:ext uri="{FF2B5EF4-FFF2-40B4-BE49-F238E27FC236}">
                <a16:creationId xmlns:a16="http://schemas.microsoft.com/office/drawing/2014/main" id="{97A05908-99FA-2312-F8DC-15E52BE52DFE}"/>
              </a:ext>
            </a:extLst>
          </p:cNvPr>
          <p:cNvSpPr txBox="1"/>
          <p:nvPr/>
        </p:nvSpPr>
        <p:spPr>
          <a:xfrm>
            <a:off x="1986953" y="132486"/>
            <a:ext cx="4994804" cy="538609"/>
          </a:xfrm>
          <a:prstGeom prst="rect">
            <a:avLst/>
          </a:prstGeom>
          <a:noFill/>
        </p:spPr>
        <p:txBody>
          <a:bodyPr wrap="square">
            <a:spAutoFit/>
          </a:bodyPr>
          <a:lstStyle/>
          <a:p>
            <a:pPr algn="ctr"/>
            <a:r>
              <a:rPr lang="en-IN" sz="2900" b="1" dirty="0">
                <a:latin typeface="Times New Roman" panose="02020603050405020304" pitchFamily="18" charset="0"/>
                <a:cs typeface="Times New Roman" panose="02020603050405020304" pitchFamily="18" charset="0"/>
              </a:rPr>
              <a:t>Architecture diagram</a:t>
            </a:r>
          </a:p>
        </p:txBody>
      </p:sp>
    </p:spTree>
    <p:extLst>
      <p:ext uri="{BB962C8B-B14F-4D97-AF65-F5344CB8AC3E}">
        <p14:creationId xmlns:p14="http://schemas.microsoft.com/office/powerpoint/2010/main" val="408967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E072-FEAF-2AB3-5605-110CD9785DF1}"/>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defRPr/>
            </a:pPr>
            <a:r>
              <a:rPr lang="en-IN" dirty="0">
                <a:latin typeface="Times New Roman" panose="02020603050405020304" pitchFamily="18" charset="0"/>
                <a:cs typeface="Times New Roman" panose="02020603050405020304" pitchFamily="18" charset="0"/>
              </a:rPr>
              <a:t>Methodology / Algorithms</a:t>
            </a:r>
            <a:endParaRPr lang="en-US" dirty="0">
              <a:solidFill>
                <a:schemeClr val="dk1"/>
              </a:solidFill>
              <a:latin typeface="Times New Roman" panose="02020603050405020304" pitchFamily="18" charset="0"/>
              <a:cs typeface="Times New Roman" panose="02020603050405020304" pitchFamily="18" charset="0"/>
              <a:sym typeface="Arial"/>
            </a:endParaRPr>
          </a:p>
        </p:txBody>
      </p:sp>
      <p:sp>
        <p:nvSpPr>
          <p:cNvPr id="12291" name="Slide Number Placeholder 2">
            <a:extLst>
              <a:ext uri="{FF2B5EF4-FFF2-40B4-BE49-F238E27FC236}">
                <a16:creationId xmlns:a16="http://schemas.microsoft.com/office/drawing/2014/main" id="{5D4E9857-593F-94E3-B1F5-D6FF21535EE4}"/>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185B2634-3FD6-49B7-832A-3BFA1738CCD2}" type="slidenum">
              <a:rPr lang="en-US" altLang="en-US" sz="1000" smtClean="0">
                <a:solidFill>
                  <a:srgbClr val="595959"/>
                </a:solidFill>
              </a:rPr>
              <a:pPr/>
              <a:t>22</a:t>
            </a:fld>
            <a:endParaRPr lang="en-US" altLang="en-US" sz="1000">
              <a:solidFill>
                <a:srgbClr val="595959"/>
              </a:solidFill>
            </a:endParaRPr>
          </a:p>
        </p:txBody>
      </p:sp>
      <p:sp>
        <p:nvSpPr>
          <p:cNvPr id="3" name="Rectangle 1">
            <a:extLst>
              <a:ext uri="{FF2B5EF4-FFF2-40B4-BE49-F238E27FC236}">
                <a16:creationId xmlns:a16="http://schemas.microsoft.com/office/drawing/2014/main" id="{2F8895B9-7161-1136-E1B2-585352EB8880}"/>
              </a:ext>
            </a:extLst>
          </p:cNvPr>
          <p:cNvSpPr>
            <a:spLocks noGrp="1" noChangeArrowheads="1"/>
          </p:cNvSpPr>
          <p:nvPr>
            <p:ph type="body" sz="quarter" idx="13"/>
          </p:nvPr>
        </p:nvSpPr>
        <p:spPr bwMode="auto">
          <a:xfrm>
            <a:off x="263023" y="580501"/>
            <a:ext cx="861795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ClrTx/>
              <a:buSzTx/>
            </a:pPr>
            <a:r>
              <a:rPr lang="en-US" altLang="en-US" sz="2000" b="1" dirty="0">
                <a:solidFill>
                  <a:schemeClr val="tx1"/>
                </a:solidFill>
                <a:latin typeface="Times New Roman" panose="02020603050405020304" pitchFamily="18" charset="0"/>
                <a:cs typeface="Times New Roman" panose="02020603050405020304" pitchFamily="18" charset="0"/>
              </a:rPr>
              <a:t>Data Collection</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Retinal fundus images are taken from standard datasets such as MESSIDOR and Kaggle Diabetic Retinopathy datasets, which contain images representing different stages of diabetic retinopathy.</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Justification: These datasets are widely used and clinically validated.</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Objective Alignment: Supports reliable severity-level learning.</a:t>
            </a:r>
          </a:p>
          <a:p>
            <a:pPr marL="0" lvl="0" indent="0" algn="just" eaLnBrk="0" fontAlgn="base" hangingPunct="0">
              <a:spcBef>
                <a:spcPct val="0"/>
              </a:spcBef>
              <a:spcAft>
                <a:spcPct val="0"/>
              </a:spcAft>
              <a:buClrTx/>
              <a:buSzTx/>
            </a:pPr>
            <a:r>
              <a:rPr lang="en-US" altLang="en-US" sz="2000" b="1" dirty="0">
                <a:solidFill>
                  <a:schemeClr val="tx1"/>
                </a:solidFill>
                <a:latin typeface="Times New Roman" panose="02020603050405020304" pitchFamily="18" charset="0"/>
                <a:cs typeface="Times New Roman" panose="02020603050405020304" pitchFamily="18" charset="0"/>
              </a:rPr>
              <a:t>Image Preprocessing</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Images are resized, normalized, and enhanced using contrast enhancement techniques such as CLAHE to highlight retinal lesions.</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Justification: Improves visibility of important retinal features.</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Objective Alignment: Enables accurate severity assessment.</a:t>
            </a:r>
          </a:p>
          <a:p>
            <a:pPr marL="0" lvl="0" indent="0" algn="just" eaLnBrk="0" fontAlgn="base" hangingPunct="0">
              <a:spcBef>
                <a:spcPct val="0"/>
              </a:spcBef>
              <a:spcAft>
                <a:spcPct val="0"/>
              </a:spcAft>
              <a:buClrTx/>
              <a:buSzTx/>
            </a:pPr>
            <a:endParaRPr lang="en-US" alt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C90A5-DE16-A1DA-B2FA-15E44D4B81C4}"/>
              </a:ext>
            </a:extLst>
          </p:cNvPr>
          <p:cNvSpPr>
            <a:spLocks noGrp="1"/>
          </p:cNvSpPr>
          <p:nvPr>
            <p:ph type="ctr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Methodology / Algorithms(</a:t>
            </a:r>
            <a:r>
              <a:rPr lang="en-IN" dirty="0" err="1">
                <a:latin typeface="Times New Roman" panose="02020603050405020304" pitchFamily="18" charset="0"/>
                <a:cs typeface="Times New Roman" panose="02020603050405020304" pitchFamily="18" charset="0"/>
              </a:rPr>
              <a:t>Cont</a:t>
            </a:r>
            <a:r>
              <a:rPr lang="en-IN"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2C38F49C-D8A6-9A95-AFC1-829E4F6774EA}"/>
              </a:ext>
            </a:extLst>
          </p:cNvPr>
          <p:cNvSpPr>
            <a:spLocks noGrp="1"/>
          </p:cNvSpPr>
          <p:nvPr>
            <p:ph type="body" sz="quarter" idx="13"/>
          </p:nvPr>
        </p:nvSpPr>
        <p:spPr>
          <a:xfrm>
            <a:off x="190500" y="562380"/>
            <a:ext cx="8763000" cy="4493807"/>
          </a:xfrm>
        </p:spPr>
        <p:txBody>
          <a:bodyPr/>
          <a:lstStyle/>
          <a:p>
            <a:pPr marL="0" lvl="0" indent="0" algn="just" eaLnBrk="0" fontAlgn="base" hangingPunct="0">
              <a:spcBef>
                <a:spcPct val="0"/>
              </a:spcBef>
              <a:spcAft>
                <a:spcPct val="0"/>
              </a:spcAft>
              <a:buClrTx/>
              <a:buSzTx/>
            </a:pPr>
            <a:r>
              <a:rPr lang="en-US" altLang="en-US" sz="2000" b="1" dirty="0">
                <a:solidFill>
                  <a:schemeClr val="tx1"/>
                </a:solidFill>
                <a:latin typeface="Times New Roman" panose="02020603050405020304" pitchFamily="18" charset="0"/>
                <a:cs typeface="Times New Roman" panose="02020603050405020304" pitchFamily="18" charset="0"/>
              </a:rPr>
              <a:t>Feature Learning using Piconet</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Lightweight Piconet-based neural networks are used to learn retinal damage patterns efficiently.</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Justification: Reduces computation and overfitting on limited medical data.</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Objective Alignment: Enables efficient severity prediction.</a:t>
            </a:r>
          </a:p>
          <a:p>
            <a:pPr marL="0" lvl="0" indent="0" algn="just" eaLnBrk="0" fontAlgn="base" hangingPunct="0">
              <a:spcBef>
                <a:spcPct val="0"/>
              </a:spcBef>
              <a:spcAft>
                <a:spcPct val="0"/>
              </a:spcAft>
              <a:buClrTx/>
              <a:buSzTx/>
            </a:pPr>
            <a:r>
              <a:rPr lang="en-US" altLang="en-US" sz="2000" b="1" dirty="0">
                <a:solidFill>
                  <a:schemeClr val="tx1"/>
                </a:solidFill>
                <a:latin typeface="Times New Roman" panose="02020603050405020304" pitchFamily="18" charset="0"/>
                <a:cs typeface="Times New Roman" panose="02020603050405020304" pitchFamily="18" charset="0"/>
              </a:rPr>
              <a:t>Swarm-Based Decision Making</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Multiple Piconets act as independent agents, and their outputs are combined using swarm intelligence.</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Justification: Improves robustness and reduces bias.</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Objective Alignment: Enhances reliability of severity classification.</a:t>
            </a:r>
          </a:p>
          <a:p>
            <a:pPr marL="0" lvl="0" indent="0" algn="just" eaLnBrk="0" fontAlgn="base" hangingPunct="0">
              <a:spcBef>
                <a:spcPct val="0"/>
              </a:spcBef>
              <a:spcAft>
                <a:spcPct val="0"/>
              </a:spcAft>
              <a:buClrTx/>
              <a:buSzTx/>
            </a:pPr>
            <a:r>
              <a:rPr lang="en-US" altLang="en-US" sz="2000" b="1" dirty="0">
                <a:solidFill>
                  <a:schemeClr val="tx1"/>
                </a:solidFill>
                <a:latin typeface="Times New Roman" panose="02020603050405020304" pitchFamily="18" charset="0"/>
                <a:cs typeface="Times New Roman" panose="02020603050405020304" pitchFamily="18" charset="0"/>
              </a:rPr>
              <a:t>Severity Classification</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A multi-class classification approach is used to predict diabetes severity levels.</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Justification: Provides progression-level information instead of binary output.</a:t>
            </a:r>
          </a:p>
          <a:p>
            <a:pPr marL="0" lvl="0" indent="0" algn="just"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Objective Alignment: Directly addresses the research gaps.</a:t>
            </a:r>
          </a:p>
          <a:p>
            <a:pPr marL="0" indent="0" algn="just" eaLnBrk="0" fontAlgn="base" hangingPunct="0">
              <a:spcBef>
                <a:spcPct val="0"/>
              </a:spcBef>
              <a:spcAft>
                <a:spcPct val="0"/>
              </a:spcAft>
              <a:buClrTx/>
              <a:buSz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CF8C58B-3DD2-9414-D560-5852A201E95C}"/>
              </a:ext>
            </a:extLst>
          </p:cNvPr>
          <p:cNvSpPr>
            <a:spLocks noGrp="1"/>
          </p:cNvSpPr>
          <p:nvPr>
            <p:ph type="sldNum" idx="14"/>
          </p:nvPr>
        </p:nvSpPr>
        <p:spPr/>
        <p:txBody>
          <a:bodyPr/>
          <a:lstStyle/>
          <a:p>
            <a:pPr>
              <a:defRPr/>
            </a:pPr>
            <a:fld id="{EF26C623-DE27-4A99-8424-AFD36C142E5A}" type="slidenum">
              <a:rPr lang="en-US" altLang="en-US" smtClean="0"/>
              <a:pPr>
                <a:defRPr/>
              </a:pPr>
              <a:t>23</a:t>
            </a:fld>
            <a:endParaRPr lang="en-US" altLang="en-US"/>
          </a:p>
        </p:txBody>
      </p:sp>
    </p:spTree>
    <p:extLst>
      <p:ext uri="{BB962C8B-B14F-4D97-AF65-F5344CB8AC3E}">
        <p14:creationId xmlns:p14="http://schemas.microsoft.com/office/powerpoint/2010/main" val="4193897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8149-48D4-2E95-725A-F197355F92C8}"/>
              </a:ext>
            </a:extLst>
          </p:cNvPr>
          <p:cNvSpPr>
            <a:spLocks noGrp="1"/>
          </p:cNvSpPr>
          <p:nvPr>
            <p:ph type="ctrTitle"/>
          </p:nvPr>
        </p:nvSpPr>
        <p:spPr>
          <a:xfrm>
            <a:off x="0" y="0"/>
            <a:ext cx="9144000" cy="649288"/>
          </a:xfrm>
        </p:spPr>
        <p:txBody>
          <a:bodyPr>
            <a:normAutofit fontScale="90000"/>
          </a:bodyPr>
          <a:lstStyle/>
          <a:p>
            <a:pPr eaLnBrk="1" fontAlgn="auto" hangingPunct="1">
              <a:buClr>
                <a:schemeClr val="dk1"/>
              </a:buClr>
              <a:buFont typeface="Arial"/>
              <a:buNone/>
              <a:defRPr/>
            </a:pPr>
            <a:r>
              <a:rPr lang="en-US" dirty="0">
                <a:solidFill>
                  <a:schemeClr val="dk1"/>
                </a:solidFill>
                <a:latin typeface="Times New Roman" panose="02020603050405020304" pitchFamily="18" charset="0"/>
                <a:cs typeface="Times New Roman" panose="02020603050405020304" pitchFamily="18" charset="0"/>
                <a:sym typeface="Arial"/>
              </a:rPr>
              <a:t>Software and Hardware Requirements</a:t>
            </a:r>
          </a:p>
        </p:txBody>
      </p:sp>
      <p:sp>
        <p:nvSpPr>
          <p:cNvPr id="13315" name="Slide Number Placeholder 2">
            <a:extLst>
              <a:ext uri="{FF2B5EF4-FFF2-40B4-BE49-F238E27FC236}">
                <a16:creationId xmlns:a16="http://schemas.microsoft.com/office/drawing/2014/main" id="{EBEB7F36-444A-9B89-4FBD-32EA7AA6C0D9}"/>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59822C0A-A6BE-4604-9F79-E3C97FB3A7A3}" type="slidenum">
              <a:rPr lang="en-US" altLang="en-US" sz="1000" smtClean="0">
                <a:solidFill>
                  <a:srgbClr val="595959"/>
                </a:solidFill>
              </a:rPr>
              <a:pPr/>
              <a:t>24</a:t>
            </a:fld>
            <a:endParaRPr lang="en-US" altLang="en-US" sz="1000">
              <a:solidFill>
                <a:srgbClr val="595959"/>
              </a:solidFill>
            </a:endParaRPr>
          </a:p>
        </p:txBody>
      </p:sp>
      <p:graphicFrame>
        <p:nvGraphicFramePr>
          <p:cNvPr id="6" name="Table 5">
            <a:extLst>
              <a:ext uri="{FF2B5EF4-FFF2-40B4-BE49-F238E27FC236}">
                <a16:creationId xmlns:a16="http://schemas.microsoft.com/office/drawing/2014/main" id="{F7ED0FAA-E9A4-5CD3-9C79-FF70B985750E}"/>
              </a:ext>
            </a:extLst>
          </p:cNvPr>
          <p:cNvGraphicFramePr>
            <a:graphicFrameLocks noGrp="1"/>
          </p:cNvGraphicFramePr>
          <p:nvPr>
            <p:extLst>
              <p:ext uri="{D42A27DB-BD31-4B8C-83A1-F6EECF244321}">
                <p14:modId xmlns:p14="http://schemas.microsoft.com/office/powerpoint/2010/main" val="1088233713"/>
              </p:ext>
            </p:extLst>
          </p:nvPr>
        </p:nvGraphicFramePr>
        <p:xfrm>
          <a:off x="504825" y="1571625"/>
          <a:ext cx="8175626" cy="3169860"/>
        </p:xfrm>
        <a:graphic>
          <a:graphicData uri="http://schemas.openxmlformats.org/drawingml/2006/table">
            <a:tbl>
              <a:tblPr firstRow="1" bandRow="1">
                <a:tableStyleId>{5C22544A-7EE6-4342-B048-85BDC9FD1C3A}</a:tableStyleId>
              </a:tblPr>
              <a:tblGrid>
                <a:gridCol w="4087813">
                  <a:extLst>
                    <a:ext uri="{9D8B030D-6E8A-4147-A177-3AD203B41FA5}">
                      <a16:colId xmlns:a16="http://schemas.microsoft.com/office/drawing/2014/main" val="20000"/>
                    </a:ext>
                  </a:extLst>
                </a:gridCol>
                <a:gridCol w="4087813">
                  <a:extLst>
                    <a:ext uri="{9D8B030D-6E8A-4147-A177-3AD203B41FA5}">
                      <a16:colId xmlns:a16="http://schemas.microsoft.com/office/drawing/2014/main" val="20001"/>
                    </a:ext>
                  </a:extLst>
                </a:gridCol>
              </a:tblGrid>
              <a:tr h="304678">
                <a:tc>
                  <a:txBody>
                    <a:bodyPr/>
                    <a:lstStyle/>
                    <a:p>
                      <a:pPr algn="ctr"/>
                      <a:r>
                        <a:rPr lang="en-US" sz="1400" dirty="0">
                          <a:solidFill>
                            <a:srgbClr val="FFFF00"/>
                          </a:solidFill>
                        </a:rPr>
                        <a:t>SOFTWARE</a:t>
                      </a:r>
                    </a:p>
                  </a:txBody>
                  <a:tcPr marL="91448" marR="91448" marT="45705" marB="45705" anchor="ctr"/>
                </a:tc>
                <a:tc>
                  <a:txBody>
                    <a:bodyPr/>
                    <a:lstStyle/>
                    <a:p>
                      <a:pPr algn="ctr"/>
                      <a:r>
                        <a:rPr lang="en-US" sz="1400" dirty="0">
                          <a:solidFill>
                            <a:srgbClr val="FFFF00"/>
                          </a:solidFill>
                        </a:rPr>
                        <a:t>HARDWARE</a:t>
                      </a:r>
                    </a:p>
                  </a:txBody>
                  <a:tcPr marL="91448" marR="91448" marT="45705" marB="45705" anchor="ctr"/>
                </a:tc>
                <a:extLst>
                  <a:ext uri="{0D108BD9-81ED-4DB2-BD59-A6C34878D82A}">
                    <a16:rowId xmlns:a16="http://schemas.microsoft.com/office/drawing/2014/main" val="10000"/>
                  </a:ext>
                </a:extLst>
              </a:tr>
              <a:tr h="2379785">
                <a:tc>
                  <a:txBody>
                    <a:bodyPr/>
                    <a:lstStyle/>
                    <a:p>
                      <a:r>
                        <a:rPr lang="en-IN" b="1" dirty="0"/>
                        <a:t>Operating System</a:t>
                      </a:r>
                      <a:r>
                        <a:rPr lang="en-IN" dirty="0"/>
                        <a:t>: Windows 10 </a:t>
                      </a:r>
                    </a:p>
                    <a:p>
                      <a:r>
                        <a:rPr lang="en-IN" b="1" dirty="0"/>
                        <a:t>Programming Language</a:t>
                      </a:r>
                      <a:r>
                        <a:rPr lang="en-IN" dirty="0"/>
                        <a:t>: Python </a:t>
                      </a:r>
                    </a:p>
                    <a:p>
                      <a:r>
                        <a:rPr lang="en-IN" b="1" dirty="0"/>
                        <a:t>Development Environment</a:t>
                      </a:r>
                      <a:r>
                        <a:rPr lang="en-IN" dirty="0"/>
                        <a:t>: </a:t>
                      </a:r>
                      <a:r>
                        <a:rPr lang="en-IN" dirty="0" err="1"/>
                        <a:t>Jupyter</a:t>
                      </a:r>
                      <a:r>
                        <a:rPr lang="en-IN" dirty="0"/>
                        <a:t> Notebook / PyCharm </a:t>
                      </a:r>
                    </a:p>
                    <a:p>
                      <a:r>
                        <a:rPr lang="en-IN" b="1" dirty="0"/>
                        <a:t>Libraries &amp; Frameworks</a:t>
                      </a:r>
                      <a:r>
                        <a:rPr lang="en-IN" dirty="0"/>
                        <a:t>:</a:t>
                      </a:r>
                    </a:p>
                    <a:p>
                      <a:r>
                        <a:rPr lang="en-IN" dirty="0"/>
                        <a:t>OpenCV (image processing)</a:t>
                      </a:r>
                    </a:p>
                    <a:p>
                      <a:r>
                        <a:rPr lang="en-IN" dirty="0"/>
                        <a:t>NumPy, Pandas (data handling)</a:t>
                      </a:r>
                    </a:p>
                    <a:p>
                      <a:r>
                        <a:rPr lang="en-IN" dirty="0"/>
                        <a:t>TensorFlow / </a:t>
                      </a:r>
                      <a:r>
                        <a:rPr lang="en-IN" dirty="0" err="1"/>
                        <a:t>PyTorch</a:t>
                      </a:r>
                      <a:r>
                        <a:rPr lang="en-IN" dirty="0"/>
                        <a:t> (deep learning)</a:t>
                      </a:r>
                    </a:p>
                    <a:p>
                      <a:r>
                        <a:rPr lang="en-IN" dirty="0"/>
                        <a:t>Scikit-learn (evaluation and utilities)</a:t>
                      </a:r>
                    </a:p>
                    <a:p>
                      <a:r>
                        <a:rPr lang="en-IN" b="1" dirty="0"/>
                        <a:t>Dataset Sources</a:t>
                      </a:r>
                      <a:r>
                        <a:rPr lang="en-IN" dirty="0"/>
                        <a:t>:</a:t>
                      </a:r>
                    </a:p>
                    <a:p>
                      <a:r>
                        <a:rPr lang="en-IN" dirty="0"/>
                        <a:t>MESSIDOR</a:t>
                      </a:r>
                    </a:p>
                    <a:p>
                      <a:r>
                        <a:rPr lang="en-IN" dirty="0"/>
                        <a:t>Kaggle Diabetic Retinopathy Dataset</a:t>
                      </a:r>
                    </a:p>
                    <a:p>
                      <a:endParaRPr lang="en-US" sz="1400" dirty="0"/>
                    </a:p>
                  </a:txBody>
                  <a:tcPr marL="91448" marR="91448" marT="45705" marB="45705"/>
                </a:tc>
                <a:tc>
                  <a:txBody>
                    <a:bodyPr/>
                    <a:lstStyle/>
                    <a:p>
                      <a:r>
                        <a:rPr lang="en-IN" b="1" dirty="0"/>
                        <a:t>Processor</a:t>
                      </a:r>
                      <a:r>
                        <a:rPr lang="en-IN" dirty="0"/>
                        <a:t>: Intel i5 or higher</a:t>
                      </a:r>
                    </a:p>
                    <a:p>
                      <a:r>
                        <a:rPr lang="en-IN" b="1" dirty="0"/>
                        <a:t>Memory (RAM)</a:t>
                      </a:r>
                      <a:r>
                        <a:rPr lang="en-IN" dirty="0"/>
                        <a:t>: Minimum 8 GB (16 GB recommended)</a:t>
                      </a:r>
                    </a:p>
                    <a:p>
                      <a:r>
                        <a:rPr lang="en-IN" b="1" dirty="0"/>
                        <a:t>Storage</a:t>
                      </a:r>
                      <a:r>
                        <a:rPr lang="en-IN" dirty="0"/>
                        <a:t>: Minimum 20 GB free disk space</a:t>
                      </a:r>
                    </a:p>
                    <a:p>
                      <a:r>
                        <a:rPr lang="en-IN" b="1" dirty="0"/>
                        <a:t>Input Devices</a:t>
                      </a:r>
                      <a:r>
                        <a:rPr lang="en-IN" dirty="0"/>
                        <a:t>: Keyboard and Mouse</a:t>
                      </a:r>
                    </a:p>
                    <a:p>
                      <a:r>
                        <a:rPr lang="en-IN" b="1" dirty="0"/>
                        <a:t>Output Device</a:t>
                      </a:r>
                      <a:r>
                        <a:rPr lang="en-IN" dirty="0"/>
                        <a:t>: Monitor</a:t>
                      </a:r>
                    </a:p>
                    <a:p>
                      <a:endParaRPr lang="en-US" sz="1400" dirty="0"/>
                    </a:p>
                  </a:txBody>
                  <a:tcPr marL="91448" marR="91448" marT="45705" marB="45705"/>
                </a:tc>
                <a:extLst>
                  <a:ext uri="{0D108BD9-81ED-4DB2-BD59-A6C34878D82A}">
                    <a16:rowId xmlns:a16="http://schemas.microsoft.com/office/drawing/2014/main" val="1000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3D383-7C2E-175D-CF39-99054404C8DC}"/>
              </a:ext>
            </a:extLst>
          </p:cNvPr>
          <p:cNvSpPr>
            <a:spLocks noGrp="1"/>
          </p:cNvSpPr>
          <p:nvPr>
            <p:ph type="ctrTitle"/>
          </p:nvPr>
        </p:nvSpPr>
        <p:spPr>
          <a:xfrm>
            <a:off x="0" y="0"/>
            <a:ext cx="9144000" cy="649288"/>
          </a:xfrm>
        </p:spPr>
        <p:txBody>
          <a:bodyPr>
            <a:normAutofit fontScale="90000"/>
          </a:bodyPr>
          <a:lstStyle/>
          <a:p>
            <a:pPr algn="l">
              <a:defRPr/>
            </a:pPr>
            <a:r>
              <a:rPr lang="en-US" dirty="0"/>
              <a:t>Datasets Details</a:t>
            </a:r>
          </a:p>
        </p:txBody>
      </p:sp>
      <p:sp>
        <p:nvSpPr>
          <p:cNvPr id="3" name="Text Placeholder 2">
            <a:extLst>
              <a:ext uri="{FF2B5EF4-FFF2-40B4-BE49-F238E27FC236}">
                <a16:creationId xmlns:a16="http://schemas.microsoft.com/office/drawing/2014/main" id="{CC669247-AE56-0F1C-7920-5A070ED37EF9}"/>
              </a:ext>
            </a:extLst>
          </p:cNvPr>
          <p:cNvSpPr>
            <a:spLocks noGrp="1"/>
          </p:cNvSpPr>
          <p:nvPr>
            <p:ph type="body" sz="quarter" idx="13"/>
          </p:nvPr>
        </p:nvSpPr>
        <p:spPr/>
        <p:txBody>
          <a:bodyPr/>
          <a:lstStyle/>
          <a:p>
            <a:pPr marL="0" indent="0">
              <a:buFont typeface="Courier New" panose="02070309020205020404" pitchFamily="49" charset="0"/>
              <a:buChar char="o"/>
              <a:defRPr/>
            </a:pPr>
            <a:r>
              <a:rPr lang="en-US" altLang="en-US" dirty="0">
                <a:solidFill>
                  <a:srgbClr val="FF0000"/>
                </a:solidFill>
                <a:cs typeface="Arial" panose="020B0604020202020204" pitchFamily="34" charset="0"/>
              </a:rPr>
              <a:t>Mention the dataset sources with their links</a:t>
            </a:r>
          </a:p>
          <a:p>
            <a:pPr marL="0" indent="0">
              <a:buFont typeface="Courier New" panose="02070309020205020404" pitchFamily="49" charset="0"/>
              <a:buChar char="o"/>
              <a:defRPr/>
            </a:pPr>
            <a:r>
              <a:rPr lang="en-US" altLang="en-US" dirty="0">
                <a:solidFill>
                  <a:srgbClr val="FF0000"/>
                </a:solidFill>
                <a:cs typeface="Arial" panose="020B0604020202020204" pitchFamily="34" charset="0"/>
              </a:rPr>
              <a:t>Size of the dataset</a:t>
            </a:r>
          </a:p>
          <a:p>
            <a:pPr marL="0" indent="0">
              <a:buFont typeface="Courier New" panose="02070309020205020404" pitchFamily="49" charset="0"/>
              <a:buChar char="o"/>
              <a:defRPr/>
            </a:pPr>
            <a:r>
              <a:rPr lang="en-US" altLang="en-US" dirty="0">
                <a:solidFill>
                  <a:srgbClr val="FF0000"/>
                </a:solidFill>
                <a:cs typeface="Arial" panose="020B0604020202020204" pitchFamily="34" charset="0"/>
              </a:rPr>
              <a:t>Fields/Attributes of the datasets</a:t>
            </a:r>
          </a:p>
        </p:txBody>
      </p:sp>
      <p:sp>
        <p:nvSpPr>
          <p:cNvPr id="14340" name="Slide Number Placeholder 3">
            <a:extLst>
              <a:ext uri="{FF2B5EF4-FFF2-40B4-BE49-F238E27FC236}">
                <a16:creationId xmlns:a16="http://schemas.microsoft.com/office/drawing/2014/main" id="{0CDA1D8E-9DE7-9299-8603-468CCDC455AD}"/>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DA2FB1D4-4E4D-4581-89B2-8F96AFD91271}" type="slidenum">
              <a:rPr lang="en-US" altLang="en-US" sz="1000" smtClean="0">
                <a:solidFill>
                  <a:srgbClr val="595959"/>
                </a:solidFill>
              </a:rPr>
              <a:pPr/>
              <a:t>25</a:t>
            </a:fld>
            <a:endParaRPr lang="en-US" altLang="en-US" sz="1000">
              <a:solidFill>
                <a:srgbClr val="59595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949F9-A49E-82EB-11EF-264C875DCED9}"/>
              </a:ext>
            </a:extLst>
          </p:cNvPr>
          <p:cNvSpPr>
            <a:spLocks noGrp="1"/>
          </p:cNvSpPr>
          <p:nvPr>
            <p:ph type="ctrTitle"/>
          </p:nvPr>
        </p:nvSpPr>
        <p:spPr>
          <a:xfrm>
            <a:off x="0" y="0"/>
            <a:ext cx="9144000" cy="649288"/>
          </a:xfrm>
        </p:spPr>
        <p:txBody>
          <a:bodyPr>
            <a:normAutofit fontScale="90000"/>
          </a:bodyPr>
          <a:lstStyle/>
          <a:p>
            <a:pPr algn="l" eaLnBrk="1" fontAlgn="auto" hangingPunct="1">
              <a:buClr>
                <a:schemeClr val="dk1"/>
              </a:buClr>
              <a:defRPr/>
            </a:pPr>
            <a:r>
              <a:rPr lang="en-IN" dirty="0"/>
              <a:t>Expected outcomes</a:t>
            </a:r>
            <a:endParaRPr lang="en-US" dirty="0">
              <a:solidFill>
                <a:schemeClr val="dk1"/>
              </a:solidFill>
              <a:sym typeface="Arial"/>
            </a:endParaRPr>
          </a:p>
        </p:txBody>
      </p:sp>
      <p:sp>
        <p:nvSpPr>
          <p:cNvPr id="15363" name="Slide Number Placeholder 2">
            <a:extLst>
              <a:ext uri="{FF2B5EF4-FFF2-40B4-BE49-F238E27FC236}">
                <a16:creationId xmlns:a16="http://schemas.microsoft.com/office/drawing/2014/main" id="{38BB02C5-DDED-0B80-36F8-8FEE4975352A}"/>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A25ADA8-7A6A-4421-9CC4-CF7D0F879A14}" type="slidenum">
              <a:rPr lang="en-US" altLang="en-US" sz="1000" smtClean="0">
                <a:solidFill>
                  <a:srgbClr val="595959"/>
                </a:solidFill>
              </a:rPr>
              <a:pPr/>
              <a:t>26</a:t>
            </a:fld>
            <a:endParaRPr lang="en-US" altLang="en-US" sz="1000">
              <a:solidFill>
                <a:srgbClr val="595959"/>
              </a:solidFill>
            </a:endParaRPr>
          </a:p>
        </p:txBody>
      </p:sp>
      <p:sp>
        <p:nvSpPr>
          <p:cNvPr id="3" name="Rectangle 1">
            <a:extLst>
              <a:ext uri="{FF2B5EF4-FFF2-40B4-BE49-F238E27FC236}">
                <a16:creationId xmlns:a16="http://schemas.microsoft.com/office/drawing/2014/main" id="{E878EC8C-8BA2-B145-7D29-E208902D88C9}"/>
              </a:ext>
            </a:extLst>
          </p:cNvPr>
          <p:cNvSpPr>
            <a:spLocks noGrp="1" noChangeArrowheads="1"/>
          </p:cNvSpPr>
          <p:nvPr>
            <p:ph type="body" sz="quarter" idx="13"/>
          </p:nvPr>
        </p:nvSpPr>
        <p:spPr bwMode="auto">
          <a:xfrm>
            <a:off x="232944" y="552473"/>
            <a:ext cx="8678111"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ClrTx/>
              <a:buSz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Improved Classification Accuracy</a:t>
            </a:r>
          </a:p>
          <a:p>
            <a:pPr marL="0" lvl="0" indent="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The proposed system is expected to achieve higher accuracy in predicting diabetes severity compared to binary DR detection systems by effectively utilizing retinal damage patterns.</a:t>
            </a:r>
          </a:p>
          <a:p>
            <a:pPr marL="0" lvl="0" indent="0" algn="just" eaLnBrk="0" fontAlgn="base" hangingPunct="0">
              <a:spcBef>
                <a:spcPct val="0"/>
              </a:spcBef>
              <a:spcAft>
                <a:spcPct val="0"/>
              </a:spcAft>
              <a:buClrTx/>
              <a:buSz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Reduced Computational Overhead</a:t>
            </a:r>
          </a:p>
          <a:p>
            <a:pPr marL="0" lvl="0" indent="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Due to the use of lightweight Piconet models, the system is expected to reduce computational cost and memory usage by approximately 25–30% compared to traditional CNN-based pipelines.</a:t>
            </a:r>
          </a:p>
          <a:p>
            <a:pPr marL="0" lvl="0" indent="0" algn="just" eaLnBrk="0" fontAlgn="base" hangingPunct="0">
              <a:spcBef>
                <a:spcPct val="0"/>
              </a:spcBef>
              <a:spcAft>
                <a:spcPct val="0"/>
              </a:spcAft>
              <a:buClrTx/>
              <a:buSz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Efficient Training and Inference</a:t>
            </a:r>
          </a:p>
          <a:p>
            <a:pPr marL="0" lvl="0" indent="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The model is expected to provide faster training and prediction times, making it suitable for real-time and low-resource clinical environments.</a:t>
            </a:r>
          </a:p>
          <a:p>
            <a:pPr marL="0" lvl="0" indent="0" algn="just" eaLnBrk="0" fontAlgn="base" hangingPunct="0">
              <a:spcBef>
                <a:spcPct val="0"/>
              </a:spcBef>
              <a:spcAft>
                <a:spcPct val="0"/>
              </a:spcAft>
              <a:buClrTx/>
              <a:buSz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Robust and Reliable Predictions</a:t>
            </a:r>
          </a:p>
          <a:p>
            <a:pPr marL="0" lvl="0" indent="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The swarm-based decision mechanism is expected to improve robustness and reduce prediction errors caused by noise or dataset imbalance.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9916C-69A2-5E72-A1D9-797F18C67A34}"/>
              </a:ext>
            </a:extLst>
          </p:cNvPr>
          <p:cNvSpPr>
            <a:spLocks noGrp="1"/>
          </p:cNvSpPr>
          <p:nvPr>
            <p:ph type="ctrTitle"/>
          </p:nvPr>
        </p:nvSpPr>
        <p:spPr>
          <a:xfrm>
            <a:off x="0" y="0"/>
            <a:ext cx="9144000" cy="649288"/>
          </a:xfrm>
        </p:spPr>
        <p:txBody>
          <a:bodyPr>
            <a:normAutofit fontScale="90000"/>
          </a:bodyPr>
          <a:lstStyle/>
          <a:p>
            <a:pPr algn="l" eaLnBrk="1" fontAlgn="auto" hangingPunct="1">
              <a:buClr>
                <a:schemeClr val="dk1"/>
              </a:buClr>
              <a:buFont typeface="Arial"/>
              <a:buNone/>
              <a:defRPr/>
            </a:pPr>
            <a:r>
              <a:rPr lang="en-US" dirty="0">
                <a:solidFill>
                  <a:schemeClr val="dk1"/>
                </a:solidFill>
                <a:sym typeface="Arial"/>
              </a:rPr>
              <a:t>References</a:t>
            </a:r>
          </a:p>
        </p:txBody>
      </p:sp>
      <p:sp>
        <p:nvSpPr>
          <p:cNvPr id="16387" name="Slide Number Placeholder 2">
            <a:extLst>
              <a:ext uri="{FF2B5EF4-FFF2-40B4-BE49-F238E27FC236}">
                <a16:creationId xmlns:a16="http://schemas.microsoft.com/office/drawing/2014/main" id="{2D47A46F-932E-501F-546C-220DDE4F4E2B}"/>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550D7C54-6C64-41E2-B82A-E8802AC4AB7A}" type="slidenum">
              <a:rPr lang="en-US" altLang="en-US" sz="1000" smtClean="0">
                <a:solidFill>
                  <a:srgbClr val="595959"/>
                </a:solidFill>
              </a:rPr>
              <a:pPr/>
              <a:t>27</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C3FF41DD-EA2B-191D-835D-25DD4F12341D}"/>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r>
              <a:rPr lang="en-US" dirty="0">
                <a:solidFill>
                  <a:srgbClr val="333333"/>
                </a:solidFill>
                <a:cs typeface="Times New Roman" panose="02020603050405020304" pitchFamily="18" charset="0"/>
                <a:sym typeface="Arial"/>
              </a:rPr>
              <a:t>Example:</a:t>
            </a:r>
          </a:p>
          <a:p>
            <a:pPr marL="457200" eaLnBrk="1" fontAlgn="auto" hangingPunct="1">
              <a:lnSpc>
                <a:spcPct val="115000"/>
              </a:lnSpc>
              <a:spcBef>
                <a:spcPts val="0"/>
              </a:spcBef>
              <a:spcAft>
                <a:spcPts val="0"/>
              </a:spcAft>
              <a:buClr>
                <a:schemeClr val="dk2"/>
              </a:buClr>
              <a:buSzPts val="1800"/>
              <a:buFont typeface="Arial"/>
              <a:buChar char="●"/>
              <a:defRPr/>
            </a:pPr>
            <a:r>
              <a:rPr lang="en-US" dirty="0">
                <a:solidFill>
                  <a:srgbClr val="00B0F0"/>
                </a:solidFill>
                <a:cs typeface="Times New Roman" panose="02020603050405020304" pitchFamily="18" charset="0"/>
                <a:sym typeface="Arial"/>
              </a:rPr>
              <a:t>A. B. </a:t>
            </a:r>
            <a:r>
              <a:rPr lang="en-US" dirty="0" err="1">
                <a:solidFill>
                  <a:srgbClr val="00B0F0"/>
                </a:solidFill>
                <a:cs typeface="Times New Roman" panose="02020603050405020304" pitchFamily="18" charset="0"/>
                <a:sym typeface="Arial"/>
              </a:rPr>
              <a:t>Amjoud</a:t>
            </a:r>
            <a:r>
              <a:rPr lang="en-US" dirty="0">
                <a:solidFill>
                  <a:srgbClr val="00B0F0"/>
                </a:solidFill>
                <a:cs typeface="Times New Roman" panose="02020603050405020304" pitchFamily="18" charset="0"/>
                <a:sym typeface="Arial"/>
              </a:rPr>
              <a:t> and M. </a:t>
            </a:r>
            <a:r>
              <a:rPr lang="en-US" dirty="0" err="1">
                <a:solidFill>
                  <a:srgbClr val="00B0F0"/>
                </a:solidFill>
                <a:cs typeface="Times New Roman" panose="02020603050405020304" pitchFamily="18" charset="0"/>
                <a:sym typeface="Arial"/>
              </a:rPr>
              <a:t>Amrouch</a:t>
            </a:r>
            <a:r>
              <a:rPr lang="en-US" dirty="0">
                <a:solidFill>
                  <a:srgbClr val="00B0F0"/>
                </a:solidFill>
                <a:cs typeface="Times New Roman" panose="02020603050405020304" pitchFamily="18" charset="0"/>
                <a:sym typeface="Arial"/>
              </a:rPr>
              <a:t>, "Object Detection Using Deep Learning, CNNs and Vision Transformers: A Review," in </a:t>
            </a:r>
            <a:r>
              <a:rPr lang="en-US" i="1" dirty="0">
                <a:solidFill>
                  <a:srgbClr val="00B0F0"/>
                </a:solidFill>
                <a:cs typeface="Times New Roman" panose="02020603050405020304" pitchFamily="18" charset="0"/>
                <a:sym typeface="Arial"/>
              </a:rPr>
              <a:t>IEEE Access</a:t>
            </a:r>
            <a:r>
              <a:rPr lang="en-US" dirty="0">
                <a:solidFill>
                  <a:srgbClr val="00B0F0"/>
                </a:solidFill>
                <a:cs typeface="Times New Roman" panose="02020603050405020304" pitchFamily="18" charset="0"/>
                <a:sym typeface="Arial"/>
              </a:rPr>
              <a:t>, vol. 11, pp. 35479-35516, 2023</a:t>
            </a:r>
          </a:p>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rgbClr val="FF0000"/>
              </a:solidFil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84" name="Google Shape;84;p1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28</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4454</TotalTime>
  <Words>2592</Words>
  <Application>Microsoft Office PowerPoint</Application>
  <PresentationFormat>On-screen Show (16:9)</PresentationFormat>
  <Paragraphs>387</Paragraphs>
  <Slides>28</Slides>
  <Notes>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28</vt:i4>
      </vt:variant>
    </vt:vector>
  </HeadingPairs>
  <TitlesOfParts>
    <vt:vector size="33" baseType="lpstr">
      <vt:lpstr>Arial</vt:lpstr>
      <vt:lpstr>Courier New</vt:lpstr>
      <vt:lpstr>Times New Roman</vt:lpstr>
      <vt:lpstr>2_Simple Light</vt:lpstr>
      <vt:lpstr>1_Simple Light</vt:lpstr>
      <vt:lpstr>    Gokaraju Rangaraju Institute of Engineering and Technology  (Autonomous) Department of Data Science  Mini Project Work (CSE(DS))</vt:lpstr>
      <vt:lpstr>Diabetes Severity Prediction using  Retinal Images  </vt:lpstr>
      <vt:lpstr>Introduction</vt:lpstr>
      <vt:lpstr>Literature review:</vt:lpstr>
      <vt:lpstr>Literature review(Cont…):</vt:lpstr>
      <vt:lpstr>Literature review(Cont…):</vt:lpstr>
      <vt:lpstr>Literature review(Cont…):</vt:lpstr>
      <vt:lpstr>Literature review(Cont…):</vt:lpstr>
      <vt:lpstr>Literature review(Cont…):</vt:lpstr>
      <vt:lpstr>Literature review(Cont…):</vt:lpstr>
      <vt:lpstr>Literature review(Cont…):</vt:lpstr>
      <vt:lpstr>Literature review(Cont…):</vt:lpstr>
      <vt:lpstr>Literature review(Cont…):</vt:lpstr>
      <vt:lpstr>Literature Review Summery</vt:lpstr>
      <vt:lpstr>Literature Review Summery(Cont…)</vt:lpstr>
      <vt:lpstr>Literature Review Summery(Cont…)</vt:lpstr>
      <vt:lpstr>Research Gaps</vt:lpstr>
      <vt:lpstr>Problem statement</vt:lpstr>
      <vt:lpstr>Objectives</vt:lpstr>
      <vt:lpstr>Proposed Solution</vt:lpstr>
      <vt:lpstr>PowerPoint Presentation</vt:lpstr>
      <vt:lpstr>Methodology / Algorithms</vt:lpstr>
      <vt:lpstr>Methodology / Algorithms(Cont…)</vt:lpstr>
      <vt:lpstr>Software and Hardware Requirements</vt:lpstr>
      <vt:lpstr>Datasets Details</vt:lpstr>
      <vt:lpstr>Expected outcomes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dc:creator>
  <cp:lastModifiedBy>Shivani P</cp:lastModifiedBy>
  <cp:revision>10</cp:revision>
  <dcterms:modified xsi:type="dcterms:W3CDTF">2026-02-03T13:10:58Z</dcterms:modified>
</cp:coreProperties>
</file>