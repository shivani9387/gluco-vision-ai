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 id="2147483650" r:id="rId2"/>
  </p:sldMasterIdLst>
  <p:notesMasterIdLst>
    <p:notesMasterId r:id="rId29"/>
  </p:notesMasterIdLst>
  <p:sldIdLst>
    <p:sldId id="256" r:id="rId3"/>
    <p:sldId id="257" r:id="rId4"/>
    <p:sldId id="258" r:id="rId5"/>
    <p:sldId id="267" r:id="rId6"/>
    <p:sldId id="266" r:id="rId7"/>
    <p:sldId id="265" r:id="rId8"/>
    <p:sldId id="268" r:id="rId9"/>
    <p:sldId id="277" r:id="rId10"/>
    <p:sldId id="269" r:id="rId11"/>
    <p:sldId id="278" r:id="rId12"/>
    <p:sldId id="270" r:id="rId13"/>
    <p:sldId id="279" r:id="rId14"/>
    <p:sldId id="280" r:id="rId15"/>
    <p:sldId id="281" r:id="rId16"/>
    <p:sldId id="282" r:id="rId17"/>
    <p:sldId id="283" r:id="rId18"/>
    <p:sldId id="284" r:id="rId19"/>
    <p:sldId id="285" r:id="rId20"/>
    <p:sldId id="286" r:id="rId21"/>
    <p:sldId id="273" r:id="rId22"/>
    <p:sldId id="287" r:id="rId23"/>
    <p:sldId id="288" r:id="rId24"/>
    <p:sldId id="274" r:id="rId25"/>
    <p:sldId id="275" r:id="rId26"/>
    <p:sldId id="276" r:id="rId27"/>
    <p:sldId id="264" r:id="rId2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gZpxF7Zee30fhjMZJOO9uuOAEd3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432ED2-B281-415D-ACA4-65F2E4FDC57C}" v="124" dt="2026-01-29T19:32:41.5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customschemas.google.com/relationships/presentationmetadata" Target="metadata"/><Relationship Id="rId35" Type="http://schemas.microsoft.com/office/2015/10/relationships/revisionInfo" Target="revisionInfo.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
        <p:cNvGrpSpPr/>
        <p:nvPr/>
      </p:nvGrpSpPr>
      <p:grpSpPr>
        <a:xfrm>
          <a:off x="0" y="0"/>
          <a:ext cx="0" cy="0"/>
          <a:chOff x="0" y="0"/>
          <a:chExt cx="0" cy="0"/>
        </a:xfrm>
      </p:grpSpPr>
      <p:sp>
        <p:nvSpPr>
          <p:cNvPr id="25" name="Google Shape;2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 name="Google Shape;26;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
        <p:cNvGrpSpPr/>
        <p:nvPr/>
      </p:nvGrpSpPr>
      <p:grpSpPr>
        <a:xfrm>
          <a:off x="0" y="0"/>
          <a:ext cx="0" cy="0"/>
          <a:chOff x="0" y="0"/>
          <a:chExt cx="0" cy="0"/>
        </a:xfrm>
      </p:grpSpPr>
      <p:sp>
        <p:nvSpPr>
          <p:cNvPr id="34" name="Google Shape;3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7C99AC8-EF08-282A-A2E0-D6DF74101357}"/>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9C229BED-1BB5-57D9-2932-B80BE08FF2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3625112-74E6-170E-5CDA-654345D55B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8876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9D7ABC62-9142-7DBD-7AAD-05B480922931}"/>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63CFBE5F-882C-8B47-21D1-ECC4350DF2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A5AC307E-ACA7-70C5-DE6C-C120E7634B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7379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25419F01-795C-326D-9612-FAE678EFF2D0}"/>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1340AA6E-C1D2-A3B3-2BD0-3F0BC4A1FB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8D97872-FC62-DFCD-8119-F2CD8E65634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344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2DA4628B-2F5C-77DB-FC04-61B728E7D960}"/>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55CB359-6BFF-AB7C-2E16-EB389103AF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71CA81CF-41AB-51A0-F1D9-9C5C23FE161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9425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BE494A95-AD9D-F9AC-F7EC-4F4E9F131C6E}"/>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EC24FED3-3712-51AC-33D2-5EA64D938B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B211182-EC8A-C754-FD59-8231086EE1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8259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7E137B2A-DCAF-0B35-C43D-66F838A65AED}"/>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6FC6AE1B-278B-C47A-1164-0954380E39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4006FDAA-CBD1-C33B-E73E-6B267350E6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1142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F9FAFE32-CEDA-A93C-E9A5-102F8B9AFCB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4F8909E9-26BB-F7A3-3DBE-79B4A7BF22E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0A31E941-34CB-C6AD-A8EC-235E4F54B7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32412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739C54A9-08D4-7DB5-3075-98C4B1D37F3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9BC495CD-A3AC-1776-E2F3-06CCF29114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FC1C022B-32D9-8677-3D6F-3811C02B40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90243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99D571E1-96B3-AC95-6C12-B1788609D0F8}"/>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93294ADC-E10E-5937-9C3A-3ED32863A0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93AD7ECB-029E-69F2-1B3B-2B67422D43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53199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9B1F0D93-CF7F-7290-29A3-0C21512903E9}"/>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0A324531-4AAB-ACF6-60BA-93721D7ACF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5FC4E3C6-4D76-E0FD-D960-5E2C2DA086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5370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7145DE91-EEC1-E3BB-A37A-20B1BC8A260F}"/>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11DF6868-33BA-7DFA-5371-5FF6A06169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BC0BE5B5-567E-B01C-4D45-F6E42D5B89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4280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8B70925F-4BE9-9CB8-1FE0-395F059CD4C4}"/>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8AF630DA-9E4C-AB5A-DB73-916228DB6D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3E9C6D54-CB10-5CCD-B1EA-BC0073075F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6156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331BE070-1354-D437-A2B8-A0B24A664B67}"/>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F6E9FF26-7CC2-9DDB-2F10-EE28CDA62E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C5EFA667-018D-A2E3-BE2E-DAAD5DF704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1964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928A8382-35BE-30E4-763A-0FC1F71D5DA8}"/>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4E99A9D-9051-418D-4702-523C61FD29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D1DF572E-E11A-6E88-B60D-4A2BA39157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8417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8BDBA84B-405A-CDDC-9C80-0D5995CB4B3D}"/>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08C3992E-98C5-2661-25DF-5D4664EAF1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1" name="Google Shape;41;p3:notes">
            <a:extLst>
              <a:ext uri="{FF2B5EF4-FFF2-40B4-BE49-F238E27FC236}">
                <a16:creationId xmlns:a16="http://schemas.microsoft.com/office/drawing/2014/main" id="{2D33F935-2D6B-8DB7-776D-B0984C2C91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2249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CAA1D8C8-E5FB-49B8-2844-FBD0463A12E5}"/>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C1E2E304-B8E6-8FA0-436B-C44B4D2B5D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48907E54-98A0-29F9-4262-E0209BD26A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85123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37CA00E1-8294-C57C-FE6F-5903F5594153}"/>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295E97D6-30C2-C8A4-5778-9FA1ADDA4D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CD8C7529-5149-BFE0-CED7-557988A9A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61512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a:extLst>
            <a:ext uri="{FF2B5EF4-FFF2-40B4-BE49-F238E27FC236}">
              <a16:creationId xmlns:a16="http://schemas.microsoft.com/office/drawing/2014/main" id="{49C73F61-D314-3579-A314-920945AE70CB}"/>
            </a:ext>
          </a:extLst>
        </p:cNvPr>
        <p:cNvGrpSpPr/>
        <p:nvPr/>
      </p:nvGrpSpPr>
      <p:grpSpPr>
        <a:xfrm>
          <a:off x="0" y="0"/>
          <a:ext cx="0" cy="0"/>
          <a:chOff x="0" y="0"/>
          <a:chExt cx="0" cy="0"/>
        </a:xfrm>
      </p:grpSpPr>
      <p:sp>
        <p:nvSpPr>
          <p:cNvPr id="40" name="Google Shape;40;p3:notes">
            <a:extLst>
              <a:ext uri="{FF2B5EF4-FFF2-40B4-BE49-F238E27FC236}">
                <a16:creationId xmlns:a16="http://schemas.microsoft.com/office/drawing/2014/main" id="{72A95C07-12CE-932F-A6FF-FA7F801A29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 name="Google Shape;41;p3:notes">
            <a:extLst>
              <a:ext uri="{FF2B5EF4-FFF2-40B4-BE49-F238E27FC236}">
                <a16:creationId xmlns:a16="http://schemas.microsoft.com/office/drawing/2014/main" id="{DC556461-BC14-1014-04EF-A141324B7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10379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
        <p:cNvGrpSpPr/>
        <p:nvPr/>
      </p:nvGrpSpPr>
      <p:grpSpPr>
        <a:xfrm>
          <a:off x="0" y="0"/>
          <a:ext cx="0" cy="0"/>
          <a:chOff x="0" y="0"/>
          <a:chExt cx="0" cy="0"/>
        </a:xfrm>
      </p:grpSpPr>
      <p:sp>
        <p:nvSpPr>
          <p:cNvPr id="11" name="Google Shape;11;p14"/>
          <p:cNvSpPr txBox="1">
            <a:spLocks noGrp="1"/>
          </p:cNvSpPr>
          <p:nvPr>
            <p:ph type="ctrTitle"/>
          </p:nvPr>
        </p:nvSpPr>
        <p:spPr>
          <a:xfrm>
            <a:off x="0" y="0"/>
            <a:ext cx="9144000" cy="649693"/>
          </a:xfrm>
          <a:prstGeom prst="rect">
            <a:avLst/>
          </a:prstGeom>
          <a:noFill/>
          <a:ln>
            <a:noFill/>
          </a:ln>
        </p:spPr>
        <p:txBody>
          <a:bodyPr spcFirstLastPara="1" wrap="square" lIns="91425" tIns="91425" rIns="91425" bIns="91425" anchor="t" anchorCtr="0">
            <a:normAutofit/>
          </a:bodyPr>
          <a:lstStyle>
            <a:lvl1pPr lvl="0" algn="ctr">
              <a:spcBef>
                <a:spcPts val="0"/>
              </a:spcBef>
              <a:spcAft>
                <a:spcPts val="0"/>
              </a:spcAft>
              <a:buSzPts val="5200"/>
              <a:buNone/>
              <a:defRPr sz="3200" b="1">
                <a:latin typeface="Times New Roman"/>
                <a:ea typeface="Times New Roman"/>
                <a:cs typeface="Times New Roman"/>
                <a:sym typeface="Times New Roma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2" name="Google Shape;12;p14"/>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Autofit/>
          </a:bodyPr>
          <a:lstStyle>
            <a:lvl1pPr marL="457200" lvl="0" indent="-228600" algn="l">
              <a:spcBef>
                <a:spcPts val="0"/>
              </a:spcBef>
              <a:spcAft>
                <a:spcPts val="0"/>
              </a:spcAft>
              <a:buSzPts val="1400"/>
              <a:buNone/>
              <a:defRPr sz="2400">
                <a:latin typeface="Times New Roman"/>
                <a:ea typeface="Times New Roman"/>
                <a:cs typeface="Times New Roman"/>
                <a:sym typeface="Times New Roman"/>
              </a:defRPr>
            </a:lvl1pPr>
            <a:lvl2pPr marL="914400" lvl="1" indent="-228600" algn="l">
              <a:spcBef>
                <a:spcPts val="0"/>
              </a:spcBef>
              <a:spcAft>
                <a:spcPts val="0"/>
              </a:spcAft>
              <a:buSzPts val="1400"/>
              <a:buNone/>
              <a:defRPr sz="2200">
                <a:latin typeface="Times New Roman"/>
                <a:ea typeface="Times New Roman"/>
                <a:cs typeface="Times New Roman"/>
                <a:sym typeface="Times New Roman"/>
              </a:defRPr>
            </a:lvl2pPr>
            <a:lvl3pPr marL="1371600" lvl="2" indent="-228600" algn="l">
              <a:spcBef>
                <a:spcPts val="0"/>
              </a:spcBef>
              <a:spcAft>
                <a:spcPts val="0"/>
              </a:spcAft>
              <a:buSzPts val="1400"/>
              <a:buNone/>
              <a:defRPr sz="2200">
                <a:latin typeface="Times New Roman"/>
                <a:ea typeface="Times New Roman"/>
                <a:cs typeface="Times New Roman"/>
                <a:sym typeface="Times New Roman"/>
              </a:defRPr>
            </a:lvl3pPr>
            <a:lvl4pPr marL="1828800" lvl="3" indent="-228600" algn="l">
              <a:spcBef>
                <a:spcPts val="0"/>
              </a:spcBef>
              <a:spcAft>
                <a:spcPts val="0"/>
              </a:spcAft>
              <a:buSzPts val="1400"/>
              <a:buNone/>
              <a:defRPr sz="2000">
                <a:latin typeface="Times New Roman"/>
                <a:ea typeface="Times New Roman"/>
                <a:cs typeface="Times New Roman"/>
                <a:sym typeface="Times New Roman"/>
              </a:defRPr>
            </a:lvl4pPr>
            <a:lvl5pPr marL="2286000" lvl="4" indent="-228600" algn="l">
              <a:spcBef>
                <a:spcPts val="0"/>
              </a:spcBef>
              <a:spcAft>
                <a:spcPts val="0"/>
              </a:spcAft>
              <a:buSzPts val="1400"/>
              <a:buNone/>
              <a:defRPr sz="2000">
                <a:latin typeface="Times New Roman"/>
                <a:ea typeface="Times New Roman"/>
                <a:cs typeface="Times New Roman"/>
                <a:sym typeface="Times New Roman"/>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4"/>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userDrawn="1">
  <p:cSld name="1_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0" y="0"/>
            <a:ext cx="9144000" cy="649693"/>
          </a:xfrm>
          <a:prstGeom prst="rect">
            <a:avLst/>
          </a:prstGeom>
        </p:spPr>
        <p:txBody>
          <a:bodyPr spcFirstLastPara="1">
            <a:normAutofit/>
          </a:bodyPr>
          <a:lstStyle>
            <a:lvl1pPr lvl="0" algn="ctr">
              <a:spcBef>
                <a:spcPts val="0"/>
              </a:spcBef>
              <a:spcAft>
                <a:spcPts val="0"/>
              </a:spcAft>
              <a:buSzPts val="5200"/>
              <a:buNone/>
              <a:tabLst>
                <a:tab pos="4127500" algn="l"/>
              </a:tabLst>
              <a:defRPr sz="3200" b="1" baseline="0">
                <a:latin typeface="+mj-l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r>
              <a:rPr lang="en-US"/>
              <a:t>Click to edit Master title style</a:t>
            </a:r>
            <a:endParaRPr dirty="0"/>
          </a:p>
        </p:txBody>
      </p:sp>
      <p:sp>
        <p:nvSpPr>
          <p:cNvPr id="3" name="Text Placeholder 2"/>
          <p:cNvSpPr>
            <a:spLocks noGrp="1"/>
          </p:cNvSpPr>
          <p:nvPr>
            <p:ph type="body" sz="quarter" idx="13"/>
          </p:nvPr>
        </p:nvSpPr>
        <p:spPr>
          <a:xfrm>
            <a:off x="165100" y="914400"/>
            <a:ext cx="8763000" cy="3479800"/>
          </a:xfrm>
        </p:spPr>
        <p:txBody>
          <a:bodyPr/>
          <a:lstStyle>
            <a:lvl1pPr>
              <a:defRPr sz="2400">
                <a:latin typeface="+mn-lt"/>
              </a:defRPr>
            </a:lvl1pPr>
            <a:lvl2pPr>
              <a:defRPr sz="2200">
                <a:latin typeface="+mn-lt"/>
              </a:defRPr>
            </a:lvl2pPr>
            <a:lvl3pPr>
              <a:defRPr sz="2200">
                <a:latin typeface="+mn-lt"/>
              </a:defRPr>
            </a:lvl3pPr>
            <a:lvl4pPr>
              <a:defRPr sz="2000">
                <a:latin typeface="+mn-lt"/>
              </a:defRPr>
            </a:lvl4pPr>
            <a:lvl5pPr>
              <a:defRPr sz="20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12;p2">
            <a:extLst>
              <a:ext uri="{FF2B5EF4-FFF2-40B4-BE49-F238E27FC236}">
                <a16:creationId xmlns:a16="http://schemas.microsoft.com/office/drawing/2014/main" id="{79D5018C-57F8-566E-E5B7-23C181761D73}"/>
              </a:ext>
            </a:extLst>
          </p:cNvPr>
          <p:cNvSpPr txBox="1">
            <a:spLocks noGrp="1"/>
          </p:cNvSpPr>
          <p:nvPr>
            <p:ph type="sldNum" idx="14"/>
          </p:nvPr>
        </p:nvSpPr>
        <p:spPr/>
        <p:txBody>
          <a:bodyPr/>
          <a:lstStyle>
            <a:lvl1pPr>
              <a:defRPr/>
            </a:lvl1pPr>
          </a:lstStyle>
          <a:p>
            <a:pPr>
              <a:defRPr/>
            </a:pPr>
            <a:fld id="{EF26C623-DE27-4A99-8424-AFD36C142E5A}" type="slidenum">
              <a:rPr lang="en-US" altLang="en-US"/>
              <a:pPr>
                <a:defRPr/>
              </a:pPr>
              <a:t>‹#›</a:t>
            </a:fld>
            <a:endParaRPr lang="en-US" altLang="en-US"/>
          </a:p>
        </p:txBody>
      </p:sp>
      <p:sp>
        <p:nvSpPr>
          <p:cNvPr id="4" name="Footer Placeholder 4">
            <a:extLst>
              <a:ext uri="{FF2B5EF4-FFF2-40B4-BE49-F238E27FC236}">
                <a16:creationId xmlns:a16="http://schemas.microsoft.com/office/drawing/2014/main" id="{60F15494-8374-819B-5661-D082F4F305F8}"/>
              </a:ext>
            </a:extLst>
          </p:cNvPr>
          <p:cNvSpPr>
            <a:spLocks noGrp="1"/>
          </p:cNvSpPr>
          <p:nvPr>
            <p:ph type="ftr" sz="quarter" idx="15"/>
          </p:nvPr>
        </p:nvSpPr>
        <p:spPr bwMode="auto">
          <a:xfrm>
            <a:off x="2706688" y="4760913"/>
            <a:ext cx="3538537" cy="198437"/>
          </a:xfrm>
          <a:prstGeom prst="rect">
            <a:avLst/>
          </a:prstGeom>
        </p:spPr>
        <p:txBody>
          <a:bodyPr vert="horz" wrap="square" lIns="91440" tIns="45720" rIns="91440" bIns="45720" numCol="1" anchor="ctr" anchorCtr="0" compatLnSpc="1">
            <a:prstTxWarp prst="textNoShape">
              <a:avLst/>
            </a:prstTxWarp>
          </a:bodyPr>
          <a:lstStyle>
            <a:lvl1pPr algn="ctr" eaLnBrk="1" hangingPunct="1">
              <a:buClr>
                <a:srgbClr val="000000"/>
              </a:buClr>
              <a:buFont typeface="Arial" pitchFamily="34" charset="0"/>
              <a:buNone/>
              <a:defRPr sz="900" b="1">
                <a:solidFill>
                  <a:srgbClr val="898989"/>
                </a:solidFill>
              </a:defRPr>
            </a:lvl1pPr>
          </a:lstStyle>
          <a:p>
            <a:pPr>
              <a:defRPr/>
            </a:pPr>
            <a:r>
              <a:rPr lang="en-US"/>
              <a:t>Department of CSE (AI &amp; ML) - Review 0- Abstract Selection</a:t>
            </a:r>
          </a:p>
        </p:txBody>
      </p:sp>
    </p:spTree>
    <p:extLst>
      <p:ext uri="{BB962C8B-B14F-4D97-AF65-F5344CB8AC3E}">
        <p14:creationId xmlns:p14="http://schemas.microsoft.com/office/powerpoint/2010/main" val="1121213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16"/>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3" name="Google Shape;23;p16"/>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900" b="1">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 name="Google Shape;8;p13"/>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9" name="Google Shape;9;p13"/>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2"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
        <p:cNvGrpSpPr/>
        <p:nvPr/>
      </p:nvGrpSpPr>
      <p:grpSpPr>
        <a:xfrm>
          <a:off x="0" y="0"/>
          <a:ext cx="0" cy="0"/>
          <a:chOff x="0" y="0"/>
          <a:chExt cx="0" cy="0"/>
        </a:xfrm>
      </p:grpSpPr>
      <p:sp>
        <p:nvSpPr>
          <p:cNvPr id="16" name="Google Shape;16;p15"/>
          <p:cNvSpPr txBox="1">
            <a:spLocks noGrp="1"/>
          </p:cNvSpPr>
          <p:nvPr>
            <p:ph type="title"/>
          </p:nvPr>
        </p:nvSpPr>
        <p:spPr>
          <a:xfrm>
            <a:off x="311150" y="444500"/>
            <a:ext cx="8521700" cy="573087"/>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7" name="Google Shape;17;p15"/>
          <p:cNvSpPr txBox="1">
            <a:spLocks noGrp="1"/>
          </p:cNvSpPr>
          <p:nvPr>
            <p:ph type="body" idx="1"/>
          </p:nvPr>
        </p:nvSpPr>
        <p:spPr>
          <a:xfrm>
            <a:off x="311150" y="1152525"/>
            <a:ext cx="8521700" cy="34163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8" name="Google Shape;18;p15"/>
          <p:cNvSpPr txBox="1">
            <a:spLocks noGrp="1"/>
          </p:cNvSpPr>
          <p:nvPr>
            <p:ph type="sldNum" idx="12"/>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1pPr>
            <a:lvl2pPr marL="0" marR="0" lvl="1"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2pPr>
            <a:lvl3pPr marL="0" marR="0" lvl="2"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3pPr>
            <a:lvl4pPr marL="0" marR="0" lvl="3"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4pPr>
            <a:lvl5pPr marL="0" marR="0" lvl="4"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5pPr>
            <a:lvl6pPr marL="0" marR="0" lvl="5"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6pPr>
            <a:lvl7pPr marL="0" marR="0" lvl="6"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7pPr>
            <a:lvl8pPr marL="0" marR="0" lvl="7"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8pPr>
            <a:lvl9pPr marL="0" marR="0" lvl="8" indent="0" algn="r" rtl="0">
              <a:lnSpc>
                <a:spcPct val="100000"/>
              </a:lnSpc>
              <a:spcBef>
                <a:spcPts val="0"/>
              </a:spcBef>
              <a:spcAft>
                <a:spcPts val="0"/>
              </a:spcAft>
              <a:buClr>
                <a:srgbClr val="595959"/>
              </a:buClr>
              <a:buSzPts val="1000"/>
              <a:buFont typeface="Arial"/>
              <a:buNone/>
              <a:defRPr sz="1000" b="0" i="0" u="none" strike="noStrike" cap="none">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
        <p:nvSpPr>
          <p:cNvPr id="19" name="Google Shape;19;p15"/>
          <p:cNvSpPr txBox="1">
            <a:spLocks noGrp="1"/>
          </p:cNvSpPr>
          <p:nvPr>
            <p:ph type="ftr" idx="11"/>
          </p:nvPr>
        </p:nvSpPr>
        <p:spPr>
          <a:xfrm>
            <a:off x="2706687" y="4760912"/>
            <a:ext cx="3538537" cy="198437"/>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1" i="0" u="none" strike="noStrike" cap="none">
                <a:solidFill>
                  <a:srgbClr val="898989"/>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1"/>
          <p:cNvSpPr txBox="1">
            <a:spLocks noGrp="1"/>
          </p:cNvSpPr>
          <p:nvPr>
            <p:ph type="ctrTitle"/>
          </p:nvPr>
        </p:nvSpPr>
        <p:spPr>
          <a:xfrm>
            <a:off x="-9525" y="738187"/>
            <a:ext cx="9144000" cy="1712912"/>
          </a:xfrm>
          <a:prstGeom prst="rect">
            <a:avLst/>
          </a:prstGeom>
          <a:noFill/>
          <a:ln>
            <a:noFill/>
          </a:ln>
        </p:spPr>
        <p:txBody>
          <a:bodyPr spcFirstLastPara="1" wrap="square" lIns="91425" tIns="91425" rIns="91425" bIns="91425" anchor="b" anchorCtr="0">
            <a:normAutofit fontScale="90000"/>
          </a:bodyPr>
          <a:lstStyle/>
          <a:p>
            <a:pPr marL="0" lvl="0" indent="0" algn="ctr" rtl="0">
              <a:lnSpc>
                <a:spcPct val="100000"/>
              </a:lnSpc>
              <a:spcBef>
                <a:spcPts val="0"/>
              </a:spcBef>
              <a:spcAft>
                <a:spcPts val="0"/>
              </a:spcAft>
              <a:buSzPct val="236363"/>
              <a:buNone/>
            </a:pP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br>
              <a:rPr lang="en-US" sz="22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Gokaraju Rangaraju Institute of Engineering and Technology </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(Autonomous)</a:t>
            </a:r>
            <a:br>
              <a:rPr lang="en-US" sz="1800" b="1" i="0" u="none" dirty="0">
                <a:solidFill>
                  <a:srgbClr val="000000"/>
                </a:solidFill>
                <a:latin typeface="Times New Roman"/>
                <a:ea typeface="Times New Roman"/>
                <a:cs typeface="Times New Roman"/>
                <a:sym typeface="Times New Roman"/>
              </a:rPr>
            </a:br>
            <a:r>
              <a:rPr lang="en-US" sz="1800" b="1" i="0" u="none" dirty="0">
                <a:solidFill>
                  <a:srgbClr val="000000"/>
                </a:solidFill>
                <a:latin typeface="Times New Roman"/>
                <a:ea typeface="Times New Roman"/>
                <a:cs typeface="Times New Roman"/>
                <a:sym typeface="Times New Roman"/>
              </a:rPr>
              <a:t>Department of Data Science</a:t>
            </a:r>
            <a:br>
              <a:rPr lang="en-US" sz="1800" b="1" i="0" u="none" dirty="0">
                <a:solidFill>
                  <a:srgbClr val="000000"/>
                </a:solidFill>
                <a:latin typeface="Times New Roman"/>
                <a:ea typeface="Times New Roman"/>
                <a:cs typeface="Times New Roman"/>
                <a:sym typeface="Times New Roman"/>
              </a:rPr>
            </a:br>
            <a:br>
              <a:rPr lang="en-US" sz="1800" b="1" i="0" u="none" dirty="0">
                <a:solidFill>
                  <a:srgbClr val="000000"/>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M</a:t>
            </a:r>
            <a:r>
              <a:rPr lang="en-US" sz="1800" dirty="0">
                <a:solidFill>
                  <a:schemeClr val="dk1"/>
                </a:solidFill>
              </a:rPr>
              <a:t>ini</a:t>
            </a:r>
            <a:r>
              <a:rPr lang="en-US" sz="1800" b="1" i="0" u="none" dirty="0">
                <a:solidFill>
                  <a:schemeClr val="dk1"/>
                </a:solidFill>
                <a:latin typeface="Times New Roman"/>
                <a:ea typeface="Times New Roman"/>
                <a:cs typeface="Times New Roman"/>
                <a:sym typeface="Times New Roman"/>
              </a:rPr>
              <a:t> Project Work</a:t>
            </a:r>
            <a:br>
              <a:rPr lang="en-US" sz="1800" b="1" i="0" u="none" dirty="0">
                <a:solidFill>
                  <a:schemeClr val="dk1"/>
                </a:solidFill>
                <a:latin typeface="Times New Roman"/>
                <a:ea typeface="Times New Roman"/>
                <a:cs typeface="Times New Roman"/>
                <a:sym typeface="Times New Roman"/>
              </a:rPr>
            </a:br>
            <a:r>
              <a:rPr lang="en-US" sz="1800" b="1" i="0" u="none" dirty="0">
                <a:solidFill>
                  <a:schemeClr val="dk1"/>
                </a:solidFill>
                <a:latin typeface="Times New Roman"/>
                <a:ea typeface="Times New Roman"/>
                <a:cs typeface="Times New Roman"/>
                <a:sym typeface="Times New Roman"/>
              </a:rPr>
              <a:t>(CSE(DS))</a:t>
            </a:r>
            <a:endParaRPr dirty="0"/>
          </a:p>
        </p:txBody>
      </p:sp>
      <p:sp>
        <p:nvSpPr>
          <p:cNvPr id="29" name="Google Shape;29;p1"/>
          <p:cNvSpPr txBox="1">
            <a:spLocks noGrp="1"/>
          </p:cNvSpPr>
          <p:nvPr>
            <p:ph type="subTitle" idx="4294967295"/>
          </p:nvPr>
        </p:nvSpPr>
        <p:spPr>
          <a:xfrm>
            <a:off x="0" y="2571750"/>
            <a:ext cx="9144000" cy="523875"/>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rgbClr val="000000"/>
              </a:buClr>
              <a:buSzPts val="2200"/>
              <a:buFont typeface="Arial"/>
              <a:buNone/>
            </a:pPr>
            <a:r>
              <a:rPr lang="en-US" sz="2200" b="1" i="0" u="none" strike="noStrike" cap="none" dirty="0">
                <a:solidFill>
                  <a:srgbClr val="0D5BDC"/>
                </a:solidFill>
                <a:latin typeface="Times New Roman"/>
                <a:ea typeface="Times New Roman"/>
                <a:cs typeface="Times New Roman"/>
                <a:sym typeface="Times New Roman"/>
              </a:rPr>
              <a:t>Review 1:</a:t>
            </a:r>
            <a:r>
              <a:rPr lang="en-US" sz="2200" b="1" dirty="0">
                <a:solidFill>
                  <a:srgbClr val="0D5BDC"/>
                </a:solidFill>
                <a:latin typeface="Times New Roman"/>
                <a:ea typeface="Times New Roman"/>
                <a:cs typeface="Times New Roman"/>
                <a:sym typeface="Times New Roman"/>
              </a:rPr>
              <a:t> Abstract Presentation</a:t>
            </a:r>
            <a:endParaRPr dirty="0"/>
          </a:p>
          <a:p>
            <a:pPr marL="0" marR="0" lvl="0" indent="0" algn="ctr" rtl="0">
              <a:lnSpc>
                <a:spcPct val="115000"/>
              </a:lnSpc>
              <a:spcBef>
                <a:spcPts val="0"/>
              </a:spcBef>
              <a:spcAft>
                <a:spcPts val="0"/>
              </a:spcAft>
              <a:buClr>
                <a:srgbClr val="000000"/>
              </a:buClr>
              <a:buSzPts val="2200"/>
              <a:buFont typeface="Arial"/>
              <a:buNone/>
            </a:pPr>
            <a:endParaRPr sz="2200" b="1" i="0" u="none" strike="noStrike" cap="none" dirty="0">
              <a:solidFill>
                <a:srgbClr val="0D5BDC"/>
              </a:solidFill>
              <a:latin typeface="Times New Roman"/>
              <a:ea typeface="Times New Roman"/>
              <a:cs typeface="Times New Roman"/>
              <a:sym typeface="Times New Roman"/>
            </a:endParaRPr>
          </a:p>
          <a:p>
            <a:pPr marL="342900" marR="0" lvl="0" indent="-342900" algn="l" rtl="0">
              <a:spcBef>
                <a:spcPts val="0"/>
              </a:spcBef>
              <a:spcAft>
                <a:spcPts val="0"/>
              </a:spcAft>
              <a:buNone/>
            </a:pPr>
            <a:endParaRPr sz="2200" b="1" i="0" u="none" dirty="0">
              <a:solidFill>
                <a:srgbClr val="0D5BDC"/>
              </a:solidFill>
              <a:latin typeface="Times New Roman"/>
              <a:ea typeface="Times New Roman"/>
              <a:cs typeface="Times New Roman"/>
              <a:sym typeface="Times New Roman"/>
            </a:endParaRPr>
          </a:p>
        </p:txBody>
      </p:sp>
      <p:sp>
        <p:nvSpPr>
          <p:cNvPr id="30" name="Google Shape;30;p1"/>
          <p:cNvSpPr txBox="1"/>
          <p:nvPr/>
        </p:nvSpPr>
        <p:spPr>
          <a:xfrm>
            <a:off x="301625" y="3609268"/>
            <a:ext cx="4260900" cy="1419932"/>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Presented by:</a:t>
            </a:r>
            <a:endParaRPr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1. R.Sravya(23241A67J3)</a:t>
            </a:r>
            <a:endParaRPr lang="it-IT" sz="1600"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2. P.Shivani(24245A6718)</a:t>
            </a:r>
            <a:endParaRPr lang="it-IT" sz="1600" dirty="0">
              <a:solidFill>
                <a:schemeClr val="dk1"/>
              </a:solidFill>
            </a:endParaRPr>
          </a:p>
          <a:p>
            <a:pPr lvl="0">
              <a:buClr>
                <a:schemeClr val="dk1"/>
              </a:buClr>
              <a:buSzPts val="1600"/>
            </a:pPr>
            <a:r>
              <a:rPr lang="it-IT" sz="1600" b="1" dirty="0">
                <a:solidFill>
                  <a:schemeClr val="dk1"/>
                </a:solidFill>
                <a:latin typeface="Times New Roman"/>
                <a:ea typeface="Times New Roman"/>
                <a:cs typeface="Times New Roman"/>
                <a:sym typeface="Times New Roman"/>
              </a:rPr>
              <a:t>3. M.Lohitha(23241A67G5)</a:t>
            </a:r>
            <a:endParaRPr lang="it-IT" sz="1600" dirty="0">
              <a:solidFill>
                <a:schemeClr val="dk1"/>
              </a:solidFill>
            </a:endParaRPr>
          </a:p>
          <a:p>
            <a:pPr marL="0" lvl="0" indent="0" algn="l" rtl="0">
              <a:spcBef>
                <a:spcPts val="0"/>
              </a:spcBef>
              <a:spcAft>
                <a:spcPts val="0"/>
              </a:spcAft>
              <a:buClr>
                <a:schemeClr val="dk1"/>
              </a:buClr>
              <a:buSzPts val="1600"/>
              <a:buFont typeface="Times New Roman"/>
              <a:buNone/>
            </a:pPr>
            <a:endParaRPr dirty="0"/>
          </a:p>
        </p:txBody>
      </p:sp>
      <p:sp>
        <p:nvSpPr>
          <p:cNvPr id="31" name="Google Shape;31;p1"/>
          <p:cNvSpPr txBox="1"/>
          <p:nvPr/>
        </p:nvSpPr>
        <p:spPr>
          <a:xfrm>
            <a:off x="5689600" y="3609268"/>
            <a:ext cx="3294062" cy="1419932"/>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1600"/>
              <a:buFont typeface="Times New Roman"/>
              <a:buNone/>
            </a:pPr>
            <a:r>
              <a:rPr lang="en-US" sz="1600" b="1" dirty="0">
                <a:solidFill>
                  <a:schemeClr val="dk1"/>
                </a:solidFill>
                <a:latin typeface="Times New Roman"/>
                <a:ea typeface="Times New Roman"/>
                <a:cs typeface="Times New Roman"/>
                <a:sym typeface="Times New Roman"/>
              </a:rPr>
              <a:t>Under the Guidance of:</a:t>
            </a:r>
            <a:endParaRPr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Name: Dr. M. Kiran Kumar</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Designation : Associate Professor</a:t>
            </a:r>
            <a:endParaRPr lang="en-US" sz="1600" dirty="0">
              <a:solidFill>
                <a:schemeClr val="dk1"/>
              </a:solidFill>
            </a:endParaRPr>
          </a:p>
          <a:p>
            <a:pPr lvl="0">
              <a:lnSpc>
                <a:spcPct val="90000"/>
              </a:lnSpc>
              <a:buClr>
                <a:srgbClr val="006600"/>
              </a:buClr>
              <a:buSzPts val="1600"/>
            </a:pPr>
            <a:r>
              <a:rPr lang="en-US" sz="1600" b="1" dirty="0">
                <a:solidFill>
                  <a:srgbClr val="006600"/>
                </a:solidFill>
                <a:latin typeface="Times New Roman"/>
                <a:ea typeface="Times New Roman"/>
                <a:cs typeface="Times New Roman"/>
                <a:sym typeface="Times New Roman"/>
              </a:rPr>
              <a:t>Department: DS</a:t>
            </a:r>
            <a:endParaRPr lang="en-US" sz="1600" b="1" dirty="0">
              <a:solidFill>
                <a:schemeClr val="dk1"/>
              </a:solidFill>
              <a:latin typeface="Times New Roman"/>
              <a:ea typeface="Times New Roman"/>
              <a:cs typeface="Times New Roman"/>
              <a:sym typeface="Times New Roman"/>
            </a:endParaRPr>
          </a:p>
          <a:p>
            <a:pPr marL="0" lvl="0" indent="0" algn="l" rtl="0">
              <a:lnSpc>
                <a:spcPct val="90000"/>
              </a:lnSpc>
              <a:spcBef>
                <a:spcPts val="0"/>
              </a:spcBef>
              <a:spcAft>
                <a:spcPts val="0"/>
              </a:spcAft>
              <a:buClr>
                <a:srgbClr val="006600"/>
              </a:buClr>
              <a:buSzPts val="1600"/>
              <a:buFont typeface="Times New Roman"/>
              <a:buNone/>
            </a:pPr>
            <a:endParaRPr sz="1600" b="1" dirty="0">
              <a:solidFill>
                <a:schemeClr val="dk1"/>
              </a:solidFill>
              <a:latin typeface="Times New Roman"/>
              <a:ea typeface="Times New Roman"/>
              <a:cs typeface="Times New Roman"/>
              <a:sym typeface="Times New Roman"/>
            </a:endParaRPr>
          </a:p>
        </p:txBody>
      </p:sp>
      <p:pic>
        <p:nvPicPr>
          <p:cNvPr id="32" name="Google Shape;32;p1" descr="Untitled-1 copy"/>
          <p:cNvPicPr preferRelativeResize="0"/>
          <p:nvPr/>
        </p:nvPicPr>
        <p:blipFill rotWithShape="1">
          <a:blip r:embed="rId3">
            <a:alphaModFix/>
          </a:blip>
          <a:srcRect l="25561" t="23017" r="26994" b="21855"/>
          <a:stretch/>
        </p:blipFill>
        <p:spPr>
          <a:xfrm>
            <a:off x="4271962" y="114300"/>
            <a:ext cx="604837" cy="554037"/>
          </a:xfrm>
          <a:prstGeom prst="rect">
            <a:avLst/>
          </a:prstGeom>
          <a:noFill/>
          <a:ln>
            <a:noFill/>
          </a:ln>
        </p:spPr>
      </p:pic>
      <p:sp>
        <p:nvSpPr>
          <p:cNvPr id="2" name="Google Shape;29;p1">
            <a:extLst>
              <a:ext uri="{FF2B5EF4-FFF2-40B4-BE49-F238E27FC236}">
                <a16:creationId xmlns:a16="http://schemas.microsoft.com/office/drawing/2014/main" id="{4E4E8026-6D09-B9F9-7CEF-C9E669326CBF}"/>
              </a:ext>
            </a:extLst>
          </p:cNvPr>
          <p:cNvSpPr txBox="1">
            <a:spLocks/>
          </p:cNvSpPr>
          <p:nvPr/>
        </p:nvSpPr>
        <p:spPr>
          <a:xfrm>
            <a:off x="5644" y="3085393"/>
            <a:ext cx="1992489" cy="52387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indent="0">
              <a:lnSpc>
                <a:spcPct val="115000"/>
              </a:lnSpc>
              <a:buSzPts val="2200"/>
            </a:pPr>
            <a:r>
              <a:rPr lang="en-US" sz="1800" b="1" dirty="0">
                <a:solidFill>
                  <a:srgbClr val="0D5BDC"/>
                </a:solidFill>
                <a:latin typeface="Times New Roman"/>
                <a:ea typeface="Times New Roman"/>
                <a:cs typeface="Times New Roman"/>
                <a:sym typeface="Times New Roman"/>
              </a:rPr>
              <a:t>Batch No -  </a:t>
            </a:r>
            <a:endParaRPr lang="en-US" sz="1800" dirty="0"/>
          </a:p>
          <a:p>
            <a:pPr marL="0" indent="0" algn="ctr">
              <a:lnSpc>
                <a:spcPct val="115000"/>
              </a:lnSpc>
              <a:buSzPts val="2200"/>
            </a:pPr>
            <a:endParaRPr lang="en-US" sz="2200" b="1" dirty="0">
              <a:solidFill>
                <a:srgbClr val="0D5BDC"/>
              </a:solidFill>
              <a:latin typeface="Times New Roman"/>
              <a:ea typeface="Times New Roman"/>
              <a:cs typeface="Times New Roman"/>
              <a:sym typeface="Times New Roman"/>
            </a:endParaRPr>
          </a:p>
          <a:p>
            <a:pPr marL="342900" indent="-342900"/>
            <a:endParaRPr lang="en-US" sz="2200" b="1" dirty="0">
              <a:solidFill>
                <a:srgbClr val="0D5BDC"/>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6"/>
        <p:cNvGrpSpPr/>
        <p:nvPr/>
      </p:nvGrpSpPr>
      <p:grpSpPr>
        <a:xfrm>
          <a:off x="0" y="0"/>
          <a:ext cx="0" cy="0"/>
          <a:chOff x="0" y="0"/>
          <a:chExt cx="0" cy="0"/>
        </a:xfrm>
      </p:grpSpPr>
      <p:sp>
        <p:nvSpPr>
          <p:cNvPr id="37" name="Google Shape;37;p2"/>
          <p:cNvSpPr txBox="1">
            <a:spLocks noGrp="1"/>
          </p:cNvSpPr>
          <p:nvPr>
            <p:ph type="title"/>
          </p:nvPr>
        </p:nvSpPr>
        <p:spPr>
          <a:xfrm>
            <a:off x="0" y="2095500"/>
            <a:ext cx="9144000" cy="842962"/>
          </a:xfrm>
          <a:prstGeom prst="rect">
            <a:avLst/>
          </a:prstGeom>
          <a:noFill/>
          <a:ln>
            <a:noFill/>
          </a:ln>
        </p:spPr>
        <p:txBody>
          <a:bodyPr spcFirstLastPara="1" wrap="square" lIns="91425" tIns="91425" rIns="91425" bIns="91425" anchor="ctr" anchorCtr="0">
            <a:noAutofit/>
          </a:bodyPr>
          <a:lstStyle/>
          <a:p>
            <a:pPr lvl="0"/>
            <a:r>
              <a:rPr lang="en-US" sz="3200" b="1" dirty="0">
                <a:latin typeface="Times New Roman" panose="02020603050405020304" pitchFamily="18" charset="0"/>
                <a:cs typeface="Times New Roman" panose="02020603050405020304" pitchFamily="18" charset="0"/>
              </a:rPr>
              <a:t>Estimating Diabetes Severity from Retinal Fundus Images using Diabetic Retinopathy Features</a:t>
            </a:r>
            <a:endParaRPr b="1" dirty="0">
              <a:latin typeface="Times New Roman" panose="02020603050405020304" pitchFamily="18" charset="0"/>
              <a:cs typeface="Times New Roman" panose="02020603050405020304" pitchFamily="18" charset="0"/>
            </a:endParaRPr>
          </a:p>
        </p:txBody>
      </p:sp>
      <p:sp>
        <p:nvSpPr>
          <p:cNvPr id="38" name="Google Shape;38;p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3"/>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Details explanation of the project</a:t>
            </a:r>
            <a:endParaRPr dirty="0"/>
          </a:p>
        </p:txBody>
      </p:sp>
      <p:sp>
        <p:nvSpPr>
          <p:cNvPr id="44" name="Google Shape;44;p3"/>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3</a:t>
            </a:fld>
            <a:endParaRPr/>
          </a:p>
        </p:txBody>
      </p:sp>
      <p:sp>
        <p:nvSpPr>
          <p:cNvPr id="45" name="Google Shape;45;p3"/>
          <p:cNvSpPr txBox="1">
            <a:spLocks noGrp="1"/>
          </p:cNvSpPr>
          <p:nvPr>
            <p:ph type="body" idx="1"/>
          </p:nvPr>
        </p:nvSpPr>
        <p:spPr>
          <a:xfrm>
            <a:off x="0" y="634320"/>
            <a:ext cx="8948057" cy="4509180"/>
          </a:xfrm>
          <a:prstGeom prst="rect">
            <a:avLst/>
          </a:prstGeom>
          <a:noFill/>
          <a:ln>
            <a:noFill/>
          </a:ln>
        </p:spPr>
        <p:txBody>
          <a:bodyPr spcFirstLastPara="1" wrap="square" lIns="91425" tIns="91425" rIns="91425" bIns="91425" anchor="t" anchorCtr="0">
            <a:normAutofit fontScale="85000" lnSpcReduction="10000"/>
          </a:bodyPr>
          <a:lstStyle/>
          <a:p>
            <a:pPr algn="just"/>
            <a:r>
              <a:rPr lang="en-US" dirty="0"/>
              <a:t>This project aims to predict the stage of diabetes by analyzing retinal fundus</a:t>
            </a:r>
          </a:p>
          <a:p>
            <a:pPr algn="just"/>
            <a:r>
              <a:rPr lang="en-US" dirty="0"/>
              <a:t>images instead of relying only on blood glucose test values, which can fluctuate</a:t>
            </a:r>
          </a:p>
          <a:p>
            <a:pPr algn="just"/>
            <a:r>
              <a:rPr lang="en-US" dirty="0"/>
              <a:t>due to factors such as diet, stress, and time of measurement. Diabetes causes long</a:t>
            </a:r>
          </a:p>
          <a:p>
            <a:pPr algn="just"/>
            <a:r>
              <a:rPr lang="en-US" dirty="0"/>
              <a:t>term damage to retinal blood vessels, leading to diabetic retinopathy, which</a:t>
            </a:r>
          </a:p>
          <a:p>
            <a:pPr algn="just"/>
            <a:r>
              <a:rPr lang="en-US" dirty="0"/>
              <a:t>produces stable and permanent retinal changes. These changes include </a:t>
            </a:r>
          </a:p>
          <a:p>
            <a:pPr algn="just"/>
            <a:r>
              <a:rPr lang="en-US" dirty="0"/>
              <a:t>microaneurysms, hard exudates, and abnormal blood vessel growth, which reflect</a:t>
            </a:r>
          </a:p>
          <a:p>
            <a:pPr algn="just"/>
            <a:r>
              <a:rPr lang="en-US" dirty="0"/>
              <a:t>prolonged exposure to high blood glucose levels and overall diabetes progression.</a:t>
            </a:r>
          </a:p>
          <a:p>
            <a:pPr algn="just"/>
            <a:endParaRPr lang="en-US" dirty="0"/>
          </a:p>
          <a:p>
            <a:pPr algn="just"/>
            <a:r>
              <a:rPr lang="en-US" dirty="0"/>
              <a:t>The proposed system uses retinal fundus images collected from standard diabetic</a:t>
            </a:r>
          </a:p>
          <a:p>
            <a:pPr algn="just"/>
            <a:r>
              <a:rPr lang="en-US" dirty="0"/>
              <a:t>retinopathy datasets. The images are first preprocessed using techniques such as</a:t>
            </a:r>
          </a:p>
          <a:p>
            <a:pPr algn="just"/>
            <a:r>
              <a:rPr lang="en-US" dirty="0"/>
              <a:t>contrast-limited adaptive histogram equalization (CLAHE), noise reduction, and</a:t>
            </a:r>
          </a:p>
          <a:p>
            <a:pPr algn="just"/>
            <a:r>
              <a:rPr lang="en-US" dirty="0"/>
              <a:t>color space conversion to enhance important retinal structures and reduce</a:t>
            </a:r>
          </a:p>
          <a:p>
            <a:pPr algn="just"/>
            <a:r>
              <a:rPr lang="en-US" dirty="0"/>
              <a:t>illumination variations. Morphological image processing operations such as</a:t>
            </a:r>
          </a:p>
          <a:p>
            <a:pPr algn="just"/>
            <a:r>
              <a:rPr lang="en-US" dirty="0"/>
              <a:t>erosion, dilation, and thresholding are then applied to segment retinal features</a:t>
            </a:r>
          </a:p>
          <a:p>
            <a:pPr algn="just"/>
            <a:r>
              <a:rPr lang="en-US" dirty="0"/>
              <a:t>accurately.</a:t>
            </a:r>
          </a:p>
          <a:p>
            <a:pPr marL="457200" lvl="0" indent="-310832" algn="just" rtl="0">
              <a:lnSpc>
                <a:spcPct val="115000"/>
              </a:lnSpc>
              <a:spcBef>
                <a:spcPts val="0"/>
              </a:spcBef>
              <a:spcAft>
                <a:spcPts val="0"/>
              </a:spcAft>
              <a:buClr>
                <a:srgbClr val="595959"/>
              </a:buClr>
              <a:buSzPct val="58333"/>
              <a:buChar char="●"/>
            </a:pPr>
            <a:endParaRPr lang="en-US" dirty="0">
              <a:solidFill>
                <a:srgbClr val="C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EC81FC23-F935-6286-CE34-ACF4ED18EDD1}"/>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F5373171-4333-36E3-0DF7-4FF2E5D7D6AB}"/>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Details explanation of the project</a:t>
            </a:r>
            <a:endParaRPr dirty="0"/>
          </a:p>
        </p:txBody>
      </p:sp>
      <p:sp>
        <p:nvSpPr>
          <p:cNvPr id="44" name="Google Shape;44;p3">
            <a:extLst>
              <a:ext uri="{FF2B5EF4-FFF2-40B4-BE49-F238E27FC236}">
                <a16:creationId xmlns:a16="http://schemas.microsoft.com/office/drawing/2014/main" id="{23BD5916-CA5E-D7A6-8845-6D7B305504DF}"/>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4</a:t>
            </a:fld>
            <a:endParaRPr/>
          </a:p>
        </p:txBody>
      </p:sp>
      <p:sp>
        <p:nvSpPr>
          <p:cNvPr id="45" name="Google Shape;45;p3">
            <a:extLst>
              <a:ext uri="{FF2B5EF4-FFF2-40B4-BE49-F238E27FC236}">
                <a16:creationId xmlns:a16="http://schemas.microsoft.com/office/drawing/2014/main" id="{DF2AAA18-1114-3AD0-1B7E-7C187F9E746C}"/>
              </a:ext>
            </a:extLst>
          </p:cNvPr>
          <p:cNvSpPr txBox="1">
            <a:spLocks noGrp="1"/>
          </p:cNvSpPr>
          <p:nvPr>
            <p:ph type="body" idx="1"/>
          </p:nvPr>
        </p:nvSpPr>
        <p:spPr>
          <a:xfrm>
            <a:off x="0" y="649287"/>
            <a:ext cx="9144000" cy="4641170"/>
          </a:xfrm>
          <a:prstGeom prst="rect">
            <a:avLst/>
          </a:prstGeom>
          <a:noFill/>
          <a:ln>
            <a:noFill/>
          </a:ln>
        </p:spPr>
        <p:txBody>
          <a:bodyPr spcFirstLastPara="1" wrap="square" lIns="91425" tIns="91425" rIns="91425" bIns="91425" anchor="t" anchorCtr="0">
            <a:normAutofit/>
          </a:bodyPr>
          <a:lstStyle/>
          <a:p>
            <a:pPr algn="just"/>
            <a:r>
              <a:rPr lang="en-US" sz="2000" dirty="0"/>
              <a:t>Feature extraction focuses on identifying key diabetic retinopathy indicators,</a:t>
            </a:r>
          </a:p>
          <a:p>
            <a:pPr algn="just"/>
            <a:r>
              <a:rPr lang="en-US" sz="2000" dirty="0"/>
              <a:t>including microaneurysms, hard exudates, and retinal blood vessels. Properties such</a:t>
            </a:r>
          </a:p>
          <a:p>
            <a:pPr algn="just"/>
            <a:r>
              <a:rPr lang="en-US" sz="2000" dirty="0"/>
              <a:t>as feature count, size, shape, and distribution are calculated using region-based</a:t>
            </a:r>
          </a:p>
          <a:p>
            <a:pPr algn="just"/>
            <a:r>
              <a:rPr lang="en-US" sz="2000" dirty="0"/>
              <a:t>analysis and blob detection techniques. These extracted features are used as input to</a:t>
            </a:r>
          </a:p>
          <a:p>
            <a:pPr algn="just"/>
            <a:r>
              <a:rPr lang="en-US" sz="2000" dirty="0"/>
              <a:t>supervised machine learning models, such as Support Vector Machines (SVM) and</a:t>
            </a:r>
          </a:p>
          <a:p>
            <a:pPr algn="just"/>
            <a:r>
              <a:rPr lang="en-US" sz="2000" dirty="0"/>
              <a:t>binary classifiers , to analyze disease severity.</a:t>
            </a:r>
          </a:p>
          <a:p>
            <a:pPr algn="just"/>
            <a:r>
              <a:rPr lang="en-US" sz="2000" dirty="0"/>
              <a:t>Based on the severity of the extracted retinal features, the system estimates long-term</a:t>
            </a:r>
          </a:p>
          <a:p>
            <a:pPr algn="just"/>
            <a:r>
              <a:rPr lang="en-US" sz="2000" dirty="0"/>
              <a:t>glucose exposure and predicts the stage of diabetes, such as early, moderate, or</a:t>
            </a:r>
          </a:p>
          <a:p>
            <a:pPr algn="just"/>
            <a:r>
              <a:rPr lang="en-US" sz="2000" dirty="0"/>
              <a:t>advanced. The model is trained and validated using labeled datasets and expert</a:t>
            </a:r>
          </a:p>
          <a:p>
            <a:pPr algn="just"/>
            <a:r>
              <a:rPr lang="en-US" sz="2000" dirty="0"/>
              <a:t>annotations, and its performance is evaluated using metrics like accuracy, sensitivity,</a:t>
            </a:r>
          </a:p>
          <a:p>
            <a:pPr algn="just"/>
            <a:r>
              <a:rPr lang="en-US" sz="2000" dirty="0"/>
              <a:t>specificity, and confusion matrices.</a:t>
            </a:r>
          </a:p>
          <a:p>
            <a:pPr marL="457200" lvl="0" indent="-310832" algn="just" rtl="0">
              <a:lnSpc>
                <a:spcPct val="115000"/>
              </a:lnSpc>
              <a:spcBef>
                <a:spcPts val="0"/>
              </a:spcBef>
              <a:spcAft>
                <a:spcPts val="0"/>
              </a:spcAft>
              <a:buClr>
                <a:srgbClr val="595959"/>
              </a:buClr>
              <a:buSzPct val="58333"/>
              <a:buChar char="●"/>
            </a:pPr>
            <a:endParaRPr lang="en-US" sz="2000" dirty="0">
              <a:solidFill>
                <a:srgbClr val="C00000"/>
              </a:solidFill>
            </a:endParaRPr>
          </a:p>
        </p:txBody>
      </p:sp>
    </p:spTree>
    <p:extLst>
      <p:ext uri="{BB962C8B-B14F-4D97-AF65-F5344CB8AC3E}">
        <p14:creationId xmlns:p14="http://schemas.microsoft.com/office/powerpoint/2010/main" val="2522610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57BB3767-A6C9-5E41-EECF-94C6EAAC30B7}"/>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8DAD6402-15F6-0B73-462B-05626FBFAE1E}"/>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USE CASE:</a:t>
            </a:r>
            <a:endParaRPr dirty="0"/>
          </a:p>
        </p:txBody>
      </p:sp>
      <p:sp>
        <p:nvSpPr>
          <p:cNvPr id="44" name="Google Shape;44;p3">
            <a:extLst>
              <a:ext uri="{FF2B5EF4-FFF2-40B4-BE49-F238E27FC236}">
                <a16:creationId xmlns:a16="http://schemas.microsoft.com/office/drawing/2014/main" id="{AF219523-D7A9-9ADF-B3A6-6644211B2D70}"/>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5</a:t>
            </a:fld>
            <a:endParaRPr/>
          </a:p>
        </p:txBody>
      </p:sp>
      <p:sp>
        <p:nvSpPr>
          <p:cNvPr id="45" name="Google Shape;45;p3">
            <a:extLst>
              <a:ext uri="{FF2B5EF4-FFF2-40B4-BE49-F238E27FC236}">
                <a16:creationId xmlns:a16="http://schemas.microsoft.com/office/drawing/2014/main" id="{D7828AF2-15F3-938B-03E0-B553CE37C370}"/>
              </a:ext>
            </a:extLst>
          </p:cNvPr>
          <p:cNvSpPr txBox="1">
            <a:spLocks noGrp="1"/>
          </p:cNvSpPr>
          <p:nvPr>
            <p:ph type="body" idx="1"/>
          </p:nvPr>
        </p:nvSpPr>
        <p:spPr>
          <a:xfrm>
            <a:off x="122238" y="584994"/>
            <a:ext cx="8745036" cy="4077493"/>
          </a:xfrm>
          <a:prstGeom prst="rect">
            <a:avLst/>
          </a:prstGeom>
          <a:noFill/>
          <a:ln>
            <a:noFill/>
          </a:ln>
        </p:spPr>
        <p:txBody>
          <a:bodyPr spcFirstLastPara="1" wrap="square" lIns="91425" tIns="91425" rIns="91425" bIns="91425" anchor="t" anchorCtr="0">
            <a:normAutofit lnSpcReduction="10000"/>
          </a:bodyPr>
          <a:lstStyle/>
          <a:p>
            <a:r>
              <a:rPr lang="en-US" sz="2000" b="1" dirty="0"/>
              <a:t>1. Early Identification of Diabetes Progression</a:t>
            </a:r>
          </a:p>
          <a:p>
            <a:r>
              <a:rPr lang="en-US" sz="2000" dirty="0"/>
              <a:t>The system can be used to identify the stage of diabetes at an early phase by</a:t>
            </a:r>
          </a:p>
          <a:p>
            <a:r>
              <a:rPr lang="en-US" sz="2000" dirty="0"/>
              <a:t>analyzing retinal fundus images. Since diabetic retinopathy reflects long-term</a:t>
            </a:r>
          </a:p>
          <a:p>
            <a:r>
              <a:rPr lang="en-US" sz="2000" dirty="0"/>
              <a:t>glucose exposure, the system helps in detecting disease progression even when</a:t>
            </a:r>
          </a:p>
          <a:p>
            <a:r>
              <a:rPr lang="en-US" sz="2000" dirty="0"/>
              <a:t>blood glucose readings appear temporarily normal.</a:t>
            </a:r>
          </a:p>
          <a:p>
            <a:r>
              <a:rPr lang="en-US" sz="2000" b="1" dirty="0"/>
              <a:t>2. Non-Invasive Diabetes Monitoring</a:t>
            </a:r>
          </a:p>
          <a:p>
            <a:r>
              <a:rPr lang="en-US" sz="2000" dirty="0"/>
              <a:t>The proposed approach provides a non-invasive alternative to frequent blood</a:t>
            </a:r>
          </a:p>
          <a:p>
            <a:r>
              <a:rPr lang="en-US" sz="2000" dirty="0"/>
              <a:t>tests. By using fundus images, patients can be monitored without repeated needle</a:t>
            </a:r>
          </a:p>
          <a:p>
            <a:r>
              <a:rPr lang="en-US" sz="2000" dirty="0"/>
              <a:t>based glucose testing, improving comfort and compliance.</a:t>
            </a:r>
          </a:p>
          <a:p>
            <a:r>
              <a:rPr lang="en-US" sz="2000" b="1" dirty="0"/>
              <a:t>3. Support for Clinical Decision-Making</a:t>
            </a:r>
          </a:p>
          <a:p>
            <a:r>
              <a:rPr lang="en-US" sz="2000" dirty="0"/>
              <a:t>Healthcare professionals can use the system as a decision-support tool to assess</a:t>
            </a:r>
          </a:p>
          <a:p>
            <a:r>
              <a:rPr lang="en-US" sz="2000" dirty="0"/>
              <a:t>diabetes severity based on retinal damage. The predicted diabetes stage can help</a:t>
            </a:r>
          </a:p>
          <a:p>
            <a:r>
              <a:rPr lang="en-US" sz="2000" dirty="0"/>
              <a:t>doctors plan timely treatment, medication adjustments, and lifestyle</a:t>
            </a:r>
          </a:p>
          <a:p>
            <a:r>
              <a:rPr lang="en-US" sz="2000" dirty="0"/>
              <a:t>recommendations.</a:t>
            </a:r>
          </a:p>
          <a:p>
            <a:endParaRPr lang="en-US" sz="2000" dirty="0"/>
          </a:p>
          <a:p>
            <a:endParaRPr lang="en-US" sz="2000" dirty="0"/>
          </a:p>
          <a:p>
            <a:pPr marL="457200" lvl="0" indent="-310832" algn="l" rtl="0">
              <a:lnSpc>
                <a:spcPct val="115000"/>
              </a:lnSpc>
              <a:spcBef>
                <a:spcPts val="0"/>
              </a:spcBef>
              <a:spcAft>
                <a:spcPts val="0"/>
              </a:spcAft>
              <a:buClr>
                <a:srgbClr val="595959"/>
              </a:buClr>
              <a:buSzPct val="58333"/>
              <a:buChar char="●"/>
            </a:pPr>
            <a:endParaRPr lang="en-US" dirty="0">
              <a:solidFill>
                <a:srgbClr val="C00000"/>
              </a:solidFill>
            </a:endParaRPr>
          </a:p>
        </p:txBody>
      </p:sp>
    </p:spTree>
    <p:extLst>
      <p:ext uri="{BB962C8B-B14F-4D97-AF65-F5344CB8AC3E}">
        <p14:creationId xmlns:p14="http://schemas.microsoft.com/office/powerpoint/2010/main" val="2723105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12774030-E392-B432-6E7A-76E2BDF27DB6}"/>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E75F146-7BAC-CB91-E9BA-529C0686CD87}"/>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Discuss Base paper</a:t>
            </a:r>
            <a:endParaRPr dirty="0"/>
          </a:p>
        </p:txBody>
      </p:sp>
      <p:sp>
        <p:nvSpPr>
          <p:cNvPr id="44" name="Google Shape;44;p3">
            <a:extLst>
              <a:ext uri="{FF2B5EF4-FFF2-40B4-BE49-F238E27FC236}">
                <a16:creationId xmlns:a16="http://schemas.microsoft.com/office/drawing/2014/main" id="{82EDA916-72D6-91D3-06EF-15AF79D6F478}"/>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6</a:t>
            </a:fld>
            <a:endParaRPr/>
          </a:p>
        </p:txBody>
      </p:sp>
      <p:sp>
        <p:nvSpPr>
          <p:cNvPr id="45" name="Google Shape;45;p3">
            <a:extLst>
              <a:ext uri="{FF2B5EF4-FFF2-40B4-BE49-F238E27FC236}">
                <a16:creationId xmlns:a16="http://schemas.microsoft.com/office/drawing/2014/main" id="{F748923F-AA13-FEBF-422A-60173F232135}"/>
              </a:ext>
            </a:extLst>
          </p:cNvPr>
          <p:cNvSpPr txBox="1">
            <a:spLocks noGrp="1"/>
          </p:cNvSpPr>
          <p:nvPr>
            <p:ph type="body" idx="1"/>
          </p:nvPr>
        </p:nvSpPr>
        <p:spPr>
          <a:xfrm>
            <a:off x="190500" y="649287"/>
            <a:ext cx="8763000" cy="3748087"/>
          </a:xfrm>
          <a:prstGeom prst="rect">
            <a:avLst/>
          </a:prstGeom>
          <a:noFill/>
          <a:ln>
            <a:noFill/>
          </a:ln>
        </p:spPr>
        <p:txBody>
          <a:bodyPr spcFirstLastPara="1" wrap="square" lIns="91425" tIns="91425" rIns="91425" bIns="91425" anchor="t" anchorCtr="0">
            <a:normAutofit/>
          </a:bodyPr>
          <a:lstStyle/>
          <a:p>
            <a:pPr marL="146368" lvl="0" indent="0">
              <a:lnSpc>
                <a:spcPct val="115000"/>
              </a:lnSpc>
              <a:buClr>
                <a:srgbClr val="595959"/>
              </a:buClr>
              <a:buSzPct val="58333"/>
            </a:pPr>
            <a:r>
              <a:rPr lang="en-US" sz="2000" dirty="0"/>
              <a:t>The base paper focuses on the early detection of diabetic retinopathy using retinal fundus images. Diabetic retinopathy is a serious eye disease caused by long-term diabetes and is one of the main reasons for vision loss. Manual detection by eye specialists is time-consuming and not easily available in all areas. To solve this problem, the paper proposes an automated and lightweight system that can detect diabetic retinopathy at an early stage using fundus images.</a:t>
            </a:r>
          </a:p>
          <a:p>
            <a:pPr marL="146368" lvl="0" indent="0">
              <a:lnSpc>
                <a:spcPct val="115000"/>
              </a:lnSpc>
              <a:buClr>
                <a:srgbClr val="595959"/>
              </a:buClr>
              <a:buSzPct val="58333"/>
            </a:pPr>
            <a:r>
              <a:rPr lang="en-IN" sz="2000" dirty="0"/>
              <a:t>The authors identify three important retinal features that indicate diabetic retinopathy: microaneurysms, hard exudates, and abnormal blood vessels. The fundus images are first enhanced using image preprocessing techniques such as contrast enhancement and noise removal.</a:t>
            </a:r>
            <a:endParaRPr lang="en-US" sz="2000" dirty="0">
              <a:solidFill>
                <a:srgbClr val="C00000"/>
              </a:solidFill>
            </a:endParaRPr>
          </a:p>
        </p:txBody>
      </p:sp>
    </p:spTree>
    <p:extLst>
      <p:ext uri="{BB962C8B-B14F-4D97-AF65-F5344CB8AC3E}">
        <p14:creationId xmlns:p14="http://schemas.microsoft.com/office/powerpoint/2010/main" val="2878873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947735E3-4AD4-BFBA-C258-50F3B244CDE1}"/>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1B32877-4189-B9A8-8225-854C7146A853}"/>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Discuss Base paper</a:t>
            </a:r>
            <a:endParaRPr dirty="0"/>
          </a:p>
        </p:txBody>
      </p:sp>
      <p:sp>
        <p:nvSpPr>
          <p:cNvPr id="44" name="Google Shape;44;p3">
            <a:extLst>
              <a:ext uri="{FF2B5EF4-FFF2-40B4-BE49-F238E27FC236}">
                <a16:creationId xmlns:a16="http://schemas.microsoft.com/office/drawing/2014/main" id="{89480BD7-EB73-E4C8-D779-6CA10D50A7BD}"/>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7</a:t>
            </a:fld>
            <a:endParaRPr/>
          </a:p>
        </p:txBody>
      </p:sp>
      <p:sp>
        <p:nvSpPr>
          <p:cNvPr id="45" name="Google Shape;45;p3">
            <a:extLst>
              <a:ext uri="{FF2B5EF4-FFF2-40B4-BE49-F238E27FC236}">
                <a16:creationId xmlns:a16="http://schemas.microsoft.com/office/drawing/2014/main" id="{F20B4637-4076-B853-37A0-E3A13BF99D77}"/>
              </a:ext>
            </a:extLst>
          </p:cNvPr>
          <p:cNvSpPr txBox="1">
            <a:spLocks noGrp="1"/>
          </p:cNvSpPr>
          <p:nvPr>
            <p:ph type="body" idx="1"/>
          </p:nvPr>
        </p:nvSpPr>
        <p:spPr>
          <a:xfrm>
            <a:off x="0" y="733926"/>
            <a:ext cx="8763000" cy="3479800"/>
          </a:xfrm>
          <a:prstGeom prst="rect">
            <a:avLst/>
          </a:prstGeom>
          <a:noFill/>
          <a:ln>
            <a:noFill/>
          </a:ln>
        </p:spPr>
        <p:txBody>
          <a:bodyPr spcFirstLastPara="1" wrap="square" lIns="91425" tIns="91425" rIns="91425" bIns="91425" anchor="t" anchorCtr="0">
            <a:normAutofit/>
          </a:bodyPr>
          <a:lstStyle/>
          <a:p>
            <a:pPr algn="just"/>
            <a:r>
              <a:rPr lang="en-US" sz="2000" dirty="0"/>
              <a:t>Then, morphological image processing methods like thresholding, erosion, and</a:t>
            </a:r>
          </a:p>
          <a:p>
            <a:pPr algn="just"/>
            <a:r>
              <a:rPr lang="en-US" sz="2000" dirty="0"/>
              <a:t>dilation are used to accurately extract these retinal features. The extracted features</a:t>
            </a:r>
          </a:p>
          <a:p>
            <a:pPr algn="just"/>
            <a:r>
              <a:rPr lang="en-US" sz="2000" dirty="0"/>
              <a:t>are analyzed based on their size, shape, and distribution.</a:t>
            </a:r>
          </a:p>
          <a:p>
            <a:pPr algn="just"/>
            <a:r>
              <a:rPr lang="en-US" sz="2000" dirty="0"/>
              <a:t>Finally, the system uses supervised machine learning models to classify images as</a:t>
            </a:r>
          </a:p>
          <a:p>
            <a:pPr algn="just"/>
            <a:r>
              <a:rPr lang="en-US" sz="2000" dirty="0"/>
              <a:t>either normal or having diabetic retinopathy. The results are validated using</a:t>
            </a:r>
          </a:p>
          <a:p>
            <a:pPr algn="just"/>
            <a:r>
              <a:rPr lang="en-US" sz="2000" dirty="0"/>
              <a:t>expert ophthalmologist reviews and evaluated using accuracy, sensitivity,</a:t>
            </a:r>
          </a:p>
          <a:p>
            <a:pPr algn="just"/>
            <a:r>
              <a:rPr lang="en-US" sz="2000" dirty="0"/>
              <a:t>specificity, and ROC curves. The paper concludes that the proposed lightweight</a:t>
            </a:r>
          </a:p>
          <a:p>
            <a:pPr algn="just"/>
            <a:r>
              <a:rPr lang="en-US" sz="2000" dirty="0"/>
              <a:t>system provides reliable early detection of diabetic retinopathy</a:t>
            </a:r>
          </a:p>
          <a:p>
            <a:pPr lvl="0" indent="-310832">
              <a:lnSpc>
                <a:spcPct val="115000"/>
              </a:lnSpc>
              <a:buClr>
                <a:srgbClr val="595959"/>
              </a:buClr>
              <a:buSzPct val="58333"/>
              <a:buChar char="●"/>
            </a:pPr>
            <a:endParaRPr lang="en-US" sz="2000" dirty="0">
              <a:solidFill>
                <a:srgbClr val="C00000"/>
              </a:solidFill>
            </a:endParaRPr>
          </a:p>
        </p:txBody>
      </p:sp>
    </p:spTree>
    <p:extLst>
      <p:ext uri="{BB962C8B-B14F-4D97-AF65-F5344CB8AC3E}">
        <p14:creationId xmlns:p14="http://schemas.microsoft.com/office/powerpoint/2010/main" val="2751791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FA08B5-DB48-1250-AD03-3A8B27632B3A}"/>
              </a:ext>
            </a:extLst>
          </p:cNvPr>
          <p:cNvSpPr>
            <a:spLocks noGrp="1"/>
          </p:cNvSpPr>
          <p:nvPr>
            <p:ph type="sldNum" idx="14"/>
          </p:nvPr>
        </p:nvSpPr>
        <p:spPr/>
        <p:txBody>
          <a:bodyPr/>
          <a:lstStyle/>
          <a:p>
            <a:pPr>
              <a:defRPr/>
            </a:pPr>
            <a:fld id="{EF26C623-DE27-4A99-8424-AFD36C142E5A}" type="slidenum">
              <a:rPr lang="en-US" altLang="en-US" smtClean="0"/>
              <a:pPr>
                <a:defRPr/>
              </a:pPr>
              <a:t>8</a:t>
            </a:fld>
            <a:endParaRPr lang="en-US" altLang="en-US"/>
          </a:p>
        </p:txBody>
      </p:sp>
      <p:pic>
        <p:nvPicPr>
          <p:cNvPr id="6" name="Picture 5">
            <a:extLst>
              <a:ext uri="{FF2B5EF4-FFF2-40B4-BE49-F238E27FC236}">
                <a16:creationId xmlns:a16="http://schemas.microsoft.com/office/drawing/2014/main" id="{8521C254-768C-4904-5AD3-54AFB838C7F5}"/>
              </a:ext>
            </a:extLst>
          </p:cNvPr>
          <p:cNvPicPr>
            <a:picLocks noChangeAspect="1"/>
          </p:cNvPicPr>
          <p:nvPr/>
        </p:nvPicPr>
        <p:blipFill>
          <a:blip r:embed="rId2"/>
          <a:stretch>
            <a:fillRect/>
          </a:stretch>
        </p:blipFill>
        <p:spPr>
          <a:xfrm>
            <a:off x="1100510" y="378994"/>
            <a:ext cx="6443290" cy="3182354"/>
          </a:xfrm>
          <a:prstGeom prst="rect">
            <a:avLst/>
          </a:prstGeom>
        </p:spPr>
      </p:pic>
      <p:sp>
        <p:nvSpPr>
          <p:cNvPr id="8" name="TextBox 7">
            <a:extLst>
              <a:ext uri="{FF2B5EF4-FFF2-40B4-BE49-F238E27FC236}">
                <a16:creationId xmlns:a16="http://schemas.microsoft.com/office/drawing/2014/main" id="{65855240-ABB8-8E8F-9912-7FF69E3B7400}"/>
              </a:ext>
            </a:extLst>
          </p:cNvPr>
          <p:cNvSpPr txBox="1"/>
          <p:nvPr/>
        </p:nvSpPr>
        <p:spPr>
          <a:xfrm>
            <a:off x="122238" y="3781562"/>
            <a:ext cx="8899524" cy="707886"/>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Fundus images of different types of capillary abnormalities (I) Normal capillary, (II) Microaneurysms, (III) Abnormal blood vessel (IV) Exudates.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26753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887E4D95-9B90-5CD5-5578-AA0F30E17AE9}"/>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6C55AAB4-6EF3-90A5-6924-CE9D37503E1C}"/>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Comparison with Base paper</a:t>
            </a:r>
            <a:endParaRPr dirty="0"/>
          </a:p>
        </p:txBody>
      </p:sp>
      <p:sp>
        <p:nvSpPr>
          <p:cNvPr id="44" name="Google Shape;44;p3">
            <a:extLst>
              <a:ext uri="{FF2B5EF4-FFF2-40B4-BE49-F238E27FC236}">
                <a16:creationId xmlns:a16="http://schemas.microsoft.com/office/drawing/2014/main" id="{E17B29A8-2984-8C8B-5B03-04D2FBD73F3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9</a:t>
            </a:fld>
            <a:endParaRPr/>
          </a:p>
        </p:txBody>
      </p:sp>
      <p:sp>
        <p:nvSpPr>
          <p:cNvPr id="45" name="Google Shape;45;p3">
            <a:extLst>
              <a:ext uri="{FF2B5EF4-FFF2-40B4-BE49-F238E27FC236}">
                <a16:creationId xmlns:a16="http://schemas.microsoft.com/office/drawing/2014/main" id="{CAC83859-80BA-CA57-4D39-B983030D6030}"/>
              </a:ext>
            </a:extLst>
          </p:cNvPr>
          <p:cNvSpPr txBox="1">
            <a:spLocks noGrp="1"/>
          </p:cNvSpPr>
          <p:nvPr>
            <p:ph type="body" idx="1"/>
          </p:nvPr>
        </p:nvSpPr>
        <p:spPr>
          <a:xfrm>
            <a:off x="0" y="529389"/>
            <a:ext cx="9144000" cy="4379495"/>
          </a:xfrm>
          <a:prstGeom prst="rect">
            <a:avLst/>
          </a:prstGeom>
          <a:noFill/>
          <a:ln>
            <a:noFill/>
          </a:ln>
        </p:spPr>
        <p:txBody>
          <a:bodyPr spcFirstLastPara="1" wrap="square" lIns="91425" tIns="91425" rIns="91425" bIns="91425" anchor="t" anchorCtr="0">
            <a:normAutofit fontScale="92500"/>
          </a:bodyPr>
          <a:lstStyle/>
          <a:p>
            <a:r>
              <a:rPr lang="en-US" sz="2200" b="1" dirty="0"/>
              <a:t>Base Paper :</a:t>
            </a:r>
            <a:r>
              <a:rPr lang="en-US" sz="2200" dirty="0"/>
              <a:t>A Lightweight Classification System for the Early Detection of Diabetic Retinopathy (2025)</a:t>
            </a:r>
          </a:p>
          <a:p>
            <a:r>
              <a:rPr lang="en-US" sz="2200" b="1" dirty="0"/>
              <a:t>Student Proposal : </a:t>
            </a:r>
            <a:r>
              <a:rPr lang="en-US" sz="2200" dirty="0"/>
              <a:t>“Diabetes Stage Prediction Using Retinal Fundus Images Based on Diabetic Retinopathy Feature Analysis”</a:t>
            </a:r>
          </a:p>
          <a:p>
            <a:r>
              <a:rPr lang="en-US" sz="2200" b="1" dirty="0"/>
              <a:t>Comparison:</a:t>
            </a:r>
          </a:p>
          <a:p>
            <a:pPr marL="571500" indent="-342900">
              <a:buFont typeface="Arial" panose="020B0604020202020204" pitchFamily="34" charset="0"/>
              <a:buChar char="•"/>
            </a:pPr>
            <a:r>
              <a:rPr lang="en-US" sz="2200" dirty="0"/>
              <a:t>Base paper focuses only on detecting the presence of diabetic retinopathy → Student proposal extends this by predicting the stage of diabetes based on retinal damage severity.</a:t>
            </a:r>
          </a:p>
          <a:p>
            <a:pPr marL="571500" indent="-342900">
              <a:buFont typeface="Arial" panose="020B0604020202020204" pitchFamily="34" charset="0"/>
              <a:buChar char="•"/>
            </a:pPr>
            <a:r>
              <a:rPr lang="en-US" sz="2200" dirty="0"/>
              <a:t>Base paper performs binary classification (DR / No DR) → Student proposal performs multi-level classification (Early / Moderate / Advanced diabetes).</a:t>
            </a:r>
          </a:p>
          <a:p>
            <a:pPr marL="571500" indent="-342900">
              <a:buFont typeface="Arial" panose="020B0604020202020204" pitchFamily="34" charset="0"/>
              <a:buChar char="•"/>
            </a:pPr>
            <a:r>
              <a:rPr lang="en-IN" sz="2200" dirty="0"/>
              <a:t>Base paper evaluates performance using accuracy and ROC curves for DR detection → Student proposal evaluates performance for diabetes stage prediction using extended classification metrics.</a:t>
            </a:r>
            <a:endParaRPr lang="en-US" sz="2200" dirty="0"/>
          </a:p>
          <a:p>
            <a:endParaRPr lang="en-US" b="1" dirty="0"/>
          </a:p>
        </p:txBody>
      </p:sp>
    </p:spTree>
    <p:extLst>
      <p:ext uri="{BB962C8B-B14F-4D97-AF65-F5344CB8AC3E}">
        <p14:creationId xmlns:p14="http://schemas.microsoft.com/office/powerpoint/2010/main" val="2078242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8A0BDC22-9D97-4A2F-6FAC-CB975A1879BF}"/>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84B47DD9-839A-12CE-23B2-B17469243CD7}"/>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61583327-6403-24AD-923D-B6DDCA164508}"/>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10</a:t>
            </a:fld>
            <a:endParaRPr/>
          </a:p>
        </p:txBody>
      </p:sp>
      <p:sp>
        <p:nvSpPr>
          <p:cNvPr id="45" name="Google Shape;45;p3">
            <a:extLst>
              <a:ext uri="{FF2B5EF4-FFF2-40B4-BE49-F238E27FC236}">
                <a16:creationId xmlns:a16="http://schemas.microsoft.com/office/drawing/2014/main" id="{B7F15019-A8B4-AAC4-1868-83C0623A5F34}"/>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rmAutofit/>
          </a:bodyPr>
          <a:lstStyle/>
          <a:p>
            <a:pPr marL="146368" lvl="0" indent="0">
              <a:lnSpc>
                <a:spcPct val="115000"/>
              </a:lnSpc>
              <a:buClr>
                <a:srgbClr val="595959"/>
              </a:buClr>
              <a:buSzPct val="58333"/>
            </a:pPr>
            <a:r>
              <a:rPr lang="en-US" sz="2000" b="1" dirty="0"/>
              <a:t>Title :</a:t>
            </a:r>
            <a:r>
              <a:rPr lang="en-IN" sz="2000" b="1" dirty="0"/>
              <a:t>Diabetes Detection from Non-Diabetic Retinopathy Fundus Images</a:t>
            </a:r>
          </a:p>
          <a:p>
            <a:pPr marL="571500" indent="-342900">
              <a:buFont typeface="Arial" panose="020B0604020202020204" pitchFamily="34" charset="0"/>
              <a:buChar char="•"/>
            </a:pPr>
            <a:r>
              <a:rPr lang="en-US" sz="2000" b="1" dirty="0"/>
              <a:t>Problem:</a:t>
            </a:r>
            <a:br>
              <a:rPr lang="en-US" sz="2000" dirty="0"/>
            </a:br>
            <a:r>
              <a:rPr lang="en-US" sz="2000" dirty="0"/>
              <a:t>Traditional diabetes diagnosis relies on blood tests, which provide only short-term glucose readings and may not reflect long-term disease status.</a:t>
            </a:r>
          </a:p>
          <a:p>
            <a:pPr marL="571500" indent="-342900">
              <a:buFont typeface="Arial" panose="020B0604020202020204" pitchFamily="34" charset="0"/>
              <a:buChar char="•"/>
            </a:pPr>
            <a:r>
              <a:rPr lang="en-US" sz="2000" b="1" dirty="0"/>
              <a:t>Approach:</a:t>
            </a:r>
            <a:br>
              <a:rPr lang="en-US" sz="2000" dirty="0"/>
            </a:br>
            <a:r>
              <a:rPr lang="en-US" sz="2000" dirty="0"/>
              <a:t>The paper proposes using retinal fundus images to detect diabetes even in the absence of visible diabetic retinopathy.</a:t>
            </a:r>
          </a:p>
          <a:p>
            <a:pPr marL="571500" indent="-342900">
              <a:buFont typeface="Arial" panose="020B0604020202020204" pitchFamily="34" charset="0"/>
              <a:buChar char="•"/>
            </a:pPr>
            <a:r>
              <a:rPr lang="en-US" sz="2000" b="1" dirty="0"/>
              <a:t>Method:</a:t>
            </a:r>
            <a:br>
              <a:rPr lang="en-US" sz="2000" dirty="0"/>
            </a:br>
            <a:r>
              <a:rPr lang="en-US" sz="2000" dirty="0"/>
              <a:t>Deep learning models are trained on fundus images to distinguish diabetic and non-diabetic individuals based on subtle retinal patterns unrelated to explicit DR lesions.</a:t>
            </a:r>
          </a:p>
          <a:p>
            <a:pPr marL="489268" lvl="0" indent="-342900">
              <a:lnSpc>
                <a:spcPct val="115000"/>
              </a:lnSpc>
              <a:buClr>
                <a:srgbClr val="595959"/>
              </a:buClr>
              <a:buSzPct val="58333"/>
              <a:buFont typeface="Arial" panose="020B0604020202020204" pitchFamily="34" charset="0"/>
              <a:buChar char="•"/>
            </a:pPr>
            <a:endParaRPr lang="en-US" sz="2000" b="1"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2747676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0C1304B-E03C-8903-D002-0706EEED05FF}"/>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2589EB08-967C-C56D-0967-33712A36F7C2}"/>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841F032-491B-A16B-BD40-8CC55E4BBE7E}"/>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11</a:t>
            </a:fld>
            <a:endParaRPr/>
          </a:p>
        </p:txBody>
      </p:sp>
      <p:sp>
        <p:nvSpPr>
          <p:cNvPr id="45" name="Google Shape;45;p3">
            <a:extLst>
              <a:ext uri="{FF2B5EF4-FFF2-40B4-BE49-F238E27FC236}">
                <a16:creationId xmlns:a16="http://schemas.microsoft.com/office/drawing/2014/main" id="{FA2DB6E5-5B84-C64C-AD8C-83B6D5466B3C}"/>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rmAutofit/>
          </a:bodyPr>
          <a:lstStyle/>
          <a:p>
            <a:pPr marL="146368" lvl="0" indent="0">
              <a:lnSpc>
                <a:spcPct val="115000"/>
              </a:lnSpc>
              <a:buClr>
                <a:srgbClr val="595959"/>
              </a:buClr>
              <a:buSzPct val="58333"/>
            </a:pPr>
            <a:r>
              <a:rPr lang="en-US" sz="2000" b="1" dirty="0"/>
              <a:t>Title :A Deep Learning System for Predicting Time to Progression of Diabetic Retinopathy(2024)</a:t>
            </a:r>
          </a:p>
          <a:p>
            <a:pPr marL="489268" lvl="0" indent="-342900">
              <a:lnSpc>
                <a:spcPct val="115000"/>
              </a:lnSpc>
              <a:buClr>
                <a:srgbClr val="595959"/>
              </a:buClr>
              <a:buSzPct val="58333"/>
              <a:buFont typeface="Arial" panose="020B0604020202020204" pitchFamily="34" charset="0"/>
              <a:buChar char="•"/>
            </a:pPr>
            <a:r>
              <a:rPr lang="en-US" sz="2000" b="1" dirty="0"/>
              <a:t>Problem:</a:t>
            </a:r>
            <a:br>
              <a:rPr lang="en-US" sz="2000" dirty="0"/>
            </a:br>
            <a:r>
              <a:rPr lang="en-US" sz="2000" dirty="0"/>
              <a:t>The progression of diabetic retinopathy varies significantly among individuals, making it difficult to predict disease worsening and optimize screening intervals.</a:t>
            </a:r>
          </a:p>
          <a:p>
            <a:pPr marL="571500" indent="-342900">
              <a:buFont typeface="Arial" panose="020B0604020202020204" pitchFamily="34" charset="0"/>
              <a:buChar char="•"/>
            </a:pPr>
            <a:r>
              <a:rPr lang="en-US" sz="2000" b="1" dirty="0"/>
              <a:t>Findings:</a:t>
            </a:r>
            <a:br>
              <a:rPr lang="en-US" sz="2000" dirty="0"/>
            </a:br>
            <a:r>
              <a:rPr lang="en-US" sz="2000" dirty="0"/>
              <a:t>The system achieves high predictive performance and enables personalized screening intervals, potentially reducing unnecessary frequent screenings while maintaining patient safety.</a:t>
            </a:r>
          </a:p>
          <a:p>
            <a:pPr marL="571500" indent="-342900">
              <a:buFont typeface="Arial" panose="020B0604020202020204" pitchFamily="34" charset="0"/>
              <a:buChar char="•"/>
            </a:pPr>
            <a:r>
              <a:rPr lang="en-US" sz="2000" b="1" dirty="0"/>
              <a:t>Limitation:</a:t>
            </a:r>
            <a:br>
              <a:rPr lang="en-US" sz="2000" dirty="0"/>
            </a:br>
            <a:r>
              <a:rPr lang="en-US" sz="2000" dirty="0"/>
              <a:t>The approach functions as a black-box model, does not provide lesion-level or spatial explanations, and focuses on DR progression rather than direct diabetes severity or macular threat assessment.</a:t>
            </a:r>
          </a:p>
          <a:p>
            <a:pPr marL="489268" lvl="0" indent="-342900">
              <a:lnSpc>
                <a:spcPct val="115000"/>
              </a:lnSpc>
              <a:buClr>
                <a:srgbClr val="595959"/>
              </a:buClr>
              <a:buSzPct val="58333"/>
              <a:buFont typeface="Arial" panose="020B0604020202020204" pitchFamily="34" charset="0"/>
              <a:buChar char="•"/>
            </a:pPr>
            <a:endParaRPr lang="en-US" sz="2000" b="1"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522939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A1BE4893-272D-D32D-20A8-CCB4223B3741}"/>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717A6114-F21A-2241-6BB9-C2093B2E57BE}"/>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E3F224DC-6DEA-FCC8-0002-C5FFE691F8B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12</a:t>
            </a:fld>
            <a:endParaRPr/>
          </a:p>
        </p:txBody>
      </p:sp>
      <p:sp>
        <p:nvSpPr>
          <p:cNvPr id="45" name="Google Shape;45;p3">
            <a:extLst>
              <a:ext uri="{FF2B5EF4-FFF2-40B4-BE49-F238E27FC236}">
                <a16:creationId xmlns:a16="http://schemas.microsoft.com/office/drawing/2014/main" id="{A60B2E1A-46A7-1E74-419E-53B24D6951EB}"/>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Autofit/>
          </a:bodyPr>
          <a:lstStyle/>
          <a:p>
            <a:pPr marL="146368" lvl="0" indent="0">
              <a:lnSpc>
                <a:spcPct val="115000"/>
              </a:lnSpc>
              <a:buClr>
                <a:srgbClr val="595959"/>
              </a:buClr>
              <a:buSzPct val="58333"/>
            </a:pPr>
            <a:r>
              <a:rPr lang="en-US" sz="2000" b="1" dirty="0"/>
              <a:t>Title :Predicting Diabetic Retinopathy Development Stages of Fundus Images Using Deep Learning Based on Combined Features</a:t>
            </a:r>
            <a:endParaRPr lang="en-IN" sz="2000" b="1" dirty="0"/>
          </a:p>
          <a:p>
            <a:pPr marL="571500" indent="-342900">
              <a:buFont typeface="Arial" panose="020B0604020202020204" pitchFamily="34" charset="0"/>
              <a:buChar char="•"/>
            </a:pPr>
            <a:r>
              <a:rPr lang="en-US" sz="2000" b="1" dirty="0"/>
              <a:t>Features:</a:t>
            </a:r>
          </a:p>
          <a:p>
            <a:r>
              <a:rPr lang="en-US" sz="2000" dirty="0"/>
              <a:t>CNN-based deep features (DenseNet-121, </a:t>
            </a:r>
            <a:r>
              <a:rPr lang="en-US" sz="2000" dirty="0" err="1"/>
              <a:t>AlexNet</a:t>
            </a:r>
            <a:r>
              <a:rPr lang="en-US" sz="2000" dirty="0"/>
              <a:t>),</a:t>
            </a:r>
          </a:p>
          <a:p>
            <a:r>
              <a:rPr lang="en-US" sz="2000" dirty="0"/>
              <a:t>Dimensionality reduction using PCA</a:t>
            </a:r>
          </a:p>
          <a:p>
            <a:pPr marL="571500" indent="-342900">
              <a:buFont typeface="Arial" panose="020B0604020202020204" pitchFamily="34" charset="0"/>
              <a:buChar char="•"/>
            </a:pPr>
            <a:r>
              <a:rPr lang="en-US" sz="2000" b="1" dirty="0"/>
              <a:t>Strengths:</a:t>
            </a:r>
          </a:p>
          <a:p>
            <a:r>
              <a:rPr lang="en-US" sz="2000" dirty="0"/>
              <a:t>Supports multi-stage diabetic retinopathy classification</a:t>
            </a:r>
          </a:p>
          <a:p>
            <a:r>
              <a:rPr lang="en-US" sz="2000" dirty="0"/>
              <a:t>Combines deep learning and handcrafted features for high accuracy</a:t>
            </a:r>
          </a:p>
          <a:p>
            <a:r>
              <a:rPr lang="en-US" sz="2000" dirty="0"/>
              <a:t>Demonstrates effectiveness of hybrid feature representation</a:t>
            </a:r>
          </a:p>
          <a:p>
            <a:pPr marL="571500" indent="-342900">
              <a:buFont typeface="Arial" panose="020B0604020202020204" pitchFamily="34" charset="0"/>
              <a:buChar char="•"/>
            </a:pPr>
            <a:r>
              <a:rPr lang="en-US" sz="2000" b="1" dirty="0"/>
              <a:t>Relevance to Our Project:</a:t>
            </a:r>
          </a:p>
          <a:p>
            <a:pPr algn="just"/>
            <a:r>
              <a:rPr lang="en-US" sz="2000" dirty="0"/>
              <a:t>This paper shows that DR severity can be predicted using fundus images. It</a:t>
            </a:r>
          </a:p>
          <a:p>
            <a:pPr algn="just"/>
            <a:r>
              <a:rPr lang="en-US" sz="2000" dirty="0"/>
              <a:t>supports our idea of moving beyond binary classification. However, it does not</a:t>
            </a:r>
          </a:p>
          <a:p>
            <a:pPr algn="just"/>
            <a:r>
              <a:rPr lang="en-US" sz="2000" dirty="0"/>
              <a:t>consider lesion location or macular involvement, which our project explicitly</a:t>
            </a:r>
          </a:p>
          <a:p>
            <a:pPr algn="just"/>
            <a:r>
              <a:rPr lang="en-US" sz="2000" dirty="0"/>
              <a:t>addresses through spatial lesion density and macular threat risk analysis.</a:t>
            </a:r>
          </a:p>
          <a:p>
            <a:pPr marL="489268" lvl="0" indent="-342900" algn="just">
              <a:lnSpc>
                <a:spcPct val="115000"/>
              </a:lnSpc>
              <a:buClr>
                <a:srgbClr val="595959"/>
              </a:buClr>
              <a:buSzPct val="58333"/>
              <a:buFont typeface="Arial" panose="020B0604020202020204" pitchFamily="34" charset="0"/>
              <a:buChar char="•"/>
            </a:pPr>
            <a:endParaRPr lang="en-US" sz="2000" b="1"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1857658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64B50188-01A5-AB39-5054-6F1B307FAB28}"/>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C4F3DB85-E0CD-6164-716D-6B9701E63BBE}"/>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C5D77591-62B9-AC1B-B3CD-C226EEAA680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13</a:t>
            </a:fld>
            <a:endParaRPr/>
          </a:p>
        </p:txBody>
      </p:sp>
      <p:sp>
        <p:nvSpPr>
          <p:cNvPr id="45" name="Google Shape;45;p3">
            <a:extLst>
              <a:ext uri="{FF2B5EF4-FFF2-40B4-BE49-F238E27FC236}">
                <a16:creationId xmlns:a16="http://schemas.microsoft.com/office/drawing/2014/main" id="{FDF7DB27-2126-E672-8551-2249178B175B}"/>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Autofit/>
          </a:bodyPr>
          <a:lstStyle/>
          <a:p>
            <a:pPr marL="146368" lvl="0" indent="0">
              <a:lnSpc>
                <a:spcPct val="115000"/>
              </a:lnSpc>
              <a:buClr>
                <a:srgbClr val="595959"/>
              </a:buClr>
              <a:buSzPct val="58333"/>
            </a:pPr>
            <a:r>
              <a:rPr lang="en-US" sz="2000" b="1" dirty="0"/>
              <a:t>Title :Use of Artificial Intelligence with Retinal Imaging in Screening for Diabetes-Associated Complications: A Systematic Review</a:t>
            </a:r>
            <a:endParaRPr lang="en-IN" sz="2000" b="1" dirty="0"/>
          </a:p>
          <a:p>
            <a:pPr marL="571500" indent="-342900">
              <a:buFont typeface="Arial" panose="020B0604020202020204" pitchFamily="34" charset="0"/>
              <a:buChar char="•"/>
            </a:pPr>
            <a:r>
              <a:rPr lang="en-US" sz="2000" b="1" dirty="0"/>
              <a:t>Approach:</a:t>
            </a:r>
          </a:p>
          <a:p>
            <a:r>
              <a:rPr lang="en-US" sz="2000" dirty="0"/>
              <a:t>	The study systematically reviews existing AI-based retinal imaging methods used to screen for diabetic complications.</a:t>
            </a:r>
          </a:p>
          <a:p>
            <a:pPr marL="571500" indent="-342900">
              <a:buFont typeface="Arial" panose="020B0604020202020204" pitchFamily="34" charset="0"/>
              <a:buChar char="•"/>
            </a:pPr>
            <a:r>
              <a:rPr lang="en-US" sz="2000" b="1" dirty="0"/>
              <a:t>Method:</a:t>
            </a:r>
          </a:p>
          <a:p>
            <a:r>
              <a:rPr lang="en-US" sz="2000" dirty="0"/>
              <a:t>	A comprehensive analysis of published AI models and retinal imaging studies is conducted to evaluate their effectiveness and clinical applicability.</a:t>
            </a:r>
          </a:p>
          <a:p>
            <a:pPr marL="571500" indent="-342900">
              <a:buFont typeface="Arial" panose="020B0604020202020204" pitchFamily="34" charset="0"/>
              <a:buChar char="•"/>
            </a:pPr>
            <a:r>
              <a:rPr lang="en-US" sz="2000" b="1" dirty="0"/>
              <a:t>Relevance to Our Project:</a:t>
            </a:r>
          </a:p>
          <a:p>
            <a:r>
              <a:rPr lang="en-US" sz="2000" dirty="0"/>
              <a:t>	This review supports the use of fundus images for assessing long-term diabetic effects and motivates our project to develop an explainable system that estimates diabetes severity and macular threat risk using lesion-based spatial analysis.</a:t>
            </a:r>
          </a:p>
          <a:p>
            <a:endParaRPr lang="en-US" sz="2000" dirty="0"/>
          </a:p>
          <a:p>
            <a:pPr marL="489268" lvl="0" indent="-342900" algn="just">
              <a:lnSpc>
                <a:spcPct val="115000"/>
              </a:lnSpc>
              <a:buClr>
                <a:srgbClr val="595959"/>
              </a:buClr>
              <a:buSzPct val="58333"/>
              <a:buFont typeface="Arial" panose="020B0604020202020204" pitchFamily="34" charset="0"/>
              <a:buChar char="•"/>
            </a:pPr>
            <a:endParaRPr lang="en-US" sz="2000" b="1"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1814304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00D48744-6E52-1D52-47E9-D4A00D00086E}"/>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233C7487-40E0-3165-52F5-D153D924EA42}"/>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CD4690B4-DD26-4BBC-571F-17B5091145B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14</a:t>
            </a:fld>
            <a:endParaRPr/>
          </a:p>
        </p:txBody>
      </p:sp>
      <p:sp>
        <p:nvSpPr>
          <p:cNvPr id="45" name="Google Shape;45;p3">
            <a:extLst>
              <a:ext uri="{FF2B5EF4-FFF2-40B4-BE49-F238E27FC236}">
                <a16:creationId xmlns:a16="http://schemas.microsoft.com/office/drawing/2014/main" id="{BCBB211E-28A9-1F5A-A4D6-B3C8321829D7}"/>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Autofit/>
          </a:bodyPr>
          <a:lstStyle/>
          <a:p>
            <a:pPr marL="146368" lvl="0" indent="0">
              <a:lnSpc>
                <a:spcPct val="115000"/>
              </a:lnSpc>
              <a:buClr>
                <a:srgbClr val="595959"/>
              </a:buClr>
              <a:buSzPct val="58333"/>
            </a:pPr>
            <a:r>
              <a:rPr lang="en-US" sz="2000" b="1" dirty="0"/>
              <a:t>Title :Analysis of Diabetic Retinopathy Based on Deep Learning</a:t>
            </a:r>
            <a:endParaRPr lang="en-IN" sz="2000" b="1" dirty="0"/>
          </a:p>
          <a:p>
            <a:pPr marL="571500" indent="-342900">
              <a:buFont typeface="Arial" panose="020B0604020202020204" pitchFamily="34" charset="0"/>
              <a:buChar char="•"/>
            </a:pPr>
            <a:r>
              <a:rPr lang="en-US" sz="2000" b="1" dirty="0"/>
              <a:t>Approach:</a:t>
            </a:r>
          </a:p>
          <a:p>
            <a:r>
              <a:rPr lang="en-US" sz="2000" dirty="0"/>
              <a:t>	The study systematically reviews existing AI-based retinal imaging methods used to screen for diabetic complications.</a:t>
            </a:r>
          </a:p>
          <a:p>
            <a:pPr marL="571500" indent="-342900">
              <a:buFont typeface="Arial" panose="020B0604020202020204" pitchFamily="34" charset="0"/>
              <a:buChar char="•"/>
            </a:pPr>
            <a:r>
              <a:rPr lang="en-US" sz="2000" b="1" dirty="0"/>
              <a:t>Method:</a:t>
            </a:r>
          </a:p>
          <a:p>
            <a:r>
              <a:rPr lang="en-US" sz="2000" dirty="0"/>
              <a:t>	A comprehensive analysis of published AI models and retinal imaging studies is conducted to evaluate their effectiveness and clinical applicability.</a:t>
            </a:r>
          </a:p>
          <a:p>
            <a:pPr marL="571500" indent="-342900">
              <a:buFont typeface="Arial" panose="020B0604020202020204" pitchFamily="34" charset="0"/>
              <a:buChar char="•"/>
            </a:pPr>
            <a:r>
              <a:rPr lang="en-US" sz="2000" b="1" dirty="0"/>
              <a:t>Relevance to Our Project:</a:t>
            </a:r>
          </a:p>
          <a:p>
            <a:r>
              <a:rPr lang="en-US" sz="2000" dirty="0"/>
              <a:t>	This review supports the use of fundus images for assessing long-term diabetic effects and motivates our project to develop an explainable system that estimates diabetes severity and macular threat risk using lesion-based spatial analysis.</a:t>
            </a:r>
          </a:p>
          <a:p>
            <a:endParaRPr lang="en-US" sz="2000" dirty="0"/>
          </a:p>
          <a:p>
            <a:pPr marL="489268" lvl="0" indent="-342900" algn="just">
              <a:lnSpc>
                <a:spcPct val="115000"/>
              </a:lnSpc>
              <a:buClr>
                <a:srgbClr val="595959"/>
              </a:buClr>
              <a:buSzPct val="58333"/>
              <a:buFont typeface="Arial" panose="020B0604020202020204" pitchFamily="34" charset="0"/>
              <a:buChar char="•"/>
            </a:pPr>
            <a:endParaRPr lang="en-US" sz="2000" b="1"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10654875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E82BF6A3-B72A-0F4E-9525-B0FB3892782D}"/>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EEA52142-489B-852C-4616-9153360A40C3}"/>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06BE3ABC-DEDD-897B-D9B6-F7D9F848C7DD}"/>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15</a:t>
            </a:fld>
            <a:endParaRPr/>
          </a:p>
        </p:txBody>
      </p:sp>
      <p:sp>
        <p:nvSpPr>
          <p:cNvPr id="45" name="Google Shape;45;p3">
            <a:extLst>
              <a:ext uri="{FF2B5EF4-FFF2-40B4-BE49-F238E27FC236}">
                <a16:creationId xmlns:a16="http://schemas.microsoft.com/office/drawing/2014/main" id="{D5489EF9-5613-D1D6-6A6B-535145557C6C}"/>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Autofit/>
          </a:bodyPr>
          <a:lstStyle/>
          <a:p>
            <a:r>
              <a:rPr lang="en-US" sz="2000" b="1" dirty="0"/>
              <a:t>Title :Predicting Systemic Health Features from Retinal Fundus Images Using</a:t>
            </a:r>
          </a:p>
          <a:p>
            <a:r>
              <a:rPr lang="en-US" sz="2000" b="1" dirty="0"/>
              <a:t>Transfer-Learning-Based Artificial Intelligence Models</a:t>
            </a:r>
            <a:endParaRPr lang="en-IN" sz="2000" b="1" dirty="0"/>
          </a:p>
          <a:p>
            <a:pPr marL="571500" indent="-342900" algn="just">
              <a:buFont typeface="Arial" panose="020B0604020202020204" pitchFamily="34" charset="0"/>
              <a:buChar char="•"/>
            </a:pPr>
            <a:r>
              <a:rPr lang="en-US" sz="2000" b="1" dirty="0"/>
              <a:t>Functionality:</a:t>
            </a:r>
          </a:p>
          <a:p>
            <a:pPr marL="228600" indent="0" algn="just"/>
            <a:r>
              <a:rPr lang="en-US" sz="2000" dirty="0"/>
              <a:t>Predicts systemic health indicators such as HbA1c, hypertension, and age directly from retinal fundus images using deep learning.</a:t>
            </a:r>
          </a:p>
          <a:p>
            <a:pPr marL="571500" indent="-342900" algn="just">
              <a:buFont typeface="Arial" panose="020B0604020202020204" pitchFamily="34" charset="0"/>
              <a:buChar char="•"/>
            </a:pPr>
            <a:r>
              <a:rPr lang="en-US" sz="2000" b="1" dirty="0"/>
              <a:t>Algorithm:</a:t>
            </a:r>
          </a:p>
          <a:p>
            <a:pPr marL="228600" indent="0" algn="just"/>
            <a:r>
              <a:rPr lang="en-US" sz="2000" dirty="0"/>
              <a:t>Transfer learning–based deep learning using </a:t>
            </a:r>
            <a:r>
              <a:rPr lang="en-US" sz="2000" b="1" dirty="0"/>
              <a:t>DenseNet-201 CNN</a:t>
            </a:r>
            <a:r>
              <a:rPr lang="en-US" sz="2000" dirty="0"/>
              <a:t>, pretrained on ImageNet and fine-tuned on retinal fundus images to predict systemic health features.</a:t>
            </a:r>
          </a:p>
          <a:p>
            <a:pPr marL="571500" indent="-342900" algn="just">
              <a:buFont typeface="Arial" panose="020B0604020202020204" pitchFamily="34" charset="0"/>
              <a:buChar char="•"/>
            </a:pPr>
            <a:r>
              <a:rPr lang="en-US" sz="2000" b="1" dirty="0"/>
              <a:t>Takeaway / Strength:</a:t>
            </a:r>
          </a:p>
          <a:p>
            <a:pPr marL="228600" indent="0" algn="just"/>
            <a:r>
              <a:rPr lang="en-US" sz="2000" dirty="0"/>
              <a:t>Demonstrates that retinal images contain strong biomarkers of long-term systemic conditions, including diabetes, without invasive tests.</a:t>
            </a:r>
          </a:p>
          <a:p>
            <a:pPr marL="571500" indent="-342900" algn="just">
              <a:buFont typeface="Arial" panose="020B0604020202020204" pitchFamily="34" charset="0"/>
              <a:buChar char="•"/>
            </a:pPr>
            <a:endParaRPr lang="en-US" sz="2000"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30856821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B00B63B4-B67D-949F-6648-40B38963362D}"/>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AFD56F02-612E-AABB-579D-004EC780A1E3}"/>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31009CBC-8AF5-DF20-411C-D0A513499748}"/>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16</a:t>
            </a:fld>
            <a:endParaRPr/>
          </a:p>
        </p:txBody>
      </p:sp>
      <p:sp>
        <p:nvSpPr>
          <p:cNvPr id="45" name="Google Shape;45;p3">
            <a:extLst>
              <a:ext uri="{FF2B5EF4-FFF2-40B4-BE49-F238E27FC236}">
                <a16:creationId xmlns:a16="http://schemas.microsoft.com/office/drawing/2014/main" id="{2911DE49-ABA8-742D-27D3-5ACB476E88F0}"/>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Autofit/>
          </a:bodyPr>
          <a:lstStyle/>
          <a:p>
            <a:r>
              <a:rPr lang="en-US" sz="2000" b="1" dirty="0"/>
              <a:t>Title :Use of Artificial Intelligence with Retinal Imaging in Screening for</a:t>
            </a:r>
          </a:p>
          <a:p>
            <a:r>
              <a:rPr lang="en-US" sz="2000" b="1" dirty="0"/>
              <a:t>Diabetes-Associated Complications</a:t>
            </a:r>
          </a:p>
          <a:p>
            <a:pPr marL="571500" indent="-342900">
              <a:buFont typeface="Arial" panose="020B0604020202020204" pitchFamily="34" charset="0"/>
              <a:buChar char="•"/>
            </a:pPr>
            <a:r>
              <a:rPr lang="en-IN" sz="2000" b="1" dirty="0"/>
              <a:t>Approach</a:t>
            </a:r>
          </a:p>
          <a:p>
            <a:r>
              <a:rPr lang="en-IN" sz="2000" dirty="0"/>
              <a:t>The paper reviews AI models that </a:t>
            </a:r>
            <a:r>
              <a:rPr lang="en-IN" sz="2000" dirty="0" err="1"/>
              <a:t>analyze</a:t>
            </a:r>
            <a:r>
              <a:rPr lang="en-IN" sz="2000" dirty="0"/>
              <a:t> retinal images to detect multiple</a:t>
            </a:r>
          </a:p>
          <a:p>
            <a:r>
              <a:rPr lang="en-IN" sz="2000" dirty="0"/>
              <a:t>diabetes-related complications beyond diabetic retinopathy.</a:t>
            </a:r>
          </a:p>
          <a:p>
            <a:pPr marL="571500" indent="-342900">
              <a:buFont typeface="Arial" panose="020B0604020202020204" pitchFamily="34" charset="0"/>
              <a:buChar char="•"/>
            </a:pPr>
            <a:r>
              <a:rPr lang="en-IN" sz="2000" b="1" dirty="0"/>
              <a:t>Method</a:t>
            </a:r>
          </a:p>
          <a:p>
            <a:r>
              <a:rPr lang="en-IN" sz="2000" dirty="0"/>
              <a:t>Systematic review of studies using AI/Deep Learning on fundus images</a:t>
            </a:r>
          </a:p>
          <a:p>
            <a:r>
              <a:rPr lang="en-IN" sz="2000" dirty="0"/>
              <a:t>Models include CNNs (</a:t>
            </a:r>
            <a:r>
              <a:rPr lang="en-IN" sz="2000" dirty="0" err="1"/>
              <a:t>ResNet</a:t>
            </a:r>
            <a:r>
              <a:rPr lang="en-IN" sz="2000" dirty="0"/>
              <a:t>, VGG, Inception, U-Net)</a:t>
            </a:r>
          </a:p>
          <a:p>
            <a:r>
              <a:rPr lang="en-IN" sz="2000" dirty="0"/>
              <a:t>Evaluated performance using AUC, sensitivity, specificity</a:t>
            </a:r>
          </a:p>
          <a:p>
            <a:r>
              <a:rPr lang="en-IN" sz="2000" dirty="0"/>
              <a:t>Covered both microvascular and macrovascular complications</a:t>
            </a:r>
          </a:p>
          <a:p>
            <a:pPr marL="571500" indent="-342900">
              <a:buFont typeface="Arial" panose="020B0604020202020204" pitchFamily="34" charset="0"/>
              <a:buChar char="•"/>
            </a:pPr>
            <a:r>
              <a:rPr lang="en-IN" sz="2000" b="1" dirty="0"/>
              <a:t>Findings</a:t>
            </a:r>
          </a:p>
          <a:p>
            <a:r>
              <a:rPr lang="en-IN" sz="2000" dirty="0"/>
              <a:t>AI can predict complications like kidney disease, cardiovascular disease,</a:t>
            </a:r>
          </a:p>
          <a:p>
            <a:r>
              <a:rPr lang="en-IN" sz="2000" dirty="0"/>
              <a:t>neuropathy, hypertension</a:t>
            </a:r>
          </a:p>
          <a:p>
            <a:pPr marL="571500" indent="-342900" algn="just">
              <a:buFont typeface="Arial" panose="020B0604020202020204" pitchFamily="34" charset="0"/>
              <a:buChar char="•"/>
            </a:pPr>
            <a:endParaRPr lang="en-US" sz="2000"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1601443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EF48A176-6423-CEA8-322E-ED8BE85CD2F6}"/>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9DAE9B5A-7ACC-A33F-CF10-5178177F5BB3}"/>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821C404E-BB01-5E20-9429-90219C29C635}"/>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17</a:t>
            </a:fld>
            <a:endParaRPr/>
          </a:p>
        </p:txBody>
      </p:sp>
      <p:sp>
        <p:nvSpPr>
          <p:cNvPr id="45" name="Google Shape;45;p3">
            <a:extLst>
              <a:ext uri="{FF2B5EF4-FFF2-40B4-BE49-F238E27FC236}">
                <a16:creationId xmlns:a16="http://schemas.microsoft.com/office/drawing/2014/main" id="{5E5FC9B3-B0D2-9490-5E55-A6E9414F1D8B}"/>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Autofit/>
          </a:bodyPr>
          <a:lstStyle/>
          <a:p>
            <a:r>
              <a:rPr lang="en-US" sz="2000" b="1" dirty="0"/>
              <a:t>Title :Predicting Diabetic Retinopathy Development Stages of Fundus Images</a:t>
            </a:r>
          </a:p>
          <a:p>
            <a:r>
              <a:rPr lang="en-US" sz="2000" b="1" dirty="0"/>
              <a:t>Using Deep Learning Based on Combined Features</a:t>
            </a:r>
          </a:p>
          <a:p>
            <a:pPr marL="571500" indent="-342900">
              <a:buFont typeface="Arial" panose="020B0604020202020204" pitchFamily="34" charset="0"/>
              <a:buChar char="•"/>
            </a:pPr>
            <a:r>
              <a:rPr lang="en-US" sz="2000" b="1" dirty="0"/>
              <a:t>Approach:</a:t>
            </a:r>
          </a:p>
          <a:p>
            <a:r>
              <a:rPr lang="en-US" sz="2000" dirty="0"/>
              <a:t>The paper proposes hybrid deep learning methods to automatically predict multiple</a:t>
            </a:r>
          </a:p>
          <a:p>
            <a:r>
              <a:rPr lang="en-US" sz="2000" dirty="0"/>
              <a:t>stages of diabetic retinopathy from fundus images.</a:t>
            </a:r>
          </a:p>
          <a:p>
            <a:pPr marL="571500" indent="-342900">
              <a:buFont typeface="Arial" panose="020B0604020202020204" pitchFamily="34" charset="0"/>
              <a:buChar char="•"/>
            </a:pPr>
            <a:r>
              <a:rPr lang="en-US" sz="2000" b="1" dirty="0"/>
              <a:t>Method:</a:t>
            </a:r>
          </a:p>
          <a:p>
            <a:r>
              <a:rPr lang="en-US" sz="2000" dirty="0"/>
              <a:t>DenseNet-121 and </a:t>
            </a:r>
            <a:r>
              <a:rPr lang="en-US" sz="2000" dirty="0" err="1"/>
              <a:t>AlexNet</a:t>
            </a:r>
            <a:r>
              <a:rPr lang="en-US" sz="2000" dirty="0"/>
              <a:t> are used for feature extraction, PCA for dimensionality</a:t>
            </a:r>
          </a:p>
          <a:p>
            <a:r>
              <a:rPr lang="en-US" sz="2000" dirty="0"/>
              <a:t>reduction, and ANN for classification. Deep features are also combined with</a:t>
            </a:r>
          </a:p>
          <a:p>
            <a:r>
              <a:rPr lang="en-US" sz="2000" dirty="0"/>
              <a:t>handcrafted features (DWT, LBP, FCH, GLCM).</a:t>
            </a:r>
          </a:p>
          <a:p>
            <a:pPr marL="571500" indent="-342900">
              <a:buFont typeface="Arial" panose="020B0604020202020204" pitchFamily="34" charset="0"/>
              <a:buChar char="•"/>
            </a:pPr>
            <a:r>
              <a:rPr lang="en-US" sz="2000" b="1" dirty="0"/>
              <a:t>Findings:</a:t>
            </a:r>
          </a:p>
          <a:p>
            <a:r>
              <a:rPr lang="en-US" sz="2000" dirty="0"/>
              <a:t>The hybrid radiomic feature approach achieves very high accuracy (up to </a:t>
            </a:r>
            <a:r>
              <a:rPr lang="en-US" sz="2000" b="1" dirty="0"/>
              <a:t>99.1%</a:t>
            </a:r>
            <a:r>
              <a:rPr lang="en-US" sz="2000" dirty="0"/>
              <a:t>) in</a:t>
            </a:r>
          </a:p>
          <a:p>
            <a:r>
              <a:rPr lang="en-US" sz="2000" dirty="0"/>
              <a:t>classifying five DR stages.</a:t>
            </a:r>
          </a:p>
          <a:p>
            <a:endParaRPr lang="en-US" sz="2000" b="1" dirty="0"/>
          </a:p>
          <a:p>
            <a:pPr marL="571500" indent="-342900" algn="just">
              <a:buFont typeface="Arial" panose="020B0604020202020204" pitchFamily="34" charset="0"/>
              <a:buChar char="•"/>
            </a:pPr>
            <a:endParaRPr lang="en-US" sz="2000"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947920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3F33338B-00CD-0084-82C4-AC0C3C39ECBC}"/>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110A1FE6-ABCE-C09B-F402-5727AD271776}"/>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294D88FE-0F0D-DF7C-0E17-B06CC8EE9EF9}"/>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18</a:t>
            </a:fld>
            <a:endParaRPr/>
          </a:p>
        </p:txBody>
      </p:sp>
      <p:sp>
        <p:nvSpPr>
          <p:cNvPr id="45" name="Google Shape;45;p3">
            <a:extLst>
              <a:ext uri="{FF2B5EF4-FFF2-40B4-BE49-F238E27FC236}">
                <a16:creationId xmlns:a16="http://schemas.microsoft.com/office/drawing/2014/main" id="{02C541D9-10A9-1769-C535-83D202FB6707}"/>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Autofit/>
          </a:bodyPr>
          <a:lstStyle/>
          <a:p>
            <a:r>
              <a:rPr lang="en-US" sz="2000" b="1" dirty="0"/>
              <a:t>Title :A Deep Learning Model for Screening Type 2 Diabetes from Retinal</a:t>
            </a:r>
          </a:p>
          <a:p>
            <a:r>
              <a:rPr lang="en-US" sz="2000" b="1" dirty="0"/>
              <a:t>Photographs</a:t>
            </a:r>
          </a:p>
          <a:p>
            <a:r>
              <a:rPr lang="en-US" sz="2000" b="1" dirty="0"/>
              <a:t>Approach:</a:t>
            </a:r>
          </a:p>
          <a:p>
            <a:r>
              <a:rPr lang="en-US" sz="2000" dirty="0"/>
              <a:t>The paper proposes a non-invasive deep learning–based screening system that</a:t>
            </a:r>
          </a:p>
          <a:p>
            <a:r>
              <a:rPr lang="en-US" sz="2000" dirty="0"/>
              <a:t>predicts type 2 diabetes directly from retinal fundus images.</a:t>
            </a:r>
          </a:p>
          <a:p>
            <a:pPr marL="571500" indent="-342900">
              <a:buFont typeface="Arial" panose="020B0604020202020204" pitchFamily="34" charset="0"/>
              <a:buChar char="•"/>
            </a:pPr>
            <a:r>
              <a:rPr lang="en-US" sz="2000" b="1" dirty="0"/>
              <a:t>Findings:</a:t>
            </a:r>
          </a:p>
          <a:p>
            <a:r>
              <a:rPr lang="en-US" sz="2000" dirty="0"/>
              <a:t>The model achieves moderate performance in detecting type 2 diabetes and shows</a:t>
            </a:r>
          </a:p>
          <a:p>
            <a:r>
              <a:rPr lang="en-US" sz="2000" dirty="0"/>
              <a:t>improved accuracy when combined with traditional risk factors, demonstrating that</a:t>
            </a:r>
          </a:p>
          <a:p>
            <a:r>
              <a:rPr lang="en-US" sz="2000" dirty="0"/>
              <a:t>retinal images capture long-term metabolic information.</a:t>
            </a:r>
          </a:p>
          <a:p>
            <a:pPr marL="571500" indent="-342900">
              <a:buFont typeface="Arial" panose="020B0604020202020204" pitchFamily="34" charset="0"/>
              <a:buChar char="•"/>
            </a:pPr>
            <a:r>
              <a:rPr lang="en-US" sz="2000" b="1" dirty="0"/>
              <a:t>Strengths / Takeaway:</a:t>
            </a:r>
          </a:p>
          <a:p>
            <a:r>
              <a:rPr lang="en-US" sz="2000" dirty="0"/>
              <a:t>Proves that fundus images alone can be used to screen for type 2 diabetes and</a:t>
            </a:r>
          </a:p>
          <a:p>
            <a:r>
              <a:rPr lang="en-US" sz="2000" dirty="0"/>
              <a:t>related metabolic risk factors in a non-invasive manner.</a:t>
            </a:r>
          </a:p>
          <a:p>
            <a:endParaRPr lang="en-US" sz="2000" b="1" dirty="0"/>
          </a:p>
          <a:p>
            <a:pPr marL="571500" indent="-342900" algn="just">
              <a:buFont typeface="Arial" panose="020B0604020202020204" pitchFamily="34" charset="0"/>
              <a:buChar char="•"/>
            </a:pPr>
            <a:endParaRPr lang="en-US" sz="2000"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4126121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9B4184AF-BF31-25A8-5B28-A10405515EF6}"/>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412C0CA-047E-6630-1502-F38D7A40EAA3}"/>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Literature review:</a:t>
            </a:r>
            <a:endParaRPr dirty="0"/>
          </a:p>
        </p:txBody>
      </p:sp>
      <p:sp>
        <p:nvSpPr>
          <p:cNvPr id="44" name="Google Shape;44;p3">
            <a:extLst>
              <a:ext uri="{FF2B5EF4-FFF2-40B4-BE49-F238E27FC236}">
                <a16:creationId xmlns:a16="http://schemas.microsoft.com/office/drawing/2014/main" id="{C70E401F-5397-EC27-7FE5-2C302BDAE7E9}"/>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19</a:t>
            </a:fld>
            <a:endParaRPr/>
          </a:p>
        </p:txBody>
      </p:sp>
      <p:sp>
        <p:nvSpPr>
          <p:cNvPr id="45" name="Google Shape;45;p3">
            <a:extLst>
              <a:ext uri="{FF2B5EF4-FFF2-40B4-BE49-F238E27FC236}">
                <a16:creationId xmlns:a16="http://schemas.microsoft.com/office/drawing/2014/main" id="{84A4A33E-371B-72A3-D077-D2F313B92A54}"/>
              </a:ext>
            </a:extLst>
          </p:cNvPr>
          <p:cNvSpPr txBox="1">
            <a:spLocks noGrp="1"/>
          </p:cNvSpPr>
          <p:nvPr>
            <p:ph type="body" idx="1"/>
          </p:nvPr>
        </p:nvSpPr>
        <p:spPr>
          <a:xfrm>
            <a:off x="122238" y="569625"/>
            <a:ext cx="8978900" cy="4377129"/>
          </a:xfrm>
          <a:prstGeom prst="rect">
            <a:avLst/>
          </a:prstGeom>
          <a:noFill/>
          <a:ln>
            <a:noFill/>
          </a:ln>
        </p:spPr>
        <p:txBody>
          <a:bodyPr spcFirstLastPara="1" wrap="square" lIns="91425" tIns="91425" rIns="91425" bIns="91425" anchor="t" anchorCtr="0">
            <a:noAutofit/>
          </a:bodyPr>
          <a:lstStyle/>
          <a:p>
            <a:r>
              <a:rPr lang="en-US" sz="2000" b="1" dirty="0"/>
              <a:t>Title :Diabetes Detection from Non-Diabetic Retinopathy Fundus Images</a:t>
            </a:r>
          </a:p>
          <a:p>
            <a:r>
              <a:rPr lang="en-US" sz="2000" b="1" dirty="0"/>
              <a:t>Using Deep Learning Methodology</a:t>
            </a:r>
          </a:p>
          <a:p>
            <a:r>
              <a:rPr lang="en-US" sz="2000" b="1" dirty="0"/>
              <a:t>Approach:</a:t>
            </a:r>
          </a:p>
          <a:p>
            <a:r>
              <a:rPr lang="en-US" sz="2000" dirty="0"/>
              <a:t>The paper proposes a non-invasive deep learning–based screening system that</a:t>
            </a:r>
          </a:p>
          <a:p>
            <a:r>
              <a:rPr lang="en-US" sz="2000" dirty="0"/>
              <a:t>predicts type 2 diabetes directly from retinal fundus images.</a:t>
            </a:r>
          </a:p>
          <a:p>
            <a:pPr marL="571500" indent="-342900">
              <a:buFont typeface="Arial" panose="020B0604020202020204" pitchFamily="34" charset="0"/>
              <a:buChar char="•"/>
            </a:pPr>
            <a:r>
              <a:rPr lang="en-US" sz="2000" b="1" dirty="0"/>
              <a:t>Findings:</a:t>
            </a:r>
          </a:p>
          <a:p>
            <a:r>
              <a:rPr lang="en-US" sz="2000" dirty="0"/>
              <a:t>The model achieves moderate performance in detecting type 2 diabetes and shows</a:t>
            </a:r>
          </a:p>
          <a:p>
            <a:r>
              <a:rPr lang="en-US" sz="2000" dirty="0"/>
              <a:t>improved accuracy when combined with traditional risk factors, demonstrating that</a:t>
            </a:r>
          </a:p>
          <a:p>
            <a:r>
              <a:rPr lang="en-US" sz="2000" dirty="0"/>
              <a:t>retinal images capture long-term metabolic information.</a:t>
            </a:r>
          </a:p>
          <a:p>
            <a:pPr marL="571500" indent="-342900">
              <a:buFont typeface="Arial" panose="020B0604020202020204" pitchFamily="34" charset="0"/>
              <a:buChar char="•"/>
            </a:pPr>
            <a:r>
              <a:rPr lang="en-US" sz="2000" b="1" dirty="0"/>
              <a:t>Strengths / Takeaway:</a:t>
            </a:r>
          </a:p>
          <a:p>
            <a:r>
              <a:rPr lang="en-US" sz="2000" dirty="0"/>
              <a:t>Proves that fundus images alone can be used to screen for type 2 diabetes and</a:t>
            </a:r>
          </a:p>
          <a:p>
            <a:r>
              <a:rPr lang="en-US" sz="2000" dirty="0"/>
              <a:t>related metabolic risk factors in a non-invasive manner.</a:t>
            </a:r>
          </a:p>
          <a:p>
            <a:endParaRPr lang="en-US" sz="2000" b="1" dirty="0"/>
          </a:p>
          <a:p>
            <a:pPr marL="571500" indent="-342900" algn="just">
              <a:buFont typeface="Arial" panose="020B0604020202020204" pitchFamily="34" charset="0"/>
              <a:buChar char="•"/>
            </a:pPr>
            <a:endParaRPr lang="en-US" sz="2000" dirty="0"/>
          </a:p>
          <a:p>
            <a:pPr marL="146368" lvl="0" indent="0">
              <a:lnSpc>
                <a:spcPct val="115000"/>
              </a:lnSpc>
              <a:buClr>
                <a:srgbClr val="595959"/>
              </a:buClr>
              <a:buSzPct val="58333"/>
            </a:pPr>
            <a:endParaRPr lang="en-US" sz="2000" b="1" dirty="0">
              <a:solidFill>
                <a:srgbClr val="C00000"/>
              </a:solidFill>
            </a:endParaRPr>
          </a:p>
        </p:txBody>
      </p:sp>
    </p:spTree>
    <p:extLst>
      <p:ext uri="{BB962C8B-B14F-4D97-AF65-F5344CB8AC3E}">
        <p14:creationId xmlns:p14="http://schemas.microsoft.com/office/powerpoint/2010/main" val="701210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E59E-1471-3092-E172-784AF4FD655A}"/>
              </a:ext>
            </a:extLst>
          </p:cNvPr>
          <p:cNvSpPr>
            <a:spLocks noGrp="1"/>
          </p:cNvSpPr>
          <p:nvPr>
            <p:ph type="ctrTitle"/>
          </p:nvPr>
        </p:nvSpPr>
        <p:spPr>
          <a:xfrm>
            <a:off x="0" y="0"/>
            <a:ext cx="9144000" cy="649288"/>
          </a:xfrm>
        </p:spPr>
        <p:txBody>
          <a:bodyPr>
            <a:normAutofit fontScale="90000"/>
          </a:bodyPr>
          <a:lstStyle/>
          <a:p>
            <a:pPr algn="l">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3115DD56-608E-6233-B559-288E13D42543}"/>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20</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951B64F4-5B40-3328-32DC-FDAB01F24396}"/>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7" name="Table 6">
            <a:extLst>
              <a:ext uri="{FF2B5EF4-FFF2-40B4-BE49-F238E27FC236}">
                <a16:creationId xmlns:a16="http://schemas.microsoft.com/office/drawing/2014/main" id="{6BEC0A26-BA6C-66A5-64B0-20F89C5D3883}"/>
              </a:ext>
            </a:extLst>
          </p:cNvPr>
          <p:cNvGraphicFramePr>
            <a:graphicFrameLocks noGrp="1"/>
          </p:cNvGraphicFramePr>
          <p:nvPr>
            <p:extLst>
              <p:ext uri="{D42A27DB-BD31-4B8C-83A1-F6EECF244321}">
                <p14:modId xmlns:p14="http://schemas.microsoft.com/office/powerpoint/2010/main" val="3636548618"/>
              </p:ext>
            </p:extLst>
          </p:nvPr>
        </p:nvGraphicFramePr>
        <p:xfrm>
          <a:off x="352269" y="971550"/>
          <a:ext cx="8626631" cy="3878577"/>
        </p:xfrm>
        <a:graphic>
          <a:graphicData uri="http://schemas.openxmlformats.org/drawingml/2006/table">
            <a:tbl>
              <a:tblPr firstRow="1" bandRow="1">
                <a:tableStyleId>{5C22544A-7EE6-4342-B048-85BDC9FD1C3A}</a:tableStyleId>
              </a:tblPr>
              <a:tblGrid>
                <a:gridCol w="758148">
                  <a:extLst>
                    <a:ext uri="{9D8B030D-6E8A-4147-A177-3AD203B41FA5}">
                      <a16:colId xmlns:a16="http://schemas.microsoft.com/office/drawing/2014/main" val="20000"/>
                    </a:ext>
                  </a:extLst>
                </a:gridCol>
                <a:gridCol w="1056108">
                  <a:extLst>
                    <a:ext uri="{9D8B030D-6E8A-4147-A177-3AD203B41FA5}">
                      <a16:colId xmlns:a16="http://schemas.microsoft.com/office/drawing/2014/main" val="20001"/>
                    </a:ext>
                  </a:extLst>
                </a:gridCol>
                <a:gridCol w="1063855">
                  <a:extLst>
                    <a:ext uri="{9D8B030D-6E8A-4147-A177-3AD203B41FA5}">
                      <a16:colId xmlns:a16="http://schemas.microsoft.com/office/drawing/2014/main" val="20002"/>
                    </a:ext>
                  </a:extLst>
                </a:gridCol>
                <a:gridCol w="921895">
                  <a:extLst>
                    <a:ext uri="{9D8B030D-6E8A-4147-A177-3AD203B41FA5}">
                      <a16:colId xmlns:a16="http://schemas.microsoft.com/office/drawing/2014/main" val="20003"/>
                    </a:ext>
                  </a:extLst>
                </a:gridCol>
                <a:gridCol w="995457">
                  <a:extLst>
                    <a:ext uri="{9D8B030D-6E8A-4147-A177-3AD203B41FA5}">
                      <a16:colId xmlns:a16="http://schemas.microsoft.com/office/drawing/2014/main" val="20004"/>
                    </a:ext>
                  </a:extLst>
                </a:gridCol>
                <a:gridCol w="957792">
                  <a:extLst>
                    <a:ext uri="{9D8B030D-6E8A-4147-A177-3AD203B41FA5}">
                      <a16:colId xmlns:a16="http://schemas.microsoft.com/office/drawing/2014/main" val="20005"/>
                    </a:ext>
                  </a:extLst>
                </a:gridCol>
                <a:gridCol w="957792">
                  <a:extLst>
                    <a:ext uri="{9D8B030D-6E8A-4147-A177-3AD203B41FA5}">
                      <a16:colId xmlns:a16="http://schemas.microsoft.com/office/drawing/2014/main" val="20006"/>
                    </a:ext>
                  </a:extLst>
                </a:gridCol>
                <a:gridCol w="957792">
                  <a:extLst>
                    <a:ext uri="{9D8B030D-6E8A-4147-A177-3AD203B41FA5}">
                      <a16:colId xmlns:a16="http://schemas.microsoft.com/office/drawing/2014/main" val="20007"/>
                    </a:ext>
                  </a:extLst>
                </a:gridCol>
                <a:gridCol w="957792">
                  <a:extLst>
                    <a:ext uri="{9D8B030D-6E8A-4147-A177-3AD203B41FA5}">
                      <a16:colId xmlns:a16="http://schemas.microsoft.com/office/drawing/2014/main" val="20008"/>
                    </a:ext>
                  </a:extLst>
                </a:gridCol>
              </a:tblGrid>
              <a:tr h="1409697">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651934">
                <a:tc>
                  <a:txBody>
                    <a:bodyPr/>
                    <a:lstStyle/>
                    <a:p>
                      <a:r>
                        <a:rPr lang="en-US" sz="800" dirty="0"/>
                        <a:t>A Lightweight Classification System for Early DR (2025)</a:t>
                      </a:r>
                    </a:p>
                  </a:txBody>
                  <a:tcPr/>
                </a:tc>
                <a:tc>
                  <a:txBody>
                    <a:bodyPr/>
                    <a:lstStyle/>
                    <a:p>
                      <a:r>
                        <a:rPr lang="en-US" sz="800" dirty="0"/>
                        <a:t>Early detection of diabetic retinopathy using low-complexity systems</a:t>
                      </a:r>
                    </a:p>
                  </a:txBody>
                  <a:tcPr/>
                </a:tc>
                <a:tc>
                  <a:txBody>
                    <a:bodyPr/>
                    <a:lstStyle/>
                    <a:p>
                      <a:r>
                        <a:rPr lang="en-US" sz="800" dirty="0"/>
                        <a:t>Image processing + ML-based feature extraction</a:t>
                      </a:r>
                    </a:p>
                  </a:txBody>
                  <a:tcPr/>
                </a:tc>
                <a:tc>
                  <a:txBody>
                    <a:bodyPr/>
                    <a:lstStyle/>
                    <a:p>
                      <a:r>
                        <a:rPr lang="en-IN" sz="800" dirty="0"/>
                        <a:t>Efficient early DR detection</a:t>
                      </a:r>
                      <a:endParaRPr lang="en-US" sz="800" dirty="0"/>
                    </a:p>
                  </a:txBody>
                  <a:tcPr/>
                </a:tc>
                <a:tc>
                  <a:txBody>
                    <a:bodyPr/>
                    <a:lstStyle/>
                    <a:p>
                      <a:r>
                        <a:rPr lang="en-US" sz="800" b="0" dirty="0"/>
                        <a:t>Forms the base paper for lesion extraction</a:t>
                      </a:r>
                    </a:p>
                  </a:txBody>
                  <a:tcPr/>
                </a:tc>
                <a:tc>
                  <a:txBody>
                    <a:bodyPr/>
                    <a:lstStyle/>
                    <a:p>
                      <a:r>
                        <a:rPr lang="en-IN" sz="800" dirty="0"/>
                        <a:t>Morphological ops, ML classifiers</a:t>
                      </a:r>
                      <a:endParaRPr lang="en-US" sz="800" dirty="0"/>
                    </a:p>
                  </a:txBody>
                  <a:tcPr/>
                </a:tc>
                <a:tc>
                  <a:txBody>
                    <a:bodyPr/>
                    <a:lstStyle/>
                    <a:p>
                      <a:r>
                        <a:rPr lang="en-US" sz="800" dirty="0"/>
                        <a:t>High accuracy for binary DR</a:t>
                      </a:r>
                    </a:p>
                  </a:txBody>
                  <a:tcPr/>
                </a:tc>
                <a:tc>
                  <a:txBody>
                    <a:bodyPr/>
                    <a:lstStyle/>
                    <a:p>
                      <a:r>
                        <a:rPr lang="en-IN" sz="800" dirty="0"/>
                        <a:t>Lightweight, low cost</a:t>
                      </a:r>
                      <a:endParaRPr lang="en-US" sz="800" dirty="0"/>
                    </a:p>
                  </a:txBody>
                  <a:tcPr/>
                </a:tc>
                <a:tc>
                  <a:txBody>
                    <a:bodyPr/>
                    <a:lstStyle/>
                    <a:p>
                      <a:r>
                        <a:rPr lang="en-US" sz="800" dirty="0"/>
                        <a:t>Binary output, no severity or macular analysis</a:t>
                      </a:r>
                    </a:p>
                  </a:txBody>
                  <a:tcPr/>
                </a:tc>
                <a:extLst>
                  <a:ext uri="{0D108BD9-81ED-4DB2-BD59-A6C34878D82A}">
                    <a16:rowId xmlns:a16="http://schemas.microsoft.com/office/drawing/2014/main" val="10001"/>
                  </a:ext>
                </a:extLst>
              </a:tr>
              <a:tr h="651934">
                <a:tc>
                  <a:txBody>
                    <a:bodyPr/>
                    <a:lstStyle/>
                    <a:p>
                      <a:r>
                        <a:rPr lang="en-US" sz="800" dirty="0" err="1"/>
                        <a:t>DeepDR</a:t>
                      </a:r>
                      <a:r>
                        <a:rPr lang="en-US" sz="800" dirty="0"/>
                        <a:t> Plus: Predicting Time to DR Progression (2024)</a:t>
                      </a:r>
                    </a:p>
                  </a:txBody>
                  <a:tcPr/>
                </a:tc>
                <a:tc>
                  <a:txBody>
                    <a:bodyPr/>
                    <a:lstStyle/>
                    <a:p>
                      <a:r>
                        <a:rPr lang="en-IN" sz="800" dirty="0"/>
                        <a:t>Predict future DR progression timelines</a:t>
                      </a:r>
                      <a:endParaRPr lang="en-US" sz="800" dirty="0"/>
                    </a:p>
                  </a:txBody>
                  <a:tcPr/>
                </a:tc>
                <a:tc>
                  <a:txBody>
                    <a:bodyPr/>
                    <a:lstStyle/>
                    <a:p>
                      <a:r>
                        <a:rPr lang="en-US" sz="800" dirty="0"/>
                        <a:t>Deep learning on longitudinal fundus images</a:t>
                      </a:r>
                    </a:p>
                  </a:txBody>
                  <a:tcPr/>
                </a:tc>
                <a:tc>
                  <a:txBody>
                    <a:bodyPr/>
                    <a:lstStyle/>
                    <a:p>
                      <a:pPr>
                        <a:buNone/>
                      </a:pPr>
                      <a:r>
                        <a:rPr lang="en-US" sz="800" dirty="0"/>
                        <a:t>Accurate prediction of DR progression</a:t>
                      </a:r>
                    </a:p>
                  </a:txBody>
                  <a:tcPr anchor="ctr"/>
                </a:tc>
                <a:tc>
                  <a:txBody>
                    <a:bodyPr/>
                    <a:lstStyle/>
                    <a:p>
                      <a:r>
                        <a:rPr lang="en-IN" sz="800" b="0" dirty="0"/>
                        <a:t>Supports progression-based analysis</a:t>
                      </a:r>
                      <a:endParaRPr lang="en-US" sz="800" b="0" dirty="0"/>
                    </a:p>
                  </a:txBody>
                  <a:tcPr/>
                </a:tc>
                <a:tc>
                  <a:txBody>
                    <a:bodyPr/>
                    <a:lstStyle/>
                    <a:p>
                      <a:r>
                        <a:rPr lang="en-IN" sz="800" dirty="0"/>
                        <a:t>CNN-based DL</a:t>
                      </a:r>
                      <a:endParaRPr lang="en-US" sz="800" dirty="0"/>
                    </a:p>
                  </a:txBody>
                  <a:tcPr/>
                </a:tc>
                <a:tc>
                  <a:txBody>
                    <a:bodyPr/>
                    <a:lstStyle/>
                    <a:p>
                      <a:r>
                        <a:rPr lang="en-IN" sz="800" dirty="0"/>
                        <a:t>C-index up to 0.84</a:t>
                      </a:r>
                      <a:endParaRPr lang="en-US" sz="800" dirty="0"/>
                    </a:p>
                  </a:txBody>
                  <a:tcPr/>
                </a:tc>
                <a:tc>
                  <a:txBody>
                    <a:bodyPr/>
                    <a:lstStyle/>
                    <a:p>
                      <a:r>
                        <a:rPr lang="en-IN" sz="800" dirty="0"/>
                        <a:t>Personalized screening</a:t>
                      </a:r>
                      <a:endParaRPr lang="en-US" sz="800" dirty="0"/>
                    </a:p>
                  </a:txBody>
                  <a:tcPr/>
                </a:tc>
                <a:tc>
                  <a:txBody>
                    <a:bodyPr/>
                    <a:lstStyle/>
                    <a:p>
                      <a:r>
                        <a:rPr lang="en-IN" sz="800" dirty="0"/>
                        <a:t>Black-box, no lesion explainability</a:t>
                      </a:r>
                      <a:endParaRPr lang="en-US" sz="800" dirty="0"/>
                    </a:p>
                  </a:txBody>
                  <a:tcPr/>
                </a:tc>
                <a:extLst>
                  <a:ext uri="{0D108BD9-81ED-4DB2-BD59-A6C34878D82A}">
                    <a16:rowId xmlns:a16="http://schemas.microsoft.com/office/drawing/2014/main" val="10002"/>
                  </a:ext>
                </a:extLst>
              </a:tr>
              <a:tr h="651934">
                <a:tc>
                  <a:txBody>
                    <a:bodyPr/>
                    <a:lstStyle/>
                    <a:p>
                      <a:r>
                        <a:rPr lang="en-IN" sz="800" dirty="0"/>
                        <a:t>Diabetes Detection from Non-DR Fundus Images (2024)</a:t>
                      </a:r>
                      <a:endParaRPr lang="en-US" sz="800" dirty="0"/>
                    </a:p>
                  </a:txBody>
                  <a:tcPr/>
                </a:tc>
                <a:tc>
                  <a:txBody>
                    <a:bodyPr/>
                    <a:lstStyle/>
                    <a:p>
                      <a:r>
                        <a:rPr lang="en-US" sz="800" dirty="0"/>
                        <a:t>Detect diabetes without visible DR</a:t>
                      </a:r>
                    </a:p>
                  </a:txBody>
                  <a:tcPr/>
                </a:tc>
                <a:tc>
                  <a:txBody>
                    <a:bodyPr/>
                    <a:lstStyle/>
                    <a:p>
                      <a:r>
                        <a:rPr lang="en-IN" sz="800" dirty="0"/>
                        <a:t>Deep learning classification</a:t>
                      </a:r>
                      <a:endParaRPr lang="en-US" sz="800" dirty="0"/>
                    </a:p>
                  </a:txBody>
                  <a:tcPr/>
                </a:tc>
                <a:tc>
                  <a:txBody>
                    <a:bodyPr/>
                    <a:lstStyle/>
                    <a:p>
                      <a:r>
                        <a:rPr lang="en-IN" sz="800" dirty="0"/>
                        <a:t>Retina shows diabetes biomarkers</a:t>
                      </a:r>
                      <a:endParaRPr lang="en-US" sz="800" dirty="0"/>
                    </a:p>
                  </a:txBody>
                  <a:tcPr/>
                </a:tc>
                <a:tc>
                  <a:txBody>
                    <a:bodyPr/>
                    <a:lstStyle/>
                    <a:p>
                      <a:r>
                        <a:rPr lang="en-IN" sz="800" b="0" dirty="0"/>
                        <a:t>Justifies diabetes severity estimation</a:t>
                      </a:r>
                      <a:endParaRPr lang="en-US" sz="800" b="0" dirty="0"/>
                    </a:p>
                  </a:txBody>
                  <a:tcPr/>
                </a:tc>
                <a:tc>
                  <a:txBody>
                    <a:bodyPr/>
                    <a:lstStyle/>
                    <a:p>
                      <a:r>
                        <a:rPr lang="en-IN" sz="800" dirty="0"/>
                        <a:t>CNN</a:t>
                      </a:r>
                      <a:endParaRPr lang="en-US" sz="800" dirty="0"/>
                    </a:p>
                  </a:txBody>
                  <a:tcPr/>
                </a:tc>
                <a:tc>
                  <a:txBody>
                    <a:bodyPr/>
                    <a:lstStyle/>
                    <a:p>
                      <a:r>
                        <a:rPr lang="en-IN" sz="800" b="0" dirty="0"/>
                        <a:t>AUC up to 0.86</a:t>
                      </a:r>
                      <a:endParaRPr lang="en-US" sz="800" b="0" dirty="0"/>
                    </a:p>
                  </a:txBody>
                  <a:tcPr/>
                </a:tc>
                <a:tc>
                  <a:txBody>
                    <a:bodyPr/>
                    <a:lstStyle/>
                    <a:p>
                      <a:r>
                        <a:rPr lang="en-IN" sz="800" b="0" dirty="0"/>
                        <a:t>Non-invasive screening</a:t>
                      </a:r>
                      <a:endParaRPr lang="en-US" sz="800" b="0" dirty="0"/>
                    </a:p>
                  </a:txBody>
                  <a:tcPr/>
                </a:tc>
                <a:tc>
                  <a:txBody>
                    <a:bodyPr/>
                    <a:lstStyle/>
                    <a:p>
                      <a:r>
                        <a:rPr lang="en-US" sz="800" dirty="0"/>
                        <a:t>No lesion or spatial analysis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27D7C-A236-4DB1-3705-5F1BEC4E3E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B7804-B7F2-F61A-45F6-A6CACB6AC1BA}"/>
              </a:ext>
            </a:extLst>
          </p:cNvPr>
          <p:cNvSpPr>
            <a:spLocks noGrp="1"/>
          </p:cNvSpPr>
          <p:nvPr>
            <p:ph type="ctrTitle"/>
          </p:nvPr>
        </p:nvSpPr>
        <p:spPr>
          <a:xfrm>
            <a:off x="0" y="0"/>
            <a:ext cx="9144000" cy="649288"/>
          </a:xfrm>
        </p:spPr>
        <p:txBody>
          <a:bodyPr>
            <a:normAutofit fontScale="90000"/>
          </a:bodyPr>
          <a:lstStyle/>
          <a:p>
            <a:pPr algn="l">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C6D257D1-F844-1726-7940-0CE238950B9A}"/>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21</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4EC69E9E-80AD-45DB-F969-1BCF6AB0B141}"/>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7" name="Table 6">
            <a:extLst>
              <a:ext uri="{FF2B5EF4-FFF2-40B4-BE49-F238E27FC236}">
                <a16:creationId xmlns:a16="http://schemas.microsoft.com/office/drawing/2014/main" id="{CBFC0FB3-0B51-9FA2-02D6-F15F87D0973C}"/>
              </a:ext>
            </a:extLst>
          </p:cNvPr>
          <p:cNvGraphicFramePr>
            <a:graphicFrameLocks noGrp="1"/>
          </p:cNvGraphicFramePr>
          <p:nvPr>
            <p:extLst>
              <p:ext uri="{D42A27DB-BD31-4B8C-83A1-F6EECF244321}">
                <p14:modId xmlns:p14="http://schemas.microsoft.com/office/powerpoint/2010/main" val="3748397577"/>
              </p:ext>
            </p:extLst>
          </p:nvPr>
        </p:nvGraphicFramePr>
        <p:xfrm>
          <a:off x="277318" y="987425"/>
          <a:ext cx="8609509" cy="3878577"/>
        </p:xfrm>
        <a:graphic>
          <a:graphicData uri="http://schemas.openxmlformats.org/drawingml/2006/table">
            <a:tbl>
              <a:tblPr firstRow="1" bandRow="1">
                <a:tableStyleId>{5C22544A-7EE6-4342-B048-85BDC9FD1C3A}</a:tableStyleId>
              </a:tblPr>
              <a:tblGrid>
                <a:gridCol w="741026">
                  <a:extLst>
                    <a:ext uri="{9D8B030D-6E8A-4147-A177-3AD203B41FA5}">
                      <a16:colId xmlns:a16="http://schemas.microsoft.com/office/drawing/2014/main" val="20000"/>
                    </a:ext>
                  </a:extLst>
                </a:gridCol>
                <a:gridCol w="1056108">
                  <a:extLst>
                    <a:ext uri="{9D8B030D-6E8A-4147-A177-3AD203B41FA5}">
                      <a16:colId xmlns:a16="http://schemas.microsoft.com/office/drawing/2014/main" val="20001"/>
                    </a:ext>
                  </a:extLst>
                </a:gridCol>
                <a:gridCol w="1065623">
                  <a:extLst>
                    <a:ext uri="{9D8B030D-6E8A-4147-A177-3AD203B41FA5}">
                      <a16:colId xmlns:a16="http://schemas.microsoft.com/office/drawing/2014/main" val="20002"/>
                    </a:ext>
                  </a:extLst>
                </a:gridCol>
                <a:gridCol w="957792">
                  <a:extLst>
                    <a:ext uri="{9D8B030D-6E8A-4147-A177-3AD203B41FA5}">
                      <a16:colId xmlns:a16="http://schemas.microsoft.com/office/drawing/2014/main" val="20003"/>
                    </a:ext>
                  </a:extLst>
                </a:gridCol>
                <a:gridCol w="957792">
                  <a:extLst>
                    <a:ext uri="{9D8B030D-6E8A-4147-A177-3AD203B41FA5}">
                      <a16:colId xmlns:a16="http://schemas.microsoft.com/office/drawing/2014/main" val="20004"/>
                    </a:ext>
                  </a:extLst>
                </a:gridCol>
                <a:gridCol w="957792">
                  <a:extLst>
                    <a:ext uri="{9D8B030D-6E8A-4147-A177-3AD203B41FA5}">
                      <a16:colId xmlns:a16="http://schemas.microsoft.com/office/drawing/2014/main" val="20005"/>
                    </a:ext>
                  </a:extLst>
                </a:gridCol>
                <a:gridCol w="957792">
                  <a:extLst>
                    <a:ext uri="{9D8B030D-6E8A-4147-A177-3AD203B41FA5}">
                      <a16:colId xmlns:a16="http://schemas.microsoft.com/office/drawing/2014/main" val="20006"/>
                    </a:ext>
                  </a:extLst>
                </a:gridCol>
                <a:gridCol w="957792">
                  <a:extLst>
                    <a:ext uri="{9D8B030D-6E8A-4147-A177-3AD203B41FA5}">
                      <a16:colId xmlns:a16="http://schemas.microsoft.com/office/drawing/2014/main" val="20007"/>
                    </a:ext>
                  </a:extLst>
                </a:gridCol>
                <a:gridCol w="957792">
                  <a:extLst>
                    <a:ext uri="{9D8B030D-6E8A-4147-A177-3AD203B41FA5}">
                      <a16:colId xmlns:a16="http://schemas.microsoft.com/office/drawing/2014/main" val="20008"/>
                    </a:ext>
                  </a:extLst>
                </a:gridCol>
              </a:tblGrid>
              <a:tr h="1409697">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651934">
                <a:tc>
                  <a:txBody>
                    <a:bodyPr/>
                    <a:lstStyle/>
                    <a:p>
                      <a:r>
                        <a:rPr lang="en-US" sz="800" dirty="0"/>
                        <a:t>Predicting DR Stages Using Combined Features (2023)</a:t>
                      </a:r>
                      <a:endParaRPr lang="en-US" sz="800" b="0" dirty="0"/>
                    </a:p>
                  </a:txBody>
                  <a:tcPr/>
                </a:tc>
                <a:tc>
                  <a:txBody>
                    <a:bodyPr/>
                    <a:lstStyle/>
                    <a:p>
                      <a:r>
                        <a:rPr lang="en-IN" sz="800" dirty="0"/>
                        <a:t>Multi-stage DR classification</a:t>
                      </a:r>
                      <a:endParaRPr lang="en-US" sz="800" b="0" dirty="0"/>
                    </a:p>
                  </a:txBody>
                  <a:tcPr/>
                </a:tc>
                <a:tc>
                  <a:txBody>
                    <a:bodyPr/>
                    <a:lstStyle/>
                    <a:p>
                      <a:r>
                        <a:rPr lang="en-IN" sz="800" dirty="0"/>
                        <a:t>CNN + handcrafted features</a:t>
                      </a:r>
                      <a:endParaRPr lang="en-US" sz="800" b="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0" dirty="0"/>
                        <a:t>High accuracy for DR stages</a:t>
                      </a:r>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b="0" dirty="0"/>
                        <a:t>Supports beyond-binary classification</a:t>
                      </a:r>
                      <a:endParaRPr lang="en-US" sz="800" b="0" dirty="0"/>
                    </a:p>
                    <a:p>
                      <a:endParaRPr lang="en-US" sz="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800" b="0" dirty="0" err="1"/>
                        <a:t>DenseNet</a:t>
                      </a:r>
                      <a:r>
                        <a:rPr lang="en-IN" sz="800" b="0" dirty="0"/>
                        <a:t>, </a:t>
                      </a:r>
                      <a:r>
                        <a:rPr lang="en-IN" sz="800" b="0" dirty="0" err="1"/>
                        <a:t>AlexNet</a:t>
                      </a:r>
                      <a:r>
                        <a:rPr lang="en-IN" sz="800" b="0" dirty="0"/>
                        <a:t>, ANN</a:t>
                      </a:r>
                      <a:endParaRPr lang="en-US" sz="800" b="0" dirty="0"/>
                    </a:p>
                    <a:p>
                      <a:endParaRPr lang="en-US" sz="800" b="0" dirty="0"/>
                    </a:p>
                  </a:txBody>
                  <a:tcPr/>
                </a:tc>
                <a:tc>
                  <a:txBody>
                    <a:bodyPr/>
                    <a:lstStyle/>
                    <a:p>
                      <a:r>
                        <a:rPr lang="en-IN" sz="800" dirty="0"/>
                        <a:t>Up to 99%</a:t>
                      </a:r>
                      <a:endParaRPr lang="en-US" sz="800" dirty="0"/>
                    </a:p>
                  </a:txBody>
                  <a:tcPr/>
                </a:tc>
                <a:tc>
                  <a:txBody>
                    <a:bodyPr/>
                    <a:lstStyle/>
                    <a:p>
                      <a:r>
                        <a:rPr lang="en-IN" sz="800" dirty="0"/>
                        <a:t>Multi-stage output</a:t>
                      </a:r>
                      <a:endParaRPr lang="en-US" sz="800" dirty="0"/>
                    </a:p>
                  </a:txBody>
                  <a:tcPr/>
                </a:tc>
                <a:tc>
                  <a:txBody>
                    <a:bodyPr/>
                    <a:lstStyle/>
                    <a:p>
                      <a:r>
                        <a:rPr lang="en-US" sz="800" dirty="0"/>
                        <a:t>No macular risk or lesion location</a:t>
                      </a:r>
                    </a:p>
                  </a:txBody>
                  <a:tcPr/>
                </a:tc>
                <a:extLst>
                  <a:ext uri="{0D108BD9-81ED-4DB2-BD59-A6C34878D82A}">
                    <a16:rowId xmlns:a16="http://schemas.microsoft.com/office/drawing/2014/main" val="10001"/>
                  </a:ext>
                </a:extLst>
              </a:tr>
              <a:tr h="651934">
                <a:tc>
                  <a:txBody>
                    <a:bodyPr/>
                    <a:lstStyle/>
                    <a:p>
                      <a:r>
                        <a:rPr lang="en-US" sz="800" b="0" dirty="0"/>
                        <a:t>AI with Retinal Imaging for Diabetes Complications (2025)</a:t>
                      </a:r>
                    </a:p>
                  </a:txBody>
                  <a:tcPr/>
                </a:tc>
                <a:tc>
                  <a:txBody>
                    <a:bodyPr/>
                    <a:lstStyle/>
                    <a:p>
                      <a:r>
                        <a:rPr lang="en-US" sz="800" dirty="0"/>
                        <a:t>Review AI for diabetes complication screening</a:t>
                      </a:r>
                    </a:p>
                  </a:txBody>
                  <a:tcPr/>
                </a:tc>
                <a:tc>
                  <a:txBody>
                    <a:bodyPr/>
                    <a:lstStyle/>
                    <a:p>
                      <a:r>
                        <a:rPr lang="en-IN" sz="800" dirty="0"/>
                        <a:t>Systematic review</a:t>
                      </a:r>
                      <a:endParaRPr lang="en-US" sz="800" dirty="0"/>
                    </a:p>
                  </a:txBody>
                  <a:tcPr/>
                </a:tc>
                <a:tc>
                  <a:txBody>
                    <a:bodyPr/>
                    <a:lstStyle/>
                    <a:p>
                      <a:r>
                        <a:rPr lang="en-IN" sz="800" dirty="0"/>
                        <a:t>Retina reflects systemic damage</a:t>
                      </a:r>
                      <a:endParaRPr lang="en-US" sz="800" dirty="0"/>
                    </a:p>
                  </a:txBody>
                  <a:tcPr/>
                </a:tc>
                <a:tc>
                  <a:txBody>
                    <a:bodyPr/>
                    <a:lstStyle/>
                    <a:p>
                      <a:r>
                        <a:rPr lang="en-IN" sz="800" b="0" dirty="0"/>
                        <a:t>Supports multi-disease prediction</a:t>
                      </a:r>
                      <a:endParaRPr lang="en-US" sz="800" b="0" dirty="0"/>
                    </a:p>
                  </a:txBody>
                  <a:tcPr/>
                </a:tc>
                <a:tc>
                  <a:txBody>
                    <a:bodyPr/>
                    <a:lstStyle/>
                    <a:p>
                      <a:r>
                        <a:rPr lang="en-IN" sz="800" b="0" dirty="0"/>
                        <a:t>CNNs, U-Net</a:t>
                      </a:r>
                      <a:endParaRPr lang="en-US" sz="800" b="0" dirty="0"/>
                    </a:p>
                  </a:txBody>
                  <a:tcPr/>
                </a:tc>
                <a:tc>
                  <a:txBody>
                    <a:bodyPr/>
                    <a:lstStyle/>
                    <a:p>
                      <a:r>
                        <a:rPr lang="en-IN" sz="800" dirty="0"/>
                        <a:t>AUC &gt; 0.8 (reported)</a:t>
                      </a:r>
                      <a:endParaRPr lang="en-US" sz="800" dirty="0"/>
                    </a:p>
                  </a:txBody>
                  <a:tcPr/>
                </a:tc>
                <a:tc>
                  <a:txBody>
                    <a:bodyPr/>
                    <a:lstStyle/>
                    <a:p>
                      <a:r>
                        <a:rPr lang="en-IN" sz="800" dirty="0"/>
                        <a:t>Broad clinical scope</a:t>
                      </a:r>
                      <a:endParaRPr lang="en-US" sz="800" dirty="0"/>
                    </a:p>
                  </a:txBody>
                  <a:tcPr/>
                </a:tc>
                <a:tc>
                  <a:txBody>
                    <a:bodyPr/>
                    <a:lstStyle/>
                    <a:p>
                      <a:r>
                        <a:rPr lang="en-IN" sz="800" dirty="0"/>
                        <a:t>Limited real-world validation</a:t>
                      </a:r>
                      <a:endParaRPr lang="en-US" sz="800" dirty="0"/>
                    </a:p>
                  </a:txBody>
                  <a:tcPr/>
                </a:tc>
                <a:extLst>
                  <a:ext uri="{0D108BD9-81ED-4DB2-BD59-A6C34878D82A}">
                    <a16:rowId xmlns:a16="http://schemas.microsoft.com/office/drawing/2014/main" val="10002"/>
                  </a:ext>
                </a:extLst>
              </a:tr>
              <a:tr h="651934">
                <a:tc>
                  <a:txBody>
                    <a:bodyPr/>
                    <a:lstStyle/>
                    <a:p>
                      <a:r>
                        <a:rPr lang="en-US" sz="800" dirty="0"/>
                        <a:t>Predicting Systemic Health from Fundus Images (2024)</a:t>
                      </a:r>
                    </a:p>
                  </a:txBody>
                  <a:tcPr/>
                </a:tc>
                <a:tc>
                  <a:txBody>
                    <a:bodyPr/>
                    <a:lstStyle/>
                    <a:p>
                      <a:r>
                        <a:rPr lang="en-US" sz="800" dirty="0"/>
                        <a:t>Predict HbA1c, BP, age from retina</a:t>
                      </a:r>
                    </a:p>
                  </a:txBody>
                  <a:tcPr/>
                </a:tc>
                <a:tc>
                  <a:txBody>
                    <a:bodyPr/>
                    <a:lstStyle/>
                    <a:p>
                      <a:r>
                        <a:rPr lang="en-IN" sz="800" dirty="0"/>
                        <a:t>Transfer learning DL</a:t>
                      </a:r>
                      <a:endParaRPr lang="en-US" sz="800" dirty="0"/>
                    </a:p>
                  </a:txBody>
                  <a:tcPr/>
                </a:tc>
                <a:tc>
                  <a:txBody>
                    <a:bodyPr/>
                    <a:lstStyle/>
                    <a:p>
                      <a:r>
                        <a:rPr lang="en-IN" sz="800" dirty="0"/>
                        <a:t>Retina predicts systemic markers</a:t>
                      </a:r>
                      <a:endParaRPr lang="en-US" sz="800" dirty="0"/>
                    </a:p>
                  </a:txBody>
                  <a:tcPr/>
                </a:tc>
                <a:tc>
                  <a:txBody>
                    <a:bodyPr/>
                    <a:lstStyle/>
                    <a:p>
                      <a:r>
                        <a:rPr lang="en-IN" sz="800" b="0" dirty="0"/>
                        <a:t>Supports glucose-level estimation concept</a:t>
                      </a:r>
                      <a:endParaRPr lang="en-US" sz="800" b="0" dirty="0"/>
                    </a:p>
                  </a:txBody>
                  <a:tcPr/>
                </a:tc>
                <a:tc>
                  <a:txBody>
                    <a:bodyPr/>
                    <a:lstStyle/>
                    <a:p>
                      <a:r>
                        <a:rPr lang="en-IN" sz="800" b="0" dirty="0" err="1"/>
                        <a:t>DenseNet</a:t>
                      </a:r>
                      <a:endParaRPr lang="en-US" sz="800" b="0" dirty="0"/>
                    </a:p>
                  </a:txBody>
                  <a:tcPr/>
                </a:tc>
                <a:tc>
                  <a:txBody>
                    <a:bodyPr/>
                    <a:lstStyle/>
                    <a:p>
                      <a:r>
                        <a:rPr lang="en-IN" sz="800" dirty="0"/>
                        <a:t>Strong correlations</a:t>
                      </a:r>
                      <a:endParaRPr lang="en-US" sz="800" dirty="0"/>
                    </a:p>
                  </a:txBody>
                  <a:tcPr/>
                </a:tc>
                <a:tc>
                  <a:txBody>
                    <a:bodyPr/>
                    <a:lstStyle/>
                    <a:p>
                      <a:r>
                        <a:rPr lang="en-IN" sz="800" dirty="0"/>
                        <a:t>Non-invasive</a:t>
                      </a:r>
                      <a:endParaRPr lang="en-US" sz="800" dirty="0"/>
                    </a:p>
                  </a:txBody>
                  <a:tcPr/>
                </a:tc>
                <a:tc>
                  <a:txBody>
                    <a:bodyPr/>
                    <a:lstStyle/>
                    <a:p>
                      <a:r>
                        <a:rPr lang="en-IN" sz="800" dirty="0"/>
                        <a:t>Limited interpretability</a:t>
                      </a:r>
                      <a:endParaRPr lang="en-US" sz="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81453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7853E-BB23-EF09-0439-0317F1EAF4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180EE6-A39F-149D-5083-DD3DA8D0E3A4}"/>
              </a:ext>
            </a:extLst>
          </p:cNvPr>
          <p:cNvSpPr>
            <a:spLocks noGrp="1"/>
          </p:cNvSpPr>
          <p:nvPr>
            <p:ph type="ctrTitle"/>
          </p:nvPr>
        </p:nvSpPr>
        <p:spPr>
          <a:xfrm>
            <a:off x="0" y="0"/>
            <a:ext cx="9144000" cy="649288"/>
          </a:xfrm>
        </p:spPr>
        <p:txBody>
          <a:bodyPr>
            <a:normAutofit fontScale="90000"/>
          </a:bodyPr>
          <a:lstStyle/>
          <a:p>
            <a:pPr algn="l">
              <a:buClr>
                <a:schemeClr val="dk1"/>
              </a:buClr>
              <a:defRPr/>
            </a:pPr>
            <a:r>
              <a:rPr lang="en-US" dirty="0">
                <a:solidFill>
                  <a:schemeClr val="dk1"/>
                </a:solidFill>
                <a:sym typeface="Arial"/>
              </a:rPr>
              <a:t>Literature Review </a:t>
            </a:r>
            <a:r>
              <a:rPr lang="en-US" dirty="0">
                <a:solidFill>
                  <a:schemeClr val="dk1"/>
                </a:solidFill>
              </a:rPr>
              <a:t>Summery</a:t>
            </a:r>
            <a:endParaRPr lang="en-US" dirty="0">
              <a:solidFill>
                <a:schemeClr val="dk1"/>
              </a:solidFill>
              <a:sym typeface="Arial"/>
            </a:endParaRPr>
          </a:p>
        </p:txBody>
      </p:sp>
      <p:sp>
        <p:nvSpPr>
          <p:cNvPr id="9219" name="Slide Number Placeholder 2">
            <a:extLst>
              <a:ext uri="{FF2B5EF4-FFF2-40B4-BE49-F238E27FC236}">
                <a16:creationId xmlns:a16="http://schemas.microsoft.com/office/drawing/2014/main" id="{86888F0D-B458-A238-FE89-F3E650ED03F6}"/>
              </a:ext>
            </a:extLst>
          </p:cNvPr>
          <p:cNvSpPr>
            <a:spLocks noGrp="1"/>
          </p:cNvSpPr>
          <p:nvPr>
            <p:ph type="sldNum" sz="quarter" idx="1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B64ACC18-24D7-4A32-8150-7B02F44DB486}" type="slidenum">
              <a:rPr lang="en-US" altLang="en-US" sz="1000" smtClean="0">
                <a:solidFill>
                  <a:srgbClr val="595959"/>
                </a:solidFill>
              </a:rPr>
              <a:pPr/>
              <a:t>22</a:t>
            </a:fld>
            <a:endParaRPr lang="en-US" altLang="en-US" sz="1000">
              <a:solidFill>
                <a:srgbClr val="595959"/>
              </a:solidFill>
            </a:endParaRPr>
          </a:p>
        </p:txBody>
      </p:sp>
      <p:sp>
        <p:nvSpPr>
          <p:cNvPr id="5" name="Text Placeholder 4">
            <a:extLst>
              <a:ext uri="{FF2B5EF4-FFF2-40B4-BE49-F238E27FC236}">
                <a16:creationId xmlns:a16="http://schemas.microsoft.com/office/drawing/2014/main" id="{5B93E1C3-91C6-12D9-D991-8355170826E5}"/>
              </a:ext>
            </a:extLst>
          </p:cNvPr>
          <p:cNvSpPr>
            <a:spLocks noGrp="1"/>
          </p:cNvSpPr>
          <p:nvPr>
            <p:ph type="body" sz="quarter" idx="13"/>
          </p:nvPr>
        </p:nvSpPr>
        <p:spPr/>
        <p:txBody>
          <a:bodyPr spcFirstLastPara="1">
            <a:normAutofit/>
          </a:bodyPr>
          <a:lstStyle/>
          <a:p>
            <a:pPr marL="457200" eaLnBrk="1" fontAlgn="auto" hangingPunct="1">
              <a:lnSpc>
                <a:spcPct val="115000"/>
              </a:lnSpc>
              <a:spcBef>
                <a:spcPts val="0"/>
              </a:spcBef>
              <a:spcAft>
                <a:spcPts val="0"/>
              </a:spcAft>
              <a:buClr>
                <a:schemeClr val="dk2"/>
              </a:buClr>
              <a:buSzPts val="1800"/>
              <a:buFont typeface="Arial"/>
              <a:buChar char="●"/>
              <a:defRPr/>
            </a:pPr>
            <a:endParaRPr lang="en-US" dirty="0">
              <a:solidFill>
                <a:schemeClr val="dk2"/>
              </a:solidFill>
              <a:sym typeface="Arial"/>
            </a:endParaRPr>
          </a:p>
        </p:txBody>
      </p:sp>
      <p:graphicFrame>
        <p:nvGraphicFramePr>
          <p:cNvPr id="7" name="Table 6">
            <a:extLst>
              <a:ext uri="{FF2B5EF4-FFF2-40B4-BE49-F238E27FC236}">
                <a16:creationId xmlns:a16="http://schemas.microsoft.com/office/drawing/2014/main" id="{2FB94173-9C3A-F2C6-C4E9-498148FE290E}"/>
              </a:ext>
            </a:extLst>
          </p:cNvPr>
          <p:cNvGraphicFramePr>
            <a:graphicFrameLocks noGrp="1"/>
          </p:cNvGraphicFramePr>
          <p:nvPr>
            <p:extLst>
              <p:ext uri="{D42A27DB-BD31-4B8C-83A1-F6EECF244321}">
                <p14:modId xmlns:p14="http://schemas.microsoft.com/office/powerpoint/2010/main" val="3162351727"/>
              </p:ext>
            </p:extLst>
          </p:nvPr>
        </p:nvGraphicFramePr>
        <p:xfrm>
          <a:off x="266700" y="987425"/>
          <a:ext cx="8620127" cy="4122417"/>
        </p:xfrm>
        <a:graphic>
          <a:graphicData uri="http://schemas.openxmlformats.org/drawingml/2006/table">
            <a:tbl>
              <a:tblPr firstRow="1" bandRow="1">
                <a:tableStyleId>{5C22544A-7EE6-4342-B048-85BDC9FD1C3A}</a:tableStyleId>
              </a:tblPr>
              <a:tblGrid>
                <a:gridCol w="751644">
                  <a:extLst>
                    <a:ext uri="{9D8B030D-6E8A-4147-A177-3AD203B41FA5}">
                      <a16:colId xmlns:a16="http://schemas.microsoft.com/office/drawing/2014/main" val="20000"/>
                    </a:ext>
                  </a:extLst>
                </a:gridCol>
                <a:gridCol w="1056108">
                  <a:extLst>
                    <a:ext uri="{9D8B030D-6E8A-4147-A177-3AD203B41FA5}">
                      <a16:colId xmlns:a16="http://schemas.microsoft.com/office/drawing/2014/main" val="20001"/>
                    </a:ext>
                  </a:extLst>
                </a:gridCol>
                <a:gridCol w="1065623">
                  <a:extLst>
                    <a:ext uri="{9D8B030D-6E8A-4147-A177-3AD203B41FA5}">
                      <a16:colId xmlns:a16="http://schemas.microsoft.com/office/drawing/2014/main" val="20002"/>
                    </a:ext>
                  </a:extLst>
                </a:gridCol>
                <a:gridCol w="957792">
                  <a:extLst>
                    <a:ext uri="{9D8B030D-6E8A-4147-A177-3AD203B41FA5}">
                      <a16:colId xmlns:a16="http://schemas.microsoft.com/office/drawing/2014/main" val="20003"/>
                    </a:ext>
                  </a:extLst>
                </a:gridCol>
                <a:gridCol w="957792">
                  <a:extLst>
                    <a:ext uri="{9D8B030D-6E8A-4147-A177-3AD203B41FA5}">
                      <a16:colId xmlns:a16="http://schemas.microsoft.com/office/drawing/2014/main" val="20004"/>
                    </a:ext>
                  </a:extLst>
                </a:gridCol>
                <a:gridCol w="957792">
                  <a:extLst>
                    <a:ext uri="{9D8B030D-6E8A-4147-A177-3AD203B41FA5}">
                      <a16:colId xmlns:a16="http://schemas.microsoft.com/office/drawing/2014/main" val="20005"/>
                    </a:ext>
                  </a:extLst>
                </a:gridCol>
                <a:gridCol w="957792">
                  <a:extLst>
                    <a:ext uri="{9D8B030D-6E8A-4147-A177-3AD203B41FA5}">
                      <a16:colId xmlns:a16="http://schemas.microsoft.com/office/drawing/2014/main" val="20006"/>
                    </a:ext>
                  </a:extLst>
                </a:gridCol>
                <a:gridCol w="957792">
                  <a:extLst>
                    <a:ext uri="{9D8B030D-6E8A-4147-A177-3AD203B41FA5}">
                      <a16:colId xmlns:a16="http://schemas.microsoft.com/office/drawing/2014/main" val="20007"/>
                    </a:ext>
                  </a:extLst>
                </a:gridCol>
                <a:gridCol w="957792">
                  <a:extLst>
                    <a:ext uri="{9D8B030D-6E8A-4147-A177-3AD203B41FA5}">
                      <a16:colId xmlns:a16="http://schemas.microsoft.com/office/drawing/2014/main" val="20008"/>
                    </a:ext>
                  </a:extLst>
                </a:gridCol>
              </a:tblGrid>
              <a:tr h="1409697">
                <a:tc>
                  <a:txBody>
                    <a:bodyPr/>
                    <a:lstStyle/>
                    <a:p>
                      <a:pPr algn="ctr"/>
                      <a:r>
                        <a:rPr lang="en-US" sz="1200" dirty="0">
                          <a:solidFill>
                            <a:srgbClr val="FFFF00"/>
                          </a:solidFill>
                          <a:latin typeface="+mj-lt"/>
                        </a:rPr>
                        <a:t>Source</a:t>
                      </a:r>
                    </a:p>
                  </a:txBody>
                  <a:tcPr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Research Objective or Research Question</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Methodology</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Key Findings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Relevance to Project</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Techniques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Accuracy &amp; Performance Measures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Advantages</a:t>
                      </a:r>
                      <a:endParaRPr lang="en-US" sz="1200" dirty="0">
                        <a:solidFill>
                          <a:srgbClr val="FFFF00"/>
                        </a:solidFill>
                        <a:effectLst/>
                        <a:latin typeface="+mj-lt"/>
                        <a:ea typeface="Calibri"/>
                        <a:cs typeface="Gautami"/>
                      </a:endParaRPr>
                    </a:p>
                  </a:txBody>
                  <a:tcPr marL="9525" marR="9525" marT="9525" marB="9525" anchor="ctr"/>
                </a:tc>
                <a:tc>
                  <a:txBody>
                    <a:bodyPr/>
                    <a:lstStyle/>
                    <a:p>
                      <a:pPr marL="0" marR="0" algn="ctr">
                        <a:lnSpc>
                          <a:spcPct val="107000"/>
                        </a:lnSpc>
                        <a:spcBef>
                          <a:spcPts val="2400"/>
                        </a:spcBef>
                        <a:spcAft>
                          <a:spcPts val="2400"/>
                        </a:spcAft>
                      </a:pPr>
                      <a:r>
                        <a:rPr lang="en-IN" sz="1200" b="1" dirty="0">
                          <a:solidFill>
                            <a:srgbClr val="FFFF00"/>
                          </a:solidFill>
                          <a:effectLst/>
                          <a:latin typeface="+mj-lt"/>
                          <a:ea typeface="Times New Roman"/>
                          <a:cs typeface="Gautami"/>
                        </a:rPr>
                        <a:t>Disadvantages</a:t>
                      </a:r>
                      <a:endParaRPr lang="en-US" sz="1200" dirty="0">
                        <a:solidFill>
                          <a:srgbClr val="FFFF00"/>
                        </a:solidFill>
                        <a:effectLst/>
                        <a:latin typeface="+mj-lt"/>
                        <a:ea typeface="Calibri"/>
                        <a:cs typeface="Gautami"/>
                      </a:endParaRPr>
                    </a:p>
                  </a:txBody>
                  <a:tcPr marL="9525" marR="9525" marT="9525" marB="9525" anchor="ctr"/>
                </a:tc>
                <a:extLst>
                  <a:ext uri="{0D108BD9-81ED-4DB2-BD59-A6C34878D82A}">
                    <a16:rowId xmlns:a16="http://schemas.microsoft.com/office/drawing/2014/main" val="10000"/>
                  </a:ext>
                </a:extLst>
              </a:tr>
              <a:tr h="651934">
                <a:tc>
                  <a:txBody>
                    <a:bodyPr/>
                    <a:lstStyle/>
                    <a:p>
                      <a:r>
                        <a:rPr lang="en-IN" sz="800" dirty="0"/>
                        <a:t>DL Model for Type 2 Diabetes Screening (2024)</a:t>
                      </a:r>
                      <a:endParaRPr lang="en-US" sz="800" dirty="0"/>
                    </a:p>
                  </a:txBody>
                  <a:tcPr/>
                </a:tc>
                <a:tc>
                  <a:txBody>
                    <a:bodyPr/>
                    <a:lstStyle/>
                    <a:p>
                      <a:r>
                        <a:rPr lang="en-US" sz="800" dirty="0"/>
                        <a:t>Screen diabetes from fundus images</a:t>
                      </a:r>
                    </a:p>
                  </a:txBody>
                  <a:tcPr/>
                </a:tc>
                <a:tc>
                  <a:txBody>
                    <a:bodyPr/>
                    <a:lstStyle/>
                    <a:p>
                      <a:r>
                        <a:rPr lang="en-IN" sz="800" dirty="0"/>
                        <a:t>DL + clinical data</a:t>
                      </a:r>
                      <a:endParaRPr lang="en-US" sz="800" dirty="0"/>
                    </a:p>
                  </a:txBody>
                  <a:tcPr/>
                </a:tc>
                <a:tc>
                  <a:txBody>
                    <a:bodyPr/>
                    <a:lstStyle/>
                    <a:p>
                      <a:r>
                        <a:rPr lang="en-IN" sz="800" dirty="0"/>
                        <a:t>Fundus predicts diabetes risk</a:t>
                      </a:r>
                      <a:endParaRPr lang="en-US" sz="800" dirty="0"/>
                    </a:p>
                  </a:txBody>
                  <a:tcPr/>
                </a:tc>
                <a:tc>
                  <a:txBody>
                    <a:bodyPr/>
                    <a:lstStyle/>
                    <a:p>
                      <a:r>
                        <a:rPr lang="en-IN" sz="800" b="0" dirty="0"/>
                        <a:t>Supports diabetes screening</a:t>
                      </a:r>
                      <a:endParaRPr lang="en-US" sz="800" b="0" dirty="0"/>
                    </a:p>
                  </a:txBody>
                  <a:tcPr/>
                </a:tc>
                <a:tc>
                  <a:txBody>
                    <a:bodyPr/>
                    <a:lstStyle/>
                    <a:p>
                      <a:r>
                        <a:rPr lang="en-IN" sz="800" dirty="0"/>
                        <a:t>ResNet-18</a:t>
                      </a:r>
                      <a:endParaRPr lang="en-US" sz="800" dirty="0"/>
                    </a:p>
                  </a:txBody>
                  <a:tcPr/>
                </a:tc>
                <a:tc>
                  <a:txBody>
                    <a:bodyPr/>
                    <a:lstStyle/>
                    <a:p>
                      <a:r>
                        <a:rPr lang="en-IN" sz="800" dirty="0"/>
                        <a:t>Moderate accuracy</a:t>
                      </a:r>
                      <a:endParaRPr lang="en-US" sz="800" dirty="0"/>
                    </a:p>
                  </a:txBody>
                  <a:tcPr/>
                </a:tc>
                <a:tc>
                  <a:txBody>
                    <a:bodyPr/>
                    <a:lstStyle/>
                    <a:p>
                      <a:r>
                        <a:rPr lang="en-IN" sz="800" dirty="0"/>
                        <a:t>Population screening</a:t>
                      </a:r>
                      <a:endParaRPr lang="en-US" sz="800" dirty="0"/>
                    </a:p>
                  </a:txBody>
                  <a:tcPr/>
                </a:tc>
                <a:tc>
                  <a:txBody>
                    <a:bodyPr/>
                    <a:lstStyle/>
                    <a:p>
                      <a:r>
                        <a:rPr lang="en-IN" sz="800" dirty="0"/>
                        <a:t>No lesion analysis</a:t>
                      </a:r>
                      <a:endParaRPr lang="en-US" sz="800" dirty="0"/>
                    </a:p>
                  </a:txBody>
                  <a:tcPr/>
                </a:tc>
                <a:extLst>
                  <a:ext uri="{0D108BD9-81ED-4DB2-BD59-A6C34878D82A}">
                    <a16:rowId xmlns:a16="http://schemas.microsoft.com/office/drawing/2014/main" val="10001"/>
                  </a:ext>
                </a:extLst>
              </a:tr>
              <a:tr h="651934">
                <a:tc>
                  <a:txBody>
                    <a:bodyPr/>
                    <a:lstStyle/>
                    <a:p>
                      <a:r>
                        <a:rPr lang="en-US" sz="800" dirty="0"/>
                        <a:t>Analysis of Diabetic Retinopathy Based on Deep Learning (2023)</a:t>
                      </a:r>
                    </a:p>
                  </a:txBody>
                  <a:tcPr/>
                </a:tc>
                <a:tc>
                  <a:txBody>
                    <a:bodyPr/>
                    <a:lstStyle/>
                    <a:p>
                      <a:r>
                        <a:rPr lang="en-US" sz="800" dirty="0"/>
                        <a:t>Automate DR severity detection to reduce manual diagnosis</a:t>
                      </a:r>
                    </a:p>
                  </a:txBody>
                  <a:tcPr/>
                </a:tc>
                <a:tc>
                  <a:txBody>
                    <a:bodyPr/>
                    <a:lstStyle/>
                    <a:p>
                      <a:r>
                        <a:rPr lang="en-US" sz="800" dirty="0"/>
                        <a:t>Deep learning with feature selection and classification</a:t>
                      </a:r>
                    </a:p>
                  </a:txBody>
                  <a:tcPr/>
                </a:tc>
                <a:tc>
                  <a:txBody>
                    <a:bodyPr/>
                    <a:lstStyle/>
                    <a:p>
                      <a:r>
                        <a:rPr lang="en-US" sz="800" dirty="0"/>
                        <a:t>Accurate multi-class DR severity detection</a:t>
                      </a:r>
                    </a:p>
                  </a:txBody>
                  <a:tcPr/>
                </a:tc>
                <a:tc>
                  <a:txBody>
                    <a:bodyPr/>
                    <a:lstStyle/>
                    <a:p>
                      <a:r>
                        <a:rPr lang="en-US" sz="800" b="0" dirty="0"/>
                        <a:t>Supports severity-based analysis beyond binary DR</a:t>
                      </a:r>
                    </a:p>
                  </a:txBody>
                  <a:tcPr/>
                </a:tc>
                <a:tc>
                  <a:txBody>
                    <a:bodyPr/>
                    <a:lstStyle/>
                    <a:p>
                      <a:r>
                        <a:rPr lang="en-US" sz="800" dirty="0"/>
                        <a:t>CNN, Ant Colony Optimization, SVM</a:t>
                      </a:r>
                    </a:p>
                  </a:txBody>
                  <a:tcPr/>
                </a:tc>
                <a:tc>
                  <a:txBody>
                    <a:bodyPr/>
                    <a:lstStyle/>
                    <a:p>
                      <a:r>
                        <a:rPr lang="en-IN" sz="800" dirty="0"/>
                        <a:t>Accuracy up to ~93%</a:t>
                      </a:r>
                      <a:endParaRPr lang="en-US" sz="800" dirty="0"/>
                    </a:p>
                  </a:txBody>
                  <a:tcPr/>
                </a:tc>
                <a:tc>
                  <a:txBody>
                    <a:bodyPr/>
                    <a:lstStyle/>
                    <a:p>
                      <a:r>
                        <a:rPr lang="en-IN" sz="800" dirty="0"/>
                        <a:t>Automated and scalable</a:t>
                      </a:r>
                      <a:endParaRPr lang="en-US" sz="800" dirty="0"/>
                    </a:p>
                  </a:txBody>
                  <a:tcPr/>
                </a:tc>
                <a:tc>
                  <a:txBody>
                    <a:bodyPr/>
                    <a:lstStyle/>
                    <a:p>
                      <a:r>
                        <a:rPr lang="en-US" sz="800" dirty="0"/>
                        <a:t>No lesion density, no macular threat analysis</a:t>
                      </a:r>
                    </a:p>
                  </a:txBody>
                  <a:tcPr/>
                </a:tc>
                <a:extLst>
                  <a:ext uri="{0D108BD9-81ED-4DB2-BD59-A6C34878D82A}">
                    <a16:rowId xmlns:a16="http://schemas.microsoft.com/office/drawing/2014/main" val="10002"/>
                  </a:ext>
                </a:extLst>
              </a:tr>
              <a:tr h="651934">
                <a:tc>
                  <a:txBody>
                    <a:bodyPr/>
                    <a:lstStyle/>
                    <a:p>
                      <a:r>
                        <a:rPr lang="en-US" sz="800" dirty="0"/>
                        <a:t>Predicting Systemic Health Features from Retinal Fundus Images (2024)</a:t>
                      </a:r>
                    </a:p>
                  </a:txBody>
                  <a:tcPr/>
                </a:tc>
                <a:tc>
                  <a:txBody>
                    <a:bodyPr/>
                    <a:lstStyle/>
                    <a:p>
                      <a:r>
                        <a:rPr lang="en-US" sz="800" dirty="0"/>
                        <a:t>Predict systemic parameters (HbA1c, BP) from retinal images</a:t>
                      </a:r>
                    </a:p>
                  </a:txBody>
                  <a:tcPr/>
                </a:tc>
                <a:tc>
                  <a:txBody>
                    <a:bodyPr/>
                    <a:lstStyle/>
                    <a:p>
                      <a:r>
                        <a:rPr lang="en-IN" sz="800" dirty="0"/>
                        <a:t>Transfer-learning-based deep learning</a:t>
                      </a:r>
                      <a:endParaRPr lang="en-US" sz="800" dirty="0"/>
                    </a:p>
                  </a:txBody>
                  <a:tcPr/>
                </a:tc>
                <a:tc>
                  <a:txBody>
                    <a:bodyPr/>
                    <a:lstStyle/>
                    <a:p>
                      <a:r>
                        <a:rPr lang="en-IN" sz="800" dirty="0"/>
                        <a:t>Transfer-learning-based deep learning</a:t>
                      </a:r>
                      <a:endParaRPr lang="en-US" sz="800" dirty="0"/>
                    </a:p>
                  </a:txBody>
                  <a:tcPr/>
                </a:tc>
                <a:tc>
                  <a:txBody>
                    <a:bodyPr/>
                    <a:lstStyle/>
                    <a:p>
                      <a:r>
                        <a:rPr lang="en-US" sz="800" dirty="0"/>
                        <a:t>Strongly supports </a:t>
                      </a:r>
                      <a:r>
                        <a:rPr lang="en-US" sz="800" b="1" dirty="0"/>
                        <a:t>diabetes severity estimation from fundus images</a:t>
                      </a:r>
                      <a:endParaRPr lang="en-US" sz="800" dirty="0"/>
                    </a:p>
                  </a:txBody>
                  <a:tcPr/>
                </a:tc>
                <a:tc>
                  <a:txBody>
                    <a:bodyPr/>
                    <a:lstStyle/>
                    <a:p>
                      <a:r>
                        <a:rPr lang="en-IN" sz="800" dirty="0"/>
                        <a:t>DenseNet-201 (transfer learning)</a:t>
                      </a:r>
                      <a:endParaRPr lang="en-US" sz="800" dirty="0"/>
                    </a:p>
                  </a:txBody>
                  <a:tcPr/>
                </a:tc>
                <a:tc>
                  <a:txBody>
                    <a:bodyPr/>
                    <a:lstStyle/>
                    <a:p>
                      <a:r>
                        <a:rPr lang="en-US" sz="800" dirty="0"/>
                        <a:t>High correlation with clinical values</a:t>
                      </a:r>
                    </a:p>
                  </a:txBody>
                  <a:tcPr/>
                </a:tc>
                <a:tc>
                  <a:txBody>
                    <a:bodyPr/>
                    <a:lstStyle/>
                    <a:p>
                      <a:r>
                        <a:rPr lang="en-IN" sz="800" dirty="0"/>
                        <a:t>Non-invasive systemic prediction</a:t>
                      </a:r>
                      <a:endParaRPr lang="en-US" sz="800" dirty="0"/>
                    </a:p>
                  </a:txBody>
                  <a:tcPr/>
                </a:tc>
                <a:tc>
                  <a:txBody>
                    <a:bodyPr/>
                    <a:lstStyle/>
                    <a:p>
                      <a:r>
                        <a:rPr lang="en-IN" sz="800" dirty="0"/>
                        <a:t>Black-box model, limited explainability</a:t>
                      </a:r>
                      <a:endParaRPr lang="en-US" sz="8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319856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0D8562F3-EF4E-4EA1-8416-F769F14D18B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7430083-762D-3B6E-DAC3-3D98EE6A2F41}"/>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Research Gaps</a:t>
            </a:r>
            <a:endParaRPr dirty="0"/>
          </a:p>
        </p:txBody>
      </p:sp>
      <p:sp>
        <p:nvSpPr>
          <p:cNvPr id="44" name="Google Shape;44;p3">
            <a:extLst>
              <a:ext uri="{FF2B5EF4-FFF2-40B4-BE49-F238E27FC236}">
                <a16:creationId xmlns:a16="http://schemas.microsoft.com/office/drawing/2014/main" id="{5FD84FE6-1EF7-E90B-9561-FC7CF4214F17}"/>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23</a:t>
            </a:fld>
            <a:endParaRPr/>
          </a:p>
        </p:txBody>
      </p:sp>
      <p:sp>
        <p:nvSpPr>
          <p:cNvPr id="6" name="Text Placeholder 5">
            <a:extLst>
              <a:ext uri="{FF2B5EF4-FFF2-40B4-BE49-F238E27FC236}">
                <a16:creationId xmlns:a16="http://schemas.microsoft.com/office/drawing/2014/main" id="{BED61239-2135-EDF1-81FF-85DF0820EDC0}"/>
              </a:ext>
            </a:extLst>
          </p:cNvPr>
          <p:cNvSpPr>
            <a:spLocks noGrp="1" noChangeArrowheads="1"/>
          </p:cNvSpPr>
          <p:nvPr>
            <p:ph type="body" idx="1"/>
          </p:nvPr>
        </p:nvSpPr>
        <p:spPr bwMode="auto">
          <a:xfrm>
            <a:off x="252662" y="845984"/>
            <a:ext cx="837397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Binary Classification Approach</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performs only binary classification (DR / No DR), which does not provide information about disease progression or severity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Retinal Features Not Used for Severity Assessment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Although important retinal features such as microaneurysms, hard exudates, and blood vessel abnormalities are extracted, the base paper uses them only for detection and not for evaluating the extent or severity of damage.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Mapping Between Retinal Damage and Diabetes Stages</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extracted diabetic retinopathy features are not mapped to diabetes stages or progression levels, limiting clinical interpretation beyond screening.</a:t>
            </a:r>
          </a:p>
        </p:txBody>
      </p:sp>
    </p:spTree>
    <p:extLst>
      <p:ext uri="{BB962C8B-B14F-4D97-AF65-F5344CB8AC3E}">
        <p14:creationId xmlns:p14="http://schemas.microsoft.com/office/powerpoint/2010/main" val="978618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291C7F78-E42D-F789-412D-53C660C0DFA4}"/>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3364DABB-86F0-041F-1690-AD45B814158A}"/>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dirty="0"/>
              <a:t>Problem statement</a:t>
            </a:r>
            <a:endParaRPr dirty="0"/>
          </a:p>
        </p:txBody>
      </p:sp>
      <p:sp>
        <p:nvSpPr>
          <p:cNvPr id="44" name="Google Shape;44;p3">
            <a:extLst>
              <a:ext uri="{FF2B5EF4-FFF2-40B4-BE49-F238E27FC236}">
                <a16:creationId xmlns:a16="http://schemas.microsoft.com/office/drawing/2014/main" id="{105073AE-3BAB-9959-75E9-6BDAB9C42CE1}"/>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24</a:t>
            </a:fld>
            <a:endParaRPr/>
          </a:p>
        </p:txBody>
      </p:sp>
      <p:sp>
        <p:nvSpPr>
          <p:cNvPr id="45" name="Google Shape;45;p3">
            <a:extLst>
              <a:ext uri="{FF2B5EF4-FFF2-40B4-BE49-F238E27FC236}">
                <a16:creationId xmlns:a16="http://schemas.microsoft.com/office/drawing/2014/main" id="{186DEA44-DE74-8BF1-9FD0-1F1BEEF60B05}"/>
              </a:ext>
            </a:extLst>
          </p:cNvPr>
          <p:cNvSpPr txBox="1">
            <a:spLocks noGrp="1"/>
          </p:cNvSpPr>
          <p:nvPr>
            <p:ph type="body" idx="1"/>
          </p:nvPr>
        </p:nvSpPr>
        <p:spPr>
          <a:xfrm>
            <a:off x="122238" y="637267"/>
            <a:ext cx="8805862" cy="4441371"/>
          </a:xfrm>
          <a:prstGeom prst="rect">
            <a:avLst/>
          </a:prstGeom>
          <a:noFill/>
          <a:ln>
            <a:noFill/>
          </a:ln>
        </p:spPr>
        <p:txBody>
          <a:bodyPr spcFirstLastPara="1" wrap="square" lIns="91425" tIns="91425" rIns="91425" bIns="91425" anchor="t" anchorCtr="0">
            <a:noAutofit/>
          </a:bodyPr>
          <a:lstStyle/>
          <a:p>
            <a:pPr marL="146368" lvl="0" indent="0">
              <a:lnSpc>
                <a:spcPct val="115000"/>
              </a:lnSpc>
              <a:buClr>
                <a:srgbClr val="595959"/>
              </a:buClr>
              <a:buSzPct val="58333"/>
            </a:pPr>
            <a:r>
              <a:rPr lang="en-US" sz="2000" dirty="0"/>
              <a:t>Diabetes is a long-term disease that requires regular monitoring to prevent serious complications. Blood glucose tests provide only temporary readings that can vary due to factors such as food intake, stress, and time of measurement, making it difficult to accurately assess the long-term severity of diabetes. Diabetic retinopathy causes gradual and permanent changes in the retina, including microaneurysms, hard exudates, and abnormal blood vessel growth, which reflect prolonged exposure to high blood glucose levels. However, most existing approaches focus only on detecting diabetic retinopathy and do not utilize these retinal features to evaluate diabetes progression. Therefore, there is a need for a non-invasive system that analyzes fundus images to extract diabetic retinopathy features and reliably predict the stage of diabetes.</a:t>
            </a:r>
            <a:endParaRPr lang="en-US" sz="2000" dirty="0">
              <a:solidFill>
                <a:srgbClr val="C00000"/>
              </a:solidFill>
            </a:endParaRPr>
          </a:p>
        </p:txBody>
      </p:sp>
    </p:spTree>
    <p:extLst>
      <p:ext uri="{BB962C8B-B14F-4D97-AF65-F5344CB8AC3E}">
        <p14:creationId xmlns:p14="http://schemas.microsoft.com/office/powerpoint/2010/main" val="1455877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
          <a:extLst>
            <a:ext uri="{FF2B5EF4-FFF2-40B4-BE49-F238E27FC236}">
              <a16:creationId xmlns:a16="http://schemas.microsoft.com/office/drawing/2014/main" id="{7A04FF15-7FBD-E39E-5752-EE62519D332A}"/>
            </a:ext>
          </a:extLst>
        </p:cNvPr>
        <p:cNvGrpSpPr/>
        <p:nvPr/>
      </p:nvGrpSpPr>
      <p:grpSpPr>
        <a:xfrm>
          <a:off x="0" y="0"/>
          <a:ext cx="0" cy="0"/>
          <a:chOff x="0" y="0"/>
          <a:chExt cx="0" cy="0"/>
        </a:xfrm>
      </p:grpSpPr>
      <p:sp>
        <p:nvSpPr>
          <p:cNvPr id="43" name="Google Shape;43;p3">
            <a:extLst>
              <a:ext uri="{FF2B5EF4-FFF2-40B4-BE49-F238E27FC236}">
                <a16:creationId xmlns:a16="http://schemas.microsoft.com/office/drawing/2014/main" id="{DD0B272E-A254-5C4C-1E19-D8888CB21439}"/>
              </a:ext>
            </a:extLst>
          </p:cNvPr>
          <p:cNvSpPr txBox="1">
            <a:spLocks noGrp="1"/>
          </p:cNvSpPr>
          <p:nvPr>
            <p:ph type="ctrTitle"/>
          </p:nvPr>
        </p:nvSpPr>
        <p:spPr>
          <a:xfrm>
            <a:off x="0" y="0"/>
            <a:ext cx="9144000" cy="649287"/>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ts val="5200"/>
              <a:buNone/>
            </a:pPr>
            <a:r>
              <a:rPr lang="en-IN"/>
              <a:t>References:</a:t>
            </a:r>
            <a:endParaRPr dirty="0"/>
          </a:p>
        </p:txBody>
      </p:sp>
      <p:sp>
        <p:nvSpPr>
          <p:cNvPr id="44" name="Google Shape;44;p3">
            <a:extLst>
              <a:ext uri="{FF2B5EF4-FFF2-40B4-BE49-F238E27FC236}">
                <a16:creationId xmlns:a16="http://schemas.microsoft.com/office/drawing/2014/main" id="{5FF89DDA-8225-B3D0-C1F9-D490BBB1912F}"/>
              </a:ext>
            </a:extLst>
          </p:cNvPr>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25</a:t>
            </a:fld>
            <a:endParaRPr/>
          </a:p>
        </p:txBody>
      </p:sp>
      <p:sp>
        <p:nvSpPr>
          <p:cNvPr id="45" name="Google Shape;45;p3">
            <a:extLst>
              <a:ext uri="{FF2B5EF4-FFF2-40B4-BE49-F238E27FC236}">
                <a16:creationId xmlns:a16="http://schemas.microsoft.com/office/drawing/2014/main" id="{279FA729-90EA-EB63-86E6-4B9A5DEBA070}"/>
              </a:ext>
            </a:extLst>
          </p:cNvPr>
          <p:cNvSpPr txBox="1">
            <a:spLocks noGrp="1"/>
          </p:cNvSpPr>
          <p:nvPr>
            <p:ph type="body" idx="1"/>
          </p:nvPr>
        </p:nvSpPr>
        <p:spPr>
          <a:xfrm>
            <a:off x="165100" y="914400"/>
            <a:ext cx="8763000" cy="3479800"/>
          </a:xfrm>
          <a:prstGeom prst="rect">
            <a:avLst/>
          </a:prstGeom>
          <a:noFill/>
          <a:ln>
            <a:noFill/>
          </a:ln>
        </p:spPr>
        <p:txBody>
          <a:bodyPr spcFirstLastPara="1" wrap="square" lIns="91425" tIns="91425" rIns="91425" bIns="91425" anchor="t" anchorCtr="0">
            <a:normAutofit/>
          </a:bodyPr>
          <a:lstStyle/>
          <a:p>
            <a:pPr indent="-310832">
              <a:lnSpc>
                <a:spcPct val="115000"/>
              </a:lnSpc>
              <a:buClr>
                <a:srgbClr val="595959"/>
              </a:buClr>
              <a:buSzPct val="58333"/>
              <a:buFont typeface="Arial"/>
              <a:buChar char="●"/>
            </a:pPr>
            <a:r>
              <a:rPr lang="en-IN" dirty="0">
                <a:solidFill>
                  <a:srgbClr val="FF0000"/>
                </a:solidFill>
                <a:sym typeface="Arial"/>
              </a:rPr>
              <a:t>This is one complete paragraph. </a:t>
            </a:r>
            <a:endParaRPr lang="en-US" dirty="0">
              <a:solidFill>
                <a:srgbClr val="FF0000"/>
              </a:solidFill>
              <a:sym typeface="Arial"/>
            </a:endParaRPr>
          </a:p>
          <a:p>
            <a:pPr lvl="0" indent="-310832">
              <a:lnSpc>
                <a:spcPct val="115000"/>
              </a:lnSpc>
              <a:buClr>
                <a:srgbClr val="595959"/>
              </a:buClr>
              <a:buSzPct val="58333"/>
              <a:buChar char="●"/>
            </a:pPr>
            <a:endParaRPr lang="en-US" dirty="0">
              <a:solidFill>
                <a:srgbClr val="C00000"/>
              </a:solidFill>
            </a:endParaRPr>
          </a:p>
        </p:txBody>
      </p:sp>
    </p:spTree>
    <p:extLst>
      <p:ext uri="{BB962C8B-B14F-4D97-AF65-F5344CB8AC3E}">
        <p14:creationId xmlns:p14="http://schemas.microsoft.com/office/powerpoint/2010/main" val="937086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0" y="2252662"/>
            <a:ext cx="9144000" cy="841375"/>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3600"/>
              <a:buNone/>
            </a:pPr>
            <a:r>
              <a:rPr lang="en-US" sz="3600" b="1" i="0" u="none">
                <a:solidFill>
                  <a:srgbClr val="000000"/>
                </a:solidFill>
                <a:latin typeface="Times New Roman"/>
                <a:ea typeface="Times New Roman"/>
                <a:cs typeface="Times New Roman"/>
                <a:sym typeface="Times New Roman"/>
              </a:rPr>
              <a:t>Thank you</a:t>
            </a:r>
            <a:endParaRPr/>
          </a:p>
        </p:txBody>
      </p:sp>
      <p:sp>
        <p:nvSpPr>
          <p:cNvPr id="84" name="Google Shape;84;p12"/>
          <p:cNvSpPr txBox="1"/>
          <p:nvPr/>
        </p:nvSpPr>
        <p:spPr>
          <a:xfrm>
            <a:off x="8472487" y="4662487"/>
            <a:ext cx="549275" cy="3937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595959"/>
              </a:buClr>
              <a:buSzPts val="1000"/>
              <a:buFont typeface="Arial"/>
              <a:buNone/>
            </a:pPr>
            <a:fld id="{00000000-1234-1234-1234-123412341234}" type="slidenum">
              <a:rPr lang="en-US" sz="1000" b="0" i="0" u="none" strike="noStrike" cap="none">
                <a:solidFill>
                  <a:srgbClr val="595959"/>
                </a:solidFill>
                <a:latin typeface="Arial"/>
                <a:ea typeface="Arial"/>
                <a:cs typeface="Arial"/>
                <a:sym typeface="Arial"/>
              </a:rPr>
              <a:t>26</a:t>
            </a:fld>
            <a:endParaRPr/>
          </a:p>
        </p:txBody>
      </p:sp>
    </p:spTree>
  </p:cSld>
  <p:clrMapOvr>
    <a:masterClrMapping/>
  </p:clrMapOvr>
</p:sld>
</file>

<file path=ppt/theme/theme1.xml><?xml version="1.0" encoding="utf-8"?>
<a:theme xmlns:a="http://schemas.openxmlformats.org/drawingml/2006/main" name="2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2058</TotalTime>
  <Words>2637</Words>
  <Application>Microsoft Office PowerPoint</Application>
  <PresentationFormat>On-screen Show (16:9)</PresentationFormat>
  <Paragraphs>328</Paragraphs>
  <Slides>26</Slides>
  <Notes>22</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26</vt:i4>
      </vt:variant>
    </vt:vector>
  </HeadingPairs>
  <TitlesOfParts>
    <vt:vector size="30" baseType="lpstr">
      <vt:lpstr>Arial</vt:lpstr>
      <vt:lpstr>Times New Roman</vt:lpstr>
      <vt:lpstr>2_Simple Light</vt:lpstr>
      <vt:lpstr>1_Simple Light</vt:lpstr>
      <vt:lpstr>    Gokaraju Rangaraju Institute of Engineering and Technology  (Autonomous) Department of Data Science  Mini Project Work (CSE(DS))</vt:lpstr>
      <vt:lpstr>Estimating Diabetes Severity from Retinal Fundus Images using Diabetic Retinopathy Features</vt:lpstr>
      <vt:lpstr>Details explanation of the project</vt:lpstr>
      <vt:lpstr>Details explanation of the project</vt:lpstr>
      <vt:lpstr>USE CASE:</vt:lpstr>
      <vt:lpstr>Discuss Base paper</vt:lpstr>
      <vt:lpstr>Discuss Base paper</vt:lpstr>
      <vt:lpstr>PowerPoint Presentation</vt:lpstr>
      <vt:lpstr>Comparison with Base paper</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vt:lpstr>
      <vt:lpstr>Literature Review Summery</vt:lpstr>
      <vt:lpstr>Literature Review Summery</vt:lpstr>
      <vt:lpstr>Literature Review Summery</vt:lpstr>
      <vt:lpstr>Research Gaps</vt:lpstr>
      <vt:lpstr>Problem statement</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Gokaraju Rangaraju Institute of Engineering and Technology  (Autonomous) Department of Data Science  Mini Project Work (CSE(DS))</dc:title>
  <dc:creator>OM</dc:creator>
  <cp:lastModifiedBy>Shivani P</cp:lastModifiedBy>
  <cp:revision>10</cp:revision>
  <dcterms:modified xsi:type="dcterms:W3CDTF">2026-01-30T05:06:59Z</dcterms:modified>
</cp:coreProperties>
</file>