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35"/>
  </p:notesMasterIdLst>
  <p:sldIdLst>
    <p:sldId id="256" r:id="rId3"/>
    <p:sldId id="257" r:id="rId4"/>
    <p:sldId id="265" r:id="rId5"/>
    <p:sldId id="296" r:id="rId6"/>
    <p:sldId id="270" r:id="rId7"/>
    <p:sldId id="297" r:id="rId8"/>
    <p:sldId id="272" r:id="rId9"/>
    <p:sldId id="298" r:id="rId10"/>
    <p:sldId id="273" r:id="rId11"/>
    <p:sldId id="299" r:id="rId12"/>
    <p:sldId id="274" r:id="rId13"/>
    <p:sldId id="275" r:id="rId14"/>
    <p:sldId id="276" r:id="rId15"/>
    <p:sldId id="277" r:id="rId16"/>
    <p:sldId id="278" r:id="rId17"/>
    <p:sldId id="291" r:id="rId18"/>
    <p:sldId id="279" r:id="rId19"/>
    <p:sldId id="293" r:id="rId20"/>
    <p:sldId id="280" r:id="rId21"/>
    <p:sldId id="301" r:id="rId22"/>
    <p:sldId id="281" r:id="rId23"/>
    <p:sldId id="282" r:id="rId24"/>
    <p:sldId id="283" r:id="rId25"/>
    <p:sldId id="284" r:id="rId26"/>
    <p:sldId id="302" r:id="rId27"/>
    <p:sldId id="303" r:id="rId28"/>
    <p:sldId id="286" r:id="rId29"/>
    <p:sldId id="294" r:id="rId30"/>
    <p:sldId id="287" r:id="rId31"/>
    <p:sldId id="300" r:id="rId32"/>
    <p:sldId id="288" r:id="rId33"/>
    <p:sldId id="264" r:id="rId3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gZpxF7Zee30fhjMZJOO9uuOAEd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891440-F295-4104-B475-6D0110B50306}" v="103" dt="2026-01-20T15:21:28.5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628" autoAdjust="0"/>
    <p:restoredTop sz="94660"/>
  </p:normalViewPr>
  <p:slideViewPr>
    <p:cSldViewPr snapToGrid="0">
      <p:cViewPr varScale="1">
        <p:scale>
          <a:sx n="114" d="100"/>
          <a:sy n="114" d="100"/>
        </p:scale>
        <p:origin x="931"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ni P" userId="9aeb2b5d3e97835f" providerId="LiveId" clId="{D3825000-BAFA-4C99-BB50-242C38187AC7}"/>
    <pc:docChg chg="undo custSel addSld delSld modSld sldOrd">
      <pc:chgData name="Shivani P" userId="9aeb2b5d3e97835f" providerId="LiveId" clId="{D3825000-BAFA-4C99-BB50-242C38187AC7}" dt="2026-01-20T15:21:28.548" v="905"/>
      <pc:docMkLst>
        <pc:docMk/>
      </pc:docMkLst>
      <pc:sldChg chg="modSp mod">
        <pc:chgData name="Shivani P" userId="9aeb2b5d3e97835f" providerId="LiveId" clId="{D3825000-BAFA-4C99-BB50-242C38187AC7}" dt="2026-01-06T10:27:19.658" v="372" actId="20577"/>
        <pc:sldMkLst>
          <pc:docMk/>
          <pc:sldMk cId="0" sldId="257"/>
        </pc:sldMkLst>
        <pc:spChg chg="mod">
          <ac:chgData name="Shivani P" userId="9aeb2b5d3e97835f" providerId="LiveId" clId="{D3825000-BAFA-4C99-BB50-242C38187AC7}" dt="2026-01-06T10:27:19.658" v="372" actId="20577"/>
          <ac:spMkLst>
            <pc:docMk/>
            <pc:sldMk cId="0" sldId="257"/>
            <ac:spMk id="37" creationId="{00000000-0000-0000-0000-000000000000}"/>
          </ac:spMkLst>
        </pc:spChg>
      </pc:sldChg>
      <pc:sldChg chg="modSp mod">
        <pc:chgData name="Shivani P" userId="9aeb2b5d3e97835f" providerId="LiveId" clId="{D3825000-BAFA-4C99-BB50-242C38187AC7}" dt="2026-01-06T09:46:53.177" v="20" actId="123"/>
        <pc:sldMkLst>
          <pc:docMk/>
          <pc:sldMk cId="2904293425" sldId="265"/>
        </pc:sldMkLst>
        <pc:spChg chg="mod">
          <ac:chgData name="Shivani P" userId="9aeb2b5d3e97835f" providerId="LiveId" clId="{D3825000-BAFA-4C99-BB50-242C38187AC7}" dt="2026-01-06T09:46:53.177" v="20" actId="123"/>
          <ac:spMkLst>
            <pc:docMk/>
            <pc:sldMk cId="2904293425" sldId="265"/>
            <ac:spMk id="58" creationId="{07EBEB25-FC88-7B87-7DAD-851E38363032}"/>
          </ac:spMkLst>
        </pc:spChg>
      </pc:sldChg>
      <pc:sldChg chg="modSp">
        <pc:chgData name="Shivani P" userId="9aeb2b5d3e97835f" providerId="LiveId" clId="{D3825000-BAFA-4C99-BB50-242C38187AC7}" dt="2026-01-20T14:27:04.455" v="904"/>
        <pc:sldMkLst>
          <pc:docMk/>
          <pc:sldMk cId="2141345160" sldId="272"/>
        </pc:sldMkLst>
        <pc:spChg chg="mod">
          <ac:chgData name="Shivani P" userId="9aeb2b5d3e97835f" providerId="LiveId" clId="{D3825000-BAFA-4C99-BB50-242C38187AC7}" dt="2026-01-20T14:27:04.455" v="904"/>
          <ac:spMkLst>
            <pc:docMk/>
            <pc:sldMk cId="2141345160" sldId="272"/>
            <ac:spMk id="7" creationId="{361492EB-1295-D710-9CDC-E51A069D4CCD}"/>
          </ac:spMkLst>
        </pc:spChg>
      </pc:sldChg>
      <pc:sldChg chg="modSp mod">
        <pc:chgData name="Shivani P" userId="9aeb2b5d3e97835f" providerId="LiveId" clId="{D3825000-BAFA-4C99-BB50-242C38187AC7}" dt="2026-01-06T10:05:28.680" v="277" actId="14100"/>
        <pc:sldMkLst>
          <pc:docMk/>
          <pc:sldMk cId="2686574936" sldId="273"/>
        </pc:sldMkLst>
        <pc:spChg chg="mod">
          <ac:chgData name="Shivani P" userId="9aeb2b5d3e97835f" providerId="LiveId" clId="{D3825000-BAFA-4C99-BB50-242C38187AC7}" dt="2026-01-06T10:05:28.680" v="277" actId="14100"/>
          <ac:spMkLst>
            <pc:docMk/>
            <pc:sldMk cId="2686574936" sldId="273"/>
            <ac:spMk id="3" creationId="{BD954B18-D07B-CD28-4EE4-5E2EAA651A17}"/>
          </ac:spMkLst>
        </pc:spChg>
      </pc:sldChg>
      <pc:sldChg chg="modSp mod">
        <pc:chgData name="Shivani P" userId="9aeb2b5d3e97835f" providerId="LiveId" clId="{D3825000-BAFA-4C99-BB50-242C38187AC7}" dt="2026-01-06T10:24:06.704" v="296" actId="20577"/>
        <pc:sldMkLst>
          <pc:docMk/>
          <pc:sldMk cId="1631179750" sldId="274"/>
        </pc:sldMkLst>
        <pc:spChg chg="mod">
          <ac:chgData name="Shivani P" userId="9aeb2b5d3e97835f" providerId="LiveId" clId="{D3825000-BAFA-4C99-BB50-242C38187AC7}" dt="2026-01-06T10:24:06.704" v="296" actId="20577"/>
          <ac:spMkLst>
            <pc:docMk/>
            <pc:sldMk cId="1631179750" sldId="274"/>
            <ac:spMk id="2" creationId="{B35D0937-0C90-FEE6-2CD8-EA3D52A51B21}"/>
          </ac:spMkLst>
        </pc:spChg>
      </pc:sldChg>
      <pc:sldChg chg="modSp mod">
        <pc:chgData name="Shivani P" userId="9aeb2b5d3e97835f" providerId="LiveId" clId="{D3825000-BAFA-4C99-BB50-242C38187AC7}" dt="2026-01-06T12:54:09.368" v="903" actId="20577"/>
        <pc:sldMkLst>
          <pc:docMk/>
          <pc:sldMk cId="3088168708" sldId="275"/>
        </pc:sldMkLst>
        <pc:spChg chg="mod">
          <ac:chgData name="Shivani P" userId="9aeb2b5d3e97835f" providerId="LiveId" clId="{D3825000-BAFA-4C99-BB50-242C38187AC7}" dt="2026-01-06T12:54:09.368" v="903" actId="20577"/>
          <ac:spMkLst>
            <pc:docMk/>
            <pc:sldMk cId="3088168708" sldId="275"/>
            <ac:spMk id="37" creationId="{E2120D80-8A37-C68C-6593-185EE29367B0}"/>
          </ac:spMkLst>
        </pc:spChg>
      </pc:sldChg>
      <pc:sldChg chg="modSp mod">
        <pc:chgData name="Shivani P" userId="9aeb2b5d3e97835f" providerId="LiveId" clId="{D3825000-BAFA-4C99-BB50-242C38187AC7}" dt="2026-01-06T12:44:34.686" v="854" actId="1076"/>
        <pc:sldMkLst>
          <pc:docMk/>
          <pc:sldMk cId="516142173" sldId="276"/>
        </pc:sldMkLst>
        <pc:spChg chg="mod">
          <ac:chgData name="Shivani P" userId="9aeb2b5d3e97835f" providerId="LiveId" clId="{D3825000-BAFA-4C99-BB50-242C38187AC7}" dt="2026-01-06T12:44:34.686" v="854" actId="1076"/>
          <ac:spMkLst>
            <pc:docMk/>
            <pc:sldMk cId="516142173" sldId="276"/>
            <ac:spMk id="5" creationId="{2226EDC4-63A6-4AD7-2AC2-6C407C882F97}"/>
          </ac:spMkLst>
        </pc:spChg>
      </pc:sldChg>
      <pc:sldChg chg="addSp delSp modSp mod">
        <pc:chgData name="Shivani P" userId="9aeb2b5d3e97835f" providerId="LiveId" clId="{D3825000-BAFA-4C99-BB50-242C38187AC7}" dt="2026-01-06T12:22:15.282" v="618" actId="5793"/>
        <pc:sldMkLst>
          <pc:docMk/>
          <pc:sldMk cId="2873660579" sldId="277"/>
        </pc:sldMkLst>
        <pc:spChg chg="add del mod">
          <ac:chgData name="Shivani P" userId="9aeb2b5d3e97835f" providerId="LiveId" clId="{D3825000-BAFA-4C99-BB50-242C38187AC7}" dt="2026-01-06T12:22:15.282" v="618" actId="5793"/>
          <ac:spMkLst>
            <pc:docMk/>
            <pc:sldMk cId="2873660579" sldId="277"/>
            <ac:spMk id="5" creationId="{F91F4AF6-06DF-ABAB-4F51-0F10B3E64240}"/>
          </ac:spMkLst>
        </pc:spChg>
      </pc:sldChg>
      <pc:sldChg chg="addSp modSp mod">
        <pc:chgData name="Shivani P" userId="9aeb2b5d3e97835f" providerId="LiveId" clId="{D3825000-BAFA-4C99-BB50-242C38187AC7}" dt="2026-01-06T12:24:30.832" v="625" actId="255"/>
        <pc:sldMkLst>
          <pc:docMk/>
          <pc:sldMk cId="3254612349" sldId="278"/>
        </pc:sldMkLst>
        <pc:spChg chg="add mod">
          <ac:chgData name="Shivani P" userId="9aeb2b5d3e97835f" providerId="LiveId" clId="{D3825000-BAFA-4C99-BB50-242C38187AC7}" dt="2026-01-06T12:24:30.832" v="625" actId="255"/>
          <ac:spMkLst>
            <pc:docMk/>
            <pc:sldMk cId="3254612349" sldId="278"/>
            <ac:spMk id="2" creationId="{B315E2E8-B31F-F69A-D163-9DA55EB3C941}"/>
          </ac:spMkLst>
        </pc:spChg>
        <pc:spChg chg="mod">
          <ac:chgData name="Shivani P" userId="9aeb2b5d3e97835f" providerId="LiveId" clId="{D3825000-BAFA-4C99-BB50-242C38187AC7}" dt="2026-01-06T12:23:32.613" v="619" actId="20577"/>
          <ac:spMkLst>
            <pc:docMk/>
            <pc:sldMk cId="3254612349" sldId="278"/>
            <ac:spMk id="6" creationId="{2687FBB2-4CB8-B41F-10DE-6DF7AF98A4E9}"/>
          </ac:spMkLst>
        </pc:spChg>
      </pc:sldChg>
      <pc:sldChg chg="addSp delSp modSp mod">
        <pc:chgData name="Shivani P" userId="9aeb2b5d3e97835f" providerId="LiveId" clId="{D3825000-BAFA-4C99-BB50-242C38187AC7}" dt="2026-01-06T12:35:23.527" v="755" actId="20577"/>
        <pc:sldMkLst>
          <pc:docMk/>
          <pc:sldMk cId="101095410" sldId="279"/>
        </pc:sldMkLst>
        <pc:spChg chg="mod">
          <ac:chgData name="Shivani P" userId="9aeb2b5d3e97835f" providerId="LiveId" clId="{D3825000-BAFA-4C99-BB50-242C38187AC7}" dt="2026-01-06T12:35:23.527" v="755" actId="20577"/>
          <ac:spMkLst>
            <pc:docMk/>
            <pc:sldMk cId="101095410" sldId="279"/>
            <ac:spMk id="2" creationId="{85E9CA85-C495-B7E4-7AE7-AA0AE9C16B0D}"/>
          </ac:spMkLst>
        </pc:spChg>
      </pc:sldChg>
      <pc:sldChg chg="modSp mod">
        <pc:chgData name="Shivani P" userId="9aeb2b5d3e97835f" providerId="LiveId" clId="{D3825000-BAFA-4C99-BB50-242C38187AC7}" dt="2026-01-06T12:39:08.005" v="797" actId="20577"/>
        <pc:sldMkLst>
          <pc:docMk/>
          <pc:sldMk cId="3086384743" sldId="280"/>
        </pc:sldMkLst>
        <pc:spChg chg="mod">
          <ac:chgData name="Shivani P" userId="9aeb2b5d3e97835f" providerId="LiveId" clId="{D3825000-BAFA-4C99-BB50-242C38187AC7}" dt="2026-01-06T12:39:08.005" v="797" actId="20577"/>
          <ac:spMkLst>
            <pc:docMk/>
            <pc:sldMk cId="3086384743" sldId="280"/>
            <ac:spMk id="3" creationId="{4032958B-B531-47A8-7140-27A45B91E6F0}"/>
          </ac:spMkLst>
        </pc:spChg>
      </pc:sldChg>
      <pc:sldChg chg="modSp mod">
        <pc:chgData name="Shivani P" userId="9aeb2b5d3e97835f" providerId="LiveId" clId="{D3825000-BAFA-4C99-BB50-242C38187AC7}" dt="2026-01-06T12:45:35.174" v="872" actId="20577"/>
        <pc:sldMkLst>
          <pc:docMk/>
          <pc:sldMk cId="1882727558" sldId="281"/>
        </pc:sldMkLst>
        <pc:spChg chg="mod">
          <ac:chgData name="Shivani P" userId="9aeb2b5d3e97835f" providerId="LiveId" clId="{D3825000-BAFA-4C99-BB50-242C38187AC7}" dt="2026-01-06T12:45:35.174" v="872" actId="20577"/>
          <ac:spMkLst>
            <pc:docMk/>
            <pc:sldMk cId="1882727558" sldId="281"/>
            <ac:spMk id="4" creationId="{8C1E4FC3-9D3A-4FEC-BA09-087ADCEB51EA}"/>
          </ac:spMkLst>
        </pc:spChg>
      </pc:sldChg>
      <pc:sldChg chg="modSp">
        <pc:chgData name="Shivani P" userId="9aeb2b5d3e97835f" providerId="LiveId" clId="{D3825000-BAFA-4C99-BB50-242C38187AC7}" dt="2026-01-06T12:46:36.495" v="879" actId="1076"/>
        <pc:sldMkLst>
          <pc:docMk/>
          <pc:sldMk cId="2564766615" sldId="284"/>
        </pc:sldMkLst>
        <pc:spChg chg="mod">
          <ac:chgData name="Shivani P" userId="9aeb2b5d3e97835f" providerId="LiveId" clId="{D3825000-BAFA-4C99-BB50-242C38187AC7}" dt="2026-01-06T12:46:36.495" v="879" actId="1076"/>
          <ac:spMkLst>
            <pc:docMk/>
            <pc:sldMk cId="2564766615" sldId="284"/>
            <ac:spMk id="3" creationId="{68A16A49-8911-FFEE-0A79-39307F4D3A0C}"/>
          </ac:spMkLst>
        </pc:spChg>
      </pc:sldChg>
      <pc:sldChg chg="modSp mod">
        <pc:chgData name="Shivani P" userId="9aeb2b5d3e97835f" providerId="LiveId" clId="{D3825000-BAFA-4C99-BB50-242C38187AC7}" dt="2026-01-06T11:57:39.600" v="455" actId="20577"/>
        <pc:sldMkLst>
          <pc:docMk/>
          <pc:sldMk cId="2592186043" sldId="286"/>
        </pc:sldMkLst>
        <pc:spChg chg="mod">
          <ac:chgData name="Shivani P" userId="9aeb2b5d3e97835f" providerId="LiveId" clId="{D3825000-BAFA-4C99-BB50-242C38187AC7}" dt="2026-01-06T11:57:39.600" v="455" actId="20577"/>
          <ac:spMkLst>
            <pc:docMk/>
            <pc:sldMk cId="2592186043" sldId="286"/>
            <ac:spMk id="58" creationId="{E50E089E-A720-0E3A-74B4-A3E1B2F22A01}"/>
          </ac:spMkLst>
        </pc:spChg>
      </pc:sldChg>
      <pc:sldChg chg="modSp mod">
        <pc:chgData name="Shivani P" userId="9aeb2b5d3e97835f" providerId="LiveId" clId="{D3825000-BAFA-4C99-BB50-242C38187AC7}" dt="2026-01-06T12:03:27.964" v="484" actId="1076"/>
        <pc:sldMkLst>
          <pc:docMk/>
          <pc:sldMk cId="3537539178" sldId="287"/>
        </pc:sldMkLst>
        <pc:spChg chg="mod">
          <ac:chgData name="Shivani P" userId="9aeb2b5d3e97835f" providerId="LiveId" clId="{D3825000-BAFA-4C99-BB50-242C38187AC7}" dt="2026-01-06T12:03:27.964" v="484" actId="1076"/>
          <ac:spMkLst>
            <pc:docMk/>
            <pc:sldMk cId="3537539178" sldId="287"/>
            <ac:spMk id="4" creationId="{FAAE32F8-8C3F-092A-852D-6E283C2E172A}"/>
          </ac:spMkLst>
        </pc:spChg>
        <pc:spChg chg="mod">
          <ac:chgData name="Shivani P" userId="9aeb2b5d3e97835f" providerId="LiveId" clId="{D3825000-BAFA-4C99-BB50-242C38187AC7}" dt="2026-01-06T12:00:11.234" v="477" actId="1076"/>
          <ac:spMkLst>
            <pc:docMk/>
            <pc:sldMk cId="3537539178" sldId="287"/>
            <ac:spMk id="56" creationId="{CB4356AB-631F-D4AE-6EE9-A5F6D86D1AEF}"/>
          </ac:spMkLst>
        </pc:spChg>
      </pc:sldChg>
      <pc:sldChg chg="modSp mod">
        <pc:chgData name="Shivani P" userId="9aeb2b5d3e97835f" providerId="LiveId" clId="{D3825000-BAFA-4C99-BB50-242C38187AC7}" dt="2026-01-06T12:11:11.077" v="533" actId="20577"/>
        <pc:sldMkLst>
          <pc:docMk/>
          <pc:sldMk cId="2834366800" sldId="288"/>
        </pc:sldMkLst>
        <pc:spChg chg="mod">
          <ac:chgData name="Shivani P" userId="9aeb2b5d3e97835f" providerId="LiveId" clId="{D3825000-BAFA-4C99-BB50-242C38187AC7}" dt="2026-01-06T12:11:11.077" v="533" actId="20577"/>
          <ac:spMkLst>
            <pc:docMk/>
            <pc:sldMk cId="2834366800" sldId="288"/>
            <ac:spMk id="5" creationId="{E3AF4B63-B949-AE93-C361-F318B514862B}"/>
          </ac:spMkLst>
        </pc:spChg>
      </pc:sldChg>
      <pc:sldChg chg="addSp modSp mod">
        <pc:chgData name="Shivani P" userId="9aeb2b5d3e97835f" providerId="LiveId" clId="{D3825000-BAFA-4C99-BB50-242C38187AC7}" dt="2026-01-06T12:30:22.456" v="708" actId="1076"/>
        <pc:sldMkLst>
          <pc:docMk/>
          <pc:sldMk cId="3135800110" sldId="291"/>
        </pc:sldMkLst>
        <pc:spChg chg="mod">
          <ac:chgData name="Shivani P" userId="9aeb2b5d3e97835f" providerId="LiveId" clId="{D3825000-BAFA-4C99-BB50-242C38187AC7}" dt="2026-01-06T12:29:56.637" v="706" actId="20577"/>
          <ac:spMkLst>
            <pc:docMk/>
            <pc:sldMk cId="3135800110" sldId="291"/>
            <ac:spMk id="3" creationId="{3305106E-DAA3-4A84-2D42-03A5483ADA28}"/>
          </ac:spMkLst>
        </pc:spChg>
        <pc:spChg chg="add mod">
          <ac:chgData name="Shivani P" userId="9aeb2b5d3e97835f" providerId="LiveId" clId="{D3825000-BAFA-4C99-BB50-242C38187AC7}" dt="2026-01-06T12:30:22.456" v="708" actId="1076"/>
          <ac:spMkLst>
            <pc:docMk/>
            <pc:sldMk cId="3135800110" sldId="291"/>
            <ac:spMk id="6" creationId="{FCAF75BB-F775-83AF-8CDD-08E75AA6E1D0}"/>
          </ac:spMkLst>
        </pc:spChg>
      </pc:sldChg>
      <pc:sldChg chg="modSp mod">
        <pc:chgData name="Shivani P" userId="9aeb2b5d3e97835f" providerId="LiveId" clId="{D3825000-BAFA-4C99-BB50-242C38187AC7}" dt="2026-01-06T12:36:20.351" v="757" actId="255"/>
        <pc:sldMkLst>
          <pc:docMk/>
          <pc:sldMk cId="1324477236" sldId="293"/>
        </pc:sldMkLst>
        <pc:spChg chg="mod">
          <ac:chgData name="Shivani P" userId="9aeb2b5d3e97835f" providerId="LiveId" clId="{D3825000-BAFA-4C99-BB50-242C38187AC7}" dt="2026-01-06T12:36:20.351" v="757" actId="255"/>
          <ac:spMkLst>
            <pc:docMk/>
            <pc:sldMk cId="1324477236" sldId="293"/>
            <ac:spMk id="3" creationId="{DFF455C6-22B8-0B19-0340-98F3CBA0265D}"/>
          </ac:spMkLst>
        </pc:spChg>
      </pc:sldChg>
      <pc:sldChg chg="modSp mod">
        <pc:chgData name="Shivani P" userId="9aeb2b5d3e97835f" providerId="LiveId" clId="{D3825000-BAFA-4C99-BB50-242C38187AC7}" dt="2026-01-06T11:59:42.404" v="476" actId="20577"/>
        <pc:sldMkLst>
          <pc:docMk/>
          <pc:sldMk cId="440855603" sldId="294"/>
        </pc:sldMkLst>
        <pc:spChg chg="mod">
          <ac:chgData name="Shivani P" userId="9aeb2b5d3e97835f" providerId="LiveId" clId="{D3825000-BAFA-4C99-BB50-242C38187AC7}" dt="2026-01-06T11:59:42.404" v="476" actId="20577"/>
          <ac:spMkLst>
            <pc:docMk/>
            <pc:sldMk cId="440855603" sldId="294"/>
            <ac:spMk id="3" creationId="{90F0264A-C036-C908-E9F2-E3063F5D3210}"/>
          </ac:spMkLst>
        </pc:spChg>
      </pc:sldChg>
      <pc:sldChg chg="addSp delSp modSp mod">
        <pc:chgData name="Shivani P" userId="9aeb2b5d3e97835f" providerId="LiveId" clId="{D3825000-BAFA-4C99-BB50-242C38187AC7}" dt="2026-01-20T15:21:28.548" v="905"/>
        <pc:sldMkLst>
          <pc:docMk/>
          <pc:sldMk cId="222807314" sldId="296"/>
        </pc:sldMkLst>
        <pc:spChg chg="add mod">
          <ac:chgData name="Shivani P" userId="9aeb2b5d3e97835f" providerId="LiveId" clId="{D3825000-BAFA-4C99-BB50-242C38187AC7}" dt="2026-01-20T15:21:28.548" v="905"/>
          <ac:spMkLst>
            <pc:docMk/>
            <pc:sldMk cId="222807314" sldId="296"/>
            <ac:spMk id="8" creationId="{D5804407-2D9F-74F3-5103-5C2E37D50837}"/>
          </ac:spMkLst>
        </pc:spChg>
      </pc:sldChg>
      <pc:sldChg chg="modSp mod">
        <pc:chgData name="Shivani P" userId="9aeb2b5d3e97835f" providerId="LiveId" clId="{D3825000-BAFA-4C99-BB50-242C38187AC7}" dt="2026-01-06T09:57:53.574" v="187" actId="20577"/>
        <pc:sldMkLst>
          <pc:docMk/>
          <pc:sldMk cId="4192325424" sldId="297"/>
        </pc:sldMkLst>
        <pc:spChg chg="mod">
          <ac:chgData name="Shivani P" userId="9aeb2b5d3e97835f" providerId="LiveId" clId="{D3825000-BAFA-4C99-BB50-242C38187AC7}" dt="2026-01-06T09:57:53.574" v="187" actId="20577"/>
          <ac:spMkLst>
            <pc:docMk/>
            <pc:sldMk cId="4192325424" sldId="297"/>
            <ac:spMk id="3" creationId="{8B4C0D71-34B9-7F97-F401-3A37E9E722BF}"/>
          </ac:spMkLst>
        </pc:spChg>
      </pc:sldChg>
      <pc:sldChg chg="addSp modSp mod">
        <pc:chgData name="Shivani P" userId="9aeb2b5d3e97835f" providerId="LiveId" clId="{D3825000-BAFA-4C99-BB50-242C38187AC7}" dt="2026-01-06T12:44:03.235" v="853" actId="1076"/>
        <pc:sldMkLst>
          <pc:docMk/>
          <pc:sldMk cId="3355633498" sldId="298"/>
        </pc:sldMkLst>
        <pc:spChg chg="mod">
          <ac:chgData name="Shivani P" userId="9aeb2b5d3e97835f" providerId="LiveId" clId="{D3825000-BAFA-4C99-BB50-242C38187AC7}" dt="2026-01-06T12:44:03.235" v="853" actId="1076"/>
          <ac:spMkLst>
            <pc:docMk/>
            <pc:sldMk cId="3355633498" sldId="298"/>
            <ac:spMk id="11" creationId="{0EB77724-C1DA-2E6F-8575-021870F28FF8}"/>
          </ac:spMkLst>
        </pc:spChg>
      </pc:sldChg>
      <pc:sldChg chg="modSp mod">
        <pc:chgData name="Shivani P" userId="9aeb2b5d3e97835f" providerId="LiveId" clId="{D3825000-BAFA-4C99-BB50-242C38187AC7}" dt="2026-01-06T10:22:07.386" v="282"/>
        <pc:sldMkLst>
          <pc:docMk/>
          <pc:sldMk cId="2714521077" sldId="299"/>
        </pc:sldMkLst>
        <pc:spChg chg="mod">
          <ac:chgData name="Shivani P" userId="9aeb2b5d3e97835f" providerId="LiveId" clId="{D3825000-BAFA-4C99-BB50-242C38187AC7}" dt="2026-01-06T10:22:07.386" v="282"/>
          <ac:spMkLst>
            <pc:docMk/>
            <pc:sldMk cId="2714521077" sldId="299"/>
            <ac:spMk id="3" creationId="{089F9B29-B8D6-5BF1-6C4B-7509385FCEF4}"/>
          </ac:spMkLst>
        </pc:spChg>
      </pc:sldChg>
      <pc:sldChg chg="modSp mod">
        <pc:chgData name="Shivani P" userId="9aeb2b5d3e97835f" providerId="LiveId" clId="{D3825000-BAFA-4C99-BB50-242C38187AC7}" dt="2026-01-06T12:09:53.669" v="520" actId="20577"/>
        <pc:sldMkLst>
          <pc:docMk/>
          <pc:sldMk cId="2379930171" sldId="300"/>
        </pc:sldMkLst>
        <pc:spChg chg="mod">
          <ac:chgData name="Shivani P" userId="9aeb2b5d3e97835f" providerId="LiveId" clId="{D3825000-BAFA-4C99-BB50-242C38187AC7}" dt="2026-01-06T12:09:53.669" v="520" actId="20577"/>
          <ac:spMkLst>
            <pc:docMk/>
            <pc:sldMk cId="2379930171" sldId="300"/>
            <ac:spMk id="3" creationId="{5F708570-B747-24C1-D202-B86435E1B522}"/>
          </ac:spMkLst>
        </pc:spChg>
      </pc:sldChg>
      <pc:sldChg chg="modSp new mod ord">
        <pc:chgData name="Shivani P" userId="9aeb2b5d3e97835f" providerId="LiveId" clId="{D3825000-BAFA-4C99-BB50-242C38187AC7}" dt="2026-01-06T12:41:18.961" v="829"/>
        <pc:sldMkLst>
          <pc:docMk/>
          <pc:sldMk cId="3589627592" sldId="301"/>
        </pc:sldMkLst>
        <pc:spChg chg="mod">
          <ac:chgData name="Shivani P" userId="9aeb2b5d3e97835f" providerId="LiveId" clId="{D3825000-BAFA-4C99-BB50-242C38187AC7}" dt="2026-01-06T12:39:25.989" v="813" actId="120"/>
          <ac:spMkLst>
            <pc:docMk/>
            <pc:sldMk cId="3589627592" sldId="301"/>
            <ac:spMk id="2" creationId="{6E79D685-3187-6ABF-CD09-9995E1F69887}"/>
          </ac:spMkLst>
        </pc:spChg>
        <pc:spChg chg="mod">
          <ac:chgData name="Shivani P" userId="9aeb2b5d3e97835f" providerId="LiveId" clId="{D3825000-BAFA-4C99-BB50-242C38187AC7}" dt="2026-01-06T12:41:11.159" v="827" actId="20577"/>
          <ac:spMkLst>
            <pc:docMk/>
            <pc:sldMk cId="3589627592" sldId="301"/>
            <ac:spMk id="3" creationId="{57A07720-9DBC-FF4F-3897-76D158561D00}"/>
          </ac:spMkLst>
        </pc:spChg>
      </pc:sldChg>
      <pc:sldChg chg="modSp add mod ord">
        <pc:chgData name="Shivani P" userId="9aeb2b5d3e97835f" providerId="LiveId" clId="{D3825000-BAFA-4C99-BB50-242C38187AC7}" dt="2026-01-06T12:48:04.329" v="883" actId="1076"/>
        <pc:sldMkLst>
          <pc:docMk/>
          <pc:sldMk cId="2884846061" sldId="302"/>
        </pc:sldMkLst>
        <pc:spChg chg="mod">
          <ac:chgData name="Shivani P" userId="9aeb2b5d3e97835f" providerId="LiveId" clId="{D3825000-BAFA-4C99-BB50-242C38187AC7}" dt="2026-01-06T12:48:04.329" v="883" actId="1076"/>
          <ac:spMkLst>
            <pc:docMk/>
            <pc:sldMk cId="2884846061" sldId="302"/>
            <ac:spMk id="2" creationId="{ABBFE406-7602-2679-F377-BAB1E0AE1BA5}"/>
          </ac:spMkLst>
        </pc:spChg>
      </pc:sldChg>
      <pc:sldChg chg="addSp modSp add mod ord">
        <pc:chgData name="Shivani P" userId="9aeb2b5d3e97835f" providerId="LiveId" clId="{D3825000-BAFA-4C99-BB50-242C38187AC7}" dt="2026-01-06T12:51:34.519" v="898" actId="1076"/>
        <pc:sldMkLst>
          <pc:docMk/>
          <pc:sldMk cId="3513230780" sldId="303"/>
        </pc:sldMkLst>
        <pc:spChg chg="mod">
          <ac:chgData name="Shivani P" userId="9aeb2b5d3e97835f" providerId="LiveId" clId="{D3825000-BAFA-4C99-BB50-242C38187AC7}" dt="2026-01-06T12:50:59.120" v="893" actId="1076"/>
          <ac:spMkLst>
            <pc:docMk/>
            <pc:sldMk cId="3513230780" sldId="303"/>
            <ac:spMk id="3" creationId="{009CA59F-1216-296E-F6C8-22A815276959}"/>
          </ac:spMkLst>
        </pc:spChg>
        <pc:spChg chg="add mod">
          <ac:chgData name="Shivani P" userId="9aeb2b5d3e97835f" providerId="LiveId" clId="{D3825000-BAFA-4C99-BB50-242C38187AC7}" dt="2026-01-06T12:51:34.519" v="898" actId="1076"/>
          <ac:spMkLst>
            <pc:docMk/>
            <pc:sldMk cId="3513230780" sldId="303"/>
            <ac:spMk id="5" creationId="{F01D7F15-1292-1662-DD85-D743D375406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9093127E-21CE-E8AC-9202-CE073418E672}"/>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9702AF09-5ACF-B1F1-14AB-84649CF39A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48999F61-3461-DD42-1AD7-C20C67A370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062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0DAD139B-E08A-5461-3E0D-8D9F907D66D6}"/>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0737C211-36AE-DC3A-842B-24FAA08868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112E3DB2-CB2D-DB1E-9F73-613B2C13B1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6711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5A1937E7-EF46-6491-A10B-8350E66D29B4}"/>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26BFDFB7-C9F7-9A72-AFED-67C2251C47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6FECE31B-9D8B-4D1A-E548-3CA2924D3D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25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5CC509BC-4AB7-E087-2ECD-F691BE10DD4B}"/>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442D1B72-197E-4969-EBCE-54F43F1288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B1D376FF-8709-6B91-1A08-D232670171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843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56126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D10BE7E7-B8DC-DCA3-1028-0BC5B96C808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50F97ACF-BFD0-432E-66D8-A2CCACC464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A3EB4445-4726-48AE-36E0-A9283B8B68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3128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7FCEBDBF-85FA-3762-1199-F412F75C3188}"/>
            </a:ext>
          </a:extLst>
        </p:cNvPr>
        <p:cNvGrpSpPr/>
        <p:nvPr/>
      </p:nvGrpSpPr>
      <p:grpSpPr>
        <a:xfrm>
          <a:off x="0" y="0"/>
          <a:ext cx="0" cy="0"/>
          <a:chOff x="0" y="0"/>
          <a:chExt cx="0" cy="0"/>
        </a:xfrm>
      </p:grpSpPr>
      <p:sp>
        <p:nvSpPr>
          <p:cNvPr id="34" name="Google Shape;34;p2:notes">
            <a:extLst>
              <a:ext uri="{FF2B5EF4-FFF2-40B4-BE49-F238E27FC236}">
                <a16:creationId xmlns:a16="http://schemas.microsoft.com/office/drawing/2014/main" id="{FCE4F027-DCAE-A831-9EE3-CD6F4F0928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a:extLst>
              <a:ext uri="{FF2B5EF4-FFF2-40B4-BE49-F238E27FC236}">
                <a16:creationId xmlns:a16="http://schemas.microsoft.com/office/drawing/2014/main" id="{81E9C6D7-B4B3-11B0-42DC-0868EEF685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1539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C5644609-7C41-7EEF-3A0A-07EC80D75DAA}"/>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F57FDEDA-3018-2121-93CB-27695E6882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104868F5-5D3C-6128-3869-BDDEE28186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5082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80BAE0FE-BC0A-8DF9-33F6-A29E2A2A4AC6}"/>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5F9B5145-8CB5-3F39-6826-92142DFBA4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7B58F4C2-CF31-4F1E-EE7D-D28939CFD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6462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108193A0-0118-5BE9-BD56-993E8D85E310}"/>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8DAF9588-4DCC-0B33-5275-4D648BEF03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B4CFBEE0-5E18-ECB1-A519-B918894941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5996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AA7D23F6-56C1-56AC-0D73-FE5E1DE0036C}"/>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4C4BE8C9-E0C4-3E3B-4161-B2D0CD0EFF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C826C893-216C-C49C-0893-E035C516A3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867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A0CBAC8C-CF11-E6A0-782B-3856B9F25E07}"/>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BFBE80E5-C692-41F4-5F31-4482C9EA02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679D21F3-F2A6-3AAB-EDFC-91B4A6D541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9217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C3CB7B53-F42A-3848-2715-DD4ACCD08B2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4902FCE8-8065-5760-53BA-D4E89D57CE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CD04D128-94C6-35BF-85D5-327E69C068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2110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C357FF0A-3FA2-C973-410B-550C93ED6E4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0814D9C7-857A-C80B-074C-D09989198E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38AA0EC3-B91D-C70A-D613-B3982759DB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3891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5901580A-626D-13C1-D320-E6C03A7F21DD}"/>
            </a:ext>
          </a:extLst>
        </p:cNvPr>
        <p:cNvGrpSpPr/>
        <p:nvPr/>
      </p:nvGrpSpPr>
      <p:grpSpPr>
        <a:xfrm>
          <a:off x="0" y="0"/>
          <a:ext cx="0" cy="0"/>
          <a:chOff x="0" y="0"/>
          <a:chExt cx="0" cy="0"/>
        </a:xfrm>
      </p:grpSpPr>
      <p:sp>
        <p:nvSpPr>
          <p:cNvPr id="34" name="Google Shape;34;p2:notes">
            <a:extLst>
              <a:ext uri="{FF2B5EF4-FFF2-40B4-BE49-F238E27FC236}">
                <a16:creationId xmlns:a16="http://schemas.microsoft.com/office/drawing/2014/main" id="{E009D499-26FC-F2E3-3991-25B4C168A2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a:extLst>
              <a:ext uri="{FF2B5EF4-FFF2-40B4-BE49-F238E27FC236}">
                <a16:creationId xmlns:a16="http://schemas.microsoft.com/office/drawing/2014/main" id="{67489211-3192-1D2D-55A2-BA43B2ACDC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17513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BCB18387-2AA9-9EED-C0E6-B059E1096806}"/>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E090F88F-D30C-7AE0-FAE4-180E0695E8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A1E485C1-D6CD-B14D-DB9C-DBA24C6C88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0364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55542513-4E73-5E3D-0AEE-E85126E522B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B2A6B871-8B9E-4CF7-6C2B-52889A97E7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A7FA8C58-34FC-5998-2EFC-DDF1F9A9DA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301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DD16E474-18B0-D4F2-1C46-941030F9C250}"/>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BAB759EE-6426-2E46-56A2-625721BB44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C21D5575-0AFC-1209-BD26-0E4A44392B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3792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B13BFBE6-3B5D-446F-C94B-92E74ED06AAC}"/>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063D7415-BB24-71C4-F0A5-DE18501D9B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D33C143A-AFE8-880F-58DE-9F9B246E58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8838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84B349E1-C934-39E3-776C-4EB82F561739}"/>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3358D028-D7D1-BDF3-6A4A-067E5D2BA1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A2F25060-D0BE-6A9B-06C1-C4EB22A012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28539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27BE3E88-0432-928F-C512-D5551F1CC49A}"/>
            </a:ext>
          </a:extLst>
        </p:cNvPr>
        <p:cNvGrpSpPr/>
        <p:nvPr/>
      </p:nvGrpSpPr>
      <p:grpSpPr>
        <a:xfrm>
          <a:off x="0" y="0"/>
          <a:ext cx="0" cy="0"/>
          <a:chOff x="0" y="0"/>
          <a:chExt cx="0" cy="0"/>
        </a:xfrm>
      </p:grpSpPr>
      <p:sp>
        <p:nvSpPr>
          <p:cNvPr id="53" name="Google Shape;53;g32a3e1ea9ea_0_31:notes">
            <a:extLst>
              <a:ext uri="{FF2B5EF4-FFF2-40B4-BE49-F238E27FC236}">
                <a16:creationId xmlns:a16="http://schemas.microsoft.com/office/drawing/2014/main" id="{0DF8FD63-D4CB-F090-70B5-2B83E66720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g32a3e1ea9ea_0_31:notes">
            <a:extLst>
              <a:ext uri="{FF2B5EF4-FFF2-40B4-BE49-F238E27FC236}">
                <a16:creationId xmlns:a16="http://schemas.microsoft.com/office/drawing/2014/main" id="{1C8F5296-3749-7D96-72F6-669BDA3ED1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3515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16"/>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16"/>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6046155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3"/>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15"/>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15"/>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15"/>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1"/>
          <p:cNvSpPr txBox="1">
            <a:spLocks noGrp="1"/>
          </p:cNvSpPr>
          <p:nvPr>
            <p:ph type="ctrTitle"/>
          </p:nvPr>
        </p:nvSpPr>
        <p:spPr>
          <a:xfrm>
            <a:off x="-9525" y="738187"/>
            <a:ext cx="9144000" cy="1712912"/>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236363"/>
              <a:buNone/>
            </a:pP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Gokaraju Rangaraju Institute of Engineering and Technology </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(Autonomous)</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Department of Data Science</a:t>
            </a:r>
            <a:br>
              <a:rPr lang="en-US" sz="1800" b="1" i="0" u="none" dirty="0">
                <a:solidFill>
                  <a:srgbClr val="000000"/>
                </a:solidFill>
                <a:latin typeface="Times New Roman"/>
                <a:ea typeface="Times New Roman"/>
                <a:cs typeface="Times New Roman"/>
                <a:sym typeface="Times New Roman"/>
              </a:rPr>
            </a:br>
            <a:br>
              <a:rPr lang="en-US" sz="1800" b="1" i="0" u="none" dirty="0">
                <a:solidFill>
                  <a:srgbClr val="000000"/>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M</a:t>
            </a:r>
            <a:r>
              <a:rPr lang="en-US" sz="1800" dirty="0">
                <a:solidFill>
                  <a:schemeClr val="dk1"/>
                </a:solidFill>
              </a:rPr>
              <a:t>ini</a:t>
            </a:r>
            <a:r>
              <a:rPr lang="en-US" sz="1800" b="1" i="0" u="none" dirty="0">
                <a:solidFill>
                  <a:schemeClr val="dk1"/>
                </a:solidFill>
                <a:latin typeface="Times New Roman"/>
                <a:ea typeface="Times New Roman"/>
                <a:cs typeface="Times New Roman"/>
                <a:sym typeface="Times New Roman"/>
              </a:rPr>
              <a:t> </a:t>
            </a:r>
            <a:r>
              <a:rPr lang="en-US" sz="1800" b="1" i="0" u="none">
                <a:solidFill>
                  <a:schemeClr val="dk1"/>
                </a:solidFill>
                <a:latin typeface="Times New Roman"/>
                <a:ea typeface="Times New Roman"/>
                <a:cs typeface="Times New Roman"/>
                <a:sym typeface="Times New Roman"/>
              </a:rPr>
              <a:t>Project </a:t>
            </a:r>
            <a:r>
              <a:rPr lang="en-US" sz="1800">
                <a:solidFill>
                  <a:schemeClr val="dk1"/>
                </a:solidFill>
              </a:rPr>
              <a:t>with seminar</a:t>
            </a:r>
            <a:br>
              <a:rPr lang="en-US" sz="1800" b="1" i="0" u="none" dirty="0">
                <a:solidFill>
                  <a:schemeClr val="dk1"/>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(CSE(DS))</a:t>
            </a:r>
            <a:endParaRPr dirty="0"/>
          </a:p>
        </p:txBody>
      </p:sp>
      <p:sp>
        <p:nvSpPr>
          <p:cNvPr id="29" name="Google Shape;29;p1"/>
          <p:cNvSpPr txBox="1">
            <a:spLocks noGrp="1"/>
          </p:cNvSpPr>
          <p:nvPr>
            <p:ph type="subTitle" idx="4294967295"/>
          </p:nvPr>
        </p:nvSpPr>
        <p:spPr>
          <a:xfrm>
            <a:off x="9525" y="2571750"/>
            <a:ext cx="9144000" cy="523875"/>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200"/>
              <a:buFont typeface="Arial"/>
              <a:buNone/>
            </a:pPr>
            <a:r>
              <a:rPr lang="en-US" sz="2200" b="1" i="0" u="none" strike="noStrike" cap="none" dirty="0">
                <a:solidFill>
                  <a:srgbClr val="0D5BDC"/>
                </a:solidFill>
                <a:latin typeface="Times New Roman"/>
                <a:ea typeface="Times New Roman"/>
                <a:cs typeface="Times New Roman"/>
                <a:sym typeface="Times New Roman"/>
              </a:rPr>
              <a:t>Review </a:t>
            </a:r>
            <a:r>
              <a:rPr lang="en-US" sz="2200" b="1" dirty="0">
                <a:solidFill>
                  <a:srgbClr val="0D5BDC"/>
                </a:solidFill>
                <a:latin typeface="Times New Roman"/>
                <a:ea typeface="Times New Roman"/>
                <a:cs typeface="Times New Roman"/>
                <a:sym typeface="Times New Roman"/>
              </a:rPr>
              <a:t>0</a:t>
            </a:r>
            <a:r>
              <a:rPr lang="en-US" sz="2200" b="1" i="0" u="none" strike="noStrike" cap="none" dirty="0">
                <a:solidFill>
                  <a:srgbClr val="0D5BDC"/>
                </a:solidFill>
                <a:latin typeface="Times New Roman"/>
                <a:ea typeface="Times New Roman"/>
                <a:cs typeface="Times New Roman"/>
                <a:sym typeface="Times New Roman"/>
              </a:rPr>
              <a:t>:</a:t>
            </a:r>
            <a:r>
              <a:rPr lang="en-US" sz="2200" b="1" dirty="0">
                <a:solidFill>
                  <a:srgbClr val="0D5BDC"/>
                </a:solidFill>
                <a:latin typeface="Times New Roman"/>
                <a:ea typeface="Times New Roman"/>
                <a:cs typeface="Times New Roman"/>
                <a:sym typeface="Times New Roman"/>
              </a:rPr>
              <a:t> </a:t>
            </a:r>
            <a:r>
              <a:rPr lang="en-US" sz="2200" b="1" i="0" u="none" strike="noStrike" cap="none" dirty="0">
                <a:solidFill>
                  <a:srgbClr val="0D5BDC"/>
                </a:solidFill>
                <a:latin typeface="Times New Roman"/>
                <a:ea typeface="Times New Roman"/>
                <a:cs typeface="Times New Roman"/>
                <a:sym typeface="Times New Roman"/>
              </a:rPr>
              <a:t>Project </a:t>
            </a:r>
            <a:r>
              <a:rPr lang="en-US" sz="2200" b="1" dirty="0">
                <a:solidFill>
                  <a:srgbClr val="0D5BDC"/>
                </a:solidFill>
                <a:latin typeface="Times New Roman"/>
                <a:ea typeface="Times New Roman"/>
                <a:cs typeface="Times New Roman"/>
                <a:sym typeface="Times New Roman"/>
              </a:rPr>
              <a:t>S</a:t>
            </a:r>
            <a:r>
              <a:rPr lang="en-US" sz="2200" b="1" i="0" u="none" strike="noStrike" cap="none" dirty="0">
                <a:solidFill>
                  <a:srgbClr val="0D5BDC"/>
                </a:solidFill>
                <a:latin typeface="Times New Roman"/>
                <a:ea typeface="Times New Roman"/>
                <a:cs typeface="Times New Roman"/>
                <a:sym typeface="Times New Roman"/>
              </a:rPr>
              <a:t>election</a:t>
            </a:r>
            <a:endParaRPr dirty="0"/>
          </a:p>
          <a:p>
            <a:pPr marL="0" marR="0" lvl="0" indent="0" algn="ctr" rtl="0">
              <a:lnSpc>
                <a:spcPct val="115000"/>
              </a:lnSpc>
              <a:spcBef>
                <a:spcPts val="0"/>
              </a:spcBef>
              <a:spcAft>
                <a:spcPts val="0"/>
              </a:spcAft>
              <a:buClr>
                <a:srgbClr val="000000"/>
              </a:buClr>
              <a:buSzPts val="2200"/>
              <a:buFont typeface="Arial"/>
              <a:buNone/>
            </a:pPr>
            <a:endParaRPr sz="2200" b="1" i="0" u="none" strike="noStrike" cap="none" dirty="0">
              <a:solidFill>
                <a:srgbClr val="0D5BDC"/>
              </a:solidFill>
              <a:latin typeface="Times New Roman"/>
              <a:ea typeface="Times New Roman"/>
              <a:cs typeface="Times New Roman"/>
              <a:sym typeface="Times New Roman"/>
            </a:endParaRPr>
          </a:p>
          <a:p>
            <a:pPr marL="342900" marR="0" lvl="0" indent="-342900" algn="l" rtl="0">
              <a:spcBef>
                <a:spcPts val="0"/>
              </a:spcBef>
              <a:spcAft>
                <a:spcPts val="0"/>
              </a:spcAft>
              <a:buNone/>
            </a:pPr>
            <a:endParaRPr sz="2200" b="1" i="0" u="none" dirty="0">
              <a:solidFill>
                <a:srgbClr val="0D5BDC"/>
              </a:solidFill>
              <a:latin typeface="Times New Roman"/>
              <a:ea typeface="Times New Roman"/>
              <a:cs typeface="Times New Roman"/>
              <a:sym typeface="Times New Roman"/>
            </a:endParaRPr>
          </a:p>
        </p:txBody>
      </p:sp>
      <p:sp>
        <p:nvSpPr>
          <p:cNvPr id="30" name="Google Shape;30;p1"/>
          <p:cNvSpPr txBox="1"/>
          <p:nvPr/>
        </p:nvSpPr>
        <p:spPr>
          <a:xfrm>
            <a:off x="301625" y="3568700"/>
            <a:ext cx="4260900" cy="11892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Presented by:</a:t>
            </a:r>
            <a:endParaRPr dirty="0">
              <a:solidFill>
                <a:schemeClr val="dk1"/>
              </a:solidFill>
            </a:endParaRPr>
          </a:p>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1. </a:t>
            </a:r>
            <a:r>
              <a:rPr lang="en-US" sz="1600" b="1" dirty="0" err="1">
                <a:solidFill>
                  <a:schemeClr val="dk1"/>
                </a:solidFill>
                <a:latin typeface="Times New Roman"/>
                <a:ea typeface="Times New Roman"/>
                <a:cs typeface="Times New Roman"/>
                <a:sym typeface="Times New Roman"/>
              </a:rPr>
              <a:t>R.Sravya</a:t>
            </a:r>
            <a:r>
              <a:rPr lang="en-US" sz="1600" b="1" dirty="0">
                <a:solidFill>
                  <a:schemeClr val="dk1"/>
                </a:solidFill>
                <a:latin typeface="Times New Roman"/>
                <a:ea typeface="Times New Roman"/>
                <a:cs typeface="Times New Roman"/>
                <a:sym typeface="Times New Roman"/>
              </a:rPr>
              <a:t>(23241A67J3)</a:t>
            </a:r>
            <a:endParaRPr dirty="0">
              <a:solidFill>
                <a:schemeClr val="dk1"/>
              </a:solidFill>
            </a:endParaRPr>
          </a:p>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2. </a:t>
            </a:r>
            <a:r>
              <a:rPr lang="en-US" sz="1600" b="1" dirty="0" err="1">
                <a:solidFill>
                  <a:schemeClr val="dk1"/>
                </a:solidFill>
                <a:latin typeface="Times New Roman"/>
                <a:ea typeface="Times New Roman"/>
                <a:cs typeface="Times New Roman"/>
                <a:sym typeface="Times New Roman"/>
              </a:rPr>
              <a:t>P.Shivani</a:t>
            </a:r>
            <a:r>
              <a:rPr lang="en-US" sz="1600" b="1" dirty="0">
                <a:solidFill>
                  <a:schemeClr val="dk1"/>
                </a:solidFill>
                <a:latin typeface="Times New Roman"/>
                <a:ea typeface="Times New Roman"/>
                <a:cs typeface="Times New Roman"/>
                <a:sym typeface="Times New Roman"/>
              </a:rPr>
              <a:t>(23241A6718)</a:t>
            </a:r>
            <a:endParaRPr dirty="0">
              <a:solidFill>
                <a:schemeClr val="dk1"/>
              </a:solidFill>
            </a:endParaRPr>
          </a:p>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3. </a:t>
            </a:r>
            <a:r>
              <a:rPr lang="en-US" sz="1600" b="1" dirty="0" err="1">
                <a:solidFill>
                  <a:schemeClr val="dk1"/>
                </a:solidFill>
                <a:latin typeface="Times New Roman"/>
                <a:ea typeface="Times New Roman"/>
                <a:cs typeface="Times New Roman"/>
                <a:sym typeface="Times New Roman"/>
              </a:rPr>
              <a:t>M.Lohitha</a:t>
            </a:r>
            <a:r>
              <a:rPr lang="en-US" sz="1600" b="1" dirty="0">
                <a:solidFill>
                  <a:schemeClr val="dk1"/>
                </a:solidFill>
                <a:latin typeface="Times New Roman"/>
                <a:ea typeface="Times New Roman"/>
                <a:cs typeface="Times New Roman"/>
                <a:sym typeface="Times New Roman"/>
              </a:rPr>
              <a:t>(23241A67G5)</a:t>
            </a:r>
            <a:endParaRPr dirty="0">
              <a:solidFill>
                <a:schemeClr val="dk1"/>
              </a:solidFill>
            </a:endParaRPr>
          </a:p>
        </p:txBody>
      </p:sp>
      <p:sp>
        <p:nvSpPr>
          <p:cNvPr id="31" name="Google Shape;31;p1"/>
          <p:cNvSpPr txBox="1"/>
          <p:nvPr/>
        </p:nvSpPr>
        <p:spPr>
          <a:xfrm>
            <a:off x="4876800" y="3441700"/>
            <a:ext cx="4106862" cy="144145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Under the Guidance of:</a:t>
            </a:r>
            <a:endParaRPr dirty="0">
              <a:solidFill>
                <a:schemeClr val="dk1"/>
              </a:solidFill>
            </a:endParaRPr>
          </a:p>
          <a:p>
            <a:pPr marL="0" lvl="0" indent="0" algn="l" rtl="0">
              <a:lnSpc>
                <a:spcPct val="90000"/>
              </a:lnSpc>
              <a:spcBef>
                <a:spcPts val="0"/>
              </a:spcBef>
              <a:spcAft>
                <a:spcPts val="0"/>
              </a:spcAft>
              <a:buClr>
                <a:srgbClr val="006600"/>
              </a:buClr>
              <a:buSzPts val="1600"/>
              <a:buFont typeface="Times New Roman"/>
              <a:buNone/>
            </a:pPr>
            <a:r>
              <a:rPr lang="en-US" sz="1600" b="1" dirty="0">
                <a:solidFill>
                  <a:srgbClr val="006600"/>
                </a:solidFill>
                <a:latin typeface="Times New Roman"/>
                <a:ea typeface="Times New Roman"/>
                <a:cs typeface="Times New Roman"/>
                <a:sym typeface="Times New Roman"/>
              </a:rPr>
              <a:t>Name: Dr. M. Kiran Kumar</a:t>
            </a:r>
            <a:endParaRPr dirty="0">
              <a:solidFill>
                <a:schemeClr val="dk1"/>
              </a:solidFill>
            </a:endParaRPr>
          </a:p>
          <a:p>
            <a:pPr marL="0" lvl="0" indent="0" algn="l" rtl="0">
              <a:lnSpc>
                <a:spcPct val="90000"/>
              </a:lnSpc>
              <a:spcBef>
                <a:spcPts val="0"/>
              </a:spcBef>
              <a:spcAft>
                <a:spcPts val="0"/>
              </a:spcAft>
              <a:buClr>
                <a:srgbClr val="006600"/>
              </a:buClr>
              <a:buSzPts val="1600"/>
              <a:buFont typeface="Times New Roman"/>
              <a:buNone/>
            </a:pPr>
            <a:r>
              <a:rPr lang="en-US" sz="1600" b="1" dirty="0">
                <a:solidFill>
                  <a:srgbClr val="006600"/>
                </a:solidFill>
                <a:latin typeface="Times New Roman"/>
                <a:ea typeface="Times New Roman"/>
                <a:cs typeface="Times New Roman"/>
                <a:sym typeface="Times New Roman"/>
              </a:rPr>
              <a:t>Designation : Associate Professor</a:t>
            </a:r>
            <a:endParaRPr dirty="0">
              <a:solidFill>
                <a:schemeClr val="dk1"/>
              </a:solidFill>
            </a:endParaRPr>
          </a:p>
          <a:p>
            <a:pPr marL="0" lvl="0" indent="0" algn="l" rtl="0">
              <a:lnSpc>
                <a:spcPct val="90000"/>
              </a:lnSpc>
              <a:spcBef>
                <a:spcPts val="0"/>
              </a:spcBef>
              <a:spcAft>
                <a:spcPts val="0"/>
              </a:spcAft>
              <a:buClr>
                <a:srgbClr val="006600"/>
              </a:buClr>
              <a:buSzPts val="1600"/>
              <a:buFont typeface="Times New Roman"/>
              <a:buNone/>
            </a:pPr>
            <a:r>
              <a:rPr lang="en-US" sz="1600" b="1" dirty="0">
                <a:solidFill>
                  <a:srgbClr val="006600"/>
                </a:solidFill>
                <a:latin typeface="Times New Roman"/>
                <a:ea typeface="Times New Roman"/>
                <a:cs typeface="Times New Roman"/>
                <a:sym typeface="Times New Roman"/>
              </a:rPr>
              <a:t>Department: DS</a:t>
            </a:r>
            <a:endParaRPr sz="1600" b="1" dirty="0">
              <a:solidFill>
                <a:schemeClr val="dk1"/>
              </a:solidFill>
              <a:latin typeface="Times New Roman"/>
              <a:ea typeface="Times New Roman"/>
              <a:cs typeface="Times New Roman"/>
              <a:sym typeface="Times New Roman"/>
            </a:endParaRPr>
          </a:p>
        </p:txBody>
      </p:sp>
      <p:pic>
        <p:nvPicPr>
          <p:cNvPr id="32" name="Google Shape;32;p1"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2"/>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lvl="0"/>
            <a:r>
              <a:rPr lang="en-US" sz="3200" b="1" dirty="0">
                <a:solidFill>
                  <a:srgbClr val="FF0000"/>
                </a:solidFill>
              </a:rPr>
              <a:t>Explainable Demand Forecasting using Transformers</a:t>
            </a:r>
            <a:endParaRPr b="1" dirty="0">
              <a:solidFill>
                <a:srgbClr val="FF0000"/>
              </a:solidFill>
            </a:endParaRPr>
          </a:p>
        </p:txBody>
      </p:sp>
      <p:sp>
        <p:nvSpPr>
          <p:cNvPr id="38" name="Google Shape;38;p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7A620F4D-DC79-E79F-0CDF-170DE2A66563}"/>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D2D41973-01D0-486B-B8F0-65EFE0BA0E1B}"/>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2900" dirty="0"/>
              <a:t>Introduction to the project work</a:t>
            </a:r>
            <a:endParaRPr dirty="0"/>
          </a:p>
        </p:txBody>
      </p:sp>
      <p:sp>
        <p:nvSpPr>
          <p:cNvPr id="57" name="Google Shape;57;g32a3e1ea9ea_0_31">
            <a:extLst>
              <a:ext uri="{FF2B5EF4-FFF2-40B4-BE49-F238E27FC236}">
                <a16:creationId xmlns:a16="http://schemas.microsoft.com/office/drawing/2014/main" id="{FBCBD7B1-A8F5-2AA3-23C2-8B8E1DC4A599}"/>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a:t>
            </a:fld>
            <a:endParaRPr/>
          </a:p>
        </p:txBody>
      </p:sp>
      <p:sp>
        <p:nvSpPr>
          <p:cNvPr id="58" name="Google Shape;58;g32a3e1ea9ea_0_31">
            <a:extLst>
              <a:ext uri="{FF2B5EF4-FFF2-40B4-BE49-F238E27FC236}">
                <a16:creationId xmlns:a16="http://schemas.microsoft.com/office/drawing/2014/main" id="{07EBEB25-FC88-7B87-7DAD-851E38363032}"/>
              </a:ext>
            </a:extLst>
          </p:cNvPr>
          <p:cNvSpPr txBox="1">
            <a:spLocks noGrp="1"/>
          </p:cNvSpPr>
          <p:nvPr>
            <p:ph type="body" idx="1"/>
          </p:nvPr>
        </p:nvSpPr>
        <p:spPr>
          <a:xfrm>
            <a:off x="1" y="854165"/>
            <a:ext cx="9021786" cy="4005122"/>
          </a:xfrm>
          <a:prstGeom prst="rect">
            <a:avLst/>
          </a:prstGeom>
          <a:noFill/>
          <a:ln>
            <a:noFill/>
          </a:ln>
        </p:spPr>
        <p:txBody>
          <a:bodyPr spcFirstLastPara="1" wrap="square" lIns="91425" tIns="91425" rIns="91425" bIns="91425" anchor="t" anchorCtr="0">
            <a:normAutofit/>
          </a:bodyPr>
          <a:lstStyle/>
          <a:p>
            <a:pPr algn="just"/>
            <a:r>
              <a:rPr lang="en-US" sz="2000" dirty="0"/>
              <a:t>Managing inventory becomes difficult when future demand is not predicted</a:t>
            </a:r>
          </a:p>
          <a:p>
            <a:pPr algn="just"/>
            <a:r>
              <a:rPr lang="en-US" sz="2000" dirty="0"/>
              <a:t>correctly, leading to excess stock or shortages. Traditional forecasting methods often</a:t>
            </a:r>
          </a:p>
          <a:p>
            <a:pPr algn="just"/>
            <a:r>
              <a:rPr lang="en-US" sz="2000" dirty="0"/>
              <a:t>fail to handle changing demand patterns and seasonal trends. This project introduces</a:t>
            </a:r>
          </a:p>
          <a:p>
            <a:pPr algn="just"/>
            <a:r>
              <a:rPr lang="en-US" sz="2000" dirty="0"/>
              <a:t>an Explainable Transformer-Based Demand Forecasting system that uses</a:t>
            </a:r>
          </a:p>
          <a:p>
            <a:pPr algn="just"/>
            <a:r>
              <a:rPr lang="en-US" sz="2000" dirty="0"/>
              <a:t>advanced AI to predict future demand from historical sales data.</a:t>
            </a:r>
          </a:p>
          <a:p>
            <a:pPr algn="just"/>
            <a:r>
              <a:rPr lang="en-US" sz="2000" dirty="0"/>
              <a:t>The Transformer model learns long-term demand patterns using attention</a:t>
            </a:r>
          </a:p>
          <a:p>
            <a:pPr algn="just"/>
            <a:r>
              <a:rPr lang="en-US" sz="2000" dirty="0"/>
              <a:t>mechanisms, while the explainable AI component shows why a particular demand is</a:t>
            </a:r>
          </a:p>
          <a:p>
            <a:pPr algn="just"/>
            <a:r>
              <a:rPr lang="en-US" sz="2000" dirty="0"/>
              <a:t>predicted. This helps organizations plan inventory more accurately and trust the</a:t>
            </a:r>
          </a:p>
          <a:p>
            <a:pPr algn="just"/>
            <a:r>
              <a:rPr lang="en-US" sz="2000" dirty="0"/>
              <a:t>system’s predictions.</a:t>
            </a:r>
          </a:p>
          <a:p>
            <a:pPr algn="just"/>
            <a:endParaRPr lang="en-US" sz="2200" dirty="0"/>
          </a:p>
        </p:txBody>
      </p:sp>
    </p:spTree>
    <p:extLst>
      <p:ext uri="{BB962C8B-B14F-4D97-AF65-F5344CB8AC3E}">
        <p14:creationId xmlns:p14="http://schemas.microsoft.com/office/powerpoint/2010/main" val="2904293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7BFFF-8623-5AC7-629C-7965A8AC00E0}"/>
              </a:ext>
            </a:extLst>
          </p:cNvPr>
          <p:cNvSpPr>
            <a:spLocks noGrp="1"/>
          </p:cNvSpPr>
          <p:nvPr>
            <p:ph type="ctrTitle"/>
          </p:nvPr>
        </p:nvSpPr>
        <p:spPr/>
        <p:txBody>
          <a:bodyPr>
            <a:normAutofit fontScale="90000"/>
          </a:bodyPr>
          <a:lstStyle/>
          <a:p>
            <a:pPr algn="l"/>
            <a:r>
              <a:rPr lang="en-IN" dirty="0"/>
              <a:t>Significance or importance or novelty</a:t>
            </a:r>
          </a:p>
        </p:txBody>
      </p:sp>
      <p:sp>
        <p:nvSpPr>
          <p:cNvPr id="4" name="Slide Number Placeholder 3">
            <a:extLst>
              <a:ext uri="{FF2B5EF4-FFF2-40B4-BE49-F238E27FC236}">
                <a16:creationId xmlns:a16="http://schemas.microsoft.com/office/drawing/2014/main" id="{9277FC5A-F6FF-9206-03E9-D65B9F6662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8" name="Rectangle 2">
            <a:extLst>
              <a:ext uri="{FF2B5EF4-FFF2-40B4-BE49-F238E27FC236}">
                <a16:creationId xmlns:a16="http://schemas.microsoft.com/office/drawing/2014/main" id="{D5804407-2D9F-74F3-5103-5C2E37D50837}"/>
              </a:ext>
            </a:extLst>
          </p:cNvPr>
          <p:cNvSpPr>
            <a:spLocks noGrp="1" noChangeArrowheads="1"/>
          </p:cNvSpPr>
          <p:nvPr>
            <p:ph type="body" idx="1"/>
          </p:nvPr>
        </p:nvSpPr>
        <p:spPr bwMode="auto">
          <a:xfrm>
            <a:off x="0" y="744508"/>
            <a:ext cx="892612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342900">
              <a:buFont typeface="Arial" panose="020B0604020202020204" pitchFamily="34" charset="0"/>
              <a:buChar char="•"/>
            </a:pPr>
            <a:r>
              <a:rPr lang="en-US" sz="2000" dirty="0"/>
              <a:t>Improves accuracy of demand forecasting, reducing guesswork in inventory planning</a:t>
            </a:r>
          </a:p>
          <a:p>
            <a:pPr marL="571500" indent="-342900">
              <a:buFont typeface="Arial" panose="020B0604020202020204" pitchFamily="34" charset="0"/>
              <a:buChar char="•"/>
            </a:pPr>
            <a:r>
              <a:rPr lang="en-US" sz="2000" dirty="0"/>
              <a:t>Helps avoid stock shortages and excess inventory, minimizing financial losses</a:t>
            </a:r>
          </a:p>
          <a:p>
            <a:pPr marL="571500" indent="-342900">
              <a:buFont typeface="Arial" panose="020B0604020202020204" pitchFamily="34" charset="0"/>
              <a:buChar char="•"/>
            </a:pPr>
            <a:r>
              <a:rPr lang="en-US" sz="2000" dirty="0"/>
              <a:t>Supports data-driven decision making instead of manual estimation</a:t>
            </a:r>
          </a:p>
          <a:p>
            <a:pPr marL="571500" indent="-342900">
              <a:buFont typeface="Arial" panose="020B0604020202020204" pitchFamily="34" charset="0"/>
              <a:buChar char="•"/>
            </a:pPr>
            <a:r>
              <a:rPr lang="en-US" sz="2000" dirty="0"/>
              <a:t>Captures long-term and seasonal demand patterns using advanced AI models</a:t>
            </a:r>
          </a:p>
          <a:p>
            <a:pPr marL="571500" indent="-342900">
              <a:buFont typeface="Arial" panose="020B0604020202020204" pitchFamily="34" charset="0"/>
              <a:buChar char="•"/>
            </a:pPr>
            <a:r>
              <a:rPr lang="en-US" sz="2000" dirty="0"/>
              <a:t>Builds trust in predictions through explainable AI techniques</a:t>
            </a:r>
          </a:p>
          <a:p>
            <a:pPr marL="571500" indent="-342900">
              <a:buFont typeface="Arial" panose="020B0604020202020204" pitchFamily="34" charset="0"/>
              <a:buChar char="•"/>
            </a:pPr>
            <a:r>
              <a:rPr lang="en-US" sz="2000" dirty="0"/>
              <a:t>Reduces storage costs and improves cash flow management</a:t>
            </a:r>
          </a:p>
          <a:p>
            <a:pPr marL="571500" indent="-342900">
              <a:buFont typeface="Arial" panose="020B0604020202020204" pitchFamily="34" charset="0"/>
              <a:buChar char="•"/>
            </a:pPr>
            <a:r>
              <a:rPr lang="en-US" sz="2000" dirty="0"/>
              <a:t>Useful for real-world applications such as retail, supply chains, and warehouses</a:t>
            </a:r>
            <a:r>
              <a:rPr lang="en-US" sz="2000" b="1" dirty="0"/>
              <a:t>.</a:t>
            </a:r>
            <a:endParaRPr lang="en-US" sz="2000" dirty="0"/>
          </a:p>
        </p:txBody>
      </p:sp>
    </p:spTree>
    <p:extLst>
      <p:ext uri="{BB962C8B-B14F-4D97-AF65-F5344CB8AC3E}">
        <p14:creationId xmlns:p14="http://schemas.microsoft.com/office/powerpoint/2010/main" val="222807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65FA6E7F-F0ED-E37C-9C1D-5B1C47E1AC45}"/>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FA87F96C-C964-8252-CADE-912C3588E67C}"/>
              </a:ext>
            </a:extLst>
          </p:cNvPr>
          <p:cNvSpPr txBox="1">
            <a:spLocks noGrp="1"/>
          </p:cNvSpPr>
          <p:nvPr>
            <p:ph type="ctrTitle"/>
          </p:nvPr>
        </p:nvSpPr>
        <p:spPr>
          <a:xfrm>
            <a:off x="116878" y="63771"/>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Frame work and Techniques</a:t>
            </a:r>
            <a:endParaRPr dirty="0"/>
          </a:p>
        </p:txBody>
      </p:sp>
      <p:sp>
        <p:nvSpPr>
          <p:cNvPr id="57" name="Google Shape;57;g32a3e1ea9ea_0_31">
            <a:extLst>
              <a:ext uri="{FF2B5EF4-FFF2-40B4-BE49-F238E27FC236}">
                <a16:creationId xmlns:a16="http://schemas.microsoft.com/office/drawing/2014/main" id="{2B4110DC-92CE-8719-F2D3-84D76E4904A0}"/>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5</a:t>
            </a:fld>
            <a:endParaRPr/>
          </a:p>
        </p:txBody>
      </p:sp>
      <p:sp>
        <p:nvSpPr>
          <p:cNvPr id="3" name="Text Placeholder 2">
            <a:extLst>
              <a:ext uri="{FF2B5EF4-FFF2-40B4-BE49-F238E27FC236}">
                <a16:creationId xmlns:a16="http://schemas.microsoft.com/office/drawing/2014/main" id="{12BF6723-C650-719B-4214-87B2604F24F4}"/>
              </a:ext>
            </a:extLst>
          </p:cNvPr>
          <p:cNvSpPr>
            <a:spLocks noGrp="1"/>
          </p:cNvSpPr>
          <p:nvPr>
            <p:ph type="body" idx="1"/>
          </p:nvPr>
        </p:nvSpPr>
        <p:spPr>
          <a:xfrm>
            <a:off x="0" y="522514"/>
            <a:ext cx="9144000" cy="3871686"/>
          </a:xfrm>
        </p:spPr>
        <p:txBody>
          <a:bodyPr/>
          <a:lstStyle/>
          <a:p>
            <a:r>
              <a:rPr lang="en-US" b="1" dirty="0"/>
              <a:t>Framework:</a:t>
            </a:r>
            <a:endParaRPr lang="en-US" dirty="0"/>
          </a:p>
          <a:p>
            <a:r>
              <a:rPr lang="en-US" sz="2000" b="1" dirty="0"/>
              <a:t>Pandas</a:t>
            </a:r>
            <a:r>
              <a:rPr lang="en-US" sz="2200" dirty="0"/>
              <a:t> – Used for data cleaning, transformation</a:t>
            </a:r>
          </a:p>
          <a:p>
            <a:r>
              <a:rPr lang="en-US" sz="2000" b="1" dirty="0"/>
              <a:t>NumPy</a:t>
            </a:r>
            <a:r>
              <a:rPr lang="en-US" sz="2200" dirty="0"/>
              <a:t> – Provides fast numerical computations </a:t>
            </a:r>
          </a:p>
          <a:p>
            <a:r>
              <a:rPr lang="en-US" sz="2000" b="1" dirty="0"/>
              <a:t>Scikit-learn</a:t>
            </a:r>
            <a:r>
              <a:rPr lang="en-US" sz="2200" dirty="0"/>
              <a:t> – Used to build and evaluate machine learning models</a:t>
            </a:r>
          </a:p>
          <a:p>
            <a:r>
              <a:rPr lang="en-US" sz="2000" b="1" dirty="0"/>
              <a:t>TensorFlow</a:t>
            </a:r>
            <a:r>
              <a:rPr lang="en-US" sz="2200" dirty="0"/>
              <a:t> – Used for deep learning models</a:t>
            </a:r>
          </a:p>
          <a:p>
            <a:r>
              <a:rPr lang="en-US" sz="2000" b="1" dirty="0" err="1"/>
              <a:t>Keras</a:t>
            </a:r>
            <a:r>
              <a:rPr lang="en-US" sz="2200" b="1" dirty="0"/>
              <a:t> </a:t>
            </a:r>
            <a:r>
              <a:rPr lang="en-US" sz="2200" dirty="0"/>
              <a:t>– Simplifies the creation and training of neural networks</a:t>
            </a:r>
          </a:p>
          <a:p>
            <a:r>
              <a:rPr lang="en-US" sz="2000" b="1" dirty="0" err="1"/>
              <a:t>Statsmodels</a:t>
            </a:r>
            <a:r>
              <a:rPr lang="en-US" sz="2200" dirty="0"/>
              <a:t> – Provides statistical time-series models like </a:t>
            </a:r>
            <a:r>
              <a:rPr lang="en-US" sz="2000" dirty="0"/>
              <a:t>ARIMA </a:t>
            </a:r>
            <a:r>
              <a:rPr lang="en-US" sz="2200" dirty="0"/>
              <a:t>&amp; </a:t>
            </a:r>
            <a:r>
              <a:rPr lang="en-US" sz="2000" dirty="0"/>
              <a:t>SARIMA</a:t>
            </a:r>
            <a:r>
              <a:rPr lang="en-US" sz="2200" dirty="0"/>
              <a:t>.</a:t>
            </a:r>
          </a:p>
          <a:p>
            <a:r>
              <a:rPr lang="en-US" sz="2000" b="1" dirty="0"/>
              <a:t>SciPy</a:t>
            </a:r>
            <a:r>
              <a:rPr lang="en-US" sz="2200" dirty="0"/>
              <a:t>– Used to optimize inventory costs and reorder quantities.</a:t>
            </a:r>
          </a:p>
        </p:txBody>
      </p:sp>
    </p:spTree>
    <p:extLst>
      <p:ext uri="{BB962C8B-B14F-4D97-AF65-F5344CB8AC3E}">
        <p14:creationId xmlns:p14="http://schemas.microsoft.com/office/powerpoint/2010/main" val="78276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B4C0D71-34B9-7F97-F401-3A37E9E722BF}"/>
              </a:ext>
            </a:extLst>
          </p:cNvPr>
          <p:cNvSpPr>
            <a:spLocks noGrp="1"/>
          </p:cNvSpPr>
          <p:nvPr>
            <p:ph type="body" idx="1"/>
          </p:nvPr>
        </p:nvSpPr>
        <p:spPr>
          <a:xfrm>
            <a:off x="-64611" y="156065"/>
            <a:ext cx="9273222" cy="4506422"/>
          </a:xfrm>
        </p:spPr>
        <p:txBody>
          <a:bodyPr/>
          <a:lstStyle/>
          <a:p>
            <a:r>
              <a:rPr lang="en-US" sz="2900" b="1" dirty="0"/>
              <a:t>Techniques Used</a:t>
            </a:r>
            <a:r>
              <a:rPr lang="en-US" sz="2200" b="1" dirty="0"/>
              <a:t>:</a:t>
            </a:r>
          </a:p>
          <a:p>
            <a:endParaRPr lang="en-US" sz="2200" dirty="0"/>
          </a:p>
          <a:p>
            <a:pPr marL="571500" indent="-342900">
              <a:buFont typeface="Arial" panose="020B0604020202020204" pitchFamily="34" charset="0"/>
              <a:buChar char="•"/>
            </a:pPr>
            <a:r>
              <a:rPr lang="en-US" sz="2000" b="1" dirty="0"/>
              <a:t>Data Preprocessing</a:t>
            </a:r>
            <a:r>
              <a:rPr lang="en-US" sz="2000" dirty="0"/>
              <a:t> – Cleaning and preparing historical sales data for analysis</a:t>
            </a:r>
          </a:p>
          <a:p>
            <a:pPr marL="571500" indent="-342900">
              <a:buFont typeface="Arial" panose="020B0604020202020204" pitchFamily="34" charset="0"/>
              <a:buChar char="•"/>
            </a:pPr>
            <a:r>
              <a:rPr lang="en-US" sz="2000" b="1" dirty="0"/>
              <a:t>Time-Series Analysis</a:t>
            </a:r>
            <a:r>
              <a:rPr lang="en-US" sz="2000" dirty="0"/>
              <a:t> – Analyzing demand trends, seasonality and patterns over time</a:t>
            </a:r>
          </a:p>
          <a:p>
            <a:pPr marL="571500" indent="-342900">
              <a:buFont typeface="Arial" panose="020B0604020202020204" pitchFamily="34" charset="0"/>
              <a:buChar char="•"/>
            </a:pPr>
            <a:r>
              <a:rPr lang="en-US" sz="2000" b="1" dirty="0"/>
              <a:t>Transformer-Based Deep Learning</a:t>
            </a:r>
            <a:r>
              <a:rPr lang="en-US" sz="2000" dirty="0"/>
              <a:t> – Predicting future demand using attention mechanisms</a:t>
            </a:r>
          </a:p>
          <a:p>
            <a:pPr marL="571500" indent="-342900">
              <a:buFont typeface="Arial" panose="020B0604020202020204" pitchFamily="34" charset="0"/>
              <a:buChar char="•"/>
            </a:pPr>
            <a:r>
              <a:rPr lang="en-US" sz="2000" b="1" dirty="0"/>
              <a:t>Self-Attention Mechanism</a:t>
            </a:r>
            <a:r>
              <a:rPr lang="en-US" sz="2000" dirty="0"/>
              <a:t> – Identifying important time periods influencing demand</a:t>
            </a:r>
          </a:p>
          <a:p>
            <a:pPr marL="571500" indent="-342900">
              <a:buFont typeface="Arial" panose="020B0604020202020204" pitchFamily="34" charset="0"/>
              <a:buChar char="•"/>
            </a:pPr>
            <a:r>
              <a:rPr lang="en-US" sz="2000" b="1" dirty="0"/>
              <a:t>Explainable AI (XAI)</a:t>
            </a:r>
            <a:r>
              <a:rPr lang="en-US" sz="2000" dirty="0"/>
              <a:t> – Explaining why certain demand values are predicted</a:t>
            </a:r>
          </a:p>
          <a:p>
            <a:pPr marL="571500" indent="-342900">
              <a:buFont typeface="Arial" panose="020B0604020202020204" pitchFamily="34" charset="0"/>
              <a:buChar char="•"/>
            </a:pPr>
            <a:r>
              <a:rPr lang="en-US" sz="2000" b="1" dirty="0"/>
              <a:t>Forecast Evaluation Metrics</a:t>
            </a:r>
            <a:r>
              <a:rPr lang="en-US" sz="2000" dirty="0"/>
              <a:t> – Measuring performance using accuracy and error metrics</a:t>
            </a:r>
          </a:p>
          <a:p>
            <a:pPr marL="571500" indent="-342900">
              <a:buFont typeface="Arial" panose="020B0604020202020204" pitchFamily="34" charset="0"/>
              <a:buChar char="•"/>
            </a:pPr>
            <a:r>
              <a:rPr lang="en-US" sz="2000" b="1" dirty="0"/>
              <a:t>Visualization Techniques</a:t>
            </a:r>
            <a:r>
              <a:rPr lang="en-US" sz="2000" dirty="0"/>
              <a:t> – Displaying forecasts and explanations using graphs</a:t>
            </a:r>
          </a:p>
          <a:p>
            <a:endParaRPr lang="en-IN" dirty="0"/>
          </a:p>
        </p:txBody>
      </p:sp>
      <p:sp>
        <p:nvSpPr>
          <p:cNvPr id="4" name="Slide Number Placeholder 3">
            <a:extLst>
              <a:ext uri="{FF2B5EF4-FFF2-40B4-BE49-F238E27FC236}">
                <a16:creationId xmlns:a16="http://schemas.microsoft.com/office/drawing/2014/main" id="{5EB4B2CC-7AA7-8F13-1916-4C8DD9FB9D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4192325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AD995263-B24C-4484-763C-34464CD1CEEC}"/>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C10CB759-B066-CC7F-27AB-46A065CA2367}"/>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Tools and Data sets (include SDG category)</a:t>
            </a:r>
            <a:endParaRPr dirty="0"/>
          </a:p>
        </p:txBody>
      </p:sp>
      <p:sp>
        <p:nvSpPr>
          <p:cNvPr id="57" name="Google Shape;57;g32a3e1ea9ea_0_31">
            <a:extLst>
              <a:ext uri="{FF2B5EF4-FFF2-40B4-BE49-F238E27FC236}">
                <a16:creationId xmlns:a16="http://schemas.microsoft.com/office/drawing/2014/main" id="{01C0F25E-673F-AE93-14CF-AB79D7FD2AF2}"/>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7</a:t>
            </a:fld>
            <a:endParaRPr/>
          </a:p>
        </p:txBody>
      </p:sp>
      <p:sp>
        <p:nvSpPr>
          <p:cNvPr id="7" name="TextBox 6">
            <a:extLst>
              <a:ext uri="{FF2B5EF4-FFF2-40B4-BE49-F238E27FC236}">
                <a16:creationId xmlns:a16="http://schemas.microsoft.com/office/drawing/2014/main" id="{361492EB-1295-D710-9CDC-E51A069D4CCD}"/>
              </a:ext>
            </a:extLst>
          </p:cNvPr>
          <p:cNvSpPr txBox="1"/>
          <p:nvPr/>
        </p:nvSpPr>
        <p:spPr>
          <a:xfrm>
            <a:off x="123105" y="649200"/>
            <a:ext cx="8897790" cy="3139321"/>
          </a:xfrm>
          <a:prstGeom prst="rect">
            <a:avLst/>
          </a:prstGeom>
          <a:noFill/>
        </p:spPr>
        <p:txBody>
          <a:bodyPr wrap="square">
            <a:spAutoFit/>
          </a:bodyPr>
          <a:lstStyle/>
          <a:p>
            <a:pPr>
              <a:buNone/>
            </a:pPr>
            <a:r>
              <a:rPr lang="en-IN" sz="2200" b="1" dirty="0">
                <a:latin typeface="Times New Roman" panose="02020603050405020304" pitchFamily="18" charset="0"/>
                <a:cs typeface="Times New Roman" panose="02020603050405020304" pitchFamily="18" charset="0"/>
              </a:rPr>
              <a:t>Tools Used</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Python</a:t>
            </a:r>
            <a:r>
              <a:rPr lang="en-IN" sz="20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 Main programming language for building the system</a:t>
            </a:r>
          </a:p>
          <a:p>
            <a:pPr>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Jupyter</a:t>
            </a:r>
            <a:r>
              <a:rPr lang="en-IN" sz="2000" b="1" dirty="0">
                <a:latin typeface="Times New Roman" panose="02020603050405020304" pitchFamily="18" charset="0"/>
                <a:cs typeface="Times New Roman" panose="02020603050405020304" pitchFamily="18" charset="0"/>
              </a:rPr>
              <a:t> Notebook / Google </a:t>
            </a:r>
            <a:r>
              <a:rPr lang="en-IN" sz="2000" b="1"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 Development and testing environment</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Scikit-learn</a:t>
            </a:r>
            <a:r>
              <a:rPr lang="en-IN" sz="20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 Training machine learning models</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Pandas</a:t>
            </a:r>
            <a:r>
              <a:rPr lang="en-IN" sz="2200" dirty="0">
                <a:latin typeface="Times New Roman" panose="02020603050405020304" pitchFamily="18" charset="0"/>
                <a:cs typeface="Times New Roman" panose="02020603050405020304" pitchFamily="18" charset="0"/>
              </a:rPr>
              <a:t> – Loading, cleaning, and preprocessing sales data</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NumPy</a:t>
            </a:r>
            <a:r>
              <a:rPr lang="en-IN" sz="2200" dirty="0">
                <a:latin typeface="Times New Roman" panose="02020603050405020304" pitchFamily="18" charset="0"/>
                <a:cs typeface="Times New Roman" panose="02020603050405020304" pitchFamily="18" charset="0"/>
              </a:rPr>
              <a:t> – Numerical computations and data handling</a:t>
            </a:r>
          </a:p>
          <a:p>
            <a:pPr>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Statsmodels</a:t>
            </a:r>
            <a:r>
              <a:rPr lang="en-IN" sz="2200" dirty="0">
                <a:latin typeface="Times New Roman" panose="02020603050405020304" pitchFamily="18" charset="0"/>
                <a:cs typeface="Times New Roman" panose="02020603050405020304" pitchFamily="18" charset="0"/>
              </a:rPr>
              <a:t> – Time-series forecasting using </a:t>
            </a:r>
            <a:r>
              <a:rPr lang="en-IN" sz="2000" dirty="0">
                <a:latin typeface="Times New Roman" panose="02020603050405020304" pitchFamily="18" charset="0"/>
                <a:cs typeface="Times New Roman" panose="02020603050405020304" pitchFamily="18" charset="0"/>
              </a:rPr>
              <a:t>ARIMA</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Matplotlib</a:t>
            </a:r>
            <a:r>
              <a:rPr lang="en-IN" sz="2200" dirty="0">
                <a:latin typeface="Times New Roman" panose="02020603050405020304" pitchFamily="18" charset="0"/>
                <a:cs typeface="Times New Roman" panose="02020603050405020304" pitchFamily="18" charset="0"/>
              </a:rPr>
              <a:t> – Visualization of demand forecasts and inventory trends</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SHAP</a:t>
            </a:r>
            <a:r>
              <a:rPr lang="en-IN" sz="2200" dirty="0">
                <a:latin typeface="Times New Roman" panose="02020603050405020304" pitchFamily="18" charset="0"/>
                <a:cs typeface="Times New Roman" panose="02020603050405020304" pitchFamily="18" charset="0"/>
              </a:rPr>
              <a:t> – Explainable AI tool to interpret model predictions</a:t>
            </a:r>
          </a:p>
        </p:txBody>
      </p:sp>
    </p:spTree>
    <p:extLst>
      <p:ext uri="{BB962C8B-B14F-4D97-AF65-F5344CB8AC3E}">
        <p14:creationId xmlns:p14="http://schemas.microsoft.com/office/powerpoint/2010/main" val="2141345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E46EC2-3F6C-1509-E9B3-21DF06CD48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11" name="Rectangle 5">
            <a:extLst>
              <a:ext uri="{FF2B5EF4-FFF2-40B4-BE49-F238E27FC236}">
                <a16:creationId xmlns:a16="http://schemas.microsoft.com/office/drawing/2014/main" id="{0EB77724-C1DA-2E6F-8575-021870F28FF8}"/>
              </a:ext>
            </a:extLst>
          </p:cNvPr>
          <p:cNvSpPr>
            <a:spLocks noGrp="1" noChangeArrowheads="1"/>
          </p:cNvSpPr>
          <p:nvPr>
            <p:ph type="body" idx="1"/>
          </p:nvPr>
        </p:nvSpPr>
        <p:spPr bwMode="auto">
          <a:xfrm>
            <a:off x="-213360" y="587484"/>
            <a:ext cx="885666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dirty="0">
                <a:latin typeface="Times New Roman" panose="02020603050405020304" pitchFamily="18" charset="0"/>
                <a:cs typeface="Times New Roman" panose="02020603050405020304" pitchFamily="18" charset="0"/>
              </a:rPr>
              <a:t>Datasets Used from </a:t>
            </a:r>
            <a:r>
              <a:rPr lang="en-US" sz="2200" b="1" dirty="0" err="1">
                <a:latin typeface="Times New Roman" panose="02020603050405020304" pitchFamily="18" charset="0"/>
                <a:cs typeface="Times New Roman" panose="02020603050405020304" pitchFamily="18" charset="0"/>
              </a:rPr>
              <a:t>kaggle</a:t>
            </a:r>
            <a:endParaRPr lang="en-US" sz="2200" b="1" dirty="0">
              <a:latin typeface="Times New Roman" panose="02020603050405020304" pitchFamily="18" charset="0"/>
              <a:cs typeface="Times New Roman" panose="02020603050405020304" pitchFamily="18" charset="0"/>
            </a:endParaRPr>
          </a:p>
          <a:p>
            <a:pPr marL="571500" indent="-342900">
              <a:buFont typeface="Arial" panose="020B0604020202020204" pitchFamily="34" charset="0"/>
              <a:buChar char="•"/>
            </a:pPr>
            <a:r>
              <a:rPr lang="en-US" sz="2000" b="1" dirty="0"/>
              <a:t>Retail Sales / Inventory Dataset</a:t>
            </a:r>
            <a:r>
              <a:rPr lang="en-US" sz="2000" dirty="0"/>
              <a:t> – Historical sales data containing date, product ID, and quantity sold</a:t>
            </a:r>
          </a:p>
          <a:p>
            <a:pPr marL="571500" indent="-342900">
              <a:buFont typeface="Arial" panose="020B0604020202020204" pitchFamily="34" charset="0"/>
              <a:buChar char="•"/>
            </a:pPr>
            <a:r>
              <a:rPr lang="en-US" sz="2000" b="1" dirty="0"/>
              <a:t>Public Datasets </a:t>
            </a:r>
            <a:r>
              <a:rPr lang="en-US" sz="2000" dirty="0"/>
              <a:t>– Used to simulate real-world retail demand patterns</a:t>
            </a: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SzTx/>
            </a:pPr>
            <a:r>
              <a:rPr lang="en-US" sz="2200" b="1" dirty="0">
                <a:latin typeface="Times New Roman" panose="02020603050405020304" pitchFamily="18" charset="0"/>
                <a:cs typeface="Times New Roman" panose="02020603050405020304" pitchFamily="18" charset="0"/>
              </a:rPr>
              <a:t>   UN Sustainable Development Goal (SDG):</a:t>
            </a:r>
            <a:endParaRPr lang="en-US" altLang="en-US" sz="2200" b="1" dirty="0">
              <a:solidFill>
                <a:schemeClr val="tx1"/>
              </a:solidFill>
              <a:latin typeface="Times New Roman" panose="02020603050405020304" pitchFamily="18" charset="0"/>
              <a:cs typeface="Times New Roman" panose="02020603050405020304" pitchFamily="18" charset="0"/>
            </a:endParaRPr>
          </a:p>
          <a:p>
            <a:pPr marL="457200" lvl="1" indent="0" algn="just" eaLnBrk="0" fontAlgn="base" hangingPunct="0">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12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Responsible Consumption and Production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1" indent="0" algn="just" eaLnBrk="0" fontAlgn="base" hangingPunct="0">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overstocking and minimizes resource wastage through optimized inventory planning.</a:t>
            </a:r>
          </a:p>
          <a:p>
            <a:pPr marL="457200" lvl="1" indent="0" algn="just" eaLnBrk="0" fontAlgn="base" hangingPunct="0">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9 – Industry, Innovation, and Infrastructure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1" indent="0" algn="just" eaLnBrk="0" fontAlgn="base" hangingPunct="0">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Applies artificial intelligence to improve supply chain efficiency and business operations.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5633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E792BA24-28B1-C55D-EB49-069F428727F9}"/>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FF42FD0D-EF76-D16A-D131-B51E7B90A4E6}"/>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Base paper details</a:t>
            </a:r>
            <a:endParaRPr dirty="0"/>
          </a:p>
        </p:txBody>
      </p:sp>
      <p:sp>
        <p:nvSpPr>
          <p:cNvPr id="57" name="Google Shape;57;g32a3e1ea9ea_0_31">
            <a:extLst>
              <a:ext uri="{FF2B5EF4-FFF2-40B4-BE49-F238E27FC236}">
                <a16:creationId xmlns:a16="http://schemas.microsoft.com/office/drawing/2014/main" id="{88EB541B-5B75-AC3A-12E6-04B06F2B08B1}"/>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9</a:t>
            </a:fld>
            <a:endParaRPr/>
          </a:p>
        </p:txBody>
      </p:sp>
      <p:sp>
        <p:nvSpPr>
          <p:cNvPr id="3" name="TextBox 2">
            <a:extLst>
              <a:ext uri="{FF2B5EF4-FFF2-40B4-BE49-F238E27FC236}">
                <a16:creationId xmlns:a16="http://schemas.microsoft.com/office/drawing/2014/main" id="{BD954B18-D07B-CD28-4EE4-5E2EAA651A17}"/>
              </a:ext>
            </a:extLst>
          </p:cNvPr>
          <p:cNvSpPr txBox="1"/>
          <p:nvPr/>
        </p:nvSpPr>
        <p:spPr>
          <a:xfrm>
            <a:off x="178755" y="540424"/>
            <a:ext cx="8756901" cy="3477875"/>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Transformer-Based Demand Forecasting and Inventory Optimization in Multi-Echelon Supply Chain Networks</a:t>
            </a:r>
          </a:p>
          <a:p>
            <a:r>
              <a:rPr lang="en-US" sz="2000" b="1" dirty="0">
                <a:latin typeface="Times New Roman" panose="02020603050405020304" pitchFamily="18" charset="0"/>
                <a:cs typeface="Times New Roman" panose="02020603050405020304" pitchFamily="18" charset="0"/>
              </a:rPr>
              <a:t>Journal / Conference: </a:t>
            </a:r>
            <a:r>
              <a:rPr lang="en-US" sz="2000" dirty="0">
                <a:latin typeface="Times New Roman" panose="02020603050405020304" pitchFamily="18" charset="0"/>
                <a:cs typeface="Times New Roman" panose="02020603050405020304" pitchFamily="18" charset="0"/>
              </a:rPr>
              <a:t>International Journal of Supply Chain Analytics and Forecasting</a:t>
            </a:r>
          </a:p>
          <a:p>
            <a:r>
              <a:rPr lang="en-US" sz="2000" b="1" dirty="0">
                <a:latin typeface="Times New Roman" panose="02020603050405020304" pitchFamily="18" charset="0"/>
                <a:cs typeface="Times New Roman" panose="02020603050405020304" pitchFamily="18" charset="0"/>
              </a:rPr>
              <a:t>Year: </a:t>
            </a:r>
            <a:r>
              <a:rPr lang="en-US" sz="2000" dirty="0">
                <a:latin typeface="Times New Roman" panose="02020603050405020304" pitchFamily="18" charset="0"/>
                <a:cs typeface="Times New Roman" panose="02020603050405020304" pitchFamily="18" charset="0"/>
              </a:rPr>
              <a:t>2025</a:t>
            </a:r>
          </a:p>
          <a:p>
            <a:r>
              <a:rPr lang="en-US" sz="2000" b="1" dirty="0">
                <a:latin typeface="Times New Roman" panose="02020603050405020304" pitchFamily="18" charset="0"/>
                <a:cs typeface="Times New Roman" panose="02020603050405020304" pitchFamily="18" charset="0"/>
              </a:rPr>
              <a:t>Brief Description: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paper presents a Transformer-based deep learning approach for demand forecasting and inventory optimization. By using attention mechanisms, the model captures long-term demand patterns and achieves better forecasting accuracy than traditional methods such as ARIMA and LSTM, supporting more effective inventory planning decisions.</a:t>
            </a:r>
          </a:p>
        </p:txBody>
      </p:sp>
    </p:spTree>
    <p:extLst>
      <p:ext uri="{BB962C8B-B14F-4D97-AF65-F5344CB8AC3E}">
        <p14:creationId xmlns:p14="http://schemas.microsoft.com/office/powerpoint/2010/main" val="2686574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4921D-63C8-3FE8-3ED9-D4669D546A0F}"/>
              </a:ext>
            </a:extLst>
          </p:cNvPr>
          <p:cNvSpPr>
            <a:spLocks noGrp="1"/>
          </p:cNvSpPr>
          <p:nvPr>
            <p:ph type="ctrTitle"/>
          </p:nvPr>
        </p:nvSpPr>
        <p:spPr/>
        <p:txBody>
          <a:bodyPr>
            <a:normAutofit fontScale="90000"/>
          </a:bodyPr>
          <a:lstStyle/>
          <a:p>
            <a:pPr algn="l"/>
            <a:r>
              <a:rPr lang="en-US" dirty="0"/>
              <a:t>Research Gaps</a:t>
            </a:r>
            <a:endParaRPr lang="en-IN" dirty="0"/>
          </a:p>
        </p:txBody>
      </p:sp>
      <p:sp>
        <p:nvSpPr>
          <p:cNvPr id="3" name="Text Placeholder 2">
            <a:extLst>
              <a:ext uri="{FF2B5EF4-FFF2-40B4-BE49-F238E27FC236}">
                <a16:creationId xmlns:a16="http://schemas.microsoft.com/office/drawing/2014/main" id="{089F9B29-B8D6-5BF1-6C4B-7509385FCEF4}"/>
              </a:ext>
            </a:extLst>
          </p:cNvPr>
          <p:cNvSpPr>
            <a:spLocks noGrp="1"/>
          </p:cNvSpPr>
          <p:nvPr>
            <p:ph type="body" idx="1"/>
          </p:nvPr>
        </p:nvSpPr>
        <p:spPr>
          <a:xfrm>
            <a:off x="-61278" y="648537"/>
            <a:ext cx="9083040" cy="4013950"/>
          </a:xfrm>
        </p:spPr>
        <p:txBody>
          <a:bodyPr/>
          <a:lstStyle/>
          <a:p>
            <a:r>
              <a:rPr lang="en-US" sz="2000" b="1" dirty="0"/>
              <a:t>1. Limited Use of Forecasts for Inventory Decisions</a:t>
            </a:r>
            <a:br>
              <a:rPr lang="en-US" sz="2000" dirty="0"/>
            </a:br>
            <a:r>
              <a:rPr lang="en-US" sz="2000" dirty="0"/>
              <a:t>The base paper focuses mainly on predicting demand and does not clearly explain how these predictions are converted into actual inventory actions such as stock planning or reorder decisions.</a:t>
            </a:r>
          </a:p>
          <a:p>
            <a:r>
              <a:rPr lang="en-US" sz="2000" b="1" dirty="0"/>
              <a:t>2. Lack of Explanation for Inventory Actions</a:t>
            </a:r>
            <a:br>
              <a:rPr lang="en-US" sz="2000" dirty="0"/>
            </a:br>
            <a:r>
              <a:rPr lang="en-US" sz="2000" dirty="0"/>
              <a:t>While demand predictions are generated, the reasons behind inventory-related decisions are not clearly explained, making it difficult for users to trust the system.</a:t>
            </a:r>
          </a:p>
          <a:p>
            <a:r>
              <a:rPr lang="en-US" sz="2000" b="1" dirty="0"/>
              <a:t>3. High Model Complexity</a:t>
            </a:r>
            <a:br>
              <a:rPr lang="en-US" sz="2000" dirty="0"/>
            </a:br>
            <a:r>
              <a:rPr lang="en-US" sz="2000" dirty="0"/>
              <a:t>The Transformer-based model used in the paper requires high computational resources, which may limit its use in small or real-world inventory systems.</a:t>
            </a:r>
          </a:p>
          <a:p>
            <a:pPr algn="just"/>
            <a:endParaRPr lang="en-US" sz="2000" dirty="0"/>
          </a:p>
          <a:p>
            <a:endParaRPr lang="en-IN" dirty="0"/>
          </a:p>
        </p:txBody>
      </p:sp>
      <p:sp>
        <p:nvSpPr>
          <p:cNvPr id="4" name="Slide Number Placeholder 3">
            <a:extLst>
              <a:ext uri="{FF2B5EF4-FFF2-40B4-BE49-F238E27FC236}">
                <a16:creationId xmlns:a16="http://schemas.microsoft.com/office/drawing/2014/main" id="{97931592-96E0-4D7B-9E35-BDD12A1F27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2714521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54658BD3-DA20-49CB-0891-DA940891230E}"/>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B7A58B4D-7174-B418-60CC-DB57303596BC}"/>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References</a:t>
            </a:r>
            <a:endParaRPr dirty="0"/>
          </a:p>
        </p:txBody>
      </p:sp>
      <p:sp>
        <p:nvSpPr>
          <p:cNvPr id="57" name="Google Shape;57;g32a3e1ea9ea_0_31">
            <a:extLst>
              <a:ext uri="{FF2B5EF4-FFF2-40B4-BE49-F238E27FC236}">
                <a16:creationId xmlns:a16="http://schemas.microsoft.com/office/drawing/2014/main" id="{3F8B5782-616E-8DBC-BF30-29B2D3B2C264}"/>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11</a:t>
            </a:fld>
            <a:endParaRPr/>
          </a:p>
        </p:txBody>
      </p:sp>
      <p:sp>
        <p:nvSpPr>
          <p:cNvPr id="2" name="Text Placeholder 1">
            <a:extLst>
              <a:ext uri="{FF2B5EF4-FFF2-40B4-BE49-F238E27FC236}">
                <a16:creationId xmlns:a16="http://schemas.microsoft.com/office/drawing/2014/main" id="{B35D0937-0C90-FEE6-2CD8-EA3D52A51B21}"/>
              </a:ext>
            </a:extLst>
          </p:cNvPr>
          <p:cNvSpPr>
            <a:spLocks noGrp="1" noChangeArrowheads="1"/>
          </p:cNvSpPr>
          <p:nvPr>
            <p:ph type="body" idx="1"/>
          </p:nvPr>
        </p:nvSpPr>
        <p:spPr bwMode="auto">
          <a:xfrm>
            <a:off x="0" y="649200"/>
            <a:ext cx="8767145"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a:t>1. A. Vaswani </a:t>
            </a:r>
            <a:r>
              <a:rPr lang="en-IN" sz="2000" i="1" dirty="0"/>
              <a:t>et al.</a:t>
            </a:r>
            <a:r>
              <a:rPr lang="en-IN" sz="2000" dirty="0"/>
              <a:t>, “Attention Is All You Need,” in </a:t>
            </a:r>
            <a:r>
              <a:rPr lang="en-IN" sz="2000" i="1" dirty="0"/>
              <a:t>Proc. Advances in Neural Information Processing Systems (</a:t>
            </a:r>
            <a:r>
              <a:rPr lang="en-IN" sz="2000" i="1" dirty="0" err="1"/>
              <a:t>NeurIPS</a:t>
            </a:r>
            <a:r>
              <a:rPr lang="en-IN" sz="2000" i="1" dirty="0"/>
              <a:t>)</a:t>
            </a:r>
            <a:r>
              <a:rPr lang="en-IN" sz="2000" dirty="0"/>
              <a:t>, Long Beach, CA, USA, 2017, pp. 5998–6008.</a:t>
            </a:r>
          </a:p>
          <a:p>
            <a:r>
              <a:rPr lang="en-IN" sz="2000" dirty="0"/>
              <a:t>2. X. Zhang, T. Sun, X. Han, Y. Yang, and P. Li, “Transformer-Based Demand Forecasting and Inventory Optimization in Multi-Echelon Supply Chain Networks,” </a:t>
            </a:r>
            <a:r>
              <a:rPr lang="en-IN" sz="2000" i="1" dirty="0"/>
              <a:t>Int. J. Supply Chain Analytics and Forecasting</a:t>
            </a:r>
            <a:r>
              <a:rPr lang="en-IN" sz="2000" dirty="0"/>
              <a:t>, vol. 9, no. 12, pp. 1–9, 2025.</a:t>
            </a:r>
          </a:p>
          <a:p>
            <a:r>
              <a:rPr lang="en-IN" sz="2000" dirty="0"/>
              <a:t>3. J. Yun, Y. Park, and D. Chung, “Enhancing Demand Forecasting Performance Using Deep Learning and Time-Series Data Augmentation,” </a:t>
            </a:r>
            <a:r>
              <a:rPr lang="en-IN" sz="2000" i="1" dirty="0"/>
              <a:t>Int. J. Intell. Syst. Appl. Eng.</a:t>
            </a:r>
            <a:r>
              <a:rPr lang="en-IN" sz="2000" dirty="0"/>
              <a:t>, vol. 13, no. 1, pp. 526–538, 2025.</a:t>
            </a:r>
          </a:p>
          <a:p>
            <a:r>
              <a:rPr lang="en-IN" sz="2000" dirty="0"/>
              <a:t>4. S. M. Lundberg and S.-I. Lee, “A Unified Approach to Interpreting Model Predictions,” in </a:t>
            </a:r>
            <a:r>
              <a:rPr lang="en-IN" sz="2000" i="1" dirty="0"/>
              <a:t>Proc. Advances in Neural Information Processing Systems (</a:t>
            </a:r>
            <a:r>
              <a:rPr lang="en-IN" sz="2000" i="1" dirty="0" err="1"/>
              <a:t>NeurIPS</a:t>
            </a:r>
            <a:r>
              <a:rPr lang="en-IN" sz="2000" i="1" dirty="0"/>
              <a:t>)</a:t>
            </a:r>
            <a:r>
              <a:rPr lang="en-IN" sz="2000" dirty="0"/>
              <a:t>, Montréal, QC, Canada, 2017, pp. 4765–4774.</a:t>
            </a:r>
          </a:p>
        </p:txBody>
      </p:sp>
    </p:spTree>
    <p:extLst>
      <p:ext uri="{BB962C8B-B14F-4D97-AF65-F5344CB8AC3E}">
        <p14:creationId xmlns:p14="http://schemas.microsoft.com/office/powerpoint/2010/main" val="1631179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
          <a:extLst>
            <a:ext uri="{FF2B5EF4-FFF2-40B4-BE49-F238E27FC236}">
              <a16:creationId xmlns:a16="http://schemas.microsoft.com/office/drawing/2014/main" id="{23A14435-3DF4-BBB3-C697-AC55722FBD17}"/>
            </a:ext>
          </a:extLst>
        </p:cNvPr>
        <p:cNvGrpSpPr/>
        <p:nvPr/>
      </p:nvGrpSpPr>
      <p:grpSpPr>
        <a:xfrm>
          <a:off x="0" y="0"/>
          <a:ext cx="0" cy="0"/>
          <a:chOff x="0" y="0"/>
          <a:chExt cx="0" cy="0"/>
        </a:xfrm>
      </p:grpSpPr>
      <p:sp>
        <p:nvSpPr>
          <p:cNvPr id="37" name="Google Shape;37;p2">
            <a:extLst>
              <a:ext uri="{FF2B5EF4-FFF2-40B4-BE49-F238E27FC236}">
                <a16:creationId xmlns:a16="http://schemas.microsoft.com/office/drawing/2014/main" id="{E2120D80-8A37-C68C-6593-185EE29367B0}"/>
              </a:ext>
            </a:extLst>
          </p:cNvPr>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lvl="0"/>
            <a:r>
              <a:rPr lang="en-US" sz="3200" b="1" dirty="0">
                <a:solidFill>
                  <a:srgbClr val="FF0000"/>
                </a:solidFill>
              </a:rPr>
              <a:t>Vendor Performance Rating System </a:t>
            </a:r>
            <a:r>
              <a:rPr lang="en-US" sz="3200" b="1">
                <a:solidFill>
                  <a:srgbClr val="FF0000"/>
                </a:solidFill>
              </a:rPr>
              <a:t>uwsing</a:t>
            </a:r>
            <a:r>
              <a:rPr lang="en-US" sz="3200" b="1" dirty="0">
                <a:solidFill>
                  <a:srgbClr val="FF0000"/>
                </a:solidFill>
              </a:rPr>
              <a:t> Machine Learning</a:t>
            </a:r>
            <a:endParaRPr b="1" dirty="0">
              <a:solidFill>
                <a:srgbClr val="FF0000"/>
              </a:solidFill>
            </a:endParaRPr>
          </a:p>
        </p:txBody>
      </p:sp>
      <p:sp>
        <p:nvSpPr>
          <p:cNvPr id="38" name="Google Shape;38;p2">
            <a:extLst>
              <a:ext uri="{FF2B5EF4-FFF2-40B4-BE49-F238E27FC236}">
                <a16:creationId xmlns:a16="http://schemas.microsoft.com/office/drawing/2014/main" id="{D9D35EC3-5B72-1DD0-4DDE-866C436A755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12</a:t>
            </a:fld>
            <a:endParaRPr/>
          </a:p>
        </p:txBody>
      </p:sp>
    </p:spTree>
    <p:extLst>
      <p:ext uri="{BB962C8B-B14F-4D97-AF65-F5344CB8AC3E}">
        <p14:creationId xmlns:p14="http://schemas.microsoft.com/office/powerpoint/2010/main" val="3088168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F3B87261-2AAF-A581-169E-374BF382CF2E}"/>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ED280F2B-7DEB-85D4-594B-FBBD638CA827}"/>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2900" dirty="0"/>
              <a:t>Introduction to the project work</a:t>
            </a:r>
            <a:endParaRPr dirty="0"/>
          </a:p>
        </p:txBody>
      </p:sp>
      <p:sp>
        <p:nvSpPr>
          <p:cNvPr id="57" name="Google Shape;57;g32a3e1ea9ea_0_31">
            <a:extLst>
              <a:ext uri="{FF2B5EF4-FFF2-40B4-BE49-F238E27FC236}">
                <a16:creationId xmlns:a16="http://schemas.microsoft.com/office/drawing/2014/main" id="{2CD47787-5961-E1B1-E3C1-EB4B02C07AF1}"/>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13</a:t>
            </a:fld>
            <a:endParaRPr/>
          </a:p>
        </p:txBody>
      </p:sp>
      <p:sp>
        <p:nvSpPr>
          <p:cNvPr id="5" name="TextBox 4">
            <a:extLst>
              <a:ext uri="{FF2B5EF4-FFF2-40B4-BE49-F238E27FC236}">
                <a16:creationId xmlns:a16="http://schemas.microsoft.com/office/drawing/2014/main" id="{2226EDC4-63A6-4AD7-2AC2-6C407C882F97}"/>
              </a:ext>
            </a:extLst>
          </p:cNvPr>
          <p:cNvSpPr txBox="1"/>
          <p:nvPr/>
        </p:nvSpPr>
        <p:spPr>
          <a:xfrm>
            <a:off x="301828" y="872974"/>
            <a:ext cx="8340284" cy="224676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Effective vendor evaluation is essential for reliable and cost-efficient operations, but traditional methods and basic models fail to capture complex performance patterns and risks. This project proposes an Explainable AI-based Vendor Performance Evaluation System that uses advanced machine learning techniques to accurately score, rank, and analyze vendors. The system also provides clear explanations and decision-support insights to help organizations make informed supplier management decisions.</a:t>
            </a:r>
          </a:p>
        </p:txBody>
      </p:sp>
    </p:spTree>
    <p:extLst>
      <p:ext uri="{BB962C8B-B14F-4D97-AF65-F5344CB8AC3E}">
        <p14:creationId xmlns:p14="http://schemas.microsoft.com/office/powerpoint/2010/main" val="516142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296414B2-8DB5-8CCD-E93B-F069592CA1EA}"/>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67568034-E83F-B5C1-7D3D-11AE52759EFF}"/>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Significance or importance or novelty</a:t>
            </a:r>
            <a:endParaRPr dirty="0"/>
          </a:p>
        </p:txBody>
      </p:sp>
      <p:sp>
        <p:nvSpPr>
          <p:cNvPr id="57" name="Google Shape;57;g32a3e1ea9ea_0_31">
            <a:extLst>
              <a:ext uri="{FF2B5EF4-FFF2-40B4-BE49-F238E27FC236}">
                <a16:creationId xmlns:a16="http://schemas.microsoft.com/office/drawing/2014/main" id="{84EF6181-A526-26A4-A701-089F1FE608B1}"/>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14</a:t>
            </a:fld>
            <a:endParaRPr/>
          </a:p>
        </p:txBody>
      </p:sp>
      <p:sp>
        <p:nvSpPr>
          <p:cNvPr id="5" name="Rectangle 3">
            <a:extLst>
              <a:ext uri="{FF2B5EF4-FFF2-40B4-BE49-F238E27FC236}">
                <a16:creationId xmlns:a16="http://schemas.microsoft.com/office/drawing/2014/main" id="{F91F4AF6-06DF-ABAB-4F51-0F10B3E64240}"/>
              </a:ext>
            </a:extLst>
          </p:cNvPr>
          <p:cNvSpPr>
            <a:spLocks noGrp="1" noChangeArrowheads="1"/>
          </p:cNvSpPr>
          <p:nvPr>
            <p:ph type="body" idx="1"/>
          </p:nvPr>
        </p:nvSpPr>
        <p:spPr bwMode="auto">
          <a:xfrm>
            <a:off x="200539" y="713028"/>
            <a:ext cx="778843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200400" lvl="7" indent="0" eaLnBrk="0" fontAlgn="base" hangingPunct="0">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identification of risky vendors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Transparent decision-making using explainable AI</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supplier selection and management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operational and supply-chain risks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and time-efficient performance analysis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Useful across multiple industries</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3660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D44C941B-4E5C-D6E1-FD32-C0A0906AA22B}"/>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41214D4A-B5E2-B156-9E19-5AC4F92F41A5}"/>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Frame work and Techniques</a:t>
            </a:r>
            <a:endParaRPr dirty="0"/>
          </a:p>
        </p:txBody>
      </p:sp>
      <p:sp>
        <p:nvSpPr>
          <p:cNvPr id="57" name="Google Shape;57;g32a3e1ea9ea_0_31">
            <a:extLst>
              <a:ext uri="{FF2B5EF4-FFF2-40B4-BE49-F238E27FC236}">
                <a16:creationId xmlns:a16="http://schemas.microsoft.com/office/drawing/2014/main" id="{F4955E50-2FE1-BD7D-13C9-8770543BC686}"/>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15</a:t>
            </a:fld>
            <a:endParaRPr/>
          </a:p>
        </p:txBody>
      </p:sp>
      <p:sp>
        <p:nvSpPr>
          <p:cNvPr id="6" name="Text Placeholder 5">
            <a:extLst>
              <a:ext uri="{FF2B5EF4-FFF2-40B4-BE49-F238E27FC236}">
                <a16:creationId xmlns:a16="http://schemas.microsoft.com/office/drawing/2014/main" id="{2687FBB2-4CB8-B41F-10DE-6DF7AF98A4E9}"/>
              </a:ext>
            </a:extLst>
          </p:cNvPr>
          <p:cNvSpPr>
            <a:spLocks noGrp="1"/>
          </p:cNvSpPr>
          <p:nvPr>
            <p:ph type="body" idx="1"/>
          </p:nvPr>
        </p:nvSpPr>
        <p:spPr>
          <a:xfrm>
            <a:off x="148736" y="649200"/>
            <a:ext cx="8846528" cy="3479800"/>
          </a:xfrm>
        </p:spPr>
        <p:txBody>
          <a:bodyPr/>
          <a:lstStyle/>
          <a:p>
            <a:pPr marL="0" lvl="0" indent="0" eaLnBrk="0" fontAlgn="base" hangingPunct="0">
              <a:spcBef>
                <a:spcPct val="0"/>
              </a:spcBef>
              <a:spcAft>
                <a:spcPct val="0"/>
              </a:spcAft>
              <a:buClrTx/>
              <a:buSzTx/>
              <a:buFontTx/>
              <a:buChar char="•"/>
            </a:pPr>
            <a:r>
              <a:rPr lang="en-US" altLang="en-US" sz="2200" b="1" dirty="0">
                <a:solidFill>
                  <a:schemeClr val="tx1"/>
                </a:solidFill>
                <a:latin typeface="Times New Roman" panose="02020603050405020304" pitchFamily="18" charset="0"/>
                <a:cs typeface="Times New Roman" panose="02020603050405020304" pitchFamily="18" charset="0"/>
              </a:rPr>
              <a:t>FRAMEWORK:</a:t>
            </a:r>
          </a:p>
          <a:p>
            <a:endParaRPr lang="en-IN" dirty="0"/>
          </a:p>
        </p:txBody>
      </p:sp>
      <p:sp>
        <p:nvSpPr>
          <p:cNvPr id="2" name="Rectangle 1">
            <a:extLst>
              <a:ext uri="{FF2B5EF4-FFF2-40B4-BE49-F238E27FC236}">
                <a16:creationId xmlns:a16="http://schemas.microsoft.com/office/drawing/2014/main" id="{B315E2E8-B31F-F69A-D163-9DA55EB3C941}"/>
              </a:ext>
            </a:extLst>
          </p:cNvPr>
          <p:cNvSpPr>
            <a:spLocks noChangeArrowheads="1"/>
          </p:cNvSpPr>
          <p:nvPr/>
        </p:nvSpPr>
        <p:spPr bwMode="auto">
          <a:xfrm>
            <a:off x="66233" y="1341372"/>
            <a:ext cx="828528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Data loading, cleaning, and preprocessing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Numerical computations and feature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Scikit-learn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Data preprocessing, model evaluation, and ML utilities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Advanced ensemble learning for vendor scoring and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Explainable AI for interpreting model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Interactive dashboard for vendor analysis and visualization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Backend framework for deploying the ML model as an API</a:t>
            </a:r>
          </a:p>
        </p:txBody>
      </p:sp>
    </p:spTree>
    <p:extLst>
      <p:ext uri="{BB962C8B-B14F-4D97-AF65-F5344CB8AC3E}">
        <p14:creationId xmlns:p14="http://schemas.microsoft.com/office/powerpoint/2010/main" val="3254612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305106E-DAA3-4A84-2D42-03A5483ADA28}"/>
              </a:ext>
            </a:extLst>
          </p:cNvPr>
          <p:cNvSpPr>
            <a:spLocks noGrp="1"/>
          </p:cNvSpPr>
          <p:nvPr>
            <p:ph type="body" idx="1"/>
          </p:nvPr>
        </p:nvSpPr>
        <p:spPr>
          <a:xfrm>
            <a:off x="0" y="236220"/>
            <a:ext cx="8763000" cy="3479800"/>
          </a:xfrm>
        </p:spPr>
        <p:txBody>
          <a:bodyPr/>
          <a:lstStyle/>
          <a:p>
            <a:r>
              <a:rPr lang="en-IN" sz="2200" b="1" dirty="0"/>
              <a:t>TECHNIQUES:</a:t>
            </a:r>
          </a:p>
          <a:p>
            <a:endParaRPr lang="en-IN" dirty="0"/>
          </a:p>
        </p:txBody>
      </p:sp>
      <p:sp>
        <p:nvSpPr>
          <p:cNvPr id="4" name="Slide Number Placeholder 3">
            <a:extLst>
              <a:ext uri="{FF2B5EF4-FFF2-40B4-BE49-F238E27FC236}">
                <a16:creationId xmlns:a16="http://schemas.microsoft.com/office/drawing/2014/main" id="{3267223D-EC83-64D6-AB6B-82EEDFA677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6" name="Rectangle 3">
            <a:extLst>
              <a:ext uri="{FF2B5EF4-FFF2-40B4-BE49-F238E27FC236}">
                <a16:creationId xmlns:a16="http://schemas.microsoft.com/office/drawing/2014/main" id="{FCAF75BB-F775-83AF-8CDD-08E75AA6E1D0}"/>
              </a:ext>
            </a:extLst>
          </p:cNvPr>
          <p:cNvSpPr>
            <a:spLocks noChangeArrowheads="1"/>
          </p:cNvSpPr>
          <p:nvPr/>
        </p:nvSpPr>
        <p:spPr bwMode="auto">
          <a:xfrm>
            <a:off x="233680" y="1371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XGBoost</a:t>
            </a:r>
            <a:r>
              <a:rPr kumimoji="0" lang="en-US" altLang="en-US" sz="1800" b="1"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err="1">
                <a:ln>
                  <a:noFill/>
                </a:ln>
                <a:solidFill>
                  <a:schemeClr val="tx1"/>
                </a:solidFill>
                <a:effectLst/>
                <a:latin typeface="Arial" panose="020B0604020202020204" pitchFamily="34" charset="0"/>
              </a:rPr>
              <a:t>LightGBM</a:t>
            </a:r>
            <a:r>
              <a:rPr kumimoji="0" lang="en-US" altLang="en-US" sz="1800" b="0" i="0" u="none" strike="noStrike" cap="none" normalizeH="0" baseline="0" dirty="0">
                <a:ln>
                  <a:noFill/>
                </a:ln>
                <a:solidFill>
                  <a:schemeClr val="tx1"/>
                </a:solidFill>
                <a:effectLst/>
                <a:latin typeface="Arial" panose="020B0604020202020204" pitchFamily="34" charset="0"/>
              </a:rPr>
              <a:t> (for high-accuracy vendor scoring)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Gradient Boosting Ensembles</a:t>
            </a:r>
            <a:r>
              <a:rPr kumimoji="0" lang="en-US" altLang="en-US" sz="1800" b="0" i="0" u="none" strike="noStrike" cap="none" normalizeH="0" baseline="0" dirty="0">
                <a:ln>
                  <a:noFill/>
                </a:ln>
                <a:solidFill>
                  <a:schemeClr val="tx1"/>
                </a:solidFill>
                <a:effectLst/>
                <a:latin typeface="Arial" panose="020B0604020202020204" pitchFamily="34" charset="0"/>
              </a:rPr>
              <a:t> (to capture complex performance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Isolation Forest / Autoencoder</a:t>
            </a:r>
            <a:r>
              <a:rPr kumimoji="0" lang="en-US" altLang="en-US" sz="1800" b="0" i="0" u="none" strike="noStrike" cap="none" normalizeH="0" baseline="0" dirty="0">
                <a:ln>
                  <a:noFill/>
                </a:ln>
                <a:solidFill>
                  <a:schemeClr val="tx1"/>
                </a:solidFill>
                <a:effectLst/>
                <a:latin typeface="Arial" panose="020B0604020202020204" pitchFamily="34" charset="0"/>
              </a:rPr>
              <a:t> (for detecting risky or abnormal vendors)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SHAP</a:t>
            </a:r>
            <a:r>
              <a:rPr kumimoji="0" lang="en-US" altLang="en-US" sz="1800" b="0" i="0" u="none" strike="noStrike" cap="none" normalizeH="0" baseline="0" dirty="0">
                <a:ln>
                  <a:noFill/>
                </a:ln>
                <a:solidFill>
                  <a:schemeClr val="tx1"/>
                </a:solidFill>
                <a:effectLst/>
                <a:latin typeface="Arial" panose="020B0604020202020204" pitchFamily="34" charset="0"/>
              </a:rPr>
              <a:t> (for explainable vendor score interpretation)</a:t>
            </a:r>
          </a:p>
        </p:txBody>
      </p:sp>
    </p:spTree>
    <p:extLst>
      <p:ext uri="{BB962C8B-B14F-4D97-AF65-F5344CB8AC3E}">
        <p14:creationId xmlns:p14="http://schemas.microsoft.com/office/powerpoint/2010/main" val="3135800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7CDF0807-F555-BABF-AC1D-1B30DCB74667}"/>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C24E0806-76EE-F90C-A72A-1E4FF239C743}"/>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Tools and Data sets (include SDG category)</a:t>
            </a:r>
            <a:endParaRPr dirty="0"/>
          </a:p>
        </p:txBody>
      </p:sp>
      <p:sp>
        <p:nvSpPr>
          <p:cNvPr id="57" name="Google Shape;57;g32a3e1ea9ea_0_31">
            <a:extLst>
              <a:ext uri="{FF2B5EF4-FFF2-40B4-BE49-F238E27FC236}">
                <a16:creationId xmlns:a16="http://schemas.microsoft.com/office/drawing/2014/main" id="{45B7FCE5-8E29-5A07-DCCB-847F94B04B74}"/>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17</a:t>
            </a:fld>
            <a:endParaRPr/>
          </a:p>
        </p:txBody>
      </p:sp>
      <p:sp>
        <p:nvSpPr>
          <p:cNvPr id="2" name="Text Placeholder 1">
            <a:extLst>
              <a:ext uri="{FF2B5EF4-FFF2-40B4-BE49-F238E27FC236}">
                <a16:creationId xmlns:a16="http://schemas.microsoft.com/office/drawing/2014/main" id="{85E9CA85-C495-B7E4-7AE7-AA0AE9C16B0D}"/>
              </a:ext>
            </a:extLst>
          </p:cNvPr>
          <p:cNvSpPr>
            <a:spLocks noGrp="1" noChangeArrowheads="1"/>
          </p:cNvSpPr>
          <p:nvPr>
            <p:ph type="body" idx="1"/>
          </p:nvPr>
        </p:nvSpPr>
        <p:spPr bwMode="auto">
          <a:xfrm>
            <a:off x="207317" y="522929"/>
            <a:ext cx="872936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342900">
              <a:buFont typeface="Arial" panose="020B0604020202020204" pitchFamily="34" charset="0"/>
              <a:buChar char="•"/>
            </a:pPr>
            <a:r>
              <a:rPr lang="en-IN" sz="2000" b="1" dirty="0"/>
              <a:t>Python</a:t>
            </a:r>
            <a:r>
              <a:rPr lang="en-IN" sz="2000" dirty="0"/>
              <a:t> – Core programming language</a:t>
            </a:r>
          </a:p>
          <a:p>
            <a:pPr marL="571500" indent="-342900">
              <a:buFont typeface="Arial" panose="020B0604020202020204" pitchFamily="34" charset="0"/>
              <a:buChar char="•"/>
            </a:pPr>
            <a:r>
              <a:rPr lang="en-IN" sz="2000" b="1" dirty="0" err="1"/>
              <a:t>Jupyter</a:t>
            </a:r>
            <a:r>
              <a:rPr lang="en-IN" sz="2000" b="1" dirty="0"/>
              <a:t> Notebook / Google </a:t>
            </a:r>
            <a:r>
              <a:rPr lang="en-IN" sz="2000" b="1" dirty="0" err="1"/>
              <a:t>Colab</a:t>
            </a:r>
            <a:r>
              <a:rPr lang="en-IN" sz="2000" dirty="0"/>
              <a:t> – Development and experimentation</a:t>
            </a:r>
          </a:p>
          <a:p>
            <a:pPr marL="571500" indent="-342900">
              <a:buFont typeface="Arial" panose="020B0604020202020204" pitchFamily="34" charset="0"/>
              <a:buChar char="•"/>
            </a:pPr>
            <a:r>
              <a:rPr lang="en-IN" sz="2000" b="1" dirty="0"/>
              <a:t>Pandas</a:t>
            </a:r>
            <a:r>
              <a:rPr lang="en-IN" sz="2000" dirty="0"/>
              <a:t> – Data processing and analysis</a:t>
            </a:r>
          </a:p>
          <a:p>
            <a:pPr marL="571500" indent="-342900">
              <a:buFont typeface="Arial" panose="020B0604020202020204" pitchFamily="34" charset="0"/>
              <a:buChar char="•"/>
            </a:pPr>
            <a:r>
              <a:rPr lang="en-IN" sz="2000" b="1" dirty="0"/>
              <a:t>NumPy</a:t>
            </a:r>
            <a:r>
              <a:rPr lang="en-IN" sz="2000" dirty="0"/>
              <a:t> – Numerical computations</a:t>
            </a:r>
          </a:p>
          <a:p>
            <a:pPr marL="571500" indent="-342900">
              <a:buFont typeface="Arial" panose="020B0604020202020204" pitchFamily="34" charset="0"/>
              <a:buChar char="•"/>
            </a:pPr>
            <a:r>
              <a:rPr lang="en-IN" sz="2000" b="1" dirty="0" err="1"/>
              <a:t>XGBoost</a:t>
            </a:r>
            <a:r>
              <a:rPr lang="en-IN" sz="2000" b="1" dirty="0"/>
              <a:t> / </a:t>
            </a:r>
            <a:r>
              <a:rPr lang="en-IN" sz="2000" b="1" dirty="0" err="1"/>
              <a:t>LightGBM</a:t>
            </a:r>
            <a:r>
              <a:rPr lang="en-IN" sz="2000" dirty="0"/>
              <a:t> – Advanced machine learning models</a:t>
            </a:r>
          </a:p>
          <a:p>
            <a:pPr marL="571500" indent="-342900">
              <a:buFont typeface="Arial" panose="020B0604020202020204" pitchFamily="34" charset="0"/>
              <a:buChar char="•"/>
            </a:pPr>
            <a:r>
              <a:rPr lang="en-IN" sz="2000" b="1" dirty="0"/>
              <a:t>Scikit-learn</a:t>
            </a:r>
            <a:r>
              <a:rPr lang="en-IN" sz="2000" dirty="0"/>
              <a:t> – Model evaluation and preprocessing</a:t>
            </a:r>
          </a:p>
          <a:p>
            <a:pPr marL="571500" indent="-342900">
              <a:buFont typeface="Arial" panose="020B0604020202020204" pitchFamily="34" charset="0"/>
              <a:buChar char="•"/>
            </a:pPr>
            <a:r>
              <a:rPr lang="en-IN" sz="2000" b="1" dirty="0"/>
              <a:t>SHAP</a:t>
            </a:r>
            <a:r>
              <a:rPr lang="en-IN" sz="2000" dirty="0"/>
              <a:t> – Explainable AI analysis</a:t>
            </a:r>
          </a:p>
          <a:p>
            <a:pPr marL="571500" indent="-342900">
              <a:buFont typeface="Arial" panose="020B0604020202020204" pitchFamily="34" charset="0"/>
              <a:buChar char="•"/>
            </a:pPr>
            <a:r>
              <a:rPr lang="en-IN" sz="2000" b="1" dirty="0" err="1"/>
              <a:t>Streamlit</a:t>
            </a:r>
            <a:r>
              <a:rPr lang="en-IN" sz="2000" dirty="0"/>
              <a:t> – Interactive dashboard for visualization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IN" sz="2200" b="1" dirty="0">
                <a:latin typeface="Times New Roman" panose="02020603050405020304" pitchFamily="18" charset="0"/>
                <a:cs typeface="Times New Roman" panose="02020603050405020304" pitchFamily="18" charset="0"/>
              </a:rPr>
              <a:t>Dataset &amp; Sources</a:t>
            </a:r>
          </a:p>
          <a:p>
            <a:pPr marL="0" lvl="0" indent="0" eaLnBrk="0" fontAlgn="base" hangingPunct="0">
              <a:spcBef>
                <a:spcPct val="0"/>
              </a:spcBef>
              <a:spcAft>
                <a:spcPct val="0"/>
              </a:spcAft>
              <a:buClrTx/>
              <a:buSzTx/>
            </a:pPr>
            <a:r>
              <a:rPr lang="en-IN" sz="2200" b="1" dirty="0">
                <a:latin typeface="Times New Roman" panose="02020603050405020304" pitchFamily="18" charset="0"/>
                <a:cs typeface="Times New Roman" panose="02020603050405020304" pitchFamily="18" charset="0"/>
              </a:rPr>
              <a:t>    </a:t>
            </a:r>
            <a:r>
              <a:rPr lang="en-US" sz="2000" dirty="0"/>
              <a:t>Public Supply Chain Datasets </a:t>
            </a:r>
          </a:p>
          <a:p>
            <a:pPr marL="0" lvl="0" indent="0" eaLnBrk="0" fontAlgn="base" hangingPunct="0">
              <a:spcBef>
                <a:spcPct val="0"/>
              </a:spcBef>
              <a:spcAft>
                <a:spcPct val="0"/>
              </a:spcAft>
              <a:buClrTx/>
              <a:buSzTx/>
            </a:pPr>
            <a:r>
              <a:rPr lang="en-US" sz="2000" dirty="0"/>
              <a:t>    </a:t>
            </a:r>
            <a:r>
              <a:rPr lang="en-IN" sz="2000" dirty="0"/>
              <a:t>ERP / Procurement System Data </a:t>
            </a:r>
            <a:endParaRPr lang="en-US" sz="2000" dirty="0"/>
          </a:p>
          <a:p>
            <a:pPr marL="0" lvl="0" indent="0" eaLnBrk="0" fontAlgn="base" hangingPunct="0">
              <a:spcBef>
                <a:spcPct val="0"/>
              </a:spcBef>
              <a:spcAft>
                <a:spcPct val="0"/>
              </a:spcAft>
              <a:buClrTx/>
              <a:buSzTx/>
            </a:pPr>
            <a:endParaRPr lang="en-US" sz="2000" dirty="0"/>
          </a:p>
          <a:p>
            <a:pPr marL="0" lvl="0" indent="0" eaLnBrk="0" fontAlgn="base" hangingPunct="0">
              <a:spcBef>
                <a:spcPct val="0"/>
              </a:spcBef>
              <a:spcAft>
                <a:spcPct val="0"/>
              </a:spcAft>
              <a:buClrTx/>
              <a:buSzTx/>
            </a:pPr>
            <a:endParaRPr lang="en-IN" sz="22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095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4CB842F8-CF57-BB8E-2D30-779E7CC81819}"/>
            </a:ext>
          </a:extLst>
        </p:cNvPr>
        <p:cNvGrpSpPr/>
        <p:nvPr/>
      </p:nvGrpSpPr>
      <p:grpSpPr>
        <a:xfrm>
          <a:off x="0" y="0"/>
          <a:ext cx="0" cy="0"/>
          <a:chOff x="0" y="0"/>
          <a:chExt cx="0" cy="0"/>
        </a:xfrm>
      </p:grpSpPr>
      <p:sp>
        <p:nvSpPr>
          <p:cNvPr id="57" name="Google Shape;57;g32a3e1ea9ea_0_31">
            <a:extLst>
              <a:ext uri="{FF2B5EF4-FFF2-40B4-BE49-F238E27FC236}">
                <a16:creationId xmlns:a16="http://schemas.microsoft.com/office/drawing/2014/main" id="{469B9810-BE56-3158-F824-181351FE1408}"/>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18</a:t>
            </a:fld>
            <a:endParaRPr/>
          </a:p>
        </p:txBody>
      </p:sp>
      <p:sp>
        <p:nvSpPr>
          <p:cNvPr id="3" name="Text Placeholder 2">
            <a:extLst>
              <a:ext uri="{FF2B5EF4-FFF2-40B4-BE49-F238E27FC236}">
                <a16:creationId xmlns:a16="http://schemas.microsoft.com/office/drawing/2014/main" id="{DFF455C6-22B8-0B19-0340-98F3CBA0265D}"/>
              </a:ext>
            </a:extLst>
          </p:cNvPr>
          <p:cNvSpPr>
            <a:spLocks noGrp="1"/>
          </p:cNvSpPr>
          <p:nvPr>
            <p:ph type="body" idx="1"/>
          </p:nvPr>
        </p:nvSpPr>
        <p:spPr>
          <a:xfrm>
            <a:off x="0" y="222480"/>
            <a:ext cx="8654143" cy="3479800"/>
          </a:xfrm>
        </p:spPr>
        <p:txBody>
          <a:bodyPr/>
          <a:lstStyle/>
          <a:p>
            <a:r>
              <a:rPr lang="en-US" sz="2000" b="1" dirty="0"/>
              <a:t>SDG 9 – Industry, Innovation, and Infrastructure</a:t>
            </a:r>
            <a:br>
              <a:rPr lang="en-US" sz="2000" dirty="0"/>
            </a:br>
            <a:r>
              <a:rPr lang="en-US" sz="2000" dirty="0"/>
              <a:t>The project promotes innovation by applying advanced AI and machine learning techniques to improve vendor evaluation and supply chain decision-making.</a:t>
            </a:r>
          </a:p>
          <a:p>
            <a:r>
              <a:rPr lang="en-US" sz="2000" b="1" dirty="0"/>
              <a:t>SDG 12 – Responsible Consumption and Production</a:t>
            </a:r>
            <a:br>
              <a:rPr lang="en-US" sz="2000" dirty="0"/>
            </a:br>
            <a:r>
              <a:rPr lang="en-US" sz="2000" dirty="0"/>
              <a:t>By identifying inefficient and high-risk vendors, the system helps reduce wastage, improve resource utilization, and support sustainable procurement practices.</a:t>
            </a:r>
          </a:p>
          <a:p>
            <a:endParaRPr lang="en-US" sz="2000" dirty="0"/>
          </a:p>
          <a:p>
            <a:endParaRPr lang="en-IN" sz="2000" dirty="0"/>
          </a:p>
        </p:txBody>
      </p:sp>
    </p:spTree>
    <p:extLst>
      <p:ext uri="{BB962C8B-B14F-4D97-AF65-F5344CB8AC3E}">
        <p14:creationId xmlns:p14="http://schemas.microsoft.com/office/powerpoint/2010/main" val="1324477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7895FBB1-2D2E-AC89-945B-C31C6F70003F}"/>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F84154A8-3FAA-4DBE-57E4-5C1D43338FAC}"/>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Base paper details</a:t>
            </a:r>
            <a:endParaRPr dirty="0"/>
          </a:p>
        </p:txBody>
      </p:sp>
      <p:sp>
        <p:nvSpPr>
          <p:cNvPr id="57" name="Google Shape;57;g32a3e1ea9ea_0_31">
            <a:extLst>
              <a:ext uri="{FF2B5EF4-FFF2-40B4-BE49-F238E27FC236}">
                <a16:creationId xmlns:a16="http://schemas.microsoft.com/office/drawing/2014/main" id="{CAEFC2F7-BC71-1763-F923-37C4FE049717}"/>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19</a:t>
            </a:fld>
            <a:endParaRPr/>
          </a:p>
        </p:txBody>
      </p:sp>
      <p:sp>
        <p:nvSpPr>
          <p:cNvPr id="3" name="Text Placeholder 2">
            <a:extLst>
              <a:ext uri="{FF2B5EF4-FFF2-40B4-BE49-F238E27FC236}">
                <a16:creationId xmlns:a16="http://schemas.microsoft.com/office/drawing/2014/main" id="{4032958B-B531-47A8-7140-27A45B91E6F0}"/>
              </a:ext>
            </a:extLst>
          </p:cNvPr>
          <p:cNvSpPr>
            <a:spLocks noGrp="1"/>
          </p:cNvSpPr>
          <p:nvPr>
            <p:ph type="body" idx="1"/>
          </p:nvPr>
        </p:nvSpPr>
        <p:spPr>
          <a:xfrm>
            <a:off x="122212" y="555585"/>
            <a:ext cx="8605099" cy="4106902"/>
          </a:xfrm>
        </p:spPr>
        <p:txBody>
          <a:bodyPr/>
          <a:lstStyle/>
          <a:p>
            <a:r>
              <a:rPr lang="en-US" sz="2000" b="1" dirty="0"/>
              <a:t>Title:</a:t>
            </a:r>
            <a:r>
              <a:rPr lang="en-US" sz="2000" dirty="0"/>
              <a:t> Explainable Machine Learning Models for Supplier Performance</a:t>
            </a:r>
          </a:p>
          <a:p>
            <a:r>
              <a:rPr lang="en-US" sz="2000" dirty="0"/>
              <a:t>Evaluation and Risk Management</a:t>
            </a:r>
          </a:p>
          <a:p>
            <a:r>
              <a:rPr lang="en-US" sz="2000" b="1" dirty="0"/>
              <a:t>Journal / Conference:</a:t>
            </a:r>
            <a:r>
              <a:rPr lang="en-US" sz="2000" dirty="0"/>
              <a:t> IEEE Access</a:t>
            </a:r>
          </a:p>
          <a:p>
            <a:r>
              <a:rPr lang="en-US" sz="2000" b="1" dirty="0"/>
              <a:t>Year:</a:t>
            </a:r>
            <a:r>
              <a:rPr lang="en-US" sz="2000" dirty="0"/>
              <a:t> 2025</a:t>
            </a:r>
          </a:p>
          <a:p>
            <a:r>
              <a:rPr lang="en-US" sz="2000" b="1" dirty="0"/>
              <a:t>Brief Description:</a:t>
            </a:r>
          </a:p>
          <a:p>
            <a:r>
              <a:rPr lang="en-US" sz="2000" dirty="0"/>
              <a:t>This IEEE Access paper presents an explainable machine learning framework</a:t>
            </a:r>
          </a:p>
          <a:p>
            <a:r>
              <a:rPr lang="en-US" sz="2000" dirty="0"/>
              <a:t>for evaluating supplier performance and identifying potential risks in</a:t>
            </a:r>
          </a:p>
          <a:p>
            <a:r>
              <a:rPr lang="en-US" sz="2000" dirty="0"/>
              <a:t>procurement systems. The study applies advanced ensemble learning models to</a:t>
            </a:r>
          </a:p>
          <a:p>
            <a:r>
              <a:rPr lang="en-US" sz="2000" dirty="0"/>
              <a:t>analyze vendor-related factors such as delivery reliability, cost efficiency, and</a:t>
            </a:r>
          </a:p>
          <a:p>
            <a:r>
              <a:rPr lang="en-US" sz="2000" dirty="0"/>
              <a:t>quality metrics. Explainable AI techniques are used to interpret model</a:t>
            </a:r>
          </a:p>
          <a:p>
            <a:r>
              <a:rPr lang="en-US" sz="2000" dirty="0"/>
              <a:t>predictions, helping decision-makers understand the reasons behind supplier</a:t>
            </a:r>
          </a:p>
          <a:p>
            <a:r>
              <a:rPr lang="en-US" sz="2000" dirty="0"/>
              <a:t>ratings. The results demonstrate improved transparency, accuracy, and decision</a:t>
            </a:r>
          </a:p>
          <a:p>
            <a:r>
              <a:rPr lang="en-US" sz="2000" dirty="0"/>
              <a:t>support compared to traditional vendor evaluation methods.</a:t>
            </a:r>
          </a:p>
          <a:p>
            <a:endParaRPr lang="en-IN" dirty="0"/>
          </a:p>
        </p:txBody>
      </p:sp>
    </p:spTree>
    <p:extLst>
      <p:ext uri="{BB962C8B-B14F-4D97-AF65-F5344CB8AC3E}">
        <p14:creationId xmlns:p14="http://schemas.microsoft.com/office/powerpoint/2010/main" val="3086384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9D685-3187-6ABF-CD09-9995E1F69887}"/>
              </a:ext>
            </a:extLst>
          </p:cNvPr>
          <p:cNvSpPr>
            <a:spLocks noGrp="1"/>
          </p:cNvSpPr>
          <p:nvPr>
            <p:ph type="ctrTitle"/>
          </p:nvPr>
        </p:nvSpPr>
        <p:spPr/>
        <p:txBody>
          <a:bodyPr>
            <a:normAutofit fontScale="90000"/>
          </a:bodyPr>
          <a:lstStyle/>
          <a:p>
            <a:pPr algn="l"/>
            <a:r>
              <a:rPr lang="en-US" dirty="0"/>
              <a:t>RESEARCH GAPS</a:t>
            </a:r>
            <a:endParaRPr lang="en-IN" dirty="0"/>
          </a:p>
        </p:txBody>
      </p:sp>
      <p:sp>
        <p:nvSpPr>
          <p:cNvPr id="3" name="Text Placeholder 2">
            <a:extLst>
              <a:ext uri="{FF2B5EF4-FFF2-40B4-BE49-F238E27FC236}">
                <a16:creationId xmlns:a16="http://schemas.microsoft.com/office/drawing/2014/main" id="{57A07720-9DBC-FF4F-3897-76D158561D00}"/>
              </a:ext>
            </a:extLst>
          </p:cNvPr>
          <p:cNvSpPr>
            <a:spLocks noGrp="1"/>
          </p:cNvSpPr>
          <p:nvPr>
            <p:ph type="body" idx="1"/>
          </p:nvPr>
        </p:nvSpPr>
        <p:spPr/>
        <p:txBody>
          <a:bodyPr/>
          <a:lstStyle/>
          <a:p>
            <a:r>
              <a:rPr lang="en-US" sz="2000" b="1" dirty="0"/>
              <a:t>1. Restricted Temporal Performance Analysis</a:t>
            </a:r>
            <a:br>
              <a:rPr lang="en-US" sz="2000" dirty="0"/>
            </a:br>
            <a:r>
              <a:rPr lang="en-US" sz="2000" dirty="0"/>
              <a:t>Vendor performance is mainly evaluated using static data, with limited emphasis on long-term trends or performance changes over time.</a:t>
            </a:r>
          </a:p>
          <a:p>
            <a:r>
              <a:rPr lang="en-US" sz="2000" b="1" dirty="0"/>
              <a:t>2. Absence of Advanced Risk Prediction</a:t>
            </a:r>
            <a:br>
              <a:rPr lang="en-US" sz="2000" dirty="0"/>
            </a:br>
            <a:r>
              <a:rPr lang="en-US" sz="2000" dirty="0"/>
              <a:t>While explainable models are used, proactive risk prediction for identifying future vendor failures is not deeply explored.</a:t>
            </a:r>
          </a:p>
          <a:p>
            <a:r>
              <a:rPr lang="en-US" sz="2000" b="1" dirty="0"/>
              <a:t>3. Limited Scalability Discussion</a:t>
            </a:r>
            <a:br>
              <a:rPr lang="en-US" sz="2000" dirty="0"/>
            </a:br>
            <a:r>
              <a:rPr lang="en-US" sz="2000" dirty="0"/>
              <a:t>The paper does not clearly address scalability when applied to large vendor datasets across multiple organizations or industries.</a:t>
            </a:r>
          </a:p>
          <a:p>
            <a:endParaRPr lang="en-IN" sz="2000" dirty="0"/>
          </a:p>
        </p:txBody>
      </p:sp>
      <p:sp>
        <p:nvSpPr>
          <p:cNvPr id="4" name="Slide Number Placeholder 3">
            <a:extLst>
              <a:ext uri="{FF2B5EF4-FFF2-40B4-BE49-F238E27FC236}">
                <a16:creationId xmlns:a16="http://schemas.microsoft.com/office/drawing/2014/main" id="{F1612444-16C4-7A84-273D-D4909B6960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3589627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2955BED4-FCFF-3040-F95F-481DA81266B6}"/>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F5C062D3-60C1-77BC-C24F-E8DDBDD6386A}"/>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References</a:t>
            </a:r>
            <a:endParaRPr dirty="0"/>
          </a:p>
        </p:txBody>
      </p:sp>
      <p:sp>
        <p:nvSpPr>
          <p:cNvPr id="57" name="Google Shape;57;g32a3e1ea9ea_0_31">
            <a:extLst>
              <a:ext uri="{FF2B5EF4-FFF2-40B4-BE49-F238E27FC236}">
                <a16:creationId xmlns:a16="http://schemas.microsoft.com/office/drawing/2014/main" id="{BEA221FF-BABE-58CD-0EC0-343D17C7DC14}"/>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21</a:t>
            </a:fld>
            <a:endParaRPr/>
          </a:p>
        </p:txBody>
      </p:sp>
      <p:sp>
        <p:nvSpPr>
          <p:cNvPr id="4" name="Rectangle 2">
            <a:extLst>
              <a:ext uri="{FF2B5EF4-FFF2-40B4-BE49-F238E27FC236}">
                <a16:creationId xmlns:a16="http://schemas.microsoft.com/office/drawing/2014/main" id="{8C1E4FC3-9D3A-4FEC-BA09-087ADCEB51EA}"/>
              </a:ext>
            </a:extLst>
          </p:cNvPr>
          <p:cNvSpPr>
            <a:spLocks noGrp="1" noChangeArrowheads="1"/>
          </p:cNvSpPr>
          <p:nvPr>
            <p:ph type="body" idx="1"/>
          </p:nvPr>
        </p:nvSpPr>
        <p:spPr bwMode="auto">
          <a:xfrm>
            <a:off x="0" y="402978"/>
            <a:ext cx="91440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886200" lvl="8" indent="0"/>
            <a:endParaRPr lang="en-IN" sz="1200" dirty="0"/>
          </a:p>
          <a:p>
            <a:r>
              <a:rPr lang="en-IN" sz="2000" dirty="0"/>
              <a:t>1.T. Chen and C. </a:t>
            </a:r>
            <a:r>
              <a:rPr lang="en-IN" sz="2000" dirty="0" err="1"/>
              <a:t>Guestrin</a:t>
            </a:r>
            <a:r>
              <a:rPr lang="en-IN" sz="2000" dirty="0"/>
              <a:t>, “</a:t>
            </a:r>
            <a:r>
              <a:rPr lang="en-IN" sz="2000" dirty="0" err="1"/>
              <a:t>XGBoost</a:t>
            </a:r>
            <a:r>
              <a:rPr lang="en-IN" sz="2000" dirty="0"/>
              <a:t>: A Scalable Tree Boosting System,” in </a:t>
            </a:r>
            <a:r>
              <a:rPr lang="en-IN" sz="2000" i="1" dirty="0"/>
              <a:t>Proc. 22nd ACM SIGKDD Int. Conf. Knowledge Discovery and Data Mining</a:t>
            </a:r>
            <a:r>
              <a:rPr lang="en-IN" sz="2000" dirty="0"/>
              <a:t>, San Francisco, CA, USA, 2016, pp. 785–794.</a:t>
            </a:r>
          </a:p>
          <a:p>
            <a:r>
              <a:rPr lang="en-IN" sz="2000" dirty="0"/>
              <a:t>2. S. M. Lundberg and S.-I. Lee, “A Unified Approach to Interpreting Model Predictions,” in </a:t>
            </a:r>
            <a:r>
              <a:rPr lang="en-IN" sz="2000" i="1" dirty="0"/>
              <a:t>Proc. Advances in Neural Information Processing Systems (</a:t>
            </a:r>
            <a:r>
              <a:rPr lang="en-IN" sz="2000" i="1" dirty="0" err="1"/>
              <a:t>NeurIPS</a:t>
            </a:r>
            <a:r>
              <a:rPr lang="en-IN" sz="2000" i="1" dirty="0"/>
              <a:t>)</a:t>
            </a:r>
            <a:r>
              <a:rPr lang="en-IN" sz="2000" dirty="0"/>
              <a:t>, Long Beach, CA, USA, 2017, pp. 4765–4774.</a:t>
            </a:r>
          </a:p>
          <a:p>
            <a:r>
              <a:rPr lang="en-IN" sz="2000" dirty="0"/>
              <a:t>3. M. V. B. </a:t>
            </a:r>
            <a:r>
              <a:rPr lang="en-IN" sz="2000" dirty="0" err="1"/>
              <a:t>Garfamy</a:t>
            </a:r>
            <a:r>
              <a:rPr lang="en-IN" sz="2000" dirty="0"/>
              <a:t>, A. K. </a:t>
            </a:r>
            <a:r>
              <a:rPr lang="en-IN" sz="2000" dirty="0" err="1"/>
              <a:t>Sangaiah</a:t>
            </a:r>
            <a:r>
              <a:rPr lang="en-IN" sz="2000" dirty="0"/>
              <a:t>, and X. Li, “Explainable Machine Learning for Supplier Performance and Risk Assessment,” </a:t>
            </a:r>
            <a:r>
              <a:rPr lang="en-IN" sz="2000" i="1" dirty="0"/>
              <a:t>IEEE Access</a:t>
            </a:r>
            <a:r>
              <a:rPr lang="en-IN" sz="2000" dirty="0"/>
              <a:t>, vol. 13, pp. 11245–11258, 2025.</a:t>
            </a:r>
          </a:p>
          <a:p>
            <a:r>
              <a:rPr lang="en-IN" sz="2000" dirty="0"/>
              <a:t>4. R. K. Chae, C. E. Olson, and K. Sheu, “The Impact of Supply Chain Analytics on Operational Performance,” </a:t>
            </a:r>
            <a:r>
              <a:rPr lang="en-IN" sz="2000" i="1" dirty="0"/>
              <a:t>IEEE Trans. Eng. Manag.</a:t>
            </a:r>
            <a:r>
              <a:rPr lang="en-IN" sz="2000" dirty="0"/>
              <a:t>, vol. 68, no. 2, pp. 410–423, 2021</a:t>
            </a:r>
          </a:p>
        </p:txBody>
      </p:sp>
    </p:spTree>
    <p:extLst>
      <p:ext uri="{BB962C8B-B14F-4D97-AF65-F5344CB8AC3E}">
        <p14:creationId xmlns:p14="http://schemas.microsoft.com/office/powerpoint/2010/main" val="1882727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
          <a:extLst>
            <a:ext uri="{FF2B5EF4-FFF2-40B4-BE49-F238E27FC236}">
              <a16:creationId xmlns:a16="http://schemas.microsoft.com/office/drawing/2014/main" id="{42BF23F1-29F2-6A4D-DB38-C2314B61202E}"/>
            </a:ext>
          </a:extLst>
        </p:cNvPr>
        <p:cNvGrpSpPr/>
        <p:nvPr/>
      </p:nvGrpSpPr>
      <p:grpSpPr>
        <a:xfrm>
          <a:off x="0" y="0"/>
          <a:ext cx="0" cy="0"/>
          <a:chOff x="0" y="0"/>
          <a:chExt cx="0" cy="0"/>
        </a:xfrm>
      </p:grpSpPr>
      <p:sp>
        <p:nvSpPr>
          <p:cNvPr id="37" name="Google Shape;37;p2">
            <a:extLst>
              <a:ext uri="{FF2B5EF4-FFF2-40B4-BE49-F238E27FC236}">
                <a16:creationId xmlns:a16="http://schemas.microsoft.com/office/drawing/2014/main" id="{BF1EAE7F-F72B-8558-47B2-570378EF3F3D}"/>
              </a:ext>
            </a:extLst>
          </p:cNvPr>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lvl="0"/>
            <a:r>
              <a:rPr lang="en-US" sz="3200" dirty="0">
                <a:solidFill>
                  <a:srgbClr val="FF0000"/>
                </a:solidFill>
              </a:rPr>
              <a:t>Early Detection of Diabetic Retinopathy</a:t>
            </a:r>
            <a:endParaRPr b="1" dirty="0">
              <a:solidFill>
                <a:srgbClr val="FF0000"/>
              </a:solidFill>
            </a:endParaRPr>
          </a:p>
        </p:txBody>
      </p:sp>
      <p:sp>
        <p:nvSpPr>
          <p:cNvPr id="38" name="Google Shape;38;p2">
            <a:extLst>
              <a:ext uri="{FF2B5EF4-FFF2-40B4-BE49-F238E27FC236}">
                <a16:creationId xmlns:a16="http://schemas.microsoft.com/office/drawing/2014/main" id="{C79414EA-B97D-D58B-C18F-939923F000F5}"/>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22</a:t>
            </a:fld>
            <a:endParaRPr/>
          </a:p>
        </p:txBody>
      </p:sp>
    </p:spTree>
    <p:extLst>
      <p:ext uri="{BB962C8B-B14F-4D97-AF65-F5344CB8AC3E}">
        <p14:creationId xmlns:p14="http://schemas.microsoft.com/office/powerpoint/2010/main" val="3757773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0B2520EC-1DC0-B80F-01AD-CDD58F8EED1D}"/>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2E5C8B8E-A15C-1A42-321E-132CF73E5701}"/>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5200"/>
              <a:buNone/>
            </a:pPr>
            <a:r>
              <a:rPr lang="en-US" sz="2900" dirty="0"/>
              <a:t>Introduction to the project work</a:t>
            </a:r>
            <a:endParaRPr dirty="0"/>
          </a:p>
        </p:txBody>
      </p:sp>
      <p:sp>
        <p:nvSpPr>
          <p:cNvPr id="57" name="Google Shape;57;g32a3e1ea9ea_0_31">
            <a:extLst>
              <a:ext uri="{FF2B5EF4-FFF2-40B4-BE49-F238E27FC236}">
                <a16:creationId xmlns:a16="http://schemas.microsoft.com/office/drawing/2014/main" id="{F5F99F41-6DBB-C0D6-7E45-BEE3BCDAE608}"/>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23</a:t>
            </a:fld>
            <a:endParaRPr/>
          </a:p>
        </p:txBody>
      </p:sp>
      <p:sp>
        <p:nvSpPr>
          <p:cNvPr id="3" name="Text Placeholder 2">
            <a:extLst>
              <a:ext uri="{FF2B5EF4-FFF2-40B4-BE49-F238E27FC236}">
                <a16:creationId xmlns:a16="http://schemas.microsoft.com/office/drawing/2014/main" id="{0DA0E367-9A5D-A95E-CFEF-4AB4CC1C66B6}"/>
              </a:ext>
            </a:extLst>
          </p:cNvPr>
          <p:cNvSpPr>
            <a:spLocks noGrp="1"/>
          </p:cNvSpPr>
          <p:nvPr>
            <p:ph type="body" idx="1"/>
          </p:nvPr>
        </p:nvSpPr>
        <p:spPr>
          <a:xfrm>
            <a:off x="-84150" y="826217"/>
            <a:ext cx="9312300" cy="3491065"/>
          </a:xfrm>
        </p:spPr>
        <p:txBody>
          <a:bodyPr/>
          <a:lstStyle/>
          <a:p>
            <a:pPr algn="just"/>
            <a:r>
              <a:rPr lang="en-US" sz="2000" dirty="0"/>
              <a:t>Diabetic Retinopathy is a common complication of diabetes and one of the leading</a:t>
            </a:r>
          </a:p>
          <a:p>
            <a:pPr algn="just"/>
            <a:r>
              <a:rPr lang="en-US" sz="2000" dirty="0"/>
              <a:t>causes of vision loss if not detected at an early stage. With the increasing number of</a:t>
            </a:r>
          </a:p>
          <a:p>
            <a:pPr algn="just"/>
            <a:r>
              <a:rPr lang="en-US" sz="2000" dirty="0"/>
              <a:t>diabetic patients, there is a need for an automated and reliable detection system.</a:t>
            </a:r>
          </a:p>
          <a:p>
            <a:pPr algn="just"/>
            <a:r>
              <a:rPr lang="en-US" sz="2000" dirty="0"/>
              <a:t>This project presents a Data Science–based approach using Convolutional Neural</a:t>
            </a:r>
          </a:p>
          <a:p>
            <a:pPr algn="just"/>
            <a:r>
              <a:rPr lang="en-US" sz="2000" dirty="0"/>
              <a:t>Networks (CNN) to automatically detect Diabetic Retinopathy from fundus images.</a:t>
            </a:r>
          </a:p>
          <a:p>
            <a:pPr algn="just"/>
            <a:r>
              <a:rPr lang="en-US" sz="2000" dirty="0"/>
              <a:t>The system processes retinal images, learns important visual features, and classifies</a:t>
            </a:r>
          </a:p>
          <a:p>
            <a:pPr algn="just"/>
            <a:r>
              <a:rPr lang="en-US" sz="2000" dirty="0"/>
              <a:t>them into normal or diseased categories. By combining data preprocessing, exploratory</a:t>
            </a:r>
          </a:p>
          <a:p>
            <a:pPr algn="just"/>
            <a:r>
              <a:rPr lang="en-US" sz="2000" dirty="0"/>
              <a:t>analysis, deep learning, and model evaluation, the project supports early diagnosis and</a:t>
            </a:r>
          </a:p>
          <a:p>
            <a:pPr algn="just"/>
            <a:r>
              <a:rPr lang="en-US" sz="2000" dirty="0"/>
              <a:t>assists medical professionals in making faster and more accurate decisions.</a:t>
            </a:r>
          </a:p>
        </p:txBody>
      </p:sp>
    </p:spTree>
    <p:extLst>
      <p:ext uri="{BB962C8B-B14F-4D97-AF65-F5344CB8AC3E}">
        <p14:creationId xmlns:p14="http://schemas.microsoft.com/office/powerpoint/2010/main" val="2654160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1DF9300B-3143-5957-E164-989F5822FFE0}"/>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36F24156-32B6-85C6-42CD-AF04D3792EF8}"/>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Significance or importance or novelty</a:t>
            </a:r>
            <a:endParaRPr dirty="0"/>
          </a:p>
        </p:txBody>
      </p:sp>
      <p:sp>
        <p:nvSpPr>
          <p:cNvPr id="57" name="Google Shape;57;g32a3e1ea9ea_0_31">
            <a:extLst>
              <a:ext uri="{FF2B5EF4-FFF2-40B4-BE49-F238E27FC236}">
                <a16:creationId xmlns:a16="http://schemas.microsoft.com/office/drawing/2014/main" id="{289BDEB0-249E-D6BF-5A27-38951EFEAE18}"/>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24</a:t>
            </a:fld>
            <a:endParaRPr/>
          </a:p>
        </p:txBody>
      </p:sp>
      <p:sp>
        <p:nvSpPr>
          <p:cNvPr id="3" name="Text Placeholder 2">
            <a:extLst>
              <a:ext uri="{FF2B5EF4-FFF2-40B4-BE49-F238E27FC236}">
                <a16:creationId xmlns:a16="http://schemas.microsoft.com/office/drawing/2014/main" id="{68A16A49-8911-FFEE-0A79-39307F4D3A0C}"/>
              </a:ext>
            </a:extLst>
          </p:cNvPr>
          <p:cNvSpPr>
            <a:spLocks noGrp="1" noChangeArrowheads="1"/>
          </p:cNvSpPr>
          <p:nvPr>
            <p:ph type="body" idx="1"/>
          </p:nvPr>
        </p:nvSpPr>
        <p:spPr bwMode="auto">
          <a:xfrm>
            <a:off x="-214276" y="795911"/>
            <a:ext cx="888274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342900">
              <a:buFont typeface="Arial" panose="020B0604020202020204" pitchFamily="34" charset="0"/>
              <a:buChar char="•"/>
            </a:pPr>
            <a:r>
              <a:rPr lang="en-US" sz="2000" dirty="0"/>
              <a:t>Enables early detection of Diabetic Retinopathy, helping prevent vision loss</a:t>
            </a:r>
          </a:p>
          <a:p>
            <a:pPr marL="571500" indent="-342900">
              <a:buFont typeface="Arial" panose="020B0604020202020204" pitchFamily="34" charset="0"/>
              <a:buChar char="•"/>
            </a:pPr>
            <a:r>
              <a:rPr lang="en-US" sz="2000" dirty="0"/>
              <a:t>Reduces dependence on manual screening by specialists</a:t>
            </a:r>
          </a:p>
          <a:p>
            <a:pPr marL="571500" indent="-342900">
              <a:buFont typeface="Arial" panose="020B0604020202020204" pitchFamily="34" charset="0"/>
              <a:buChar char="•"/>
            </a:pPr>
            <a:r>
              <a:rPr lang="en-US" sz="2000" dirty="0"/>
              <a:t>Supports faster and more accurate diagnosis using automated analysis</a:t>
            </a:r>
          </a:p>
          <a:p>
            <a:pPr marL="571500" indent="-342900">
              <a:buFont typeface="Arial" panose="020B0604020202020204" pitchFamily="34" charset="0"/>
              <a:buChar char="•"/>
            </a:pPr>
            <a:r>
              <a:rPr lang="en-US" sz="2000" dirty="0"/>
              <a:t>Handles large volumes of retinal images efficiently</a:t>
            </a:r>
          </a:p>
          <a:p>
            <a:pPr marL="571500" indent="-342900">
              <a:buFont typeface="Arial" panose="020B0604020202020204" pitchFamily="34" charset="0"/>
              <a:buChar char="•"/>
            </a:pPr>
            <a:r>
              <a:rPr lang="en-US" sz="2000" dirty="0"/>
              <a:t>Improves access to eye screening in remote or resource-limited areas</a:t>
            </a:r>
          </a:p>
          <a:p>
            <a:pPr marL="571500" indent="-342900">
              <a:buFont typeface="Arial" panose="020B0604020202020204" pitchFamily="34" charset="0"/>
              <a:buChar char="•"/>
            </a:pPr>
            <a:r>
              <a:rPr lang="en-US" sz="2000" dirty="0"/>
              <a:t>Demonstrates effective use of Data Science and Deep Learning in healthcare</a:t>
            </a:r>
          </a:p>
          <a:p>
            <a:pPr marL="571500" indent="-342900">
              <a:buFont typeface="Arial" panose="020B0604020202020204" pitchFamily="34" charset="0"/>
              <a:buChar char="•"/>
            </a:pPr>
            <a:r>
              <a:rPr lang="en-US" sz="2000" dirty="0"/>
              <a:t>Assists doctors in decision-making, not replacing them</a:t>
            </a:r>
          </a:p>
        </p:txBody>
      </p:sp>
    </p:spTree>
    <p:extLst>
      <p:ext uri="{BB962C8B-B14F-4D97-AF65-F5344CB8AC3E}">
        <p14:creationId xmlns:p14="http://schemas.microsoft.com/office/powerpoint/2010/main" val="2564766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0D1792E2-68CB-8259-537E-59A4D5E31C47}"/>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8F702F89-406A-7DDD-2900-DE1B9542C321}"/>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Frame work and Techniques</a:t>
            </a:r>
            <a:endParaRPr dirty="0"/>
          </a:p>
        </p:txBody>
      </p:sp>
      <p:sp>
        <p:nvSpPr>
          <p:cNvPr id="57" name="Google Shape;57;g32a3e1ea9ea_0_31">
            <a:extLst>
              <a:ext uri="{FF2B5EF4-FFF2-40B4-BE49-F238E27FC236}">
                <a16:creationId xmlns:a16="http://schemas.microsoft.com/office/drawing/2014/main" id="{484728CD-B238-1651-409D-074D10A71C00}"/>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25</a:t>
            </a:fld>
            <a:endParaRPr/>
          </a:p>
        </p:txBody>
      </p:sp>
      <p:sp>
        <p:nvSpPr>
          <p:cNvPr id="6" name="Text Placeholder 5">
            <a:extLst>
              <a:ext uri="{FF2B5EF4-FFF2-40B4-BE49-F238E27FC236}">
                <a16:creationId xmlns:a16="http://schemas.microsoft.com/office/drawing/2014/main" id="{36D286DE-1ED3-398C-52F6-E98F57385B99}"/>
              </a:ext>
            </a:extLst>
          </p:cNvPr>
          <p:cNvSpPr>
            <a:spLocks noGrp="1"/>
          </p:cNvSpPr>
          <p:nvPr>
            <p:ph type="body" idx="1"/>
          </p:nvPr>
        </p:nvSpPr>
        <p:spPr>
          <a:xfrm>
            <a:off x="148736" y="649200"/>
            <a:ext cx="8846528" cy="3479800"/>
          </a:xfrm>
        </p:spPr>
        <p:txBody>
          <a:bodyPr/>
          <a:lstStyle/>
          <a:p>
            <a:pPr marL="0" lvl="0" indent="0" eaLnBrk="0" fontAlgn="base" hangingPunct="0">
              <a:spcBef>
                <a:spcPct val="0"/>
              </a:spcBef>
              <a:spcAft>
                <a:spcPct val="0"/>
              </a:spcAft>
              <a:buClrTx/>
              <a:buSzTx/>
              <a:buFontTx/>
              <a:buChar char="•"/>
            </a:pPr>
            <a:r>
              <a:rPr lang="en-US" altLang="en-US" sz="2200" b="1" dirty="0">
                <a:solidFill>
                  <a:schemeClr val="tx1"/>
                </a:solidFill>
                <a:latin typeface="Times New Roman" panose="02020603050405020304" pitchFamily="18" charset="0"/>
                <a:cs typeface="Times New Roman" panose="02020603050405020304" pitchFamily="18" charset="0"/>
              </a:rPr>
              <a:t>FRAMEWORK:</a:t>
            </a:r>
          </a:p>
          <a:p>
            <a:endParaRPr lang="en-IN" dirty="0"/>
          </a:p>
        </p:txBody>
      </p:sp>
      <p:sp>
        <p:nvSpPr>
          <p:cNvPr id="2" name="Rectangle 1">
            <a:extLst>
              <a:ext uri="{FF2B5EF4-FFF2-40B4-BE49-F238E27FC236}">
                <a16:creationId xmlns:a16="http://schemas.microsoft.com/office/drawing/2014/main" id="{ABBFE406-7602-2679-F377-BAB1E0AE1BA5}"/>
              </a:ext>
            </a:extLst>
          </p:cNvPr>
          <p:cNvSpPr>
            <a:spLocks noChangeArrowheads="1"/>
          </p:cNvSpPr>
          <p:nvPr/>
        </p:nvSpPr>
        <p:spPr bwMode="auto">
          <a:xfrm>
            <a:off x="148736" y="1025590"/>
            <a:ext cx="884652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TensorFlow</a:t>
            </a:r>
            <a:r>
              <a:rPr lang="en-IN" sz="2000" dirty="0">
                <a:latin typeface="Times New Roman" panose="02020603050405020304" pitchFamily="18" charset="0"/>
                <a:cs typeface="Times New Roman" panose="02020603050405020304" pitchFamily="18" charset="0"/>
              </a:rPr>
              <a:t> – Used to build and train the Convolutional Neural Network model</a:t>
            </a:r>
          </a:p>
          <a:p>
            <a:r>
              <a:rPr lang="en-IN" sz="2000" b="1" dirty="0" err="1">
                <a:latin typeface="Times New Roman" panose="02020603050405020304" pitchFamily="18" charset="0"/>
                <a:cs typeface="Times New Roman" panose="02020603050405020304" pitchFamily="18" charset="0"/>
              </a:rPr>
              <a:t>Keras</a:t>
            </a:r>
            <a:r>
              <a:rPr lang="en-IN" sz="2000" dirty="0">
                <a:latin typeface="Times New Roman" panose="02020603050405020304" pitchFamily="18" charset="0"/>
                <a:cs typeface="Times New Roman" panose="02020603050405020304" pitchFamily="18" charset="0"/>
              </a:rPr>
              <a:t> – High-level framework for designing and training CNN architectures</a:t>
            </a:r>
          </a:p>
          <a:p>
            <a:r>
              <a:rPr lang="en-IN" sz="2000" b="1" dirty="0">
                <a:latin typeface="Times New Roman" panose="02020603050405020304" pitchFamily="18" charset="0"/>
                <a:cs typeface="Times New Roman" panose="02020603050405020304" pitchFamily="18" charset="0"/>
              </a:rPr>
              <a:t>Scikit-learn</a:t>
            </a:r>
            <a:r>
              <a:rPr lang="en-IN" sz="2000" dirty="0">
                <a:latin typeface="Times New Roman" panose="02020603050405020304" pitchFamily="18" charset="0"/>
                <a:cs typeface="Times New Roman" panose="02020603050405020304" pitchFamily="18" charset="0"/>
              </a:rPr>
              <a:t> – Used for dataset splitting and model performance evaluation</a:t>
            </a:r>
          </a:p>
          <a:p>
            <a:r>
              <a:rPr lang="en-IN" sz="2000" b="1" dirty="0">
                <a:latin typeface="Times New Roman" panose="02020603050405020304" pitchFamily="18" charset="0"/>
                <a:cs typeface="Times New Roman" panose="02020603050405020304" pitchFamily="18" charset="0"/>
              </a:rPr>
              <a:t>OpenCV</a:t>
            </a:r>
            <a:r>
              <a:rPr lang="en-IN" sz="2000" dirty="0">
                <a:latin typeface="Times New Roman" panose="02020603050405020304" pitchFamily="18" charset="0"/>
                <a:cs typeface="Times New Roman" panose="02020603050405020304" pitchFamily="18" charset="0"/>
              </a:rPr>
              <a:t> – Used for image preprocessing such as resizing and enhancement</a:t>
            </a:r>
          </a:p>
          <a:p>
            <a:r>
              <a:rPr lang="en-IN" sz="2000" b="1" dirty="0">
                <a:latin typeface="Times New Roman" panose="02020603050405020304" pitchFamily="18" charset="0"/>
                <a:cs typeface="Times New Roman" panose="02020603050405020304" pitchFamily="18" charset="0"/>
              </a:rPr>
              <a:t>Pandas</a:t>
            </a:r>
            <a:r>
              <a:rPr lang="en-IN" sz="2000" dirty="0">
                <a:latin typeface="Times New Roman" panose="02020603050405020304" pitchFamily="18" charset="0"/>
                <a:cs typeface="Times New Roman" panose="02020603050405020304" pitchFamily="18" charset="0"/>
              </a:rPr>
              <a:t> – Used for handling dataset labels and metadata</a:t>
            </a:r>
          </a:p>
          <a:p>
            <a:r>
              <a:rPr lang="en-IN" sz="2000" b="1" dirty="0">
                <a:latin typeface="Times New Roman" panose="02020603050405020304" pitchFamily="18" charset="0"/>
                <a:cs typeface="Times New Roman" panose="02020603050405020304" pitchFamily="18" charset="0"/>
              </a:rPr>
              <a:t>NumPy</a:t>
            </a:r>
            <a:r>
              <a:rPr lang="en-IN" sz="2000" dirty="0">
                <a:latin typeface="Times New Roman" panose="02020603050405020304" pitchFamily="18" charset="0"/>
                <a:cs typeface="Times New Roman" panose="02020603050405020304" pitchFamily="18" charset="0"/>
              </a:rPr>
              <a:t> – Used for numerical operations and array handling</a:t>
            </a:r>
          </a:p>
          <a:p>
            <a:r>
              <a:rPr lang="en-IN" sz="2000" b="1" dirty="0">
                <a:latin typeface="Times New Roman" panose="02020603050405020304" pitchFamily="18" charset="0"/>
                <a:cs typeface="Times New Roman" panose="02020603050405020304" pitchFamily="18" charset="0"/>
              </a:rPr>
              <a:t>Matplotlib / Seaborn</a:t>
            </a:r>
            <a:r>
              <a:rPr lang="en-IN" sz="2000" dirty="0">
                <a:latin typeface="Times New Roman" panose="02020603050405020304" pitchFamily="18" charset="0"/>
                <a:cs typeface="Times New Roman" panose="02020603050405020304" pitchFamily="18" charset="0"/>
              </a:rPr>
              <a:t> – Used for visualization of results and analysis</a:t>
            </a:r>
          </a:p>
        </p:txBody>
      </p:sp>
    </p:spTree>
    <p:extLst>
      <p:ext uri="{BB962C8B-B14F-4D97-AF65-F5344CB8AC3E}">
        <p14:creationId xmlns:p14="http://schemas.microsoft.com/office/powerpoint/2010/main" val="2884846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7F793-407C-EF57-4DF5-C9037663CD8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09CA59F-1216-296E-F6C8-22A815276959}"/>
              </a:ext>
            </a:extLst>
          </p:cNvPr>
          <p:cNvSpPr>
            <a:spLocks noGrp="1"/>
          </p:cNvSpPr>
          <p:nvPr>
            <p:ph type="body" idx="1"/>
          </p:nvPr>
        </p:nvSpPr>
        <p:spPr>
          <a:xfrm>
            <a:off x="-64611" y="156065"/>
            <a:ext cx="9273222" cy="4506422"/>
          </a:xfrm>
        </p:spPr>
        <p:txBody>
          <a:bodyPr/>
          <a:lstStyle/>
          <a:p>
            <a:r>
              <a:rPr lang="en-US" sz="2900" b="1" dirty="0"/>
              <a:t>Techniques Used</a:t>
            </a:r>
            <a:r>
              <a:rPr lang="en-US" sz="2200" b="1" dirty="0"/>
              <a:t>:</a:t>
            </a:r>
          </a:p>
          <a:p>
            <a:endParaRPr lang="en-US" sz="2200" dirty="0"/>
          </a:p>
          <a:p>
            <a:endParaRPr lang="en-IN" dirty="0"/>
          </a:p>
        </p:txBody>
      </p:sp>
      <p:sp>
        <p:nvSpPr>
          <p:cNvPr id="4" name="Slide Number Placeholder 3">
            <a:extLst>
              <a:ext uri="{FF2B5EF4-FFF2-40B4-BE49-F238E27FC236}">
                <a16:creationId xmlns:a16="http://schemas.microsoft.com/office/drawing/2014/main" id="{70E32B2F-5B72-2258-5D39-BEE344369F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5" name="Rectangle 2">
            <a:extLst>
              <a:ext uri="{FF2B5EF4-FFF2-40B4-BE49-F238E27FC236}">
                <a16:creationId xmlns:a16="http://schemas.microsoft.com/office/drawing/2014/main" id="{F01D7F15-1292-1662-DD85-D743D3754060}"/>
              </a:ext>
            </a:extLst>
          </p:cNvPr>
          <p:cNvSpPr>
            <a:spLocks noChangeArrowheads="1"/>
          </p:cNvSpPr>
          <p:nvPr/>
        </p:nvSpPr>
        <p:spPr bwMode="auto">
          <a:xfrm>
            <a:off x="95091" y="740940"/>
            <a:ext cx="880506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Preprocessing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Resizing, normalization, and noise removal of fundus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Augmentation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Rotation, flipping, and zooming to handle class imbalance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Convolutional Neural Networks (CNN)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Automatic feature extraction and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Supervised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Training the model using labeled retinal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Data Analysis (EDA)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Analyzing image distribution and class 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Evaluation Metrics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Accuracy, Precision, Recall, and F1-scor</a:t>
            </a:r>
          </a:p>
        </p:txBody>
      </p:sp>
    </p:spTree>
    <p:extLst>
      <p:ext uri="{BB962C8B-B14F-4D97-AF65-F5344CB8AC3E}">
        <p14:creationId xmlns:p14="http://schemas.microsoft.com/office/powerpoint/2010/main" val="3513230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578A1A63-0561-A308-CC62-845E7710696A}"/>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1B310181-F8CA-D211-6AF1-50FE1D1484E8}"/>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Tools and Data sets (include SDG category)</a:t>
            </a:r>
            <a:endParaRPr dirty="0"/>
          </a:p>
        </p:txBody>
      </p:sp>
      <p:sp>
        <p:nvSpPr>
          <p:cNvPr id="57" name="Google Shape;57;g32a3e1ea9ea_0_31">
            <a:extLst>
              <a:ext uri="{FF2B5EF4-FFF2-40B4-BE49-F238E27FC236}">
                <a16:creationId xmlns:a16="http://schemas.microsoft.com/office/drawing/2014/main" id="{0A43F7CE-5289-46F4-C162-2919BB98AD97}"/>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27</a:t>
            </a:fld>
            <a:endParaRPr/>
          </a:p>
        </p:txBody>
      </p:sp>
      <p:sp>
        <p:nvSpPr>
          <p:cNvPr id="58" name="Google Shape;58;g32a3e1ea9ea_0_31">
            <a:extLst>
              <a:ext uri="{FF2B5EF4-FFF2-40B4-BE49-F238E27FC236}">
                <a16:creationId xmlns:a16="http://schemas.microsoft.com/office/drawing/2014/main" id="{E50E089E-A720-0E3A-74B4-A3E1B2F22A01}"/>
              </a:ext>
            </a:extLst>
          </p:cNvPr>
          <p:cNvSpPr txBox="1">
            <a:spLocks noGrp="1"/>
          </p:cNvSpPr>
          <p:nvPr>
            <p:ph type="body" idx="1"/>
          </p:nvPr>
        </p:nvSpPr>
        <p:spPr>
          <a:xfrm>
            <a:off x="190500" y="649200"/>
            <a:ext cx="8763000" cy="3479700"/>
          </a:xfrm>
          <a:prstGeom prst="rect">
            <a:avLst/>
          </a:prstGeom>
          <a:noFill/>
          <a:ln>
            <a:noFill/>
          </a:ln>
        </p:spPr>
        <p:txBody>
          <a:bodyPr spcFirstLastPara="1" wrap="square" lIns="91425" tIns="91425" rIns="91425" bIns="91425" anchor="t" anchorCtr="0">
            <a:normAutofit fontScale="92500" lnSpcReduction="20000"/>
          </a:bodyPr>
          <a:lstStyle/>
          <a:p>
            <a:pPr marL="228600" indent="0"/>
            <a:r>
              <a:rPr lang="en-US" sz="2200" b="1" dirty="0"/>
              <a:t>Tools Used</a:t>
            </a:r>
          </a:p>
          <a:p>
            <a:pPr marL="571500" indent="-342900">
              <a:buFont typeface="Arial" panose="020B0604020202020204" pitchFamily="34" charset="0"/>
              <a:buChar char="•"/>
            </a:pPr>
            <a:r>
              <a:rPr lang="en-US" sz="2200" b="1" dirty="0"/>
              <a:t>Python</a:t>
            </a:r>
            <a:r>
              <a:rPr lang="en-US" sz="2200" dirty="0"/>
              <a:t> – Main programming language for implementing the project</a:t>
            </a:r>
          </a:p>
          <a:p>
            <a:pPr marL="571500" indent="-342900">
              <a:buFont typeface="Arial" panose="020B0604020202020204" pitchFamily="34" charset="0"/>
              <a:buChar char="•"/>
            </a:pPr>
            <a:r>
              <a:rPr lang="en-US" sz="2200" b="1" dirty="0" err="1"/>
              <a:t>Jupyter</a:t>
            </a:r>
            <a:r>
              <a:rPr lang="en-US" sz="2200" b="1" dirty="0"/>
              <a:t> Notebook / Google </a:t>
            </a:r>
            <a:r>
              <a:rPr lang="en-US" sz="2200" b="1" dirty="0" err="1"/>
              <a:t>Colab</a:t>
            </a:r>
            <a:r>
              <a:rPr lang="en-US" sz="2200" dirty="0"/>
              <a:t> – Used for coding, training, and experimentation</a:t>
            </a:r>
          </a:p>
          <a:p>
            <a:pPr marL="571500" indent="-342900">
              <a:buFont typeface="Arial" panose="020B0604020202020204" pitchFamily="34" charset="0"/>
              <a:buChar char="•"/>
            </a:pPr>
            <a:r>
              <a:rPr lang="en-US" sz="2200" b="1" dirty="0"/>
              <a:t>TensorFlow</a:t>
            </a:r>
            <a:r>
              <a:rPr lang="en-US" sz="2200" dirty="0"/>
              <a:t> – Used to build and train the CNN model</a:t>
            </a:r>
          </a:p>
          <a:p>
            <a:pPr marL="571500" indent="-342900">
              <a:buFont typeface="Arial" panose="020B0604020202020204" pitchFamily="34" charset="0"/>
              <a:buChar char="•"/>
            </a:pPr>
            <a:r>
              <a:rPr lang="en-US" sz="2200" b="1" dirty="0" err="1"/>
              <a:t>Keras</a:t>
            </a:r>
            <a:r>
              <a:rPr lang="en-US" sz="2200" dirty="0"/>
              <a:t> – Simplifies the development of deep learning architectures</a:t>
            </a:r>
          </a:p>
          <a:p>
            <a:pPr marL="571500" indent="-342900">
              <a:buFont typeface="Arial" panose="020B0604020202020204" pitchFamily="34" charset="0"/>
              <a:buChar char="•"/>
            </a:pPr>
            <a:r>
              <a:rPr lang="en-US" sz="2200" b="1" dirty="0"/>
              <a:t>OpenCV</a:t>
            </a:r>
            <a:r>
              <a:rPr lang="en-US" sz="2200" dirty="0"/>
              <a:t> – Used for image preprocessing and enhancement</a:t>
            </a:r>
          </a:p>
          <a:p>
            <a:pPr marL="571500" indent="-342900">
              <a:buFont typeface="Arial" panose="020B0604020202020204" pitchFamily="34" charset="0"/>
              <a:buChar char="•"/>
            </a:pPr>
            <a:r>
              <a:rPr lang="en-US" sz="2200" b="1" dirty="0"/>
              <a:t>Scikit-learn</a:t>
            </a:r>
            <a:r>
              <a:rPr lang="en-US" sz="2200" dirty="0"/>
              <a:t> – Used for dataset splitting and performance evaluation</a:t>
            </a:r>
          </a:p>
          <a:p>
            <a:pPr marL="571500" indent="-342900">
              <a:buFont typeface="Arial" panose="020B0604020202020204" pitchFamily="34" charset="0"/>
              <a:buChar char="•"/>
            </a:pPr>
            <a:r>
              <a:rPr lang="en-US" sz="2200" b="1" dirty="0"/>
              <a:t>Matplotlib / Seaborn</a:t>
            </a:r>
            <a:r>
              <a:rPr lang="en-US" sz="2200" dirty="0"/>
              <a:t> – Used for visualizing results and analysis</a:t>
            </a:r>
          </a:p>
          <a:p>
            <a:pPr marL="0" lvl="0" indent="0" eaLnBrk="0" fontAlgn="base" hangingPunct="0">
              <a:spcBef>
                <a:spcPct val="0"/>
              </a:spcBef>
              <a:spcAft>
                <a:spcPct val="0"/>
              </a:spcAft>
              <a:buClrTx/>
              <a:buSzTx/>
            </a:pPr>
            <a:r>
              <a:rPr lang="en-US" b="1" dirty="0">
                <a:latin typeface="Times New Roman" panose="02020603050405020304" pitchFamily="18" charset="0"/>
                <a:cs typeface="Times New Roman" panose="02020603050405020304" pitchFamily="18" charset="0"/>
              </a:rPr>
              <a:t>  Dataset Sources</a:t>
            </a:r>
          </a:p>
          <a:p>
            <a:pPr marL="571500" indent="-342900">
              <a:buFont typeface="Arial" panose="020B0604020202020204" pitchFamily="34" charset="0"/>
              <a:buChar char="•"/>
            </a:pPr>
            <a:r>
              <a:rPr lang="en-IN" sz="2200" dirty="0"/>
              <a:t>Kaggle </a:t>
            </a:r>
          </a:p>
          <a:p>
            <a:pPr marL="571500" indent="-342900">
              <a:buFont typeface="Arial" panose="020B0604020202020204" pitchFamily="34" charset="0"/>
              <a:buChar char="•"/>
            </a:pPr>
            <a:r>
              <a:rPr lang="en-IN" sz="2200" dirty="0"/>
              <a:t>MESSIDOR</a:t>
            </a:r>
          </a:p>
          <a:p>
            <a:pPr marL="571500" indent="-342900">
              <a:buFont typeface="Arial" panose="020B0604020202020204" pitchFamily="34" charset="0"/>
              <a:buChar char="•"/>
            </a:pPr>
            <a:r>
              <a:rPr lang="en-IN" sz="2200" dirty="0" err="1"/>
              <a:t>EyePACS</a:t>
            </a:r>
            <a:endParaRPr lang="en-IN" sz="2200" dirty="0"/>
          </a:p>
          <a:p>
            <a:pPr marL="457200" lvl="0" indent="-310832" algn="l" rtl="0">
              <a:lnSpc>
                <a:spcPct val="115000"/>
              </a:lnSpc>
              <a:spcBef>
                <a:spcPts val="0"/>
              </a:spcBef>
              <a:spcAft>
                <a:spcPts val="0"/>
              </a:spcAft>
              <a:buClr>
                <a:srgbClr val="595959"/>
              </a:buClr>
              <a:buSzPct val="58333"/>
              <a:buChar char="●"/>
            </a:pPr>
            <a:endParaRPr sz="2000" b="0" i="0" u="none" dirty="0">
              <a:solidFill>
                <a:srgbClr val="595959"/>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92186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F0264A-C036-C908-E9F2-E3063F5D3210}"/>
              </a:ext>
            </a:extLst>
          </p:cNvPr>
          <p:cNvSpPr>
            <a:spLocks noGrp="1"/>
          </p:cNvSpPr>
          <p:nvPr>
            <p:ph type="body" idx="1"/>
          </p:nvPr>
        </p:nvSpPr>
        <p:spPr>
          <a:xfrm>
            <a:off x="165099" y="289367"/>
            <a:ext cx="8731393" cy="4104833"/>
          </a:xfrm>
        </p:spPr>
        <p:txBody>
          <a:bodyPr/>
          <a:lstStyle/>
          <a:p>
            <a:r>
              <a:rPr lang="en-US" sz="2000" b="1" dirty="0"/>
              <a:t>SDG 3 – Good Health and Well-Being</a:t>
            </a:r>
          </a:p>
          <a:p>
            <a:pPr algn="just"/>
            <a:r>
              <a:rPr lang="en-US" sz="2000" dirty="0"/>
              <a:t>The project supports early detection of Diabetic Retinopathy, helping</a:t>
            </a:r>
          </a:p>
          <a:p>
            <a:pPr algn="just"/>
            <a:r>
              <a:rPr lang="en-US" sz="2000" dirty="0" err="1"/>
              <a:t>preventvision</a:t>
            </a:r>
            <a:r>
              <a:rPr lang="en-US" sz="2000" dirty="0"/>
              <a:t> loss and improving access to timely and effective</a:t>
            </a:r>
          </a:p>
          <a:p>
            <a:pPr algn="just"/>
            <a:r>
              <a:rPr lang="en-US" sz="2000" dirty="0"/>
              <a:t>healthcare through automated screening.</a:t>
            </a:r>
          </a:p>
          <a:p>
            <a:r>
              <a:rPr lang="en-US" sz="2000" b="1" dirty="0"/>
              <a:t>SDG 9 – Industry, Innovation, and Infrastructure</a:t>
            </a:r>
          </a:p>
          <a:p>
            <a:r>
              <a:rPr lang="en-US" sz="2000" dirty="0"/>
              <a:t>By applying deep learning and data science techniques to medical image</a:t>
            </a:r>
          </a:p>
          <a:p>
            <a:r>
              <a:rPr lang="en-US" sz="2000" dirty="0"/>
              <a:t>the project promotes innovation in healthcare technology and intelligent</a:t>
            </a:r>
          </a:p>
          <a:p>
            <a:r>
              <a:rPr lang="en-US" sz="2000" dirty="0"/>
              <a:t>diagnostic systems.</a:t>
            </a:r>
          </a:p>
          <a:p>
            <a:endParaRPr lang="en-IN" dirty="0"/>
          </a:p>
        </p:txBody>
      </p:sp>
      <p:sp>
        <p:nvSpPr>
          <p:cNvPr id="4" name="Slide Number Placeholder 3">
            <a:extLst>
              <a:ext uri="{FF2B5EF4-FFF2-40B4-BE49-F238E27FC236}">
                <a16:creationId xmlns:a16="http://schemas.microsoft.com/office/drawing/2014/main" id="{5CF1C9A6-B2CA-EBF4-B018-ACF6D61120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440855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DA2F1570-CC9C-2EE8-ABDF-44371DB03DF1}"/>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CB4356AB-631F-D4AE-6EE9-A5F6D86D1AEF}"/>
              </a:ext>
            </a:extLst>
          </p:cNvPr>
          <p:cNvSpPr txBox="1">
            <a:spLocks noGrp="1"/>
          </p:cNvSpPr>
          <p:nvPr>
            <p:ph type="ctrTitle"/>
          </p:nvPr>
        </p:nvSpPr>
        <p:spPr>
          <a:xfrm>
            <a:off x="162045" y="6972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Base paper details</a:t>
            </a:r>
            <a:endParaRPr dirty="0"/>
          </a:p>
        </p:txBody>
      </p:sp>
      <p:sp>
        <p:nvSpPr>
          <p:cNvPr id="57" name="Google Shape;57;g32a3e1ea9ea_0_31">
            <a:extLst>
              <a:ext uri="{FF2B5EF4-FFF2-40B4-BE49-F238E27FC236}">
                <a16:creationId xmlns:a16="http://schemas.microsoft.com/office/drawing/2014/main" id="{D58F5122-4A9E-C73E-B1AC-45C81065C5E4}"/>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29</a:t>
            </a:fld>
            <a:endParaRPr/>
          </a:p>
        </p:txBody>
      </p:sp>
      <p:sp>
        <p:nvSpPr>
          <p:cNvPr id="4" name="TextBox 3">
            <a:extLst>
              <a:ext uri="{FF2B5EF4-FFF2-40B4-BE49-F238E27FC236}">
                <a16:creationId xmlns:a16="http://schemas.microsoft.com/office/drawing/2014/main" id="{FAAE32F8-8C3F-092A-852D-6E283C2E172A}"/>
              </a:ext>
            </a:extLst>
          </p:cNvPr>
          <p:cNvSpPr txBox="1"/>
          <p:nvPr/>
        </p:nvSpPr>
        <p:spPr>
          <a:xfrm>
            <a:off x="201878" y="718920"/>
            <a:ext cx="8819909" cy="3785652"/>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Automated Diabetic Retinopathy Detection Using Deep Convolutional Neural Networks</a:t>
            </a:r>
          </a:p>
          <a:p>
            <a:r>
              <a:rPr lang="en-US" sz="2000" b="1" dirty="0">
                <a:latin typeface="Times New Roman" panose="02020603050405020304" pitchFamily="18" charset="0"/>
                <a:cs typeface="Times New Roman" panose="02020603050405020304" pitchFamily="18" charset="0"/>
              </a:rPr>
              <a:t>Journal:</a:t>
            </a:r>
            <a:r>
              <a:rPr lang="en-US" sz="2000" dirty="0">
                <a:latin typeface="Times New Roman" panose="02020603050405020304" pitchFamily="18" charset="0"/>
                <a:cs typeface="Times New Roman" panose="02020603050405020304" pitchFamily="18" charset="0"/>
              </a:rPr>
              <a:t> IEEE Access</a:t>
            </a:r>
          </a:p>
          <a:p>
            <a:r>
              <a:rPr lang="en-US" sz="2000" b="1" dirty="0">
                <a:latin typeface="Times New Roman" panose="02020603050405020304" pitchFamily="18" charset="0"/>
                <a:cs typeface="Times New Roman" panose="02020603050405020304" pitchFamily="18" charset="0"/>
              </a:rPr>
              <a:t>Year:</a:t>
            </a:r>
            <a:r>
              <a:rPr lang="en-US" sz="2000" dirty="0">
                <a:latin typeface="Times New Roman" panose="02020603050405020304" pitchFamily="18" charset="0"/>
                <a:cs typeface="Times New Roman" panose="02020603050405020304" pitchFamily="18" charset="0"/>
              </a:rPr>
              <a:t> 2024</a:t>
            </a:r>
          </a:p>
          <a:p>
            <a:r>
              <a:rPr lang="en-US" sz="2000" b="1" dirty="0">
                <a:latin typeface="Times New Roman" panose="02020603050405020304" pitchFamily="18" charset="0"/>
                <a:cs typeface="Times New Roman" panose="02020603050405020304" pitchFamily="18" charset="0"/>
              </a:rPr>
              <a:t>Brief Description: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IEEE Access paper presents a deep learning–based approach for automated detection of Diabetic Retinopathy using retinal fundus images. The study employs Convolutional Neural Networks (CNNs) to extract discriminative features from medical images and classify them into normal and diseased categories. The results demonstrate improved detection accuracy compared to traditional machine learning methods, highlighting the effectiveness of CNN-based models in supporting early diagnosis and assisting ophthalmologists in clinical decision-making.</a:t>
            </a:r>
          </a:p>
        </p:txBody>
      </p:sp>
    </p:spTree>
    <p:extLst>
      <p:ext uri="{BB962C8B-B14F-4D97-AF65-F5344CB8AC3E}">
        <p14:creationId xmlns:p14="http://schemas.microsoft.com/office/powerpoint/2010/main" val="3537539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DEB31-9DF3-9C56-6477-37CE61C39991}"/>
              </a:ext>
            </a:extLst>
          </p:cNvPr>
          <p:cNvSpPr>
            <a:spLocks noGrp="1"/>
          </p:cNvSpPr>
          <p:nvPr>
            <p:ph type="ctrTitle"/>
          </p:nvPr>
        </p:nvSpPr>
        <p:spPr/>
        <p:txBody>
          <a:bodyPr>
            <a:normAutofit fontScale="90000"/>
          </a:bodyPr>
          <a:lstStyle/>
          <a:p>
            <a:pPr algn="just"/>
            <a:r>
              <a:rPr lang="en-US" dirty="0"/>
              <a:t>Research Gaps </a:t>
            </a:r>
            <a:endParaRPr lang="en-IN" dirty="0"/>
          </a:p>
        </p:txBody>
      </p:sp>
      <p:sp>
        <p:nvSpPr>
          <p:cNvPr id="3" name="Text Placeholder 2">
            <a:extLst>
              <a:ext uri="{FF2B5EF4-FFF2-40B4-BE49-F238E27FC236}">
                <a16:creationId xmlns:a16="http://schemas.microsoft.com/office/drawing/2014/main" id="{5F708570-B747-24C1-D202-B86435E1B522}"/>
              </a:ext>
            </a:extLst>
          </p:cNvPr>
          <p:cNvSpPr>
            <a:spLocks noGrp="1"/>
          </p:cNvSpPr>
          <p:nvPr>
            <p:ph type="body" idx="1"/>
          </p:nvPr>
        </p:nvSpPr>
        <p:spPr>
          <a:xfrm>
            <a:off x="61119" y="710653"/>
            <a:ext cx="9021762" cy="3479800"/>
          </a:xfrm>
        </p:spPr>
        <p:txBody>
          <a:bodyPr/>
          <a:lstStyle/>
          <a:p>
            <a:pPr marL="228600" indent="0"/>
            <a:r>
              <a:rPr lang="en-US" sz="2000" b="1" dirty="0"/>
              <a:t>1.Lack of Explainability in CNN Predictions:</a:t>
            </a:r>
            <a:br>
              <a:rPr lang="en-US" sz="2000" dirty="0"/>
            </a:br>
            <a:r>
              <a:rPr lang="en-US" sz="2000" dirty="0"/>
              <a:t>   The base paper focuses on classification accuracy but does not explain which</a:t>
            </a:r>
          </a:p>
          <a:p>
            <a:pPr marL="228600" indent="0"/>
            <a:r>
              <a:rPr lang="en-US" sz="2000" dirty="0"/>
              <a:t>    retinal regions influence the CNN’s decision.</a:t>
            </a:r>
          </a:p>
          <a:p>
            <a:r>
              <a:rPr lang="en-US" sz="2000" b="1" dirty="0"/>
              <a:t>2. Limited Handling of Image Quality Variations</a:t>
            </a:r>
            <a:br>
              <a:rPr lang="en-US" sz="2000" dirty="0"/>
            </a:br>
            <a:r>
              <a:rPr lang="en-US" sz="2000" dirty="0"/>
              <a:t>The study assumes high-quality fundus images and does not adequately address noise or real-world image variations.</a:t>
            </a:r>
          </a:p>
          <a:p>
            <a:r>
              <a:rPr lang="en-US" sz="2000" b="1" dirty="0"/>
              <a:t>3. Restricted Disease Severity Classification</a:t>
            </a:r>
            <a:br>
              <a:rPr lang="en-US" sz="2000" dirty="0"/>
            </a:br>
            <a:r>
              <a:rPr lang="en-US" sz="2000" dirty="0"/>
              <a:t>Most existing approaches focus on binary classification rather than detailed stage-wise Diabetic Retinopathy detection.</a:t>
            </a:r>
          </a:p>
          <a:p>
            <a:pPr marL="685800" indent="-457200">
              <a:buAutoNum type="arabicPeriod"/>
            </a:pPr>
            <a:endParaRPr lang="en-US" sz="2000" dirty="0"/>
          </a:p>
        </p:txBody>
      </p:sp>
      <p:sp>
        <p:nvSpPr>
          <p:cNvPr id="4" name="Slide Number Placeholder 3">
            <a:extLst>
              <a:ext uri="{FF2B5EF4-FFF2-40B4-BE49-F238E27FC236}">
                <a16:creationId xmlns:a16="http://schemas.microsoft.com/office/drawing/2014/main" id="{BA78F910-D933-770C-71EE-F4E5B525650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2379930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CCCE6C5D-E94B-0162-89FB-193735F1DAC9}"/>
            </a:ext>
          </a:extLst>
        </p:cNvPr>
        <p:cNvGrpSpPr/>
        <p:nvPr/>
      </p:nvGrpSpPr>
      <p:grpSpPr>
        <a:xfrm>
          <a:off x="0" y="0"/>
          <a:ext cx="0" cy="0"/>
          <a:chOff x="0" y="0"/>
          <a:chExt cx="0" cy="0"/>
        </a:xfrm>
      </p:grpSpPr>
      <p:sp>
        <p:nvSpPr>
          <p:cNvPr id="56" name="Google Shape;56;g32a3e1ea9ea_0_31">
            <a:extLst>
              <a:ext uri="{FF2B5EF4-FFF2-40B4-BE49-F238E27FC236}">
                <a16:creationId xmlns:a16="http://schemas.microsoft.com/office/drawing/2014/main" id="{8C40468F-BA50-5B35-E162-7E7A3663F10A}"/>
              </a:ext>
            </a:extLst>
          </p:cNvPr>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fontScale="90000"/>
          </a:bodyPr>
          <a:lstStyle/>
          <a:p>
            <a:pPr lvl="0" algn="l"/>
            <a:r>
              <a:rPr lang="en-IN" dirty="0"/>
              <a:t>References</a:t>
            </a:r>
            <a:endParaRPr dirty="0"/>
          </a:p>
        </p:txBody>
      </p:sp>
      <p:sp>
        <p:nvSpPr>
          <p:cNvPr id="57" name="Google Shape;57;g32a3e1ea9ea_0_31">
            <a:extLst>
              <a:ext uri="{FF2B5EF4-FFF2-40B4-BE49-F238E27FC236}">
                <a16:creationId xmlns:a16="http://schemas.microsoft.com/office/drawing/2014/main" id="{A4BD8A53-D48D-9923-0231-E4F5B01DBDFB}"/>
              </a:ext>
            </a:extLst>
          </p:cNvPr>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31</a:t>
            </a:fld>
            <a:endParaRPr/>
          </a:p>
        </p:txBody>
      </p:sp>
      <p:sp>
        <p:nvSpPr>
          <p:cNvPr id="5" name="Rectangle 3">
            <a:extLst>
              <a:ext uri="{FF2B5EF4-FFF2-40B4-BE49-F238E27FC236}">
                <a16:creationId xmlns:a16="http://schemas.microsoft.com/office/drawing/2014/main" id="{E3AF4B63-B949-AE93-C361-F318B514862B}"/>
              </a:ext>
            </a:extLst>
          </p:cNvPr>
          <p:cNvSpPr>
            <a:spLocks noGrp="1" noChangeArrowheads="1"/>
          </p:cNvSpPr>
          <p:nvPr>
            <p:ph type="body" idx="1"/>
          </p:nvPr>
        </p:nvSpPr>
        <p:spPr bwMode="auto">
          <a:xfrm>
            <a:off x="187961" y="602941"/>
            <a:ext cx="883382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a:t>1. G. Gulshan </a:t>
            </a:r>
            <a:r>
              <a:rPr lang="en-IN" sz="2000" i="1" dirty="0"/>
              <a:t>et al.</a:t>
            </a:r>
            <a:r>
              <a:rPr lang="en-IN" sz="2000" dirty="0"/>
              <a:t>, “Development and Validation of a Deep Learning Algorithm for Detection of Diabetic Retinopathy in Retinal Fundus Photographs,” </a:t>
            </a:r>
            <a:r>
              <a:rPr lang="en-IN" sz="2000" i="1" dirty="0"/>
              <a:t>JAMA</a:t>
            </a:r>
            <a:r>
              <a:rPr lang="en-IN" sz="2000" dirty="0"/>
              <a:t>, vol. 316, no. 22, pp. 2402–2410, 2016.</a:t>
            </a:r>
          </a:p>
          <a:p>
            <a:r>
              <a:rPr lang="en-IN" sz="2000" dirty="0"/>
              <a:t>2. V. Gulshan, L. Peng, and M. Coram, “Deep Learning for Detection of Diabetic Retinopathy,” </a:t>
            </a:r>
            <a:r>
              <a:rPr lang="en-IN" sz="2000" i="1" dirty="0"/>
              <a:t>IEEE Access</a:t>
            </a:r>
            <a:r>
              <a:rPr lang="en-IN" sz="2000" dirty="0"/>
              <a:t>, vol. 8, pp. 18978–18987, 2020.</a:t>
            </a:r>
          </a:p>
          <a:p>
            <a:r>
              <a:rPr lang="en-IN" sz="2000" dirty="0"/>
              <a:t>3. E. </a:t>
            </a:r>
            <a:r>
              <a:rPr lang="en-IN" sz="2000" dirty="0" err="1"/>
              <a:t>Decencière</a:t>
            </a:r>
            <a:r>
              <a:rPr lang="en-IN" sz="2000" dirty="0"/>
              <a:t> </a:t>
            </a:r>
            <a:r>
              <a:rPr lang="en-IN" sz="2000" i="1" dirty="0"/>
              <a:t>et al.</a:t>
            </a:r>
            <a:r>
              <a:rPr lang="en-IN" sz="2000" dirty="0"/>
              <a:t>, “Feedback on a Publicly Distributed Image Database: The MESSIDOR Database,” </a:t>
            </a:r>
            <a:r>
              <a:rPr lang="en-IN" sz="2000" i="1" dirty="0"/>
              <a:t>Image Analysis &amp; Stereology</a:t>
            </a:r>
            <a:r>
              <a:rPr lang="en-IN" sz="2000" dirty="0"/>
              <a:t>, vol. 33, no. 3, pp. 231–234, 2014.</a:t>
            </a:r>
          </a:p>
          <a:p>
            <a:r>
              <a:rPr lang="en-IN" sz="2000" dirty="0"/>
              <a:t>4. K. He, X. Zhang, S. Ren, and J. Sun, “Deep Residual Learning for Image Recognition,” in </a:t>
            </a:r>
            <a:r>
              <a:rPr lang="en-IN" sz="2000" i="1" dirty="0"/>
              <a:t>Proc. IEEE Conf. Computer Vision and Pattern Recognition (CVPR)</a:t>
            </a:r>
            <a:r>
              <a:rPr lang="en-IN" sz="2000" dirty="0"/>
              <a:t>, Las Vegas, NV, USA, 2016, pp. 770–778.</a:t>
            </a:r>
          </a:p>
        </p:txBody>
      </p:sp>
    </p:spTree>
    <p:extLst>
      <p:ext uri="{BB962C8B-B14F-4D97-AF65-F5344CB8AC3E}">
        <p14:creationId xmlns:p14="http://schemas.microsoft.com/office/powerpoint/2010/main" val="2834366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84" name="Google Shape;84;p1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32</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961</TotalTime>
  <Words>2598</Words>
  <Application>Microsoft Office PowerPoint</Application>
  <PresentationFormat>On-screen Show (16:9)</PresentationFormat>
  <Paragraphs>247</Paragraphs>
  <Slides>32</Slides>
  <Notes>24</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32</vt:i4>
      </vt:variant>
    </vt:vector>
  </HeadingPairs>
  <TitlesOfParts>
    <vt:vector size="36" baseType="lpstr">
      <vt:lpstr>Arial</vt:lpstr>
      <vt:lpstr>Times New Roman</vt:lpstr>
      <vt:lpstr>2_Simple Light</vt:lpstr>
      <vt:lpstr>1_Simple Light</vt:lpstr>
      <vt:lpstr>    Gokaraju Rangaraju Institute of Engineering and Technology  (Autonomous) Department of Data Science  Mini Project with seminar (CSE(DS))</vt:lpstr>
      <vt:lpstr>Explainable Demand Forecasting using Transformers</vt:lpstr>
      <vt:lpstr>Introduction to the project work</vt:lpstr>
      <vt:lpstr>Significance or importance or novelty</vt:lpstr>
      <vt:lpstr>Frame work and Techniques</vt:lpstr>
      <vt:lpstr>PowerPoint Presentation</vt:lpstr>
      <vt:lpstr>Tools and Data sets (include SDG category)</vt:lpstr>
      <vt:lpstr>PowerPoint Presentation</vt:lpstr>
      <vt:lpstr>Base paper details</vt:lpstr>
      <vt:lpstr>Research Gaps</vt:lpstr>
      <vt:lpstr>References</vt:lpstr>
      <vt:lpstr>Vendor Performance Rating System uwsing Machine Learning</vt:lpstr>
      <vt:lpstr>Introduction to the project work</vt:lpstr>
      <vt:lpstr>Significance or importance or novelty</vt:lpstr>
      <vt:lpstr>Frame work and Techniques</vt:lpstr>
      <vt:lpstr>PowerPoint Presentation</vt:lpstr>
      <vt:lpstr>Tools and Data sets (include SDG category)</vt:lpstr>
      <vt:lpstr>PowerPoint Presentation</vt:lpstr>
      <vt:lpstr>Base paper details</vt:lpstr>
      <vt:lpstr>RESEARCH GAPS</vt:lpstr>
      <vt:lpstr>References</vt:lpstr>
      <vt:lpstr>Early Detection of Diabetic Retinopathy</vt:lpstr>
      <vt:lpstr>Introduction to the project work</vt:lpstr>
      <vt:lpstr>Significance or importance or novelty</vt:lpstr>
      <vt:lpstr>Frame work and Techniques</vt:lpstr>
      <vt:lpstr>PowerPoint Presentation</vt:lpstr>
      <vt:lpstr>Tools and Data sets (include SDG category)</vt:lpstr>
      <vt:lpstr>PowerPoint Presentation</vt:lpstr>
      <vt:lpstr>Base paper details</vt:lpstr>
      <vt:lpstr>Research Gaps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dc:creator>
  <cp:lastModifiedBy>Shivani P</cp:lastModifiedBy>
  <cp:revision>13</cp:revision>
  <dcterms:modified xsi:type="dcterms:W3CDTF">2026-01-23T15:16:09Z</dcterms:modified>
</cp:coreProperties>
</file>