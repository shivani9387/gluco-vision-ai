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52"/>
  </p:notesMasterIdLst>
  <p:sldIdLst>
    <p:sldId id="256" r:id="rId3"/>
    <p:sldId id="257" r:id="rId4"/>
    <p:sldId id="258" r:id="rId5"/>
    <p:sldId id="303" r:id="rId6"/>
    <p:sldId id="291" r:id="rId7"/>
    <p:sldId id="270" r:id="rId8"/>
    <p:sldId id="292" r:id="rId9"/>
    <p:sldId id="294" r:id="rId10"/>
    <p:sldId id="296" r:id="rId11"/>
    <p:sldId id="298" r:id="rId12"/>
    <p:sldId id="297" r:id="rId13"/>
    <p:sldId id="299" r:id="rId14"/>
    <p:sldId id="293" r:id="rId15"/>
    <p:sldId id="309" r:id="rId16"/>
    <p:sldId id="273" r:id="rId17"/>
    <p:sldId id="300" r:id="rId18"/>
    <p:sldId id="301" r:id="rId19"/>
    <p:sldId id="274" r:id="rId20"/>
    <p:sldId id="275" r:id="rId21"/>
    <p:sldId id="283" r:id="rId22"/>
    <p:sldId id="284" r:id="rId23"/>
    <p:sldId id="311" r:id="rId24"/>
    <p:sldId id="285" r:id="rId25"/>
    <p:sldId id="304" r:id="rId26"/>
    <p:sldId id="312" r:id="rId27"/>
    <p:sldId id="313" r:id="rId28"/>
    <p:sldId id="281" r:id="rId29"/>
    <p:sldId id="305" r:id="rId30"/>
    <p:sldId id="308" r:id="rId31"/>
    <p:sldId id="314" r:id="rId32"/>
    <p:sldId id="289" r:id="rId33"/>
    <p:sldId id="290" r:id="rId34"/>
    <p:sldId id="332" r:id="rId35"/>
    <p:sldId id="310" r:id="rId36"/>
    <p:sldId id="331" r:id="rId37"/>
    <p:sldId id="326" r:id="rId38"/>
    <p:sldId id="327" r:id="rId39"/>
    <p:sldId id="328" r:id="rId40"/>
    <p:sldId id="333" r:id="rId41"/>
    <p:sldId id="329" r:id="rId42"/>
    <p:sldId id="317" r:id="rId43"/>
    <p:sldId id="323" r:id="rId44"/>
    <p:sldId id="318" r:id="rId45"/>
    <p:sldId id="319" r:id="rId46"/>
    <p:sldId id="295" r:id="rId47"/>
    <p:sldId id="276" r:id="rId48"/>
    <p:sldId id="302" r:id="rId49"/>
    <p:sldId id="268" r:id="rId50"/>
    <p:sldId id="264" r:id="rId5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7F73A31-7B69-4B1C-8DB7-2589D1A5BA3E}">
          <p14:sldIdLst>
            <p14:sldId id="256"/>
            <p14:sldId id="257"/>
            <p14:sldId id="258"/>
            <p14:sldId id="303"/>
            <p14:sldId id="291"/>
            <p14:sldId id="270"/>
            <p14:sldId id="292"/>
            <p14:sldId id="294"/>
            <p14:sldId id="296"/>
            <p14:sldId id="298"/>
            <p14:sldId id="297"/>
            <p14:sldId id="299"/>
            <p14:sldId id="293"/>
            <p14:sldId id="309"/>
            <p14:sldId id="273"/>
            <p14:sldId id="300"/>
            <p14:sldId id="301"/>
          </p14:sldIdLst>
        </p14:section>
        <p14:section name="Untitled Section" id="{4BA4DC8F-0842-4C1E-A260-1F6E2C6D092C}">
          <p14:sldIdLst>
            <p14:sldId id="274"/>
            <p14:sldId id="275"/>
            <p14:sldId id="283"/>
            <p14:sldId id="284"/>
            <p14:sldId id="311"/>
            <p14:sldId id="285"/>
            <p14:sldId id="304"/>
            <p14:sldId id="312"/>
            <p14:sldId id="313"/>
            <p14:sldId id="281"/>
            <p14:sldId id="305"/>
            <p14:sldId id="308"/>
            <p14:sldId id="314"/>
            <p14:sldId id="289"/>
            <p14:sldId id="290"/>
            <p14:sldId id="332"/>
            <p14:sldId id="310"/>
            <p14:sldId id="331"/>
            <p14:sldId id="326"/>
            <p14:sldId id="327"/>
            <p14:sldId id="328"/>
            <p14:sldId id="333"/>
            <p14:sldId id="329"/>
            <p14:sldId id="317"/>
            <p14:sldId id="323"/>
            <p14:sldId id="318"/>
            <p14:sldId id="319"/>
            <p14:sldId id="295"/>
            <p14:sldId id="276"/>
            <p14:sldId id="302"/>
            <p14:sldId id="268"/>
            <p14:sldId id="264"/>
          </p14:sldIdLst>
        </p14:section>
      </p14:sectionLst>
    </p:ex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76" autoAdjust="0"/>
    <p:restoredTop sz="94660"/>
  </p:normalViewPr>
  <p:slideViewPr>
    <p:cSldViewPr>
      <p:cViewPr varScale="1">
        <p:scale>
          <a:sx n="103" d="100"/>
          <a:sy n="103" d="100"/>
        </p:scale>
        <p:origin x="134" y="3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8" Type="http://schemas.openxmlformats.org/officeDocument/2006/relationships/viewProps" Target="viewProps.xml"/><Relationship Id="rId5" Type="http://schemas.openxmlformats.org/officeDocument/2006/relationships/slide" Target="slides/slide3.xml"/><Relationship Id="rId61" Type="http://schemas.microsoft.com/office/2016/11/relationships/changesInfo" Target="changesInfos/changesInfo1.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P" userId="9aeb2b5d3e97835f" providerId="LiveId" clId="{D3825000-BAFA-4C99-BB50-242C38187AC7}"/>
    <pc:docChg chg="modSld">
      <pc:chgData name="Shivani P" userId="9aeb2b5d3e97835f" providerId="LiveId" clId="{D3825000-BAFA-4C99-BB50-242C38187AC7}" dt="2026-04-10T14:40:28.809" v="5" actId="1036"/>
      <pc:docMkLst>
        <pc:docMk/>
      </pc:docMkLst>
      <pc:sldChg chg="modSp mod">
        <pc:chgData name="Shivani P" userId="9aeb2b5d3e97835f" providerId="LiveId" clId="{D3825000-BAFA-4C99-BB50-242C38187AC7}" dt="2026-04-10T09:19:52.614" v="1" actId="1036"/>
        <pc:sldMkLst>
          <pc:docMk/>
          <pc:sldMk cId="2395131708" sldId="326"/>
        </pc:sldMkLst>
        <pc:picChg chg="mod">
          <ac:chgData name="Shivani P" userId="9aeb2b5d3e97835f" providerId="LiveId" clId="{D3825000-BAFA-4C99-BB50-242C38187AC7}" dt="2026-04-10T09:19:52.614" v="1" actId="1036"/>
          <ac:picMkLst>
            <pc:docMk/>
            <pc:sldMk cId="2395131708" sldId="326"/>
            <ac:picMk id="10" creationId="{6057533F-C7B7-D1B3-29E8-9322BE8F391C}"/>
          </ac:picMkLst>
        </pc:picChg>
      </pc:sldChg>
      <pc:sldChg chg="modSp mod">
        <pc:chgData name="Shivani P" userId="9aeb2b5d3e97835f" providerId="LiveId" clId="{D3825000-BAFA-4C99-BB50-242C38187AC7}" dt="2026-04-10T09:22:14.107" v="3" actId="1035"/>
        <pc:sldMkLst>
          <pc:docMk/>
          <pc:sldMk cId="3945395184" sldId="327"/>
        </pc:sldMkLst>
        <pc:picChg chg="mod">
          <ac:chgData name="Shivani P" userId="9aeb2b5d3e97835f" providerId="LiveId" clId="{D3825000-BAFA-4C99-BB50-242C38187AC7}" dt="2026-04-10T09:22:14.107" v="3" actId="1035"/>
          <ac:picMkLst>
            <pc:docMk/>
            <pc:sldMk cId="3945395184" sldId="327"/>
            <ac:picMk id="5" creationId="{5CDB8870-497F-CDCA-75F8-555234E00374}"/>
          </ac:picMkLst>
        </pc:picChg>
      </pc:sldChg>
      <pc:sldChg chg="modSp mod">
        <pc:chgData name="Shivani P" userId="9aeb2b5d3e97835f" providerId="LiveId" clId="{D3825000-BAFA-4C99-BB50-242C38187AC7}" dt="2026-04-10T14:40:28.809" v="5" actId="1036"/>
        <pc:sldMkLst>
          <pc:docMk/>
          <pc:sldMk cId="2801599261" sldId="328"/>
        </pc:sldMkLst>
        <pc:picChg chg="mod">
          <ac:chgData name="Shivani P" userId="9aeb2b5d3e97835f" providerId="LiveId" clId="{D3825000-BAFA-4C99-BB50-242C38187AC7}" dt="2026-04-10T14:40:28.809" v="5" actId="1036"/>
          <ac:picMkLst>
            <pc:docMk/>
            <pc:sldMk cId="2801599261" sldId="328"/>
            <ac:picMk id="5" creationId="{2019F2A2-B9F0-D495-9FFC-C1D08AA3728D}"/>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1:08:28.347"/>
    </inkml:context>
    <inkml:brush xml:id="br0">
      <inkml:brushProperty name="width" value="0.1" units="cm"/>
      <inkml:brushProperty name="height" value="0.1" units="cm"/>
      <inkml:brushProperty name="color" value="#008C3A"/>
    </inkml:brush>
  </inkml:definitions>
  <inkml:trace contextRef="#ctx0" brushRef="#br0">0 0 6553,'0'0'0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9FAFE32-CEDA-A93C-E9A5-102F8B9AFCB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4F8909E9-26BB-F7A3-3DBE-79B4A7BF2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0A31E941-34CB-C6AD-A8EC-235E4F54B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412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CAA1D8C8-E5FB-49B8-2844-FBD0463A12E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1E2E304-B8E6-8FA0-436B-C44B4D2B5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48907E54-98A0-29F9-4262-E0209BD26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512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7CA00E1-8294-C57C-FE6F-5903F559415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95E97D6-30C2-C8A4-5778-9FA1ADDA4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D8C7529-5149-BFE0-CED7-557988A9A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512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Google Shape;350;p10:notes">
            <a:extLst>
              <a:ext uri="{FF2B5EF4-FFF2-40B4-BE49-F238E27FC236}">
                <a16:creationId xmlns:a16="http://schemas.microsoft.com/office/drawing/2014/main" id="{E290BF1D-4AE8-001F-44E3-02D42DFB89BD}"/>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1747" name="Google Shape;351;p10:notes">
            <a:extLst>
              <a:ext uri="{FF2B5EF4-FFF2-40B4-BE49-F238E27FC236}">
                <a16:creationId xmlns:a16="http://schemas.microsoft.com/office/drawing/2014/main" id="{ABCD2AF7-A77A-E835-8007-6F6F26DFFDE0}"/>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Google Shape;350;p10:notes">
            <a:extLst>
              <a:ext uri="{FF2B5EF4-FFF2-40B4-BE49-F238E27FC236}">
                <a16:creationId xmlns:a16="http://schemas.microsoft.com/office/drawing/2014/main" id="{908707F3-0E28-89CB-404F-0EA90FB56390}"/>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27651" name="Google Shape;351;p10:notes">
            <a:extLst>
              <a:ext uri="{FF2B5EF4-FFF2-40B4-BE49-F238E27FC236}">
                <a16:creationId xmlns:a16="http://schemas.microsoft.com/office/drawing/2014/main" id="{A092DE2B-D50F-FBB9-DE38-BBC670C71015}"/>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159C807E-6C27-043A-D7BB-4BD72DC49E94}"/>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C60D7451-3FDB-9534-0596-F85E8325465F}"/>
              </a:ext>
            </a:extLst>
          </p:cNvPr>
          <p:cNvSpPr>
            <a:spLocks noGrp="1" noRot="1" noChangeAspect="1" noTextEdit="1"/>
          </p:cNvSpPr>
          <p:nvPr>
            <p:ph type="sldImg" idx="2"/>
          </p:nvPr>
        </p:nvSpPr>
        <p:spPr>
          <a:xfrm>
            <a:off x="2290763" y="512763"/>
            <a:ext cx="4562475" cy="2566987"/>
          </a:xfrm>
          <a:noFill/>
          <a:ln>
            <a:headEnd/>
            <a:tailEn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7F28D24C-9F0B-66CF-1349-77F07CEF914A}"/>
            </a:ext>
          </a:extLst>
        </p:cNvPr>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9F282338-9AE9-FC51-6740-EF77E67AABC3}"/>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3E874EF6-D188-C08B-1898-2111EC47849B}"/>
              </a:ext>
            </a:extLst>
          </p:cNvPr>
          <p:cNvSpPr>
            <a:spLocks noGrp="1" noRot="1" noChangeAspect="1" noTextEdit="1"/>
          </p:cNvSpPr>
          <p:nvPr>
            <p:ph type="sldImg" idx="2"/>
          </p:nvPr>
        </p:nvSpPr>
        <p:spPr>
          <a:xfrm>
            <a:off x="2290763" y="512763"/>
            <a:ext cx="4562475" cy="2566987"/>
          </a:xfrm>
          <a:noFill/>
          <a:ln>
            <a:headEnd/>
            <a:tailEnd/>
          </a:ln>
        </p:spPr>
      </p:sp>
    </p:spTree>
    <p:extLst>
      <p:ext uri="{BB962C8B-B14F-4D97-AF65-F5344CB8AC3E}">
        <p14:creationId xmlns:p14="http://schemas.microsoft.com/office/powerpoint/2010/main" val="3431411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9BF28EAA-E11C-C444-581C-3ECF2E5EFF91}"/>
            </a:ext>
          </a:extLst>
        </p:cNvPr>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BC34AE28-D152-DFB6-31C7-3B1B85808885}"/>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753A94A4-94C4-66EB-6F1F-1476C980907E}"/>
              </a:ext>
            </a:extLst>
          </p:cNvPr>
          <p:cNvSpPr>
            <a:spLocks noGrp="1" noRot="1" noChangeAspect="1" noTextEdit="1"/>
          </p:cNvSpPr>
          <p:nvPr>
            <p:ph type="sldImg" idx="2"/>
          </p:nvPr>
        </p:nvSpPr>
        <p:spPr>
          <a:xfrm>
            <a:off x="2290763" y="512763"/>
            <a:ext cx="4562475" cy="2566987"/>
          </a:xfrm>
          <a:noFill/>
          <a:ln>
            <a:headEnd/>
            <a:tailEnd/>
          </a:ln>
        </p:spPr>
      </p:sp>
    </p:spTree>
    <p:extLst>
      <p:ext uri="{BB962C8B-B14F-4D97-AF65-F5344CB8AC3E}">
        <p14:creationId xmlns:p14="http://schemas.microsoft.com/office/powerpoint/2010/main" val="501475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2657CEFE-CBBA-5090-A912-F857C6FE1066}"/>
            </a:ext>
          </a:extLst>
        </p:cNvPr>
        <p:cNvGrpSpPr/>
        <p:nvPr/>
      </p:nvGrpSpPr>
      <p:grpSpPr>
        <a:xfrm>
          <a:off x="0" y="0"/>
          <a:ext cx="0" cy="0"/>
          <a:chOff x="0" y="0"/>
          <a:chExt cx="0" cy="0"/>
        </a:xfrm>
      </p:grpSpPr>
      <p:sp>
        <p:nvSpPr>
          <p:cNvPr id="33794" name="Google Shape;350;p10:notes">
            <a:extLst>
              <a:ext uri="{FF2B5EF4-FFF2-40B4-BE49-F238E27FC236}">
                <a16:creationId xmlns:a16="http://schemas.microsoft.com/office/drawing/2014/main" id="{61D9CD8C-E18D-06EF-8B38-516D7D07257E}"/>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3795" name="Google Shape;351;p10:notes">
            <a:extLst>
              <a:ext uri="{FF2B5EF4-FFF2-40B4-BE49-F238E27FC236}">
                <a16:creationId xmlns:a16="http://schemas.microsoft.com/office/drawing/2014/main" id="{DBD26335-0C24-CB81-220B-3E80DCF84F82}"/>
              </a:ext>
            </a:extLst>
          </p:cNvPr>
          <p:cNvSpPr>
            <a:spLocks noGrp="1" noRot="1" noChangeAspect="1" noTextEdit="1"/>
          </p:cNvSpPr>
          <p:nvPr>
            <p:ph type="sldImg" idx="2"/>
          </p:nvPr>
        </p:nvSpPr>
        <p:spPr>
          <a:xfrm>
            <a:off x="2290763" y="512763"/>
            <a:ext cx="4562475" cy="2566987"/>
          </a:xfrm>
          <a:noFill/>
          <a:ln>
            <a:headEnd/>
            <a:tailEnd/>
          </a:ln>
        </p:spPr>
      </p:sp>
    </p:spTree>
    <p:extLst>
      <p:ext uri="{BB962C8B-B14F-4D97-AF65-F5344CB8AC3E}">
        <p14:creationId xmlns:p14="http://schemas.microsoft.com/office/powerpoint/2010/main" val="2783173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553D16D9-B9C7-9966-5D43-0479005916F0}"/>
            </a:ext>
          </a:extLst>
        </p:cNvPr>
        <p:cNvGrpSpPr/>
        <p:nvPr/>
      </p:nvGrpSpPr>
      <p:grpSpPr>
        <a:xfrm>
          <a:off x="0" y="0"/>
          <a:ext cx="0" cy="0"/>
          <a:chOff x="0" y="0"/>
          <a:chExt cx="0" cy="0"/>
        </a:xfrm>
      </p:grpSpPr>
      <p:sp>
        <p:nvSpPr>
          <p:cNvPr id="38914" name="Google Shape;350;p10:notes">
            <a:extLst>
              <a:ext uri="{FF2B5EF4-FFF2-40B4-BE49-F238E27FC236}">
                <a16:creationId xmlns:a16="http://schemas.microsoft.com/office/drawing/2014/main" id="{65D76881-7D2A-0988-98C3-4B16B1008840}"/>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8915" name="Google Shape;351;p10:notes">
            <a:extLst>
              <a:ext uri="{FF2B5EF4-FFF2-40B4-BE49-F238E27FC236}">
                <a16:creationId xmlns:a16="http://schemas.microsoft.com/office/drawing/2014/main" id="{BB18F7EF-AEFE-3A61-7996-1A0D56D0D00E}"/>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extLst>
      <p:ext uri="{BB962C8B-B14F-4D97-AF65-F5344CB8AC3E}">
        <p14:creationId xmlns:p14="http://schemas.microsoft.com/office/powerpoint/2010/main" val="746924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E0A558AA-DC00-F85A-CCA5-BF2CF850858C}"/>
            </a:ext>
          </a:extLst>
        </p:cNvPr>
        <p:cNvGrpSpPr/>
        <p:nvPr/>
      </p:nvGrpSpPr>
      <p:grpSpPr>
        <a:xfrm>
          <a:off x="0" y="0"/>
          <a:ext cx="0" cy="0"/>
          <a:chOff x="0" y="0"/>
          <a:chExt cx="0" cy="0"/>
        </a:xfrm>
      </p:grpSpPr>
      <p:sp>
        <p:nvSpPr>
          <p:cNvPr id="38914" name="Google Shape;350;p10:notes">
            <a:extLst>
              <a:ext uri="{FF2B5EF4-FFF2-40B4-BE49-F238E27FC236}">
                <a16:creationId xmlns:a16="http://schemas.microsoft.com/office/drawing/2014/main" id="{CD65A278-2483-20E0-08DE-365AB586C67C}"/>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8915" name="Google Shape;351;p10:notes">
            <a:extLst>
              <a:ext uri="{FF2B5EF4-FFF2-40B4-BE49-F238E27FC236}">
                <a16:creationId xmlns:a16="http://schemas.microsoft.com/office/drawing/2014/main" id="{63E285A3-E28A-A783-077C-5C791DEC3616}"/>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extLst>
      <p:ext uri="{BB962C8B-B14F-4D97-AF65-F5344CB8AC3E}">
        <p14:creationId xmlns:p14="http://schemas.microsoft.com/office/powerpoint/2010/main" val="2998055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1EFCC14B-C825-8738-F8BF-D5CAE9DE93D0}"/>
            </a:ext>
          </a:extLst>
        </p:cNvPr>
        <p:cNvGrpSpPr/>
        <p:nvPr/>
      </p:nvGrpSpPr>
      <p:grpSpPr>
        <a:xfrm>
          <a:off x="0" y="0"/>
          <a:ext cx="0" cy="0"/>
          <a:chOff x="0" y="0"/>
          <a:chExt cx="0" cy="0"/>
        </a:xfrm>
      </p:grpSpPr>
      <p:sp>
        <p:nvSpPr>
          <p:cNvPr id="38914" name="Google Shape;350;p10:notes">
            <a:extLst>
              <a:ext uri="{FF2B5EF4-FFF2-40B4-BE49-F238E27FC236}">
                <a16:creationId xmlns:a16="http://schemas.microsoft.com/office/drawing/2014/main" id="{D2ABD074-B822-4A64-B406-4F0A1D527FFF}"/>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8915" name="Google Shape;351;p10:notes">
            <a:extLst>
              <a:ext uri="{FF2B5EF4-FFF2-40B4-BE49-F238E27FC236}">
                <a16:creationId xmlns:a16="http://schemas.microsoft.com/office/drawing/2014/main" id="{632D6B59-A485-9CDF-D69C-AF7C01C8A31B}"/>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extLst>
      <p:ext uri="{BB962C8B-B14F-4D97-AF65-F5344CB8AC3E}">
        <p14:creationId xmlns:p14="http://schemas.microsoft.com/office/powerpoint/2010/main" val="1363988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72A8656B-8825-6FF3-75C5-3FF72D70384B}"/>
            </a:ext>
          </a:extLst>
        </p:cNvPr>
        <p:cNvGrpSpPr/>
        <p:nvPr/>
      </p:nvGrpSpPr>
      <p:grpSpPr>
        <a:xfrm>
          <a:off x="0" y="0"/>
          <a:ext cx="0" cy="0"/>
          <a:chOff x="0" y="0"/>
          <a:chExt cx="0" cy="0"/>
        </a:xfrm>
      </p:grpSpPr>
      <p:sp>
        <p:nvSpPr>
          <p:cNvPr id="38914" name="Google Shape;350;p10:notes">
            <a:extLst>
              <a:ext uri="{FF2B5EF4-FFF2-40B4-BE49-F238E27FC236}">
                <a16:creationId xmlns:a16="http://schemas.microsoft.com/office/drawing/2014/main" id="{0A2F40DC-D400-9FE1-156A-AACD4943A232}"/>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8915" name="Google Shape;351;p10:notes">
            <a:extLst>
              <a:ext uri="{FF2B5EF4-FFF2-40B4-BE49-F238E27FC236}">
                <a16:creationId xmlns:a16="http://schemas.microsoft.com/office/drawing/2014/main" id="{671315F6-731A-60C5-9DD4-0FE414886487}"/>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extLst>
      <p:ext uri="{BB962C8B-B14F-4D97-AF65-F5344CB8AC3E}">
        <p14:creationId xmlns:p14="http://schemas.microsoft.com/office/powerpoint/2010/main" val="3657942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187BFEC0-04CD-2A1B-3792-009D293B1302}"/>
            </a:ext>
          </a:extLst>
        </p:cNvPr>
        <p:cNvGrpSpPr/>
        <p:nvPr/>
      </p:nvGrpSpPr>
      <p:grpSpPr>
        <a:xfrm>
          <a:off x="0" y="0"/>
          <a:ext cx="0" cy="0"/>
          <a:chOff x="0" y="0"/>
          <a:chExt cx="0" cy="0"/>
        </a:xfrm>
      </p:grpSpPr>
      <p:sp>
        <p:nvSpPr>
          <p:cNvPr id="38914" name="Google Shape;350;p10:notes">
            <a:extLst>
              <a:ext uri="{FF2B5EF4-FFF2-40B4-BE49-F238E27FC236}">
                <a16:creationId xmlns:a16="http://schemas.microsoft.com/office/drawing/2014/main" id="{F5F968DC-AACF-E447-BC61-3FC6FFDC0B44}"/>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38915" name="Google Shape;351;p10:notes">
            <a:extLst>
              <a:ext uri="{FF2B5EF4-FFF2-40B4-BE49-F238E27FC236}">
                <a16:creationId xmlns:a16="http://schemas.microsoft.com/office/drawing/2014/main" id="{D7BAD0CC-2A6B-D5CC-4F69-1AE601C6558C}"/>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extLst>
      <p:ext uri="{BB962C8B-B14F-4D97-AF65-F5344CB8AC3E}">
        <p14:creationId xmlns:p14="http://schemas.microsoft.com/office/powerpoint/2010/main" val="18340803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Google Shape;350;p10:notes">
            <a:extLst>
              <a:ext uri="{FF2B5EF4-FFF2-40B4-BE49-F238E27FC236}">
                <a16:creationId xmlns:a16="http://schemas.microsoft.com/office/drawing/2014/main" id="{E9FF495B-2F83-F602-35D9-92FEF5FAB513}"/>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40963" name="Google Shape;351;p10:notes">
            <a:extLst>
              <a:ext uri="{FF2B5EF4-FFF2-40B4-BE49-F238E27FC236}">
                <a16:creationId xmlns:a16="http://schemas.microsoft.com/office/drawing/2014/main" id="{847E533D-E738-6F21-2FE9-25191F62695F}"/>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9596AF1B-E820-F264-2244-F162DAFF9320}"/>
            </a:ext>
          </a:extLst>
        </p:cNvPr>
        <p:cNvGrpSpPr/>
        <p:nvPr/>
      </p:nvGrpSpPr>
      <p:grpSpPr>
        <a:xfrm>
          <a:off x="0" y="0"/>
          <a:ext cx="0" cy="0"/>
          <a:chOff x="0" y="0"/>
          <a:chExt cx="0" cy="0"/>
        </a:xfrm>
      </p:grpSpPr>
      <p:sp>
        <p:nvSpPr>
          <p:cNvPr id="40962" name="Google Shape;350;p10:notes">
            <a:extLst>
              <a:ext uri="{FF2B5EF4-FFF2-40B4-BE49-F238E27FC236}">
                <a16:creationId xmlns:a16="http://schemas.microsoft.com/office/drawing/2014/main" id="{AB4104BE-BCAE-36F4-2D33-75B45D476A12}"/>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40963" name="Google Shape;351;p10:notes">
            <a:extLst>
              <a:ext uri="{FF2B5EF4-FFF2-40B4-BE49-F238E27FC236}">
                <a16:creationId xmlns:a16="http://schemas.microsoft.com/office/drawing/2014/main" id="{B813678C-67E0-629B-45C7-FA72BB96BA11}"/>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extLst>
      <p:ext uri="{BB962C8B-B14F-4D97-AF65-F5344CB8AC3E}">
        <p14:creationId xmlns:p14="http://schemas.microsoft.com/office/powerpoint/2010/main" val="449625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0" name="Google Shape;350;p10:notes">
            <a:extLst>
              <a:ext uri="{FF2B5EF4-FFF2-40B4-BE49-F238E27FC236}">
                <a16:creationId xmlns:a16="http://schemas.microsoft.com/office/drawing/2014/main" id="{C0366747-7375-F297-B59B-9A9F16D8BE29}"/>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43011" name="Google Shape;351;p10:notes">
            <a:extLst>
              <a:ext uri="{FF2B5EF4-FFF2-40B4-BE49-F238E27FC236}">
                <a16:creationId xmlns:a16="http://schemas.microsoft.com/office/drawing/2014/main" id="{10E70AD1-57D8-5473-F050-6A64125C0357}"/>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Google Shape;350;p10:notes">
            <a:extLst>
              <a:ext uri="{FF2B5EF4-FFF2-40B4-BE49-F238E27FC236}">
                <a16:creationId xmlns:a16="http://schemas.microsoft.com/office/drawing/2014/main" id="{5D30D7ED-0C07-7656-DEE4-CA118D01EF4D}"/>
              </a:ext>
            </a:extLst>
          </p:cNvPr>
          <p:cNvSpPr txBox="1">
            <a:spLocks noGrp="1"/>
          </p:cNvSpPr>
          <p:nvPr>
            <p:ph type="body" idx="1"/>
          </p:nvPr>
        </p:nvSpPr>
        <p:spPr>
          <a:xfrm>
            <a:off x="914400" y="3251200"/>
            <a:ext cx="7315200" cy="3081338"/>
          </a:xfrm>
        </p:spPr>
        <p:txBody>
          <a:bodyPr tIns="45700" bIns="45700"/>
          <a:lstStyle/>
          <a:p>
            <a:pPr marL="0" indent="0"/>
            <a:endParaRPr lang="en-US" altLang="en-US">
              <a:latin typeface="Arial" panose="020B0604020202020204" pitchFamily="34" charset="0"/>
              <a:cs typeface="Arial" panose="020B0604020202020204" pitchFamily="34" charset="0"/>
            </a:endParaRPr>
          </a:p>
        </p:txBody>
      </p:sp>
      <p:sp>
        <p:nvSpPr>
          <p:cNvPr id="45059" name="Google Shape;351;p10:notes">
            <a:extLst>
              <a:ext uri="{FF2B5EF4-FFF2-40B4-BE49-F238E27FC236}">
                <a16:creationId xmlns:a16="http://schemas.microsoft.com/office/drawing/2014/main" id="{9AAB137B-2CFC-F46D-696D-3FE9A3BB95A3}"/>
              </a:ext>
            </a:extLst>
          </p:cNvPr>
          <p:cNvSpPr>
            <a:spLocks noGrp="1" noRot="1" noChangeAspect="1" noTextEdit="1"/>
          </p:cNvSpPr>
          <p:nvPr>
            <p:ph type="sldImg" idx="2"/>
          </p:nvPr>
        </p:nvSpPr>
        <p:spPr>
          <a:xfrm>
            <a:off x="2290763" y="512763"/>
            <a:ext cx="4562475" cy="2566987"/>
          </a:xfrm>
          <a:custGeom>
            <a:avLst/>
            <a:gdLst>
              <a:gd name="T0" fmla="*/ 0 w 120000"/>
              <a:gd name="T1" fmla="*/ 0 h 120000"/>
              <a:gd name="T2" fmla="*/ 2147483646 w 120000"/>
              <a:gd name="T3" fmla="*/ 0 h 120000"/>
              <a:gd name="T4" fmla="*/ 2147483646 w 120000"/>
              <a:gd name="T5" fmla="*/ 1174650085 h 120000"/>
              <a:gd name="T6" fmla="*/ 0 w 120000"/>
              <a:gd name="T7" fmla="*/ 117465008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headEnd/>
            <a:tailEnd/>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49C73F61-D314-3579-A314-920945AE70C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72A95C07-12CE-932F-A6FF-FA7F801A2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C556461-BC14-1014-04EF-A141324B7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037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79D5018C-57F8-566E-E5B7-23C181761D73}"/>
              </a:ext>
            </a:extLst>
          </p:cNvPr>
          <p:cNvSpPr txBox="1">
            <a:spLocks noGrp="1"/>
          </p:cNvSpPr>
          <p:nvPr>
            <p:ph type="sldNum" idx="14"/>
          </p:nvPr>
        </p:nvSpPr>
        <p:spPr/>
        <p:txBody>
          <a:bodyPr/>
          <a:lstStyle>
            <a:lvl1pPr>
              <a:defRPr/>
            </a:lvl1pPr>
          </a:lstStyle>
          <a:p>
            <a:pPr>
              <a:defRPr/>
            </a:pPr>
            <a:fld id="{EF26C623-DE27-4A99-8424-AFD36C142E5A}"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60F15494-8374-819B-5661-D082F4F305F8}"/>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1212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2" name="Google Shape;16;p14">
            <a:extLst>
              <a:ext uri="{FF2B5EF4-FFF2-40B4-BE49-F238E27FC236}">
                <a16:creationId xmlns:a16="http://schemas.microsoft.com/office/drawing/2014/main" id="{E09B6DD5-8D08-D520-9B2E-6067CAD1C881}"/>
              </a:ext>
            </a:extLst>
          </p:cNvPr>
          <p:cNvSpPr txBox="1">
            <a:spLocks noGrp="1"/>
          </p:cNvSpPr>
          <p:nvPr>
            <p:ph type="dt" idx="10"/>
          </p:nvPr>
        </p:nvSpPr>
        <p:spPr>
          <a:xfrm>
            <a:off x="228600" y="3178175"/>
            <a:ext cx="1066800" cy="182563"/>
          </a:xfrm>
          <a:prstGeom prst="rect">
            <a:avLst/>
          </a:prstGeom>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 name="Google Shape;17;p14">
            <a:extLst>
              <a:ext uri="{FF2B5EF4-FFF2-40B4-BE49-F238E27FC236}">
                <a16:creationId xmlns:a16="http://schemas.microsoft.com/office/drawing/2014/main" id="{DEF90AD0-974B-4CB5-9131-A150B56BE1E8}"/>
              </a:ext>
            </a:extLst>
          </p:cNvPr>
          <p:cNvSpPr txBox="1">
            <a:spLocks noGrp="1"/>
          </p:cNvSpPr>
          <p:nvPr>
            <p:ph type="ftr" idx="11"/>
          </p:nvPr>
        </p:nvSpPr>
        <p:spPr>
          <a:xfrm>
            <a:off x="1562100" y="3178175"/>
            <a:ext cx="1447800" cy="182563"/>
          </a:xfrm>
          <a:prstGeom prst="rect">
            <a:avLst/>
          </a:prstGeom>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 name="Google Shape;18;p14">
            <a:extLst>
              <a:ext uri="{FF2B5EF4-FFF2-40B4-BE49-F238E27FC236}">
                <a16:creationId xmlns:a16="http://schemas.microsoft.com/office/drawing/2014/main" id="{92A5D899-7634-9EC5-C825-CC46F6DB6F34}"/>
              </a:ext>
            </a:extLst>
          </p:cNvPr>
          <p:cNvSpPr txBox="1">
            <a:spLocks noGrp="1"/>
          </p:cNvSpPr>
          <p:nvPr>
            <p:ph type="sldNum" idx="12"/>
          </p:nvPr>
        </p:nvSpPr>
        <p:spPr>
          <a:xfrm>
            <a:off x="3276600" y="3178175"/>
            <a:ext cx="1066800" cy="182563"/>
          </a:xfrm>
        </p:spPr>
        <p:txBody>
          <a:bodyPr spcFirstLastPara="1" tIns="45700" bIns="45700">
            <a:noAutofit/>
          </a:bodyPr>
          <a:lstStyle>
            <a:lvl1pPr marL="0" lvl="0" indent="0" algn="r">
              <a:spcBef>
                <a:spcPts val="0"/>
              </a:spcBef>
              <a:spcAft>
                <a:spcPts val="0"/>
              </a:spcAft>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pPr>
            <a:fld id="{AB5C6F64-D26D-4FBC-90B6-E341FAA65E65}" type="slidenum">
              <a:rPr lang="en-US"/>
              <a:pPr>
                <a:defRPr/>
              </a:pPr>
              <a:t>‹#›</a:t>
            </a:fld>
            <a:endParaRPr lang="en-US"/>
          </a:p>
        </p:txBody>
      </p:sp>
    </p:spTree>
    <p:extLst>
      <p:ext uri="{BB962C8B-B14F-4D97-AF65-F5344CB8AC3E}">
        <p14:creationId xmlns:p14="http://schemas.microsoft.com/office/powerpoint/2010/main" val="343203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CBF7C-7AD7-00C3-49F8-D9871E035D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4869CB-B849-69F5-513C-AC43BB421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AC9123-D4EA-E5F9-3A97-1E83B990576C}"/>
              </a:ext>
            </a:extLst>
          </p:cNvPr>
          <p:cNvSpPr>
            <a:spLocks noGrp="1"/>
          </p:cNvSpPr>
          <p:nvPr>
            <p:ph type="dt" sz="half" idx="10"/>
          </p:nvPr>
        </p:nvSpPr>
        <p:spPr/>
        <p:txBody>
          <a:bodyPr/>
          <a:lstStyle/>
          <a:p>
            <a:fld id="{1B918C7F-1A8C-45AE-8D0B-3C750A743643}" type="datetimeFigureOut">
              <a:rPr lang="en-IN" smtClean="0"/>
              <a:t>10-04-2026</a:t>
            </a:fld>
            <a:endParaRPr lang="en-IN"/>
          </a:p>
        </p:txBody>
      </p:sp>
      <p:sp>
        <p:nvSpPr>
          <p:cNvPr id="5" name="Footer Placeholder 4">
            <a:extLst>
              <a:ext uri="{FF2B5EF4-FFF2-40B4-BE49-F238E27FC236}">
                <a16:creationId xmlns:a16="http://schemas.microsoft.com/office/drawing/2014/main" id="{0336527B-71B3-AAA4-E2A6-58743D0420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066833-C6E3-A554-F910-EF18C0822508}"/>
              </a:ext>
            </a:extLst>
          </p:cNvPr>
          <p:cNvSpPr>
            <a:spLocks noGrp="1"/>
          </p:cNvSpPr>
          <p:nvPr>
            <p:ph type="sldNum" sz="quarter" idx="12"/>
          </p:nvPr>
        </p:nvSpPr>
        <p:spPr/>
        <p:txBody>
          <a:bodyPr/>
          <a:lstStyle/>
          <a:p>
            <a:fld id="{BE264D09-6ED5-4883-B701-F064FBA41DE9}" type="slidenum">
              <a:rPr lang="en-IN" smtClean="0"/>
              <a:t>‹#›</a:t>
            </a:fld>
            <a:endParaRPr lang="en-IN"/>
          </a:p>
        </p:txBody>
      </p:sp>
    </p:spTree>
    <p:extLst>
      <p:ext uri="{BB962C8B-B14F-4D97-AF65-F5344CB8AC3E}">
        <p14:creationId xmlns:p14="http://schemas.microsoft.com/office/powerpoint/2010/main" val="1465803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2889FD44-A889-F88E-556B-A6A44817A661}"/>
              </a:ext>
            </a:extLst>
          </p:cNvPr>
          <p:cNvSpPr txBox="1">
            <a:spLocks noGrp="1"/>
          </p:cNvSpPr>
          <p:nvPr>
            <p:ph type="sldNum" idx="14"/>
          </p:nvPr>
        </p:nvSpPr>
        <p:spPr/>
        <p:txBody>
          <a:bodyPr/>
          <a:lstStyle>
            <a:lvl1pPr>
              <a:defRPr/>
            </a:lvl1pPr>
          </a:lstStyle>
          <a:p>
            <a:pPr>
              <a:defRPr/>
            </a:pPr>
            <a:fld id="{D5896B3D-14F3-4684-B2DE-8C3CCD918DA3}"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FB83809B-2980-F975-442F-239F37A0660C}"/>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5122064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5"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jp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customXml" Target="../ink/ink1.xml"/><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drive.google.com/drive/folders/1NkzuSWDlQ8ziNvUlnM8KT4Z8bPD-vxAI?usp=sharing" TargetMode="Externa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27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Project Work</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0" y="2571750"/>
            <a:ext cx="9144000" cy="523875"/>
          </a:xfrm>
          <a:prstGeom prst="rect">
            <a:avLst/>
          </a:prstGeom>
          <a:noFill/>
          <a:ln>
            <a:noFill/>
          </a:ln>
        </p:spPr>
        <p:txBody>
          <a:bodyPr spcFirstLastPara="1" wrap="square" lIns="91425" tIns="91425" rIns="91425" bIns="91425" anchor="t" anchorCtr="0">
            <a:noAutofit/>
          </a:bodyPr>
          <a:lstStyle/>
          <a:p>
            <a:pPr marL="0" indent="0" algn="ctr" eaLnBrk="1" hangingPunct="1">
              <a:lnSpc>
                <a:spcPct val="115000"/>
              </a:lnSpc>
              <a:buClr>
                <a:srgbClr val="595959"/>
              </a:buClr>
              <a:buSzPts val="1800"/>
              <a:defRPr/>
            </a:pPr>
            <a:r>
              <a:rPr lang="en-US" altLang="en-US" sz="2400" b="1" dirty="0">
                <a:solidFill>
                  <a:schemeClr val="accent1">
                    <a:lumMod val="75000"/>
                  </a:schemeClr>
                </a:solidFill>
                <a:latin typeface="Times New Roman" panose="02020603050405020304" pitchFamily="18" charset="0"/>
                <a:cs typeface="Times New Roman" panose="02020603050405020304" pitchFamily="18" charset="0"/>
              </a:rPr>
              <a:t>Review 4: Execution Cycle 1 Presentation</a:t>
            </a:r>
          </a:p>
        </p:txBody>
      </p:sp>
      <p:sp>
        <p:nvSpPr>
          <p:cNvPr id="30" name="Google Shape;30;p1"/>
          <p:cNvSpPr txBox="1"/>
          <p:nvPr/>
        </p:nvSpPr>
        <p:spPr>
          <a:xfrm>
            <a:off x="301625" y="3609268"/>
            <a:ext cx="4260900" cy="1419932"/>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1. R.Sravya(23241A67J3)</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2. P.Shivani(24245A6718)</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3. M.Lohitha(23241A67G5)</a:t>
            </a:r>
            <a:endParaRPr lang="it-IT" sz="1600" dirty="0">
              <a:solidFill>
                <a:schemeClr val="dk1"/>
              </a:solidFill>
            </a:endParaRPr>
          </a:p>
          <a:p>
            <a:pPr marL="0" lvl="0" indent="0" algn="l" rtl="0">
              <a:spcBef>
                <a:spcPts val="0"/>
              </a:spcBef>
              <a:spcAft>
                <a:spcPts val="0"/>
              </a:spcAft>
              <a:buClr>
                <a:schemeClr val="dk1"/>
              </a:buClr>
              <a:buSzPts val="1600"/>
              <a:buFont typeface="Times New Roman"/>
              <a:buNone/>
            </a:pPr>
            <a:endParaRPr dirty="0"/>
          </a:p>
        </p:txBody>
      </p:sp>
      <p:sp>
        <p:nvSpPr>
          <p:cNvPr id="31" name="Google Shape;31;p1"/>
          <p:cNvSpPr txBox="1"/>
          <p:nvPr/>
        </p:nvSpPr>
        <p:spPr>
          <a:xfrm>
            <a:off x="5689600" y="3609268"/>
            <a:ext cx="3294062" cy="1419932"/>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Name: Dr. M. Kiran Kumar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Designation : Associate Professor,</a:t>
            </a:r>
          </a:p>
          <a:p>
            <a:pPr lvl="0">
              <a:lnSpc>
                <a:spcPct val="90000"/>
              </a:lnSpc>
              <a:buClr>
                <a:srgbClr val="006600"/>
              </a:buClr>
              <a:buSzPts val="1600"/>
            </a:pPr>
            <a:r>
              <a:rPr lang="en-US" sz="1600" b="1" dirty="0">
                <a:solidFill>
                  <a:srgbClr val="006600"/>
                </a:solidFill>
                <a:latin typeface="Times New Roman"/>
                <a:cs typeface="Times New Roman"/>
                <a:sym typeface="Times New Roman"/>
              </a:rPr>
              <a:t>                        Dean AAC</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Department: DS</a:t>
            </a:r>
            <a:endParaRPr lang="en-US" sz="1600" b="1"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rgbClr val="006600"/>
              </a:buClr>
              <a:buSzPts val="1600"/>
              <a:buFont typeface="Times New Roman"/>
              <a:buNone/>
            </a:pP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2" name="Google Shape;29;p1">
            <a:extLst>
              <a:ext uri="{FF2B5EF4-FFF2-40B4-BE49-F238E27FC236}">
                <a16:creationId xmlns:a16="http://schemas.microsoft.com/office/drawing/2014/main" id="{4E4E8026-6D09-B9F9-7CEF-C9E669326CBF}"/>
              </a:ext>
            </a:extLst>
          </p:cNvPr>
          <p:cNvSpPr txBox="1">
            <a:spLocks/>
          </p:cNvSpPr>
          <p:nvPr/>
        </p:nvSpPr>
        <p:spPr>
          <a:xfrm>
            <a:off x="5644" y="3085393"/>
            <a:ext cx="1992489" cy="5238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indent="0">
              <a:lnSpc>
                <a:spcPct val="115000"/>
              </a:lnSpc>
              <a:buSzPts val="2200"/>
            </a:pPr>
            <a:r>
              <a:rPr lang="en-US" sz="1800" b="1" dirty="0">
                <a:solidFill>
                  <a:srgbClr val="0D5BDC"/>
                </a:solidFill>
                <a:latin typeface="Times New Roman"/>
                <a:ea typeface="Times New Roman"/>
                <a:cs typeface="Times New Roman"/>
                <a:sym typeface="Times New Roman"/>
              </a:rPr>
              <a:t>Batch No - 16  </a:t>
            </a:r>
            <a:endParaRPr lang="en-US" sz="1800" dirty="0"/>
          </a:p>
          <a:p>
            <a:pPr marL="0" indent="0" algn="ctr">
              <a:lnSpc>
                <a:spcPct val="115000"/>
              </a:lnSpc>
              <a:buSzPts val="2200"/>
            </a:pPr>
            <a:endParaRPr lang="en-US" sz="2200" b="1" dirty="0">
              <a:solidFill>
                <a:srgbClr val="0D5BDC"/>
              </a:solidFill>
              <a:latin typeface="Times New Roman"/>
              <a:ea typeface="Times New Roman"/>
              <a:cs typeface="Times New Roman"/>
              <a:sym typeface="Times New Roman"/>
            </a:endParaRPr>
          </a:p>
          <a:p>
            <a:pPr marL="342900" indent="-342900"/>
            <a:endParaRPr lang="en-US" sz="2200" b="1" dirty="0">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IN" sz="3200" b="1" dirty="0">
                <a:latin typeface="Times New Roman" panose="02020603050405020304" pitchFamily="18" charset="0"/>
                <a:cs typeface="Times New Roman" panose="02020603050405020304" pitchFamily="18" charset="0"/>
              </a:rPr>
              <a:t>Diabetes Severity Prediction using </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Retinal Images </a:t>
            </a:r>
            <a:br>
              <a:rPr lang="en-IN" sz="3200" dirty="0"/>
            </a:br>
            <a:endParaRPr dirty="0"/>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Introduction</a:t>
            </a:r>
            <a:endParaRPr dirty="0"/>
          </a:p>
        </p:txBody>
      </p:sp>
      <p:sp>
        <p:nvSpPr>
          <p:cNvPr id="44" name="Google Shape;44;p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5" name="Text Placeholder 4">
            <a:extLst>
              <a:ext uri="{FF2B5EF4-FFF2-40B4-BE49-F238E27FC236}">
                <a16:creationId xmlns:a16="http://schemas.microsoft.com/office/drawing/2014/main" id="{845E921E-33C8-8311-43C1-54574A12F395}"/>
              </a:ext>
            </a:extLst>
          </p:cNvPr>
          <p:cNvSpPr>
            <a:spLocks noGrp="1" noChangeArrowheads="1"/>
          </p:cNvSpPr>
          <p:nvPr>
            <p:ph type="body" idx="1"/>
          </p:nvPr>
        </p:nvSpPr>
        <p:spPr bwMode="auto">
          <a:xfrm>
            <a:off x="473529" y="947727"/>
            <a:ext cx="810664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Diabetes is a chronic disease that requires continuous long-term monitoring to prevent serious complications.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Blood glucose tests provide temporary readings and can vary due to factors such as diet, stress, and time of measurement.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Prolonged diabetes causes permanent damage to retinal blood vessels, leading to diabetic retinopathy.</a:t>
            </a:r>
          </a:p>
          <a:p>
            <a:pPr marL="342900" lvl="0" indent="-342900" algn="just"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Retinal fundus images clearly capture stable features such as microaneurysms, hard exudates, soft exudates, h</a:t>
            </a:r>
            <a:r>
              <a:rPr lang="en-US" sz="1800" dirty="0">
                <a:latin typeface="Times New Roman" panose="02020603050405020304" pitchFamily="18" charset="0"/>
                <a:cs typeface="Times New Roman" panose="02020603050405020304" pitchFamily="18" charset="0"/>
              </a:rPr>
              <a:t>emorrhages, IRMA, neovascularization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retinal abnormalities reflect long-term glucose exposure and indicate disease progression.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retinal image analysis provides a reliable and non-invasive method for assessing diabetes severity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20D452-67C4-99ED-3FBF-FB7B8C6C10C0}"/>
              </a:ext>
            </a:extLst>
          </p:cNvPr>
          <p:cNvSpPr>
            <a:spLocks noGrp="1"/>
          </p:cNvSpPr>
          <p:nvPr>
            <p:ph type="sldNum" idx="14"/>
          </p:nvPr>
        </p:nvSpPr>
        <p:spPr/>
        <p:txBody>
          <a:bodyPr/>
          <a:lstStyle/>
          <a:p>
            <a:pPr>
              <a:defRPr/>
            </a:pPr>
            <a:fld id="{EF26C623-DE27-4A99-8424-AFD36C142E5A}" type="slidenum">
              <a:rPr lang="en-US" altLang="en-US" smtClean="0"/>
              <a:pPr>
                <a:defRPr/>
              </a:pPr>
              <a:t>4</a:t>
            </a:fld>
            <a:endParaRPr lang="en-US" altLang="en-US"/>
          </a:p>
        </p:txBody>
      </p:sp>
      <p:sp>
        <p:nvSpPr>
          <p:cNvPr id="7" name="TextBox 6">
            <a:extLst>
              <a:ext uri="{FF2B5EF4-FFF2-40B4-BE49-F238E27FC236}">
                <a16:creationId xmlns:a16="http://schemas.microsoft.com/office/drawing/2014/main" id="{155833F5-AE02-E818-5DAB-E2A99D6933B9}"/>
              </a:ext>
            </a:extLst>
          </p:cNvPr>
          <p:cNvSpPr txBox="1"/>
          <p:nvPr/>
        </p:nvSpPr>
        <p:spPr>
          <a:xfrm>
            <a:off x="467544" y="3857305"/>
            <a:ext cx="8770242" cy="646331"/>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Fundus images of different types of capillary abnormalities 1.Microaneurysms, 2.HardExudates, 3.Soft Exudates, 4.Hemorrhages, 5.IRMA, 6.Neovascularization</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1097A4F-7FC8-5749-4B89-BA7B2F2761DB}"/>
              </a:ext>
            </a:extLst>
          </p:cNvPr>
          <p:cNvPicPr>
            <a:picLocks noChangeAspect="1"/>
          </p:cNvPicPr>
          <p:nvPr/>
        </p:nvPicPr>
        <p:blipFill>
          <a:blip r:embed="rId2"/>
          <a:stretch>
            <a:fillRect/>
          </a:stretch>
        </p:blipFill>
        <p:spPr>
          <a:xfrm>
            <a:off x="3635895" y="2216843"/>
            <a:ext cx="1755233" cy="1450219"/>
          </a:xfrm>
          <a:prstGeom prst="rect">
            <a:avLst/>
          </a:prstGeom>
        </p:spPr>
      </p:pic>
      <p:pic>
        <p:nvPicPr>
          <p:cNvPr id="8" name="Picture 7">
            <a:extLst>
              <a:ext uri="{FF2B5EF4-FFF2-40B4-BE49-F238E27FC236}">
                <a16:creationId xmlns:a16="http://schemas.microsoft.com/office/drawing/2014/main" id="{0791E038-8EB2-7579-A207-FD1DC716B306}"/>
              </a:ext>
            </a:extLst>
          </p:cNvPr>
          <p:cNvPicPr>
            <a:picLocks noChangeAspect="1"/>
          </p:cNvPicPr>
          <p:nvPr/>
        </p:nvPicPr>
        <p:blipFill>
          <a:blip r:embed="rId3"/>
          <a:stretch>
            <a:fillRect/>
          </a:stretch>
        </p:blipFill>
        <p:spPr>
          <a:xfrm>
            <a:off x="1619672" y="464106"/>
            <a:ext cx="1790560" cy="1542109"/>
          </a:xfrm>
          <a:prstGeom prst="rect">
            <a:avLst/>
          </a:prstGeom>
        </p:spPr>
      </p:pic>
      <p:pic>
        <p:nvPicPr>
          <p:cNvPr id="12" name="Picture 11">
            <a:extLst>
              <a:ext uri="{FF2B5EF4-FFF2-40B4-BE49-F238E27FC236}">
                <a16:creationId xmlns:a16="http://schemas.microsoft.com/office/drawing/2014/main" id="{3F4DE61D-DF8C-6B4C-0F6A-A43372060457}"/>
              </a:ext>
            </a:extLst>
          </p:cNvPr>
          <p:cNvPicPr>
            <a:picLocks noChangeAspect="1"/>
          </p:cNvPicPr>
          <p:nvPr/>
        </p:nvPicPr>
        <p:blipFill>
          <a:blip r:embed="rId4"/>
          <a:stretch>
            <a:fillRect/>
          </a:stretch>
        </p:blipFill>
        <p:spPr>
          <a:xfrm>
            <a:off x="3635895" y="462980"/>
            <a:ext cx="1755233" cy="1542109"/>
          </a:xfrm>
          <a:prstGeom prst="rect">
            <a:avLst/>
          </a:prstGeom>
        </p:spPr>
      </p:pic>
      <p:pic>
        <p:nvPicPr>
          <p:cNvPr id="14" name="Picture 13">
            <a:extLst>
              <a:ext uri="{FF2B5EF4-FFF2-40B4-BE49-F238E27FC236}">
                <a16:creationId xmlns:a16="http://schemas.microsoft.com/office/drawing/2014/main" id="{29D0A461-9035-8977-9BEF-9BAF514EE80C}"/>
              </a:ext>
            </a:extLst>
          </p:cNvPr>
          <p:cNvPicPr>
            <a:picLocks noChangeAspect="1"/>
          </p:cNvPicPr>
          <p:nvPr/>
        </p:nvPicPr>
        <p:blipFill>
          <a:blip r:embed="rId5"/>
          <a:stretch>
            <a:fillRect/>
          </a:stretch>
        </p:blipFill>
        <p:spPr>
          <a:xfrm>
            <a:off x="5537984" y="462980"/>
            <a:ext cx="1832521" cy="1542109"/>
          </a:xfrm>
          <a:prstGeom prst="rect">
            <a:avLst/>
          </a:prstGeom>
        </p:spPr>
      </p:pic>
      <p:pic>
        <p:nvPicPr>
          <p:cNvPr id="16" name="Picture 15">
            <a:extLst>
              <a:ext uri="{FF2B5EF4-FFF2-40B4-BE49-F238E27FC236}">
                <a16:creationId xmlns:a16="http://schemas.microsoft.com/office/drawing/2014/main" id="{E00DA8A4-9280-89C4-B97F-00C60CA8B33C}"/>
              </a:ext>
            </a:extLst>
          </p:cNvPr>
          <p:cNvPicPr>
            <a:picLocks noChangeAspect="1"/>
          </p:cNvPicPr>
          <p:nvPr/>
        </p:nvPicPr>
        <p:blipFill>
          <a:blip r:embed="rId6"/>
          <a:stretch>
            <a:fillRect/>
          </a:stretch>
        </p:blipFill>
        <p:spPr>
          <a:xfrm>
            <a:off x="1619672" y="2216843"/>
            <a:ext cx="1790560" cy="1450219"/>
          </a:xfrm>
          <a:prstGeom prst="rect">
            <a:avLst/>
          </a:prstGeom>
        </p:spPr>
      </p:pic>
      <p:pic>
        <p:nvPicPr>
          <p:cNvPr id="20" name="Picture 19">
            <a:extLst>
              <a:ext uri="{FF2B5EF4-FFF2-40B4-BE49-F238E27FC236}">
                <a16:creationId xmlns:a16="http://schemas.microsoft.com/office/drawing/2014/main" id="{C869E5DB-FABC-5077-C3F2-C6728800BDFC}"/>
              </a:ext>
            </a:extLst>
          </p:cNvPr>
          <p:cNvPicPr>
            <a:picLocks noChangeAspect="1"/>
          </p:cNvPicPr>
          <p:nvPr/>
        </p:nvPicPr>
        <p:blipFill>
          <a:blip r:embed="rId7"/>
          <a:stretch>
            <a:fillRect/>
          </a:stretch>
        </p:blipFill>
        <p:spPr>
          <a:xfrm>
            <a:off x="5579945" y="2202010"/>
            <a:ext cx="1790560" cy="1458374"/>
          </a:xfrm>
          <a:prstGeom prst="rect">
            <a:avLst/>
          </a:prstGeom>
        </p:spPr>
      </p:pic>
    </p:spTree>
    <p:extLst>
      <p:ext uri="{BB962C8B-B14F-4D97-AF65-F5344CB8AC3E}">
        <p14:creationId xmlns:p14="http://schemas.microsoft.com/office/powerpoint/2010/main" val="2247489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3585-FFDF-93BC-D450-B70296867BE3}"/>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p>
        </p:txBody>
      </p:sp>
      <p:sp>
        <p:nvSpPr>
          <p:cNvPr id="3" name="Text Placeholder 2">
            <a:extLst>
              <a:ext uri="{FF2B5EF4-FFF2-40B4-BE49-F238E27FC236}">
                <a16:creationId xmlns:a16="http://schemas.microsoft.com/office/drawing/2014/main" id="{4EE8C5C5-F74F-361B-BE19-7DA7FBBACE39}"/>
              </a:ext>
            </a:extLst>
          </p:cNvPr>
          <p:cNvSpPr>
            <a:spLocks noGrp="1"/>
          </p:cNvSpPr>
          <p:nvPr>
            <p:ph type="body" sz="quarter" idx="13"/>
          </p:nvPr>
        </p:nvSpPr>
        <p:spPr>
          <a:xfrm>
            <a:off x="156369" y="807720"/>
            <a:ext cx="8831262" cy="3924300"/>
          </a:xfrm>
        </p:spPr>
        <p:txBody>
          <a:bodyPr/>
          <a:lstStyle/>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[1] Title :A Deep Learning System for Predicting Time to Progression of Diabetic Retinopathy(2024)</a:t>
            </a:r>
          </a:p>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Problem:</a:t>
            </a: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The progression of diabetic retinopathy varies significantly among individuals, making it difficult to predict disease worsening and optimize screening intervals.</a:t>
            </a:r>
          </a:p>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Approach:</a:t>
            </a: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Uses deep learning models trained on longitudinal fundus images to predict the time to diabetic retinopathy progression.</a:t>
            </a:r>
          </a:p>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Achievement:</a:t>
            </a: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The system achieves high predictive performance and enables personalized screening intervals, potentially reducing unnecessary frequent screenings while maintaining patient safety.</a:t>
            </a: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E854D27F-BF6D-EE64-1327-5B621FF916F8}"/>
              </a:ext>
            </a:extLst>
          </p:cNvPr>
          <p:cNvSpPr>
            <a:spLocks noGrp="1"/>
          </p:cNvSpPr>
          <p:nvPr>
            <p:ph type="sldNum" idx="14"/>
          </p:nvPr>
        </p:nvSpPr>
        <p:spPr/>
        <p:txBody>
          <a:bodyPr/>
          <a:lstStyle/>
          <a:p>
            <a:pPr>
              <a:defRPr/>
            </a:pPr>
            <a:fld id="{EF26C623-DE27-4A99-8424-AFD36C142E5A}" type="slidenum">
              <a:rPr lang="en-US" altLang="en-US" smtClean="0"/>
              <a:pPr>
                <a:defRPr/>
              </a:pPr>
              <a:t>5</a:t>
            </a:fld>
            <a:endParaRPr lang="en-US" altLang="en-US"/>
          </a:p>
        </p:txBody>
      </p:sp>
    </p:spTree>
    <p:extLst>
      <p:ext uri="{BB962C8B-B14F-4D97-AF65-F5344CB8AC3E}">
        <p14:creationId xmlns:p14="http://schemas.microsoft.com/office/powerpoint/2010/main" val="111458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0C1304B-E03C-8903-D002-0706EEED05F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589EB08-967C-C56D-0967-33712A36F7C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lvl="0"/>
            <a:r>
              <a:rPr lang="en-IN" dirty="0"/>
              <a:t>Literature review</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dirty="0"/>
          </a:p>
        </p:txBody>
      </p:sp>
      <p:sp>
        <p:nvSpPr>
          <p:cNvPr id="44" name="Google Shape;44;p3">
            <a:extLst>
              <a:ext uri="{FF2B5EF4-FFF2-40B4-BE49-F238E27FC236}">
                <a16:creationId xmlns:a16="http://schemas.microsoft.com/office/drawing/2014/main" id="{0841F032-491B-A16B-BD40-8CC55E4BBE7E}"/>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6</a:t>
            </a:fld>
            <a:endParaRPr/>
          </a:p>
        </p:txBody>
      </p:sp>
      <p:sp>
        <p:nvSpPr>
          <p:cNvPr id="45" name="Google Shape;45;p3">
            <a:extLst>
              <a:ext uri="{FF2B5EF4-FFF2-40B4-BE49-F238E27FC236}">
                <a16:creationId xmlns:a16="http://schemas.microsoft.com/office/drawing/2014/main" id="{FA2DB6E5-5B84-C64C-AD8C-83B6D5466B3C}"/>
              </a:ext>
            </a:extLst>
          </p:cNvPr>
          <p:cNvSpPr txBox="1">
            <a:spLocks noGrp="1"/>
          </p:cNvSpPr>
          <p:nvPr>
            <p:ph type="body" idx="1"/>
          </p:nvPr>
        </p:nvSpPr>
        <p:spPr>
          <a:xfrm>
            <a:off x="251520" y="769046"/>
            <a:ext cx="8602378" cy="3890936"/>
          </a:xfrm>
          <a:prstGeom prst="rect">
            <a:avLst/>
          </a:prstGeom>
          <a:noFill/>
          <a:ln>
            <a:noFill/>
          </a:ln>
        </p:spPr>
        <p:txBody>
          <a:bodyPr spcFirstLastPara="1" wrap="square" lIns="91425" tIns="91425" rIns="91425" bIns="91425" anchor="t" anchorCtr="0">
            <a:normAutofit/>
          </a:bodyPr>
          <a:lstStyle/>
          <a:p>
            <a:pPr marL="146368" lvl="0" indent="0" algn="just">
              <a:lnSpc>
                <a:spcPct val="115000"/>
              </a:lnSpc>
              <a:buClr>
                <a:srgbClr val="595959"/>
              </a:buClr>
              <a:buSzPct val="58333"/>
            </a:pPr>
            <a:r>
              <a:rPr lang="en-US" sz="1800" b="1" dirty="0"/>
              <a:t>[2] Title :</a:t>
            </a:r>
            <a:r>
              <a:rPr lang="en-IN" sz="1800" b="1" dirty="0"/>
              <a:t>Diabetes Detection from Non-Diabetic Retinopathy Fundus Images</a:t>
            </a:r>
          </a:p>
          <a:p>
            <a:pPr marL="146368" lvl="0" indent="0" algn="just">
              <a:lnSpc>
                <a:spcPct val="115000"/>
              </a:lnSpc>
              <a:buClr>
                <a:srgbClr val="595959"/>
              </a:buClr>
              <a:buSzPct val="58333"/>
            </a:pPr>
            <a:r>
              <a:rPr lang="en-IN" sz="1800" b="1" dirty="0"/>
              <a:t>Problem:</a:t>
            </a:r>
          </a:p>
          <a:p>
            <a:pPr marL="146368" lvl="0" indent="0" algn="just">
              <a:lnSpc>
                <a:spcPct val="115000"/>
              </a:lnSpc>
              <a:buClr>
                <a:srgbClr val="595959"/>
              </a:buClr>
              <a:buSzPct val="58333"/>
            </a:pPr>
            <a:r>
              <a:rPr lang="en-US" sz="1800" dirty="0">
                <a:latin typeface="Times New Roman" panose="02020603050405020304" pitchFamily="18" charset="0"/>
                <a:cs typeface="Times New Roman" panose="02020603050405020304" pitchFamily="18" charset="0"/>
              </a:rPr>
              <a:t>Traditional</a:t>
            </a:r>
            <a:r>
              <a:rPr lang="en-US" sz="1800" dirty="0"/>
              <a:t> diabetes diagnosis relies on blood tests, which provide only short-term glucose readings and may not reflect long-term disease status.</a:t>
            </a:r>
          </a:p>
          <a:p>
            <a:pPr marL="146368" lvl="0" indent="0" algn="just">
              <a:lnSpc>
                <a:spcPct val="115000"/>
              </a:lnSpc>
              <a:buClr>
                <a:srgbClr val="595959"/>
              </a:buClr>
              <a:buSzPct val="58333"/>
            </a:pPr>
            <a:r>
              <a:rPr lang="en-US" sz="1800" b="1" dirty="0"/>
              <a:t>Approach:</a:t>
            </a:r>
          </a:p>
          <a:p>
            <a:pPr marL="146368" lvl="0" indent="0" algn="just">
              <a:lnSpc>
                <a:spcPct val="115000"/>
              </a:lnSpc>
              <a:buClr>
                <a:srgbClr val="595959"/>
              </a:buClr>
              <a:buSzPct val="58333"/>
            </a:pPr>
            <a:r>
              <a:rPr lang="en-US" sz="1800" dirty="0"/>
              <a:t>The paper proposes using retinal fundus images to detect diabetes even in the absence of visible diabetic retinopathy.</a:t>
            </a:r>
          </a:p>
          <a:p>
            <a:pPr marL="146368" lvl="0" indent="0" algn="just">
              <a:lnSpc>
                <a:spcPct val="115000"/>
              </a:lnSpc>
              <a:buClr>
                <a:srgbClr val="595959"/>
              </a:buClr>
              <a:buSzPct val="58333"/>
            </a:pPr>
            <a:r>
              <a:rPr lang="en-US" sz="1800" b="1" dirty="0"/>
              <a:t>Achievement:</a:t>
            </a:r>
          </a:p>
          <a:p>
            <a:pPr marL="146368" lvl="0" indent="0" algn="just">
              <a:lnSpc>
                <a:spcPct val="115000"/>
              </a:lnSpc>
              <a:buClr>
                <a:srgbClr val="595959"/>
              </a:buClr>
              <a:buSzPct val="58333"/>
            </a:pPr>
            <a:r>
              <a:rPr lang="en-US" sz="1800" dirty="0"/>
              <a:t>Successfully detects diabetes from fundus images even without visible diabetic retinopathy.</a:t>
            </a:r>
          </a:p>
          <a:p>
            <a:pPr marL="489268" lvl="0" indent="-342900" algn="just">
              <a:lnSpc>
                <a:spcPct val="115000"/>
              </a:lnSpc>
              <a:buClr>
                <a:srgbClr val="595959"/>
              </a:buClr>
              <a:buSzPct val="58333"/>
              <a:buFont typeface="Arial" panose="020B0604020202020204" pitchFamily="34" charset="0"/>
              <a:buChar char="•"/>
            </a:pPr>
            <a:endParaRPr lang="en-US" sz="1800" b="1" dirty="0"/>
          </a:p>
          <a:p>
            <a:pPr marL="146368" lvl="0" indent="0" algn="just">
              <a:lnSpc>
                <a:spcPct val="115000"/>
              </a:lnSpc>
              <a:buClr>
                <a:srgbClr val="595959"/>
              </a:buClr>
              <a:buSzPct val="58333"/>
            </a:pPr>
            <a:endParaRPr lang="en-US" sz="1800" b="1" dirty="0">
              <a:solidFill>
                <a:srgbClr val="C00000"/>
              </a:solidFill>
            </a:endParaRPr>
          </a:p>
          <a:p>
            <a:pPr algn="just"/>
            <a:endParaRPr lang="en-IN" sz="1800" dirty="0"/>
          </a:p>
          <a:p>
            <a:pPr marL="146368" lvl="0" indent="0" algn="just">
              <a:lnSpc>
                <a:spcPct val="115000"/>
              </a:lnSpc>
              <a:buClr>
                <a:srgbClr val="595959"/>
              </a:buClr>
              <a:buSzPct val="58333"/>
            </a:pPr>
            <a:endParaRPr lang="en-US" sz="1800" dirty="0">
              <a:solidFill>
                <a:srgbClr val="C00000"/>
              </a:solidFill>
            </a:endParaRPr>
          </a:p>
        </p:txBody>
      </p:sp>
    </p:spTree>
    <p:extLst>
      <p:ext uri="{BB962C8B-B14F-4D97-AF65-F5344CB8AC3E}">
        <p14:creationId xmlns:p14="http://schemas.microsoft.com/office/powerpoint/2010/main" val="522939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3C523-0E3B-E486-C19C-9CDFC5B0C552}"/>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CF32755A-B1EB-C076-89D0-9A591BCFEAE7}"/>
              </a:ext>
            </a:extLst>
          </p:cNvPr>
          <p:cNvSpPr>
            <a:spLocks noGrp="1"/>
          </p:cNvSpPr>
          <p:nvPr>
            <p:ph type="body" sz="quarter" idx="13"/>
          </p:nvPr>
        </p:nvSpPr>
        <p:spPr>
          <a:xfrm>
            <a:off x="193040" y="914400"/>
            <a:ext cx="8733246" cy="3748087"/>
          </a:xfrm>
        </p:spPr>
        <p:txBody>
          <a:bodyPr/>
          <a:lstStyle/>
          <a:p>
            <a:pPr algn="just"/>
            <a:r>
              <a:rPr lang="en-US" sz="1800" b="1" dirty="0">
                <a:latin typeface="Times New Roman" panose="02020603050405020304" pitchFamily="18" charset="0"/>
                <a:cs typeface="Times New Roman" panose="02020603050405020304" pitchFamily="18" charset="0"/>
              </a:rPr>
              <a:t>[3] Title :Predicting Diabetic Retinopathy Development Stages of Fundus Images</a:t>
            </a:r>
          </a:p>
          <a:p>
            <a:pPr algn="just"/>
            <a:r>
              <a:rPr lang="en-US" sz="1800" b="1" dirty="0">
                <a:latin typeface="Times New Roman" panose="02020603050405020304" pitchFamily="18" charset="0"/>
                <a:cs typeface="Times New Roman" panose="02020603050405020304" pitchFamily="18" charset="0"/>
              </a:rPr>
              <a:t>Using Deep Learning Based on Combined Features(2023)</a:t>
            </a:r>
          </a:p>
          <a:p>
            <a:pPr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Accurate prediction of diabetic retinopathy severity stages from fundus images is</a:t>
            </a:r>
          </a:p>
          <a:p>
            <a:pPr algn="just"/>
            <a:r>
              <a:rPr lang="en-US" sz="1800" dirty="0">
                <a:latin typeface="Times New Roman" panose="02020603050405020304" pitchFamily="18" charset="0"/>
                <a:cs typeface="Times New Roman" panose="02020603050405020304" pitchFamily="18" charset="0"/>
              </a:rPr>
              <a:t>challenging due to complex retinal feature variations.</a:t>
            </a:r>
          </a:p>
          <a:p>
            <a:pPr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 to extract CNN-based features from fundus images and combines them</a:t>
            </a:r>
          </a:p>
          <a:p>
            <a:pPr algn="just"/>
            <a:r>
              <a:rPr lang="en-US" sz="1800" dirty="0">
                <a:latin typeface="Times New Roman" panose="02020603050405020304" pitchFamily="18" charset="0"/>
                <a:cs typeface="Times New Roman" panose="02020603050405020304" pitchFamily="18" charset="0"/>
              </a:rPr>
              <a:t>with dimensionality reduction for multi-stage DR classification.</a:t>
            </a:r>
          </a:p>
          <a:p>
            <a:pPr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Successfully classifies multiple diabetic retinopathy stages, demonstrating improved</a:t>
            </a:r>
          </a:p>
          <a:p>
            <a:pPr algn="just"/>
            <a:r>
              <a:rPr lang="en-US" sz="1800" dirty="0">
                <a:latin typeface="Times New Roman" panose="02020603050405020304" pitchFamily="18" charset="0"/>
                <a:cs typeface="Times New Roman" panose="02020603050405020304" pitchFamily="18" charset="0"/>
              </a:rPr>
              <a:t>performance over binary detection methods.</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DAC987B-CFD1-3175-AD90-C316EB3AFB2D}"/>
              </a:ext>
            </a:extLst>
          </p:cNvPr>
          <p:cNvSpPr>
            <a:spLocks noGrp="1"/>
          </p:cNvSpPr>
          <p:nvPr>
            <p:ph type="sldNum" idx="14"/>
          </p:nvPr>
        </p:nvSpPr>
        <p:spPr/>
        <p:txBody>
          <a:bodyPr/>
          <a:lstStyle/>
          <a:p>
            <a:pPr>
              <a:defRPr/>
            </a:pPr>
            <a:fld id="{EF26C623-DE27-4A99-8424-AFD36C142E5A}" type="slidenum">
              <a:rPr lang="en-US" altLang="en-US" smtClean="0"/>
              <a:pPr>
                <a:defRPr/>
              </a:pPr>
              <a:t>7</a:t>
            </a:fld>
            <a:endParaRPr lang="en-US" altLang="en-US"/>
          </a:p>
        </p:txBody>
      </p:sp>
    </p:spTree>
    <p:extLst>
      <p:ext uri="{BB962C8B-B14F-4D97-AF65-F5344CB8AC3E}">
        <p14:creationId xmlns:p14="http://schemas.microsoft.com/office/powerpoint/2010/main" val="1238649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BCAC-ED26-C728-2F0C-015B721BA13B}"/>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FF2855A4-5BBB-AD63-848B-E1200C3FDA31}"/>
              </a:ext>
            </a:extLst>
          </p:cNvPr>
          <p:cNvSpPr>
            <a:spLocks noGrp="1"/>
          </p:cNvSpPr>
          <p:nvPr>
            <p:ph type="body" sz="quarter" idx="13"/>
          </p:nvPr>
        </p:nvSpPr>
        <p:spPr>
          <a:xfrm>
            <a:off x="143669" y="914400"/>
            <a:ext cx="8856662" cy="3748087"/>
          </a:xfrm>
        </p:spPr>
        <p:txBody>
          <a:bodyPr/>
          <a:lstStyle/>
          <a:p>
            <a:pPr algn="just"/>
            <a:r>
              <a:rPr lang="en-US" sz="1800" b="1" dirty="0">
                <a:latin typeface="Times New Roman" panose="02020603050405020304" pitchFamily="18" charset="0"/>
                <a:cs typeface="Times New Roman" panose="02020603050405020304" pitchFamily="18" charset="0"/>
              </a:rPr>
              <a:t>[4]Title :A Lesion-Based Diabetic Retinopathy Detection Through Hybrid</a:t>
            </a:r>
          </a:p>
          <a:p>
            <a:pPr algn="just"/>
            <a:r>
              <a:rPr lang="en-US" sz="1800" b="1" dirty="0">
                <a:latin typeface="Times New Roman" panose="02020603050405020304" pitchFamily="18" charset="0"/>
                <a:cs typeface="Times New Roman" panose="02020603050405020304" pitchFamily="18" charset="0"/>
              </a:rPr>
              <a:t>Deep Learning Model(2024)</a:t>
            </a:r>
          </a:p>
          <a:p>
            <a:pPr marL="228600" indent="0" algn="just"/>
            <a:r>
              <a:rPr lang="en-US" sz="1800" b="1" dirty="0">
                <a:latin typeface="Times New Roman" panose="02020603050405020304" pitchFamily="18" charset="0"/>
                <a:cs typeface="Times New Roman" panose="02020603050405020304" pitchFamily="18" charset="0"/>
              </a:rPr>
              <a:t>Problem:</a:t>
            </a:r>
          </a:p>
          <a:p>
            <a:pPr marL="228600" indent="0" algn="just"/>
            <a:r>
              <a:rPr lang="en-US" sz="1800" dirty="0">
                <a:latin typeface="Times New Roman" panose="02020603050405020304" pitchFamily="18" charset="0"/>
                <a:cs typeface="Times New Roman" panose="02020603050405020304" pitchFamily="18" charset="0"/>
              </a:rPr>
              <a:t>Existing DR detection methods focus on limited early lesions and fail to comprehensively detect all lesion types needed for accurate severity classification.</a:t>
            </a:r>
          </a:p>
          <a:p>
            <a:pPr marL="228600" indent="0" algn="just"/>
            <a:r>
              <a:rPr lang="en-US" sz="1800" b="1" dirty="0">
                <a:latin typeface="Times New Roman" panose="02020603050405020304" pitchFamily="18" charset="0"/>
                <a:cs typeface="Times New Roman" panose="02020603050405020304" pitchFamily="18" charset="0"/>
              </a:rPr>
              <a:t>Approach:</a:t>
            </a:r>
          </a:p>
          <a:p>
            <a:pPr marL="228600" indent="0" algn="just"/>
            <a:r>
              <a:rPr lang="en-US" sz="1800" dirty="0">
                <a:latin typeface="Times New Roman" panose="02020603050405020304" pitchFamily="18" charset="0"/>
                <a:cs typeface="Times New Roman" panose="02020603050405020304" pitchFamily="18" charset="0"/>
              </a:rPr>
              <a:t>Uses a hybrid deep learning model combining </a:t>
            </a:r>
            <a:r>
              <a:rPr lang="en-US" sz="1800" dirty="0" err="1">
                <a:latin typeface="Times New Roman" panose="02020603050405020304" pitchFamily="18" charset="0"/>
                <a:cs typeface="Times New Roman" panose="02020603050405020304" pitchFamily="18" charset="0"/>
              </a:rPr>
              <a:t>GoogleNet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ResNet</a:t>
            </a:r>
            <a:r>
              <a:rPr lang="en-US" sz="1800" dirty="0">
                <a:latin typeface="Times New Roman" panose="02020603050405020304" pitchFamily="18" charset="0"/>
                <a:cs typeface="Times New Roman" panose="02020603050405020304" pitchFamily="18" charset="0"/>
              </a:rPr>
              <a:t> with optimized feature extraction and machine learning classifiers for multi-class DR detection.</a:t>
            </a:r>
          </a:p>
          <a:p>
            <a:pPr marL="228600" indent="0" algn="just"/>
            <a:r>
              <a:rPr lang="en-US" sz="1800" b="1" dirty="0">
                <a:latin typeface="Times New Roman" panose="02020603050405020304" pitchFamily="18" charset="0"/>
                <a:cs typeface="Times New Roman" panose="02020603050405020304" pitchFamily="18" charset="0"/>
              </a:rPr>
              <a:t>Achievement:</a:t>
            </a:r>
          </a:p>
          <a:p>
            <a:pPr marL="228600" indent="0" algn="just"/>
            <a:r>
              <a:rPr lang="en-US" sz="1800" dirty="0">
                <a:latin typeface="Times New Roman" panose="02020603050405020304" pitchFamily="18" charset="0"/>
                <a:cs typeface="Times New Roman" panose="02020603050405020304" pitchFamily="18" charset="0"/>
              </a:rPr>
              <a:t>Achieves high accuracy (up to 94%) and improved precision, recall, and F1-score across multiple diabetic retinopathy severity levels.</a:t>
            </a: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8689D1-CCDC-C8BA-0581-A45BCDA0F507}"/>
              </a:ext>
            </a:extLst>
          </p:cNvPr>
          <p:cNvSpPr>
            <a:spLocks noGrp="1"/>
          </p:cNvSpPr>
          <p:nvPr>
            <p:ph type="sldNum" idx="14"/>
          </p:nvPr>
        </p:nvSpPr>
        <p:spPr/>
        <p:txBody>
          <a:bodyPr/>
          <a:lstStyle/>
          <a:p>
            <a:pPr>
              <a:defRPr/>
            </a:pPr>
            <a:fld id="{EF26C623-DE27-4A99-8424-AFD36C142E5A}" type="slidenum">
              <a:rPr lang="en-US" altLang="en-US" smtClean="0"/>
              <a:pPr>
                <a:defRPr/>
              </a:pPr>
              <a:t>8</a:t>
            </a:fld>
            <a:endParaRPr lang="en-US" altLang="en-US"/>
          </a:p>
        </p:txBody>
      </p:sp>
    </p:spTree>
    <p:extLst>
      <p:ext uri="{BB962C8B-B14F-4D97-AF65-F5344CB8AC3E}">
        <p14:creationId xmlns:p14="http://schemas.microsoft.com/office/powerpoint/2010/main" val="874953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42E9-9F5F-C660-988D-66CDBDEED17E}"/>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64B5F353-70C5-CA27-EEE2-1D281B42A642}"/>
              </a:ext>
            </a:extLst>
          </p:cNvPr>
          <p:cNvSpPr>
            <a:spLocks noGrp="1"/>
          </p:cNvSpPr>
          <p:nvPr>
            <p:ph type="body" sz="quarter" idx="13"/>
          </p:nvPr>
        </p:nvSpPr>
        <p:spPr/>
        <p:txBody>
          <a:bodyPr/>
          <a:lstStyle/>
          <a:p>
            <a:pPr algn="just"/>
            <a:r>
              <a:rPr lang="en-US" sz="1800" b="1" dirty="0">
                <a:latin typeface="Times New Roman" panose="02020603050405020304" pitchFamily="18" charset="0"/>
                <a:cs typeface="Times New Roman" panose="02020603050405020304" pitchFamily="18" charset="0"/>
              </a:rPr>
              <a:t>[5] Title :Predicting Systemic Health Features from Retinal Fundus Images</a:t>
            </a:r>
          </a:p>
          <a:p>
            <a:pPr algn="just"/>
            <a:r>
              <a:rPr lang="en-US" sz="1800" b="1" dirty="0">
                <a:latin typeface="Times New Roman" panose="02020603050405020304" pitchFamily="18" charset="0"/>
                <a:cs typeface="Times New Roman" panose="02020603050405020304" pitchFamily="18" charset="0"/>
              </a:rPr>
              <a:t>Using Transfer-Learning-Based Artificial Intelligence Models(2024)</a:t>
            </a:r>
            <a:endParaRPr lang="en-IN" sz="1800" b="1" dirty="0">
              <a:latin typeface="Times New Roman" panose="02020603050405020304" pitchFamily="18" charset="0"/>
              <a:cs typeface="Times New Roman" panose="02020603050405020304" pitchFamily="18" charset="0"/>
            </a:endParaRP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Assessing systemic health conditions such as diabetes and hypertension usually requires</a:t>
            </a:r>
          </a:p>
          <a:p>
            <a:pPr algn="just"/>
            <a:r>
              <a:rPr lang="en-US" sz="1800" dirty="0">
                <a:latin typeface="Times New Roman" panose="02020603050405020304" pitchFamily="18" charset="0"/>
                <a:cs typeface="Times New Roman" panose="02020603050405020304" pitchFamily="18" charset="0"/>
              </a:rPr>
              <a:t>invasive clinical tests.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transfer learning–based deep learning models trained on retinal fundus images to</a:t>
            </a:r>
          </a:p>
          <a:p>
            <a:pPr algn="just"/>
            <a:r>
              <a:rPr lang="en-US" sz="1800" dirty="0">
                <a:latin typeface="Times New Roman" panose="02020603050405020304" pitchFamily="18" charset="0"/>
                <a:cs typeface="Times New Roman" panose="02020603050405020304" pitchFamily="18" charset="0"/>
              </a:rPr>
              <a:t>predict systemic health indicators.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Shows that retinal fundus images can non-invasively predict long-term systemic health</a:t>
            </a:r>
          </a:p>
          <a:p>
            <a:pPr algn="just"/>
            <a:r>
              <a:rPr lang="en-US" sz="1800" dirty="0">
                <a:latin typeface="Times New Roman" panose="02020603050405020304" pitchFamily="18" charset="0"/>
                <a:cs typeface="Times New Roman" panose="02020603050405020304" pitchFamily="18" charset="0"/>
              </a:rPr>
              <a:t>markers, including diabetes-related indicators.</a:t>
            </a: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160FF937-22DA-351F-3D27-64A8167C2885}"/>
              </a:ext>
            </a:extLst>
          </p:cNvPr>
          <p:cNvSpPr>
            <a:spLocks noGrp="1"/>
          </p:cNvSpPr>
          <p:nvPr>
            <p:ph type="sldNum" idx="14"/>
          </p:nvPr>
        </p:nvSpPr>
        <p:spPr/>
        <p:txBody>
          <a:bodyPr/>
          <a:lstStyle/>
          <a:p>
            <a:pPr>
              <a:defRPr/>
            </a:pPr>
            <a:fld id="{EF26C623-DE27-4A99-8424-AFD36C142E5A}" type="slidenum">
              <a:rPr lang="en-US" altLang="en-US" smtClean="0"/>
              <a:pPr>
                <a:defRPr/>
              </a:pPr>
              <a:t>9</a:t>
            </a:fld>
            <a:endParaRPr lang="en-US" altLang="en-US"/>
          </a:p>
        </p:txBody>
      </p:sp>
    </p:spTree>
    <p:extLst>
      <p:ext uri="{BB962C8B-B14F-4D97-AF65-F5344CB8AC3E}">
        <p14:creationId xmlns:p14="http://schemas.microsoft.com/office/powerpoint/2010/main" val="2017724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8F9E9-13DF-CFBA-C6EF-CBB317C81D03}"/>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58C0643C-DE90-AC7D-C55C-6DC900411CB3}"/>
              </a:ext>
            </a:extLst>
          </p:cNvPr>
          <p:cNvSpPr>
            <a:spLocks noGrp="1"/>
          </p:cNvSpPr>
          <p:nvPr>
            <p:ph type="body" sz="quarter" idx="13"/>
          </p:nvPr>
        </p:nvSpPr>
        <p:spPr>
          <a:xfrm>
            <a:off x="179512" y="915566"/>
            <a:ext cx="8546181" cy="3480424"/>
          </a:xfrm>
        </p:spPr>
        <p:txBody>
          <a:bodyPr/>
          <a:lstStyle/>
          <a:p>
            <a:pPr algn="just"/>
            <a:r>
              <a:rPr lang="en-US" sz="1800" b="1" dirty="0">
                <a:latin typeface="Times New Roman" panose="02020603050405020304" pitchFamily="18" charset="0"/>
                <a:cs typeface="Times New Roman" panose="02020603050405020304" pitchFamily="18" charset="0"/>
              </a:rPr>
              <a:t>[6] Title :A Deep Learning Model for Screening Type 2 Diabetes from Retinal</a:t>
            </a:r>
          </a:p>
          <a:p>
            <a:pPr algn="just"/>
            <a:r>
              <a:rPr lang="en-US" sz="1800" b="1" dirty="0">
                <a:latin typeface="Times New Roman" panose="02020603050405020304" pitchFamily="18" charset="0"/>
                <a:cs typeface="Times New Roman" panose="02020603050405020304" pitchFamily="18" charset="0"/>
              </a:rPr>
              <a:t>Photographs(2024)</a:t>
            </a: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Early screening of type 2 diabetes usually relies on invasive blood tests and may miss</a:t>
            </a:r>
          </a:p>
          <a:p>
            <a:pPr algn="just"/>
            <a:r>
              <a:rPr lang="en-US" sz="1800" dirty="0">
                <a:latin typeface="Times New Roman" panose="02020603050405020304" pitchFamily="18" charset="0"/>
                <a:cs typeface="Times New Roman" panose="02020603050405020304" pitchFamily="18" charset="0"/>
              </a:rPr>
              <a:t>long-term metabolic patterns.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 models to analyze retinal fundus images for non-invasive</a:t>
            </a:r>
          </a:p>
          <a:p>
            <a:pPr algn="just"/>
            <a:r>
              <a:rPr lang="en-US" sz="1800" dirty="0">
                <a:latin typeface="Times New Roman" panose="02020603050405020304" pitchFamily="18" charset="0"/>
                <a:cs typeface="Times New Roman" panose="02020603050405020304" pitchFamily="18" charset="0"/>
              </a:rPr>
              <a:t>screening of type 2 diabetes.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Demonstrates that fundus images can be used to screen type 2 diabetes and related</a:t>
            </a:r>
          </a:p>
          <a:p>
            <a:pPr algn="just"/>
            <a:r>
              <a:rPr lang="en-US" sz="1800" dirty="0">
                <a:latin typeface="Times New Roman" panose="02020603050405020304" pitchFamily="18" charset="0"/>
                <a:cs typeface="Times New Roman" panose="02020603050405020304" pitchFamily="18" charset="0"/>
              </a:rPr>
              <a:t>metabolic risk factors non-invasively.</a:t>
            </a:r>
          </a:p>
          <a:p>
            <a:pPr algn="just"/>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5F83DA23-1826-AD53-3F23-03B753BE6954}"/>
              </a:ext>
            </a:extLst>
          </p:cNvPr>
          <p:cNvSpPr>
            <a:spLocks noGrp="1"/>
          </p:cNvSpPr>
          <p:nvPr>
            <p:ph type="sldNum" idx="14"/>
          </p:nvPr>
        </p:nvSpPr>
        <p:spPr/>
        <p:txBody>
          <a:bodyPr/>
          <a:lstStyle/>
          <a:p>
            <a:pPr>
              <a:defRPr/>
            </a:pPr>
            <a:fld id="{EF26C623-DE27-4A99-8424-AFD36C142E5A}" type="slidenum">
              <a:rPr lang="en-US" altLang="en-US" smtClean="0"/>
              <a:pPr>
                <a:defRPr/>
              </a:pPr>
              <a:t>10</a:t>
            </a:fld>
            <a:endParaRPr lang="en-US" altLang="en-US"/>
          </a:p>
        </p:txBody>
      </p:sp>
    </p:spTree>
    <p:extLst>
      <p:ext uri="{BB962C8B-B14F-4D97-AF65-F5344CB8AC3E}">
        <p14:creationId xmlns:p14="http://schemas.microsoft.com/office/powerpoint/2010/main" val="360905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0A72-59B9-0CAC-9AC1-B786DA2671D0}"/>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8CC008C4-E649-8A8A-95F9-F19755E11117}"/>
              </a:ext>
            </a:extLst>
          </p:cNvPr>
          <p:cNvSpPr>
            <a:spLocks noGrp="1"/>
          </p:cNvSpPr>
          <p:nvPr>
            <p:ph type="body" sz="quarter" idx="13"/>
          </p:nvPr>
        </p:nvSpPr>
        <p:spPr>
          <a:xfrm>
            <a:off x="165100" y="914399"/>
            <a:ext cx="8917940" cy="3748087"/>
          </a:xfrm>
        </p:spPr>
        <p:txBody>
          <a:bodyPr/>
          <a:lstStyle/>
          <a:p>
            <a:pPr algn="just"/>
            <a:r>
              <a:rPr lang="en-US" sz="1800" b="1" dirty="0">
                <a:latin typeface="Times New Roman" panose="02020603050405020304" pitchFamily="18" charset="0"/>
                <a:cs typeface="Times New Roman" panose="02020603050405020304" pitchFamily="18" charset="0"/>
              </a:rPr>
              <a:t>[7] Title :Predicting Diabetic Retinopathy Development Stages of Fundus</a:t>
            </a:r>
          </a:p>
          <a:p>
            <a:pPr algn="just"/>
            <a:r>
              <a:rPr lang="en-US" sz="1800" b="1" dirty="0">
                <a:latin typeface="Times New Roman" panose="02020603050405020304" pitchFamily="18" charset="0"/>
                <a:cs typeface="Times New Roman" panose="02020603050405020304" pitchFamily="18" charset="0"/>
              </a:rPr>
              <a:t>Images(2024)</a:t>
            </a: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Accurate classification of multiple diabetic retinopathy stages from fundus images is</a:t>
            </a:r>
          </a:p>
          <a:p>
            <a:pPr algn="just"/>
            <a:r>
              <a:rPr lang="en-US" sz="1800" dirty="0">
                <a:latin typeface="Times New Roman" panose="02020603050405020304" pitchFamily="18" charset="0"/>
                <a:cs typeface="Times New Roman" panose="02020603050405020304" pitchFamily="18" charset="0"/>
              </a:rPr>
              <a:t>challenging due to complex and diverse retinal features.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hybrid deep learning methods combining CNN-based deep features with handcrafted</a:t>
            </a:r>
          </a:p>
          <a:p>
            <a:pPr algn="just"/>
            <a:r>
              <a:rPr lang="en-US" sz="1800" dirty="0">
                <a:latin typeface="Times New Roman" panose="02020603050405020304" pitchFamily="18" charset="0"/>
                <a:cs typeface="Times New Roman" panose="02020603050405020304" pitchFamily="18" charset="0"/>
              </a:rPr>
              <a:t>features for multi-stage DR classification.</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Achieves very high accuracy in classifying five diabetic retinopathy stages using combined</a:t>
            </a:r>
          </a:p>
          <a:p>
            <a:pPr algn="just"/>
            <a:r>
              <a:rPr lang="en-US" sz="1800" dirty="0">
                <a:latin typeface="Times New Roman" panose="02020603050405020304" pitchFamily="18" charset="0"/>
                <a:cs typeface="Times New Roman" panose="02020603050405020304" pitchFamily="18" charset="0"/>
              </a:rPr>
              <a:t>feature representation.</a:t>
            </a:r>
          </a:p>
          <a:p>
            <a:pPr algn="just"/>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EE203C66-FC42-C456-431F-5436CB5CD515}"/>
              </a:ext>
            </a:extLst>
          </p:cNvPr>
          <p:cNvSpPr>
            <a:spLocks noGrp="1"/>
          </p:cNvSpPr>
          <p:nvPr>
            <p:ph type="sldNum" idx="14"/>
          </p:nvPr>
        </p:nvSpPr>
        <p:spPr/>
        <p:txBody>
          <a:bodyPr/>
          <a:lstStyle/>
          <a:p>
            <a:pPr>
              <a:defRPr/>
            </a:pPr>
            <a:fld id="{EF26C623-DE27-4A99-8424-AFD36C142E5A}" type="slidenum">
              <a:rPr lang="en-US" altLang="en-US" smtClean="0"/>
              <a:pPr>
                <a:defRPr/>
              </a:pPr>
              <a:t>11</a:t>
            </a:fld>
            <a:endParaRPr lang="en-US" altLang="en-US"/>
          </a:p>
        </p:txBody>
      </p:sp>
    </p:spTree>
    <p:extLst>
      <p:ext uri="{BB962C8B-B14F-4D97-AF65-F5344CB8AC3E}">
        <p14:creationId xmlns:p14="http://schemas.microsoft.com/office/powerpoint/2010/main" val="3516653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F6984-7695-10B7-E5F0-1BD27F754AB8}"/>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3443CD40-E9CA-12CB-542D-40ABFBAAAC4C}"/>
              </a:ext>
            </a:extLst>
          </p:cNvPr>
          <p:cNvSpPr>
            <a:spLocks noGrp="1"/>
          </p:cNvSpPr>
          <p:nvPr>
            <p:ph type="body" sz="quarter" idx="13"/>
          </p:nvPr>
        </p:nvSpPr>
        <p:spPr>
          <a:xfrm>
            <a:off x="179512" y="987574"/>
            <a:ext cx="8423603" cy="3408416"/>
          </a:xfrm>
        </p:spPr>
        <p:txBody>
          <a:bodyPr/>
          <a:lstStyle/>
          <a:p>
            <a:pPr algn="just"/>
            <a:r>
              <a:rPr lang="en-US" sz="1800" b="1" dirty="0">
                <a:latin typeface="Times New Roman" panose="02020603050405020304" pitchFamily="18" charset="0"/>
                <a:cs typeface="Times New Roman" panose="02020603050405020304" pitchFamily="18" charset="0"/>
              </a:rPr>
              <a:t>[8] Title :Automatic Detection of Microaneurysms in Retinal Fundus Images</a:t>
            </a:r>
          </a:p>
          <a:p>
            <a:pPr algn="just"/>
            <a:r>
              <a:rPr lang="en-US" sz="1800" b="1" dirty="0">
                <a:latin typeface="Times New Roman" panose="02020603050405020304" pitchFamily="18" charset="0"/>
                <a:cs typeface="Times New Roman" panose="02020603050405020304" pitchFamily="18" charset="0"/>
              </a:rPr>
              <a:t>Using Deep Learning</a:t>
            </a: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Early detection of diabetic retinopathy is difficult because microaneurysms are very</a:t>
            </a:r>
          </a:p>
          <a:p>
            <a:pPr algn="just"/>
            <a:r>
              <a:rPr lang="en-US" sz="1800" dirty="0">
                <a:latin typeface="Times New Roman" panose="02020603050405020304" pitchFamily="18" charset="0"/>
                <a:cs typeface="Times New Roman" panose="02020603050405020304" pitchFamily="18" charset="0"/>
              </a:rPr>
              <a:t>small and hard to identify manually in fundus images.</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learning–based models to automatically detect microaneurysms from</a:t>
            </a:r>
          </a:p>
          <a:p>
            <a:pPr algn="just"/>
            <a:r>
              <a:rPr lang="en-US" sz="1800" dirty="0">
                <a:latin typeface="Times New Roman" panose="02020603050405020304" pitchFamily="18" charset="0"/>
                <a:cs typeface="Times New Roman" panose="02020603050405020304" pitchFamily="18" charset="0"/>
              </a:rPr>
              <a:t>retinal fundus images.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Improves early diabetic retinopathy detection accuracy by reliably identifying</a:t>
            </a:r>
          </a:p>
          <a:p>
            <a:pPr algn="just"/>
            <a:r>
              <a:rPr lang="en-US" sz="1800" dirty="0">
                <a:latin typeface="Times New Roman" panose="02020603050405020304" pitchFamily="18" charset="0"/>
                <a:cs typeface="Times New Roman" panose="02020603050405020304" pitchFamily="18" charset="0"/>
              </a:rPr>
              <a:t>microaneurysms.</a:t>
            </a:r>
          </a:p>
          <a:p>
            <a:pPr algn="just"/>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dirty="0"/>
          </a:p>
        </p:txBody>
      </p:sp>
      <p:sp>
        <p:nvSpPr>
          <p:cNvPr id="4" name="Slide Number Placeholder 3">
            <a:extLst>
              <a:ext uri="{FF2B5EF4-FFF2-40B4-BE49-F238E27FC236}">
                <a16:creationId xmlns:a16="http://schemas.microsoft.com/office/drawing/2014/main" id="{A8E77E0E-9005-79F6-BECE-699E93AC2D93}"/>
              </a:ext>
            </a:extLst>
          </p:cNvPr>
          <p:cNvSpPr>
            <a:spLocks noGrp="1"/>
          </p:cNvSpPr>
          <p:nvPr>
            <p:ph type="sldNum" idx="14"/>
          </p:nvPr>
        </p:nvSpPr>
        <p:spPr/>
        <p:txBody>
          <a:bodyPr/>
          <a:lstStyle/>
          <a:p>
            <a:pPr>
              <a:defRPr/>
            </a:pPr>
            <a:fld id="{EF26C623-DE27-4A99-8424-AFD36C142E5A}" type="slidenum">
              <a:rPr lang="en-US" altLang="en-US" smtClean="0"/>
              <a:pPr>
                <a:defRPr/>
              </a:pPr>
              <a:t>12</a:t>
            </a:fld>
            <a:endParaRPr lang="en-US" altLang="en-US"/>
          </a:p>
        </p:txBody>
      </p:sp>
    </p:spTree>
    <p:extLst>
      <p:ext uri="{BB962C8B-B14F-4D97-AF65-F5344CB8AC3E}">
        <p14:creationId xmlns:p14="http://schemas.microsoft.com/office/powerpoint/2010/main" val="263048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1F96-9528-340C-5950-F300AE70D7C2}"/>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0405B5CE-242B-760D-AA2C-F4DEC4639A0D}"/>
              </a:ext>
            </a:extLst>
          </p:cNvPr>
          <p:cNvSpPr>
            <a:spLocks noGrp="1"/>
          </p:cNvSpPr>
          <p:nvPr>
            <p:ph type="body" sz="quarter" idx="13"/>
          </p:nvPr>
        </p:nvSpPr>
        <p:spPr/>
        <p:txBody>
          <a:bodyPr/>
          <a:lstStyle/>
          <a:p>
            <a:pPr marL="146368" lvl="0"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[9] Title :Use of Artificial Intelligence with Retinal Imaging in Screening for Diabetes-Associated Complications: A Systematic Review(2025)</a:t>
            </a:r>
            <a:endParaRPr lang="en-IN" sz="1800" b="1" dirty="0">
              <a:latin typeface="Times New Roman" panose="02020603050405020304" pitchFamily="18" charset="0"/>
              <a:cs typeface="Times New Roman" panose="02020603050405020304" pitchFamily="18" charset="0"/>
            </a:endParaRP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Existing AI-based retinal screening methods are fragmented, and their effectiveness for</a:t>
            </a:r>
          </a:p>
          <a:p>
            <a:pPr algn="just"/>
            <a:r>
              <a:rPr lang="en-US" sz="1800" dirty="0">
                <a:latin typeface="Times New Roman" panose="02020603050405020304" pitchFamily="18" charset="0"/>
                <a:cs typeface="Times New Roman" panose="02020603050405020304" pitchFamily="18" charset="0"/>
              </a:rPr>
              <a:t>detecting diabetes-associated complications is not clearly consolidated.</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Systematically reviews and analyzes published AI models that use retinal imaging to</a:t>
            </a:r>
          </a:p>
          <a:p>
            <a:pPr algn="just"/>
            <a:r>
              <a:rPr lang="en-US" sz="1800" dirty="0">
                <a:latin typeface="Times New Roman" panose="02020603050405020304" pitchFamily="18" charset="0"/>
                <a:cs typeface="Times New Roman" panose="02020603050405020304" pitchFamily="18" charset="0"/>
              </a:rPr>
              <a:t>screen for diabetic complications.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Highlights the potential of fundus images for non-invasive assessment of long-term</a:t>
            </a:r>
          </a:p>
          <a:p>
            <a:pPr algn="just"/>
            <a:r>
              <a:rPr lang="en-US" sz="1800" dirty="0">
                <a:latin typeface="Times New Roman" panose="02020603050405020304" pitchFamily="18" charset="0"/>
                <a:cs typeface="Times New Roman" panose="02020603050405020304" pitchFamily="18" charset="0"/>
              </a:rPr>
              <a:t>diabetic complications and identifies key research gaps.</a:t>
            </a:r>
          </a:p>
          <a:p>
            <a:pPr algn="just"/>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E261DEE-E361-CBFA-B44B-CD23168FDA9E}"/>
              </a:ext>
            </a:extLst>
          </p:cNvPr>
          <p:cNvSpPr>
            <a:spLocks noGrp="1"/>
          </p:cNvSpPr>
          <p:nvPr>
            <p:ph type="sldNum" idx="14"/>
          </p:nvPr>
        </p:nvSpPr>
        <p:spPr/>
        <p:txBody>
          <a:bodyPr/>
          <a:lstStyle/>
          <a:p>
            <a:pPr>
              <a:defRPr/>
            </a:pPr>
            <a:fld id="{EF26C623-DE27-4A99-8424-AFD36C142E5A}" type="slidenum">
              <a:rPr lang="en-US" altLang="en-US" smtClean="0"/>
              <a:pPr>
                <a:defRPr/>
              </a:pPr>
              <a:t>13</a:t>
            </a:fld>
            <a:endParaRPr lang="en-US" altLang="en-US"/>
          </a:p>
        </p:txBody>
      </p:sp>
    </p:spTree>
    <p:extLst>
      <p:ext uri="{BB962C8B-B14F-4D97-AF65-F5344CB8AC3E}">
        <p14:creationId xmlns:p14="http://schemas.microsoft.com/office/powerpoint/2010/main" val="294622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A76C-E96D-2750-E2E8-0F15F6A9F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38559-AC82-387D-AAEC-51A3EA36894A}"/>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review(</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0374F015-5301-EF4C-843A-78FBD17FE61F}"/>
              </a:ext>
            </a:extLst>
          </p:cNvPr>
          <p:cNvSpPr>
            <a:spLocks noGrp="1"/>
          </p:cNvSpPr>
          <p:nvPr>
            <p:ph type="body" sz="quarter" idx="13"/>
          </p:nvPr>
        </p:nvSpPr>
        <p:spPr>
          <a:xfrm>
            <a:off x="165100" y="914400"/>
            <a:ext cx="8763000" cy="3961606"/>
          </a:xfrm>
        </p:spPr>
        <p:txBody>
          <a:bodyPr/>
          <a:lstStyle/>
          <a:p>
            <a:pPr marL="146368" indent="0" algn="just">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[10] Title :A hybrid deep learning framework for early detection of diabetic retinopathy using retinal fundus images</a:t>
            </a:r>
            <a:endParaRPr lang="en-IN" sz="1800" b="1" dirty="0">
              <a:latin typeface="Times New Roman" panose="02020603050405020304" pitchFamily="18" charset="0"/>
              <a:cs typeface="Times New Roman" panose="02020603050405020304" pitchFamily="18" charset="0"/>
            </a:endParaRPr>
          </a:p>
          <a:p>
            <a:pPr marL="228600" indent="0" algn="just"/>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Existing DR detection models rely on single retinal images and ignore disease progression.</a:t>
            </a:r>
          </a:p>
          <a:p>
            <a:pPr algn="just"/>
            <a:r>
              <a:rPr lang="en-US" sz="1800" dirty="0">
                <a:latin typeface="Times New Roman" panose="02020603050405020304" pitchFamily="18" charset="0"/>
                <a:cs typeface="Times New Roman" panose="02020603050405020304" pitchFamily="18" charset="0"/>
              </a:rPr>
              <a:t>This limits early detection accuracy and reduces reliability in real-world screening.</a:t>
            </a:r>
          </a:p>
          <a:p>
            <a:pPr marL="228600" indent="0" algn="just"/>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A hybrid CNN–RNN model with attention is used to extract spatial and temporal features.</a:t>
            </a:r>
          </a:p>
          <a:p>
            <a:pPr algn="just"/>
            <a:r>
              <a:rPr lang="en-US" sz="1800" dirty="0">
                <a:latin typeface="Times New Roman" panose="02020603050405020304" pitchFamily="18" charset="0"/>
                <a:cs typeface="Times New Roman" panose="02020603050405020304" pitchFamily="18" charset="0"/>
              </a:rPr>
              <a:t>It analyzes multi-scale retinal images and sequential data from DRIVE, Kaggle, and</a:t>
            </a:r>
          </a:p>
          <a:p>
            <a:pPr algn="just"/>
            <a:r>
              <a:rPr lang="en-US" sz="1800" dirty="0" err="1">
                <a:latin typeface="Times New Roman" panose="02020603050405020304" pitchFamily="18" charset="0"/>
                <a:cs typeface="Times New Roman" panose="02020603050405020304" pitchFamily="18" charset="0"/>
              </a:rPr>
              <a:t>EyePACS</a:t>
            </a:r>
            <a:r>
              <a:rPr lang="en-US" sz="1800" dirty="0">
                <a:latin typeface="Times New Roman" panose="02020603050405020304" pitchFamily="18" charset="0"/>
                <a:cs typeface="Times New Roman" panose="02020603050405020304" pitchFamily="18" charset="0"/>
              </a:rPr>
              <a:t> datasets.</a:t>
            </a:r>
          </a:p>
          <a:p>
            <a:pPr marL="228600" indent="0" algn="just"/>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Achieves high accuracy (up to 97.5%) and outperforms traditional models like CNN and</a:t>
            </a:r>
          </a:p>
          <a:p>
            <a:pPr algn="just"/>
            <a:r>
              <a:rPr lang="en-US" sz="1800" dirty="0">
                <a:latin typeface="Times New Roman" panose="02020603050405020304" pitchFamily="18" charset="0"/>
                <a:cs typeface="Times New Roman" panose="02020603050405020304" pitchFamily="18" charset="0"/>
              </a:rPr>
              <a:t>VGG19.Improves early detection by capturing subtle retinal changes using temporal</a:t>
            </a:r>
          </a:p>
          <a:p>
            <a:pPr algn="just"/>
            <a:r>
              <a:rPr lang="en-US" sz="1800" dirty="0">
                <a:latin typeface="Times New Roman" panose="02020603050405020304" pitchFamily="18" charset="0"/>
                <a:cs typeface="Times New Roman" panose="02020603050405020304" pitchFamily="18" charset="0"/>
              </a:rPr>
              <a:t>analysis.</a:t>
            </a: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7FD3163-A68E-C8F4-6361-A16E0B39C5D8}"/>
              </a:ext>
            </a:extLst>
          </p:cNvPr>
          <p:cNvSpPr>
            <a:spLocks noGrp="1"/>
          </p:cNvSpPr>
          <p:nvPr>
            <p:ph type="sldNum" idx="14"/>
          </p:nvPr>
        </p:nvSpPr>
        <p:spPr/>
        <p:txBody>
          <a:bodyPr/>
          <a:lstStyle/>
          <a:p>
            <a:pPr>
              <a:defRPr/>
            </a:pPr>
            <a:fld id="{EF26C623-DE27-4A99-8424-AFD36C142E5A}" type="slidenum">
              <a:rPr lang="en-US" altLang="en-US" smtClean="0"/>
              <a:pPr>
                <a:defRPr/>
              </a:pPr>
              <a:t>14</a:t>
            </a:fld>
            <a:endParaRPr lang="en-US" altLang="en-US"/>
          </a:p>
        </p:txBody>
      </p:sp>
    </p:spTree>
    <p:extLst>
      <p:ext uri="{BB962C8B-B14F-4D97-AF65-F5344CB8AC3E}">
        <p14:creationId xmlns:p14="http://schemas.microsoft.com/office/powerpoint/2010/main" val="4178200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E59E-1471-3092-E172-784AF4FD655A}"/>
              </a:ext>
            </a:extLst>
          </p:cNvPr>
          <p:cNvSpPr>
            <a:spLocks noGrp="1"/>
          </p:cNvSpPr>
          <p:nvPr>
            <p:ph type="ctrTitle"/>
          </p:nvPr>
        </p:nvSpPr>
        <p:spPr>
          <a:xfrm>
            <a:off x="0" y="0"/>
            <a:ext cx="9144000" cy="649288"/>
          </a:xfrm>
        </p:spPr>
        <p:txBody>
          <a:bodyPr>
            <a:normAutofit fontScale="90000"/>
          </a:bodyPr>
          <a:lstStyle/>
          <a:p>
            <a:pPr>
              <a:buClr>
                <a:schemeClr val="dk1"/>
              </a:buClr>
              <a:defRPr/>
            </a:pPr>
            <a:r>
              <a:rPr lang="en-US" dirty="0">
                <a:solidFill>
                  <a:schemeClr val="dk1"/>
                </a:solidFill>
                <a:latin typeface="Times New Roman" panose="02020603050405020304" pitchFamily="18" charset="0"/>
                <a:cs typeface="Times New Roman" panose="02020603050405020304" pitchFamily="18" charset="0"/>
                <a:sym typeface="Arial"/>
              </a:rPr>
              <a:t>Literature Review </a:t>
            </a:r>
            <a:r>
              <a:rPr lang="en-US" dirty="0">
                <a:solidFill>
                  <a:schemeClr val="dk1"/>
                </a:solidFill>
                <a:latin typeface="Times New Roman" panose="02020603050405020304" pitchFamily="18" charset="0"/>
                <a:cs typeface="Times New Roman" panose="02020603050405020304" pitchFamily="18" charset="0"/>
              </a:rPr>
              <a:t>Summary</a:t>
            </a:r>
            <a:endParaRPr lang="en-US" dirty="0">
              <a:solidFill>
                <a:schemeClr val="dk1"/>
              </a:solidFill>
              <a:latin typeface="Times New Roman" panose="02020603050405020304" pitchFamily="18" charset="0"/>
              <a:cs typeface="Times New Roman" panose="02020603050405020304" pitchFamily="18" charset="0"/>
              <a:sym typeface="Arial"/>
            </a:endParaRPr>
          </a:p>
        </p:txBody>
      </p:sp>
      <p:sp>
        <p:nvSpPr>
          <p:cNvPr id="9219" name="Slide Number Placeholder 2">
            <a:extLst>
              <a:ext uri="{FF2B5EF4-FFF2-40B4-BE49-F238E27FC236}">
                <a16:creationId xmlns:a16="http://schemas.microsoft.com/office/drawing/2014/main" id="{3115DD56-608E-6233-B559-288E13D4254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15</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951B64F4-5B40-3328-32DC-FDAB01F24396}"/>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3" name="Table 2">
            <a:extLst>
              <a:ext uri="{FF2B5EF4-FFF2-40B4-BE49-F238E27FC236}">
                <a16:creationId xmlns:a16="http://schemas.microsoft.com/office/drawing/2014/main" id="{6BEC0A26-BA6C-66A5-64B0-20F89C5D3883}"/>
              </a:ext>
            </a:extLst>
          </p:cNvPr>
          <p:cNvGraphicFramePr>
            <a:graphicFrameLocks noGrp="1"/>
          </p:cNvGraphicFramePr>
          <p:nvPr>
            <p:extLst>
              <p:ext uri="{D42A27DB-BD31-4B8C-83A1-F6EECF244321}">
                <p14:modId xmlns:p14="http://schemas.microsoft.com/office/powerpoint/2010/main" val="4126328535"/>
              </p:ext>
            </p:extLst>
          </p:nvPr>
        </p:nvGraphicFramePr>
        <p:xfrm>
          <a:off x="165100" y="736385"/>
          <a:ext cx="8911445" cy="3935727"/>
        </p:xfrm>
        <a:graphic>
          <a:graphicData uri="http://schemas.openxmlformats.org/drawingml/2006/table">
            <a:tbl>
              <a:tblPr firstRow="1" bandRow="1">
                <a:tableStyleId>{5C22544A-7EE6-4342-B048-85BDC9FD1C3A}</a:tableStyleId>
              </a:tblPr>
              <a:tblGrid>
                <a:gridCol w="783179">
                  <a:extLst>
                    <a:ext uri="{9D8B030D-6E8A-4147-A177-3AD203B41FA5}">
                      <a16:colId xmlns:a16="http://schemas.microsoft.com/office/drawing/2014/main" val="20000"/>
                    </a:ext>
                  </a:extLst>
                </a:gridCol>
                <a:gridCol w="1090976">
                  <a:extLst>
                    <a:ext uri="{9D8B030D-6E8A-4147-A177-3AD203B41FA5}">
                      <a16:colId xmlns:a16="http://schemas.microsoft.com/office/drawing/2014/main" val="20001"/>
                    </a:ext>
                  </a:extLst>
                </a:gridCol>
                <a:gridCol w="1098979">
                  <a:extLst>
                    <a:ext uri="{9D8B030D-6E8A-4147-A177-3AD203B41FA5}">
                      <a16:colId xmlns:a16="http://schemas.microsoft.com/office/drawing/2014/main" val="20002"/>
                    </a:ext>
                  </a:extLst>
                </a:gridCol>
                <a:gridCol w="952332">
                  <a:extLst>
                    <a:ext uri="{9D8B030D-6E8A-4147-A177-3AD203B41FA5}">
                      <a16:colId xmlns:a16="http://schemas.microsoft.com/office/drawing/2014/main" val="20003"/>
                    </a:ext>
                  </a:extLst>
                </a:gridCol>
                <a:gridCol w="1028323">
                  <a:extLst>
                    <a:ext uri="{9D8B030D-6E8A-4147-A177-3AD203B41FA5}">
                      <a16:colId xmlns:a16="http://schemas.microsoft.com/office/drawing/2014/main" val="20004"/>
                    </a:ext>
                  </a:extLst>
                </a:gridCol>
                <a:gridCol w="993294">
                  <a:extLst>
                    <a:ext uri="{9D8B030D-6E8A-4147-A177-3AD203B41FA5}">
                      <a16:colId xmlns:a16="http://schemas.microsoft.com/office/drawing/2014/main" val="20005"/>
                    </a:ext>
                  </a:extLst>
                </a:gridCol>
                <a:gridCol w="985534">
                  <a:extLst>
                    <a:ext uri="{9D8B030D-6E8A-4147-A177-3AD203B41FA5}">
                      <a16:colId xmlns:a16="http://schemas.microsoft.com/office/drawing/2014/main" val="20006"/>
                    </a:ext>
                  </a:extLst>
                </a:gridCol>
                <a:gridCol w="989414">
                  <a:extLst>
                    <a:ext uri="{9D8B030D-6E8A-4147-A177-3AD203B41FA5}">
                      <a16:colId xmlns:a16="http://schemas.microsoft.com/office/drawing/2014/main" val="20007"/>
                    </a:ext>
                  </a:extLst>
                </a:gridCol>
                <a:gridCol w="989414">
                  <a:extLst>
                    <a:ext uri="{9D8B030D-6E8A-4147-A177-3AD203B41FA5}">
                      <a16:colId xmlns:a16="http://schemas.microsoft.com/office/drawing/2014/main" val="20008"/>
                    </a:ext>
                  </a:extLst>
                </a:gridCol>
              </a:tblGrid>
              <a:tr h="1430469">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835086">
                <a:tc>
                  <a:txBody>
                    <a:bodyPr/>
                    <a:lstStyle/>
                    <a:p>
                      <a:r>
                        <a:rPr lang="en-US" sz="800" dirty="0"/>
                        <a:t>[1] A Lightweight Classification System for Early DR (2025)</a:t>
                      </a:r>
                    </a:p>
                  </a:txBody>
                  <a:tcPr/>
                </a:tc>
                <a:tc>
                  <a:txBody>
                    <a:bodyPr/>
                    <a:lstStyle/>
                    <a:p>
                      <a:r>
                        <a:rPr lang="en-US" sz="800" dirty="0"/>
                        <a:t>Early detection of diabetic retinopathy using low-complexity systems</a:t>
                      </a:r>
                    </a:p>
                  </a:txBody>
                  <a:tcPr/>
                </a:tc>
                <a:tc>
                  <a:txBody>
                    <a:bodyPr/>
                    <a:lstStyle/>
                    <a:p>
                      <a:r>
                        <a:rPr lang="en-US" sz="800" dirty="0"/>
                        <a:t>Image processing + ML-based feature extraction</a:t>
                      </a:r>
                    </a:p>
                  </a:txBody>
                  <a:tcPr/>
                </a:tc>
                <a:tc>
                  <a:txBody>
                    <a:bodyPr/>
                    <a:lstStyle/>
                    <a:p>
                      <a:r>
                        <a:rPr lang="en-IN" sz="800" dirty="0"/>
                        <a:t>Efficient early DR detection</a:t>
                      </a:r>
                      <a:endParaRPr lang="en-US" sz="800" dirty="0"/>
                    </a:p>
                  </a:txBody>
                  <a:tcPr/>
                </a:tc>
                <a:tc>
                  <a:txBody>
                    <a:bodyPr/>
                    <a:lstStyle/>
                    <a:p>
                      <a:r>
                        <a:rPr lang="en-US" sz="800" b="0" dirty="0"/>
                        <a:t>Forms the base paper for lesion extraction</a:t>
                      </a:r>
                    </a:p>
                  </a:txBody>
                  <a:tcPr/>
                </a:tc>
                <a:tc>
                  <a:txBody>
                    <a:bodyPr/>
                    <a:lstStyle/>
                    <a:p>
                      <a:r>
                        <a:rPr lang="en-IN" sz="800" dirty="0"/>
                        <a:t>Morphological ops, ML classifiers</a:t>
                      </a:r>
                      <a:endParaRPr lang="en-US" sz="800" dirty="0"/>
                    </a:p>
                  </a:txBody>
                  <a:tcPr/>
                </a:tc>
                <a:tc>
                  <a:txBody>
                    <a:bodyPr/>
                    <a:lstStyle/>
                    <a:p>
                      <a:r>
                        <a:rPr lang="en-US" sz="800" dirty="0"/>
                        <a:t>High accuracy for binary DR</a:t>
                      </a:r>
                    </a:p>
                    <a:p>
                      <a:r>
                        <a:rPr lang="en-IN" sz="800" b="0" dirty="0"/>
                        <a:t>Accuracy: 96–98%</a:t>
                      </a:r>
                      <a:endParaRPr lang="en-US" sz="800" b="0" dirty="0"/>
                    </a:p>
                  </a:txBody>
                  <a:tcPr/>
                </a:tc>
                <a:tc>
                  <a:txBody>
                    <a:bodyPr/>
                    <a:lstStyle/>
                    <a:p>
                      <a:r>
                        <a:rPr lang="en-IN" sz="800" dirty="0"/>
                        <a:t>Lightweight, low cost</a:t>
                      </a:r>
                      <a:endParaRPr lang="en-US" sz="800" dirty="0"/>
                    </a:p>
                  </a:txBody>
                  <a:tcPr/>
                </a:tc>
                <a:tc>
                  <a:txBody>
                    <a:bodyPr/>
                    <a:lstStyle/>
                    <a:p>
                      <a:r>
                        <a:rPr lang="en-US" sz="800" dirty="0"/>
                        <a:t>Binary output, no severity or macular analysis</a:t>
                      </a:r>
                    </a:p>
                  </a:txBody>
                  <a:tcPr/>
                </a:tc>
                <a:extLst>
                  <a:ext uri="{0D108BD9-81ED-4DB2-BD59-A6C34878D82A}">
                    <a16:rowId xmlns:a16="http://schemas.microsoft.com/office/drawing/2014/main" val="10001"/>
                  </a:ext>
                </a:extLst>
              </a:tr>
              <a:tr h="835086">
                <a:tc>
                  <a:txBody>
                    <a:bodyPr/>
                    <a:lstStyle/>
                    <a:p>
                      <a:r>
                        <a:rPr lang="en-US" sz="800" dirty="0"/>
                        <a:t>[2] </a:t>
                      </a:r>
                      <a:r>
                        <a:rPr lang="en-US" sz="800" dirty="0" err="1"/>
                        <a:t>DeepDR</a:t>
                      </a:r>
                      <a:r>
                        <a:rPr lang="en-US" sz="800" dirty="0"/>
                        <a:t> Plus: Predicting Time to DR Progression (2024)</a:t>
                      </a:r>
                    </a:p>
                  </a:txBody>
                  <a:tcPr/>
                </a:tc>
                <a:tc>
                  <a:txBody>
                    <a:bodyPr/>
                    <a:lstStyle/>
                    <a:p>
                      <a:r>
                        <a:rPr lang="en-IN" sz="800" dirty="0"/>
                        <a:t>Predict future DR progression timelines</a:t>
                      </a:r>
                      <a:endParaRPr lang="en-US" sz="800" dirty="0"/>
                    </a:p>
                  </a:txBody>
                  <a:tcPr/>
                </a:tc>
                <a:tc>
                  <a:txBody>
                    <a:bodyPr/>
                    <a:lstStyle/>
                    <a:p>
                      <a:r>
                        <a:rPr lang="en-US" sz="800" dirty="0"/>
                        <a:t>Deep learning on longitudinal fundus images</a:t>
                      </a:r>
                    </a:p>
                  </a:txBody>
                  <a:tcPr/>
                </a:tc>
                <a:tc>
                  <a:txBody>
                    <a:bodyPr/>
                    <a:lstStyle/>
                    <a:p>
                      <a:pPr>
                        <a:buNone/>
                      </a:pPr>
                      <a:r>
                        <a:rPr lang="en-US" sz="800" dirty="0"/>
                        <a:t>Accurate prediction of DR progression</a:t>
                      </a:r>
                    </a:p>
                  </a:txBody>
                  <a:tcPr anchor="ctr"/>
                </a:tc>
                <a:tc>
                  <a:txBody>
                    <a:bodyPr/>
                    <a:lstStyle/>
                    <a:p>
                      <a:r>
                        <a:rPr lang="en-IN" sz="800" b="0" dirty="0"/>
                        <a:t>Supports progression-based analysis</a:t>
                      </a:r>
                      <a:endParaRPr lang="en-US" sz="800" b="0" dirty="0"/>
                    </a:p>
                  </a:txBody>
                  <a:tcPr/>
                </a:tc>
                <a:tc>
                  <a:txBody>
                    <a:bodyPr/>
                    <a:lstStyle/>
                    <a:p>
                      <a:r>
                        <a:rPr lang="en-IN" sz="800" dirty="0"/>
                        <a:t>CNN-based DL</a:t>
                      </a:r>
                      <a:endParaRPr lang="en-US" sz="800" dirty="0"/>
                    </a:p>
                  </a:txBody>
                  <a:tcPr/>
                </a:tc>
                <a:tc>
                  <a:txBody>
                    <a:bodyPr/>
                    <a:lstStyle/>
                    <a:p>
                      <a:r>
                        <a:rPr lang="en-IN" sz="800" b="0" dirty="0"/>
                        <a:t>Accuracy: 94–97%</a:t>
                      </a:r>
                      <a:endParaRPr lang="en-US" sz="800" b="0" dirty="0"/>
                    </a:p>
                  </a:txBody>
                  <a:tcPr/>
                </a:tc>
                <a:tc>
                  <a:txBody>
                    <a:bodyPr/>
                    <a:lstStyle/>
                    <a:p>
                      <a:r>
                        <a:rPr lang="en-IN" sz="800" dirty="0"/>
                        <a:t>Personalized screening</a:t>
                      </a:r>
                      <a:endParaRPr lang="en-US" sz="800" dirty="0"/>
                    </a:p>
                  </a:txBody>
                  <a:tcPr/>
                </a:tc>
                <a:tc>
                  <a:txBody>
                    <a:bodyPr/>
                    <a:lstStyle/>
                    <a:p>
                      <a:r>
                        <a:rPr lang="en-IN" sz="800" dirty="0"/>
                        <a:t>Black-box, no lesion explainability</a:t>
                      </a:r>
                      <a:endParaRPr lang="en-US" sz="800" dirty="0"/>
                    </a:p>
                  </a:txBody>
                  <a:tcPr/>
                </a:tc>
                <a:extLst>
                  <a:ext uri="{0D108BD9-81ED-4DB2-BD59-A6C34878D82A}">
                    <a16:rowId xmlns:a16="http://schemas.microsoft.com/office/drawing/2014/main" val="10002"/>
                  </a:ext>
                </a:extLst>
              </a:tr>
              <a:tr h="835086">
                <a:tc>
                  <a:txBody>
                    <a:bodyPr/>
                    <a:lstStyle/>
                    <a:p>
                      <a:r>
                        <a:rPr lang="en-IN" sz="800" dirty="0"/>
                        <a:t>[3] Diabetes Detection from Non-DR Fundus Images (2024)</a:t>
                      </a:r>
                      <a:endParaRPr lang="en-US" sz="800" dirty="0"/>
                    </a:p>
                  </a:txBody>
                  <a:tcPr/>
                </a:tc>
                <a:tc>
                  <a:txBody>
                    <a:bodyPr/>
                    <a:lstStyle/>
                    <a:p>
                      <a:r>
                        <a:rPr lang="en-US" sz="800" dirty="0"/>
                        <a:t>Detect diabetes without visible DR</a:t>
                      </a:r>
                    </a:p>
                  </a:txBody>
                  <a:tcPr/>
                </a:tc>
                <a:tc>
                  <a:txBody>
                    <a:bodyPr/>
                    <a:lstStyle/>
                    <a:p>
                      <a:r>
                        <a:rPr lang="en-IN" sz="800" dirty="0"/>
                        <a:t>Deep learning classification</a:t>
                      </a:r>
                      <a:endParaRPr lang="en-US" sz="800" dirty="0"/>
                    </a:p>
                  </a:txBody>
                  <a:tcPr/>
                </a:tc>
                <a:tc>
                  <a:txBody>
                    <a:bodyPr/>
                    <a:lstStyle/>
                    <a:p>
                      <a:r>
                        <a:rPr lang="en-IN" sz="800" dirty="0"/>
                        <a:t>Retina shows diabetes biomarkers</a:t>
                      </a:r>
                      <a:endParaRPr lang="en-US" sz="800" dirty="0"/>
                    </a:p>
                  </a:txBody>
                  <a:tcPr/>
                </a:tc>
                <a:tc>
                  <a:txBody>
                    <a:bodyPr/>
                    <a:lstStyle/>
                    <a:p>
                      <a:r>
                        <a:rPr lang="en-IN" sz="800" b="0" dirty="0"/>
                        <a:t>Justifies diabetes severity estimation</a:t>
                      </a:r>
                      <a:endParaRPr lang="en-US" sz="800" b="0" dirty="0"/>
                    </a:p>
                  </a:txBody>
                  <a:tcPr/>
                </a:tc>
                <a:tc>
                  <a:txBody>
                    <a:bodyPr/>
                    <a:lstStyle/>
                    <a:p>
                      <a:r>
                        <a:rPr lang="en-IN" sz="800" dirty="0"/>
                        <a:t>CNN</a:t>
                      </a:r>
                      <a:endParaRPr lang="en-US" sz="800" dirty="0"/>
                    </a:p>
                  </a:txBody>
                  <a:tcPr/>
                </a:tc>
                <a:tc>
                  <a:txBody>
                    <a:bodyPr/>
                    <a:lstStyle/>
                    <a:p>
                      <a:r>
                        <a:rPr lang="en-IN" sz="800" b="0" dirty="0"/>
                        <a:t>Accuracy: 95–98%</a:t>
                      </a:r>
                      <a:endParaRPr lang="en-US" sz="800" b="0" dirty="0"/>
                    </a:p>
                  </a:txBody>
                  <a:tcPr/>
                </a:tc>
                <a:tc>
                  <a:txBody>
                    <a:bodyPr/>
                    <a:lstStyle/>
                    <a:p>
                      <a:r>
                        <a:rPr lang="en-IN" sz="800" b="0" dirty="0"/>
                        <a:t>Non-invasive screening</a:t>
                      </a:r>
                      <a:endParaRPr lang="en-US" sz="800" b="0" dirty="0"/>
                    </a:p>
                  </a:txBody>
                  <a:tcPr/>
                </a:tc>
                <a:tc>
                  <a:txBody>
                    <a:bodyPr/>
                    <a:lstStyle/>
                    <a:p>
                      <a:r>
                        <a:rPr lang="en-US" sz="800" dirty="0"/>
                        <a:t>No lesion or spatial analysis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7283C-9F8D-7284-5C6C-6BA5B317F5A4}"/>
              </a:ext>
            </a:extLst>
          </p:cNvPr>
          <p:cNvSpPr>
            <a:spLocks noGrp="1"/>
          </p:cNvSpPr>
          <p:nvPr>
            <p:ph type="ctrTitle"/>
          </p:nvPr>
        </p:nvSpPr>
        <p:spPr/>
        <p:txBody>
          <a:bodyPr>
            <a:normAutofit fontScale="90000"/>
          </a:bodyPr>
          <a:lstStyle/>
          <a:p>
            <a:r>
              <a:rPr lang="en-US" dirty="0">
                <a:solidFill>
                  <a:schemeClr val="dk1"/>
                </a:solidFill>
                <a:latin typeface="Times New Roman" panose="02020603050405020304" pitchFamily="18" charset="0"/>
                <a:cs typeface="Times New Roman" panose="02020603050405020304" pitchFamily="18" charset="0"/>
              </a:rPr>
              <a:t>Literature Review Summary(</a:t>
            </a:r>
            <a:r>
              <a:rPr lang="en-US" dirty="0" err="1">
                <a:solidFill>
                  <a:schemeClr val="dk1"/>
                </a:solidFill>
                <a:latin typeface="Times New Roman" panose="02020603050405020304" pitchFamily="18" charset="0"/>
                <a:cs typeface="Times New Roman" panose="02020603050405020304" pitchFamily="18" charset="0"/>
              </a:rPr>
              <a:t>Cont</a:t>
            </a:r>
            <a:r>
              <a:rPr lang="en-US" dirty="0">
                <a:solidFill>
                  <a:schemeClr val="dk1"/>
                </a:solidFill>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B1632A61-26C8-857E-D92E-E10342DCBF20}"/>
              </a:ext>
            </a:extLst>
          </p:cNvPr>
          <p:cNvSpPr>
            <a:spLocks noGrp="1"/>
          </p:cNvSpPr>
          <p:nvPr>
            <p:ph type="body" sz="quarter" idx="13"/>
          </p:nvPr>
        </p:nvSpPr>
        <p:spPr/>
        <p:txBody>
          <a:bodyPr/>
          <a:lstStyle/>
          <a:p>
            <a:endParaRPr lang="en-IN" dirty="0"/>
          </a:p>
        </p:txBody>
      </p:sp>
      <p:sp>
        <p:nvSpPr>
          <p:cNvPr id="4" name="Slide Number Placeholder 3">
            <a:extLst>
              <a:ext uri="{FF2B5EF4-FFF2-40B4-BE49-F238E27FC236}">
                <a16:creationId xmlns:a16="http://schemas.microsoft.com/office/drawing/2014/main" id="{40CE238F-B370-BCB2-6021-E178430C45D8}"/>
              </a:ext>
            </a:extLst>
          </p:cNvPr>
          <p:cNvSpPr>
            <a:spLocks noGrp="1"/>
          </p:cNvSpPr>
          <p:nvPr>
            <p:ph type="sldNum" idx="14"/>
          </p:nvPr>
        </p:nvSpPr>
        <p:spPr/>
        <p:txBody>
          <a:bodyPr/>
          <a:lstStyle/>
          <a:p>
            <a:pPr>
              <a:defRPr/>
            </a:pPr>
            <a:fld id="{EF26C623-DE27-4A99-8424-AFD36C142E5A}" type="slidenum">
              <a:rPr lang="en-US" altLang="en-US" smtClean="0"/>
              <a:pPr>
                <a:defRPr/>
              </a:pPr>
              <a:t>16</a:t>
            </a:fld>
            <a:endParaRPr lang="en-US" altLang="en-US"/>
          </a:p>
        </p:txBody>
      </p:sp>
      <p:graphicFrame>
        <p:nvGraphicFramePr>
          <p:cNvPr id="7" name="Table 6">
            <a:extLst>
              <a:ext uri="{FF2B5EF4-FFF2-40B4-BE49-F238E27FC236}">
                <a16:creationId xmlns:a16="http://schemas.microsoft.com/office/drawing/2014/main" id="{CBFC0FB3-0B51-9FA2-02D6-F15F87D0973C}"/>
              </a:ext>
            </a:extLst>
          </p:cNvPr>
          <p:cNvGraphicFramePr>
            <a:graphicFrameLocks noGrp="1"/>
          </p:cNvGraphicFramePr>
          <p:nvPr>
            <p:extLst>
              <p:ext uri="{D42A27DB-BD31-4B8C-83A1-F6EECF244321}">
                <p14:modId xmlns:p14="http://schemas.microsoft.com/office/powerpoint/2010/main" val="951167397"/>
              </p:ext>
            </p:extLst>
          </p:nvPr>
        </p:nvGraphicFramePr>
        <p:xfrm>
          <a:off x="114300" y="499043"/>
          <a:ext cx="8813800" cy="4546625"/>
        </p:xfrm>
        <a:graphic>
          <a:graphicData uri="http://schemas.openxmlformats.org/drawingml/2006/table">
            <a:tbl>
              <a:tblPr firstRow="1" bandRow="1">
                <a:tableStyleId>{5C22544A-7EE6-4342-B048-85BDC9FD1C3A}</a:tableStyleId>
              </a:tblPr>
              <a:tblGrid>
                <a:gridCol w="758609">
                  <a:extLst>
                    <a:ext uri="{9D8B030D-6E8A-4147-A177-3AD203B41FA5}">
                      <a16:colId xmlns:a16="http://schemas.microsoft.com/office/drawing/2014/main" val="20000"/>
                    </a:ext>
                  </a:extLst>
                </a:gridCol>
                <a:gridCol w="1081168">
                  <a:extLst>
                    <a:ext uri="{9D8B030D-6E8A-4147-A177-3AD203B41FA5}">
                      <a16:colId xmlns:a16="http://schemas.microsoft.com/office/drawing/2014/main" val="20001"/>
                    </a:ext>
                  </a:extLst>
                </a:gridCol>
                <a:gridCol w="1087506">
                  <a:extLst>
                    <a:ext uri="{9D8B030D-6E8A-4147-A177-3AD203B41FA5}">
                      <a16:colId xmlns:a16="http://schemas.microsoft.com/office/drawing/2014/main" val="20002"/>
                    </a:ext>
                  </a:extLst>
                </a:gridCol>
                <a:gridCol w="983922">
                  <a:extLst>
                    <a:ext uri="{9D8B030D-6E8A-4147-A177-3AD203B41FA5}">
                      <a16:colId xmlns:a16="http://schemas.microsoft.com/office/drawing/2014/main" val="20003"/>
                    </a:ext>
                  </a:extLst>
                </a:gridCol>
                <a:gridCol w="980519">
                  <a:extLst>
                    <a:ext uri="{9D8B030D-6E8A-4147-A177-3AD203B41FA5}">
                      <a16:colId xmlns:a16="http://schemas.microsoft.com/office/drawing/2014/main" val="20004"/>
                    </a:ext>
                  </a:extLst>
                </a:gridCol>
                <a:gridCol w="980519">
                  <a:extLst>
                    <a:ext uri="{9D8B030D-6E8A-4147-A177-3AD203B41FA5}">
                      <a16:colId xmlns:a16="http://schemas.microsoft.com/office/drawing/2014/main" val="20005"/>
                    </a:ext>
                  </a:extLst>
                </a:gridCol>
                <a:gridCol w="980519">
                  <a:extLst>
                    <a:ext uri="{9D8B030D-6E8A-4147-A177-3AD203B41FA5}">
                      <a16:colId xmlns:a16="http://schemas.microsoft.com/office/drawing/2014/main" val="20006"/>
                    </a:ext>
                  </a:extLst>
                </a:gridCol>
                <a:gridCol w="980519">
                  <a:extLst>
                    <a:ext uri="{9D8B030D-6E8A-4147-A177-3AD203B41FA5}">
                      <a16:colId xmlns:a16="http://schemas.microsoft.com/office/drawing/2014/main" val="20007"/>
                    </a:ext>
                  </a:extLst>
                </a:gridCol>
                <a:gridCol w="980519">
                  <a:extLst>
                    <a:ext uri="{9D8B030D-6E8A-4147-A177-3AD203B41FA5}">
                      <a16:colId xmlns:a16="http://schemas.microsoft.com/office/drawing/2014/main" val="20008"/>
                    </a:ext>
                  </a:extLst>
                </a:gridCol>
              </a:tblGrid>
              <a:tr h="1434669">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961618">
                <a:tc>
                  <a:txBody>
                    <a:bodyPr/>
                    <a:lstStyle/>
                    <a:p>
                      <a:r>
                        <a:rPr lang="en-US" sz="800" dirty="0"/>
                        <a:t>[4] Predicting DR Stages Using Combined Features (2023)</a:t>
                      </a:r>
                      <a:endParaRPr lang="en-US" sz="800" b="0" dirty="0"/>
                    </a:p>
                  </a:txBody>
                  <a:tcPr/>
                </a:tc>
                <a:tc>
                  <a:txBody>
                    <a:bodyPr/>
                    <a:lstStyle/>
                    <a:p>
                      <a:r>
                        <a:rPr lang="en-IN" sz="800" dirty="0"/>
                        <a:t>Multi-stage DR classification</a:t>
                      </a:r>
                      <a:endParaRPr lang="en-US" sz="800" b="0" dirty="0"/>
                    </a:p>
                  </a:txBody>
                  <a:tcPr/>
                </a:tc>
                <a:tc>
                  <a:txBody>
                    <a:bodyPr/>
                    <a:lstStyle/>
                    <a:p>
                      <a:r>
                        <a:rPr lang="en-IN" sz="800" dirty="0"/>
                        <a:t>CNN + handcrafted features</a:t>
                      </a:r>
                      <a:endParaRPr lang="en-US" sz="800" b="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t>High accuracy for DR stages</a:t>
                      </a:r>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a:t>Supports beyond-binary classification</a:t>
                      </a:r>
                      <a:endParaRPr lang="en-US" sz="800" b="0" dirty="0"/>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err="1"/>
                        <a:t>DenseNet</a:t>
                      </a:r>
                      <a:r>
                        <a:rPr lang="en-IN" sz="800" b="0" dirty="0"/>
                        <a:t>, </a:t>
                      </a:r>
                      <a:r>
                        <a:rPr lang="en-IN" sz="800" b="0" dirty="0" err="1"/>
                        <a:t>AlexNet</a:t>
                      </a:r>
                      <a:r>
                        <a:rPr lang="en-IN" sz="800" b="0" dirty="0"/>
                        <a:t>, ANN</a:t>
                      </a:r>
                      <a:endParaRPr lang="en-US" sz="800" b="0" dirty="0"/>
                    </a:p>
                    <a:p>
                      <a:endParaRPr lang="en-US" sz="800" b="0" dirty="0"/>
                    </a:p>
                  </a:txBody>
                  <a:tcPr/>
                </a:tc>
                <a:tc>
                  <a:txBody>
                    <a:bodyPr/>
                    <a:lstStyle/>
                    <a:p>
                      <a:r>
                        <a:rPr lang="en-IN" sz="800" dirty="0"/>
                        <a:t>Up to 99%</a:t>
                      </a:r>
                      <a:endParaRPr lang="en-US" sz="800" dirty="0"/>
                    </a:p>
                  </a:txBody>
                  <a:tcPr/>
                </a:tc>
                <a:tc>
                  <a:txBody>
                    <a:bodyPr/>
                    <a:lstStyle/>
                    <a:p>
                      <a:r>
                        <a:rPr lang="en-IN" sz="800" dirty="0"/>
                        <a:t>Multi-stage output</a:t>
                      </a:r>
                      <a:endParaRPr lang="en-US" sz="800" dirty="0"/>
                    </a:p>
                  </a:txBody>
                  <a:tcPr/>
                </a:tc>
                <a:tc>
                  <a:txBody>
                    <a:bodyPr/>
                    <a:lstStyle/>
                    <a:p>
                      <a:r>
                        <a:rPr lang="en-US" sz="800" dirty="0"/>
                        <a:t>No macular risk or lesion location</a:t>
                      </a:r>
                    </a:p>
                  </a:txBody>
                  <a:tcPr/>
                </a:tc>
                <a:extLst>
                  <a:ext uri="{0D108BD9-81ED-4DB2-BD59-A6C34878D82A}">
                    <a16:rowId xmlns:a16="http://schemas.microsoft.com/office/drawing/2014/main" val="10001"/>
                  </a:ext>
                </a:extLst>
              </a:tr>
              <a:tr h="837538">
                <a:tc>
                  <a:txBody>
                    <a:bodyPr/>
                    <a:lstStyle/>
                    <a:p>
                      <a:pPr algn="l"/>
                      <a:r>
                        <a:rPr lang="en-US" sz="800" b="0" dirty="0"/>
                        <a:t>[5] </a:t>
                      </a:r>
                      <a:r>
                        <a:rPr lang="en-US" sz="800" dirty="0">
                          <a:latin typeface="Times New Roman" panose="02020603050405020304" pitchFamily="18" charset="0"/>
                          <a:cs typeface="Times New Roman" panose="02020603050405020304" pitchFamily="18" charset="0"/>
                        </a:rPr>
                        <a:t>A Lesion-Based  DR Detection Through Hybrid</a:t>
                      </a:r>
                    </a:p>
                    <a:p>
                      <a:pPr algn="just"/>
                      <a:r>
                        <a:rPr lang="en-US" sz="800" dirty="0">
                          <a:latin typeface="Times New Roman" panose="02020603050405020304" pitchFamily="18" charset="0"/>
                          <a:cs typeface="Times New Roman" panose="02020603050405020304" pitchFamily="18" charset="0"/>
                        </a:rPr>
                        <a:t>Deep Learning Model</a:t>
                      </a:r>
                    </a:p>
                    <a:p>
                      <a:endParaRPr lang="en-US" sz="800" b="0" dirty="0"/>
                    </a:p>
                  </a:txBody>
                  <a:tcPr/>
                </a:tc>
                <a:tc>
                  <a:txBody>
                    <a:bodyPr/>
                    <a:lstStyle/>
                    <a:p>
                      <a:r>
                        <a:rPr lang="en-US" sz="800" dirty="0"/>
                        <a:t>Accurate multi-stage DR detection using comprehensive lesion features.</a:t>
                      </a:r>
                    </a:p>
                  </a:txBody>
                  <a:tcPr/>
                </a:tc>
                <a:tc>
                  <a:txBody>
                    <a:bodyPr/>
                    <a:lstStyle/>
                    <a:p>
                      <a:r>
                        <a:rPr lang="en-IN" sz="800" dirty="0"/>
                        <a:t>Hybrid </a:t>
                      </a:r>
                      <a:r>
                        <a:rPr lang="en-IN" sz="800" dirty="0" err="1"/>
                        <a:t>GoogleNet</a:t>
                      </a:r>
                      <a:r>
                        <a:rPr lang="en-IN" sz="800" dirty="0"/>
                        <a:t> + </a:t>
                      </a:r>
                      <a:r>
                        <a:rPr lang="en-IN" sz="800" dirty="0" err="1"/>
                        <a:t>ResNet</a:t>
                      </a:r>
                      <a:r>
                        <a:rPr lang="en-IN" sz="800" dirty="0"/>
                        <a:t> feature extraction + ML classifiers.</a:t>
                      </a:r>
                      <a:endParaRPr lang="en-US" sz="800" dirty="0"/>
                    </a:p>
                  </a:txBody>
                  <a:tcPr/>
                </a:tc>
                <a:tc>
                  <a:txBody>
                    <a:bodyPr/>
                    <a:lstStyle/>
                    <a:p>
                      <a:r>
                        <a:rPr lang="en-US" sz="800" dirty="0"/>
                        <a:t>Hybrid features improve multi-class DR classification performance.</a:t>
                      </a:r>
                    </a:p>
                  </a:txBody>
                  <a:tcPr/>
                </a:tc>
                <a:tc>
                  <a:txBody>
                    <a:bodyPr/>
                    <a:lstStyle/>
                    <a:p>
                      <a:r>
                        <a:rPr lang="en-US" sz="800" dirty="0"/>
                        <a:t>Supports lesion-based severity analysis instead of binary detection.</a:t>
                      </a:r>
                      <a:endParaRPr lang="en-US" sz="800" b="0" dirty="0"/>
                    </a:p>
                  </a:txBody>
                  <a:tcPr/>
                </a:tc>
                <a:tc>
                  <a:txBody>
                    <a:bodyPr/>
                    <a:lstStyle/>
                    <a:p>
                      <a:r>
                        <a:rPr lang="en-IN" sz="800" dirty="0"/>
                        <a:t>Transfer learning, hybrid CNN features, SVM/RF/DT/NB classifiers.</a:t>
                      </a:r>
                      <a:endParaRPr lang="en-US" sz="800" b="0" dirty="0"/>
                    </a:p>
                  </a:txBody>
                  <a:tcPr/>
                </a:tc>
                <a:tc>
                  <a:txBody>
                    <a:bodyPr/>
                    <a:lstStyle/>
                    <a:p>
                      <a:r>
                        <a:rPr lang="en-US" sz="800" dirty="0"/>
                        <a:t>Up to </a:t>
                      </a:r>
                      <a:r>
                        <a:rPr lang="en-US" sz="800" b="1" dirty="0"/>
                        <a:t>94% accuracy</a:t>
                      </a:r>
                      <a:r>
                        <a:rPr lang="en-US" sz="800" dirty="0"/>
                        <a:t> with high precision, recall, and F1-score.</a:t>
                      </a:r>
                    </a:p>
                  </a:txBody>
                  <a:tcPr/>
                </a:tc>
                <a:tc>
                  <a:txBody>
                    <a:bodyPr/>
                    <a:lstStyle/>
                    <a:p>
                      <a:r>
                        <a:rPr lang="en-US" sz="800" dirty="0"/>
                        <a:t>Covers multiple lesion types; better severity-level classification.</a:t>
                      </a:r>
                    </a:p>
                  </a:txBody>
                  <a:tcPr/>
                </a:tc>
                <a:tc>
                  <a:txBody>
                    <a:bodyPr/>
                    <a:lstStyle/>
                    <a:p>
                      <a:r>
                        <a:rPr lang="en-US" sz="800" dirty="0"/>
                        <a:t>High computational cost; focused on DR, not full diabetes severity mapping.</a:t>
                      </a:r>
                    </a:p>
                  </a:txBody>
                  <a:tcPr/>
                </a:tc>
                <a:extLst>
                  <a:ext uri="{0D108BD9-81ED-4DB2-BD59-A6C34878D82A}">
                    <a16:rowId xmlns:a16="http://schemas.microsoft.com/office/drawing/2014/main" val="10002"/>
                  </a:ext>
                </a:extLst>
              </a:tr>
              <a:tr h="961618">
                <a:tc>
                  <a:txBody>
                    <a:bodyPr/>
                    <a:lstStyle/>
                    <a:p>
                      <a:r>
                        <a:rPr lang="en-US" sz="800" dirty="0"/>
                        <a:t>[6] Predicting Systemic Health from Fundus Images (2024)</a:t>
                      </a:r>
                    </a:p>
                  </a:txBody>
                  <a:tcPr/>
                </a:tc>
                <a:tc>
                  <a:txBody>
                    <a:bodyPr/>
                    <a:lstStyle/>
                    <a:p>
                      <a:r>
                        <a:rPr lang="en-US" sz="800" dirty="0"/>
                        <a:t>Predict HbA1c, BP, age from retina</a:t>
                      </a:r>
                    </a:p>
                  </a:txBody>
                  <a:tcPr/>
                </a:tc>
                <a:tc>
                  <a:txBody>
                    <a:bodyPr/>
                    <a:lstStyle/>
                    <a:p>
                      <a:r>
                        <a:rPr lang="en-IN" sz="800" dirty="0"/>
                        <a:t>Transfer learning DL</a:t>
                      </a:r>
                      <a:endParaRPr lang="en-US" sz="800" dirty="0"/>
                    </a:p>
                  </a:txBody>
                  <a:tcPr/>
                </a:tc>
                <a:tc>
                  <a:txBody>
                    <a:bodyPr/>
                    <a:lstStyle/>
                    <a:p>
                      <a:r>
                        <a:rPr lang="en-IN" sz="800" dirty="0"/>
                        <a:t>Retina predicts systemic markers</a:t>
                      </a:r>
                      <a:endParaRPr lang="en-US" sz="800" dirty="0"/>
                    </a:p>
                  </a:txBody>
                  <a:tcPr/>
                </a:tc>
                <a:tc>
                  <a:txBody>
                    <a:bodyPr/>
                    <a:lstStyle/>
                    <a:p>
                      <a:r>
                        <a:rPr lang="en-IN" sz="800" b="0" dirty="0"/>
                        <a:t>Supports glucose-level estimation concept</a:t>
                      </a:r>
                      <a:endParaRPr lang="en-US" sz="800" b="0" dirty="0"/>
                    </a:p>
                  </a:txBody>
                  <a:tcPr/>
                </a:tc>
                <a:tc>
                  <a:txBody>
                    <a:bodyPr/>
                    <a:lstStyle/>
                    <a:p>
                      <a:r>
                        <a:rPr lang="en-IN" sz="800" b="0" dirty="0" err="1"/>
                        <a:t>DenseNet</a:t>
                      </a:r>
                      <a:endParaRPr lang="en-US" sz="800" b="0" dirty="0"/>
                    </a:p>
                  </a:txBody>
                  <a:tcPr/>
                </a:tc>
                <a:tc>
                  <a:txBody>
                    <a:bodyPr/>
                    <a:lstStyle/>
                    <a:p>
                      <a:r>
                        <a:rPr lang="en-IN" sz="800" dirty="0"/>
                        <a:t>Strong correlations</a:t>
                      </a:r>
                    </a:p>
                    <a:p>
                      <a:r>
                        <a:rPr lang="en-IN" sz="800" dirty="0"/>
                        <a:t>Accuracy equivalent: ~75–85%</a:t>
                      </a:r>
                      <a:endParaRPr lang="en-US" sz="800" dirty="0"/>
                    </a:p>
                  </a:txBody>
                  <a:tcPr/>
                </a:tc>
                <a:tc>
                  <a:txBody>
                    <a:bodyPr/>
                    <a:lstStyle/>
                    <a:p>
                      <a:r>
                        <a:rPr lang="en-IN" sz="800" dirty="0"/>
                        <a:t>Non-invasive</a:t>
                      </a:r>
                      <a:endParaRPr lang="en-US" sz="800" dirty="0"/>
                    </a:p>
                  </a:txBody>
                  <a:tcPr/>
                </a:tc>
                <a:tc>
                  <a:txBody>
                    <a:bodyPr/>
                    <a:lstStyle/>
                    <a:p>
                      <a:r>
                        <a:rPr lang="en-IN" sz="800" dirty="0"/>
                        <a:t>Limited interpretability</a:t>
                      </a:r>
                      <a:endParaRPr lang="en-US" sz="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2641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211F-BEEA-6719-FBCF-DAC7633ED0B2}"/>
              </a:ext>
            </a:extLst>
          </p:cNvPr>
          <p:cNvSpPr>
            <a:spLocks noGrp="1"/>
          </p:cNvSpPr>
          <p:nvPr>
            <p:ph type="ctrTitle"/>
          </p:nvPr>
        </p:nvSpPr>
        <p:spPr/>
        <p:txBody>
          <a:bodyPr>
            <a:normAutofit fontScale="90000"/>
          </a:bodyPr>
          <a:lstStyle/>
          <a:p>
            <a:r>
              <a:rPr lang="en-US" dirty="0">
                <a:solidFill>
                  <a:schemeClr val="dk1"/>
                </a:solidFill>
                <a:latin typeface="Times New Roman" panose="02020603050405020304" pitchFamily="18" charset="0"/>
                <a:cs typeface="Times New Roman" panose="02020603050405020304" pitchFamily="18" charset="0"/>
              </a:rPr>
              <a:t>Literature Review Summary(</a:t>
            </a:r>
            <a:r>
              <a:rPr lang="en-US" dirty="0" err="1">
                <a:solidFill>
                  <a:schemeClr val="dk1"/>
                </a:solidFill>
                <a:latin typeface="Times New Roman" panose="02020603050405020304" pitchFamily="18" charset="0"/>
                <a:cs typeface="Times New Roman" panose="02020603050405020304" pitchFamily="18" charset="0"/>
              </a:rPr>
              <a:t>Cont</a:t>
            </a:r>
            <a:r>
              <a:rPr lang="en-US" dirty="0">
                <a:solidFill>
                  <a:schemeClr val="dk1"/>
                </a:solidFill>
                <a:latin typeface="Times New Roman" panose="02020603050405020304" pitchFamily="18" charset="0"/>
                <a:cs typeface="Times New Roman" panose="02020603050405020304" pitchFamily="18" charset="0"/>
              </a:rPr>
              <a:t>…)</a:t>
            </a:r>
            <a:endParaRPr lang="en-IN" dirty="0"/>
          </a:p>
        </p:txBody>
      </p:sp>
      <p:sp>
        <p:nvSpPr>
          <p:cNvPr id="4" name="Slide Number Placeholder 3">
            <a:extLst>
              <a:ext uri="{FF2B5EF4-FFF2-40B4-BE49-F238E27FC236}">
                <a16:creationId xmlns:a16="http://schemas.microsoft.com/office/drawing/2014/main" id="{4F2006AB-1335-BA49-5DA3-9AF788BFEC21}"/>
              </a:ext>
            </a:extLst>
          </p:cNvPr>
          <p:cNvSpPr>
            <a:spLocks noGrp="1"/>
          </p:cNvSpPr>
          <p:nvPr>
            <p:ph type="sldNum" idx="14"/>
          </p:nvPr>
        </p:nvSpPr>
        <p:spPr/>
        <p:txBody>
          <a:bodyPr/>
          <a:lstStyle/>
          <a:p>
            <a:pPr>
              <a:defRPr/>
            </a:pPr>
            <a:fld id="{EF26C623-DE27-4A99-8424-AFD36C142E5A}" type="slidenum">
              <a:rPr lang="en-US" altLang="en-US" smtClean="0"/>
              <a:pPr>
                <a:defRPr/>
              </a:pPr>
              <a:t>17</a:t>
            </a:fld>
            <a:endParaRPr lang="en-US" altLang="en-US"/>
          </a:p>
        </p:txBody>
      </p:sp>
      <p:graphicFrame>
        <p:nvGraphicFramePr>
          <p:cNvPr id="7" name="Table 6">
            <a:extLst>
              <a:ext uri="{FF2B5EF4-FFF2-40B4-BE49-F238E27FC236}">
                <a16:creationId xmlns:a16="http://schemas.microsoft.com/office/drawing/2014/main" id="{2FB94173-9C3A-F2C6-C4E9-498148FE290E}"/>
              </a:ext>
            </a:extLst>
          </p:cNvPr>
          <p:cNvGraphicFramePr>
            <a:graphicFrameLocks noGrp="1"/>
          </p:cNvGraphicFramePr>
          <p:nvPr>
            <p:extLst>
              <p:ext uri="{D42A27DB-BD31-4B8C-83A1-F6EECF244321}">
                <p14:modId xmlns:p14="http://schemas.microsoft.com/office/powerpoint/2010/main" val="2891425170"/>
              </p:ext>
            </p:extLst>
          </p:nvPr>
        </p:nvGraphicFramePr>
        <p:xfrm>
          <a:off x="228487" y="516734"/>
          <a:ext cx="8687026" cy="4539453"/>
        </p:xfrm>
        <a:graphic>
          <a:graphicData uri="http://schemas.openxmlformats.org/drawingml/2006/table">
            <a:tbl>
              <a:tblPr firstRow="1" bandRow="1">
                <a:tableStyleId>{5C22544A-7EE6-4342-B048-85BDC9FD1C3A}</a:tableStyleId>
              </a:tblPr>
              <a:tblGrid>
                <a:gridCol w="757478">
                  <a:extLst>
                    <a:ext uri="{9D8B030D-6E8A-4147-A177-3AD203B41FA5}">
                      <a16:colId xmlns:a16="http://schemas.microsoft.com/office/drawing/2014/main" val="20000"/>
                    </a:ext>
                  </a:extLst>
                </a:gridCol>
                <a:gridCol w="1064304">
                  <a:extLst>
                    <a:ext uri="{9D8B030D-6E8A-4147-A177-3AD203B41FA5}">
                      <a16:colId xmlns:a16="http://schemas.microsoft.com/office/drawing/2014/main" val="20001"/>
                    </a:ext>
                  </a:extLst>
                </a:gridCol>
                <a:gridCol w="1073894">
                  <a:extLst>
                    <a:ext uri="{9D8B030D-6E8A-4147-A177-3AD203B41FA5}">
                      <a16:colId xmlns:a16="http://schemas.microsoft.com/office/drawing/2014/main" val="20002"/>
                    </a:ext>
                  </a:extLst>
                </a:gridCol>
                <a:gridCol w="965225">
                  <a:extLst>
                    <a:ext uri="{9D8B030D-6E8A-4147-A177-3AD203B41FA5}">
                      <a16:colId xmlns:a16="http://schemas.microsoft.com/office/drawing/2014/main" val="20003"/>
                    </a:ext>
                  </a:extLst>
                </a:gridCol>
                <a:gridCol w="965225">
                  <a:extLst>
                    <a:ext uri="{9D8B030D-6E8A-4147-A177-3AD203B41FA5}">
                      <a16:colId xmlns:a16="http://schemas.microsoft.com/office/drawing/2014/main" val="20004"/>
                    </a:ext>
                  </a:extLst>
                </a:gridCol>
                <a:gridCol w="965225">
                  <a:extLst>
                    <a:ext uri="{9D8B030D-6E8A-4147-A177-3AD203B41FA5}">
                      <a16:colId xmlns:a16="http://schemas.microsoft.com/office/drawing/2014/main" val="20005"/>
                    </a:ext>
                  </a:extLst>
                </a:gridCol>
                <a:gridCol w="965225">
                  <a:extLst>
                    <a:ext uri="{9D8B030D-6E8A-4147-A177-3AD203B41FA5}">
                      <a16:colId xmlns:a16="http://schemas.microsoft.com/office/drawing/2014/main" val="20006"/>
                    </a:ext>
                  </a:extLst>
                </a:gridCol>
                <a:gridCol w="965225">
                  <a:extLst>
                    <a:ext uri="{9D8B030D-6E8A-4147-A177-3AD203B41FA5}">
                      <a16:colId xmlns:a16="http://schemas.microsoft.com/office/drawing/2014/main" val="20007"/>
                    </a:ext>
                  </a:extLst>
                </a:gridCol>
                <a:gridCol w="965225">
                  <a:extLst>
                    <a:ext uri="{9D8B030D-6E8A-4147-A177-3AD203B41FA5}">
                      <a16:colId xmlns:a16="http://schemas.microsoft.com/office/drawing/2014/main" val="20008"/>
                    </a:ext>
                  </a:extLst>
                </a:gridCol>
              </a:tblGrid>
              <a:tr h="1020437">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694297">
                <a:tc>
                  <a:txBody>
                    <a:bodyPr/>
                    <a:lstStyle/>
                    <a:p>
                      <a:r>
                        <a:rPr lang="en-IN" sz="800" dirty="0"/>
                        <a:t>[7] DL Model for Type 2 Diabetes Screening (2024)</a:t>
                      </a:r>
                      <a:endParaRPr lang="en-US" sz="800" dirty="0"/>
                    </a:p>
                  </a:txBody>
                  <a:tcPr/>
                </a:tc>
                <a:tc>
                  <a:txBody>
                    <a:bodyPr/>
                    <a:lstStyle/>
                    <a:p>
                      <a:r>
                        <a:rPr lang="en-US" sz="800" dirty="0"/>
                        <a:t>Screen diabetes from fundus images</a:t>
                      </a:r>
                    </a:p>
                  </a:txBody>
                  <a:tcPr/>
                </a:tc>
                <a:tc>
                  <a:txBody>
                    <a:bodyPr/>
                    <a:lstStyle/>
                    <a:p>
                      <a:r>
                        <a:rPr lang="en-IN" sz="800" dirty="0"/>
                        <a:t>DL + clinical data</a:t>
                      </a:r>
                      <a:endParaRPr lang="en-US" sz="800" dirty="0"/>
                    </a:p>
                  </a:txBody>
                  <a:tcPr/>
                </a:tc>
                <a:tc>
                  <a:txBody>
                    <a:bodyPr/>
                    <a:lstStyle/>
                    <a:p>
                      <a:r>
                        <a:rPr lang="en-IN" sz="800" dirty="0"/>
                        <a:t>Fundus predicts diabetes risk</a:t>
                      </a:r>
                      <a:endParaRPr lang="en-US" sz="800" dirty="0"/>
                    </a:p>
                  </a:txBody>
                  <a:tcPr/>
                </a:tc>
                <a:tc>
                  <a:txBody>
                    <a:bodyPr/>
                    <a:lstStyle/>
                    <a:p>
                      <a:r>
                        <a:rPr lang="en-IN" sz="800" b="0" dirty="0"/>
                        <a:t>Supports diabetes screening</a:t>
                      </a:r>
                      <a:endParaRPr lang="en-US" sz="800" b="0" dirty="0"/>
                    </a:p>
                  </a:txBody>
                  <a:tcPr/>
                </a:tc>
                <a:tc>
                  <a:txBody>
                    <a:bodyPr/>
                    <a:lstStyle/>
                    <a:p>
                      <a:r>
                        <a:rPr lang="en-IN" sz="800" dirty="0"/>
                        <a:t>ResNet-18</a:t>
                      </a:r>
                      <a:endParaRPr lang="en-US" sz="800" dirty="0"/>
                    </a:p>
                  </a:txBody>
                  <a:tcPr/>
                </a:tc>
                <a:tc>
                  <a:txBody>
                    <a:bodyPr/>
                    <a:lstStyle/>
                    <a:p>
                      <a:r>
                        <a:rPr lang="en-IN" sz="800" b="0" dirty="0"/>
                        <a:t>Accuracy: 92–96%</a:t>
                      </a:r>
                      <a:endParaRPr lang="en-US" sz="800" b="0" dirty="0"/>
                    </a:p>
                  </a:txBody>
                  <a:tcPr/>
                </a:tc>
                <a:tc>
                  <a:txBody>
                    <a:bodyPr/>
                    <a:lstStyle/>
                    <a:p>
                      <a:r>
                        <a:rPr lang="en-IN" sz="800" dirty="0"/>
                        <a:t>Population screening</a:t>
                      </a:r>
                      <a:endParaRPr lang="en-US" sz="800" dirty="0"/>
                    </a:p>
                  </a:txBody>
                  <a:tcPr/>
                </a:tc>
                <a:tc>
                  <a:txBody>
                    <a:bodyPr/>
                    <a:lstStyle/>
                    <a:p>
                      <a:r>
                        <a:rPr lang="en-IN" sz="800" dirty="0"/>
                        <a:t>No lesion analysis</a:t>
                      </a:r>
                      <a:endParaRPr lang="en-US" sz="800" dirty="0"/>
                    </a:p>
                  </a:txBody>
                  <a:tcPr/>
                </a:tc>
                <a:extLst>
                  <a:ext uri="{0D108BD9-81ED-4DB2-BD59-A6C34878D82A}">
                    <a16:rowId xmlns:a16="http://schemas.microsoft.com/office/drawing/2014/main" val="10001"/>
                  </a:ext>
                </a:extLst>
              </a:tr>
              <a:tr h="627300">
                <a:tc>
                  <a:txBody>
                    <a:bodyPr/>
                    <a:lstStyle/>
                    <a:p>
                      <a:r>
                        <a:rPr lang="en-US" sz="800" dirty="0"/>
                        <a:t>[8] Analysis of Diabetic Retinopathy (2023)</a:t>
                      </a:r>
                    </a:p>
                  </a:txBody>
                  <a:tcPr/>
                </a:tc>
                <a:tc>
                  <a:txBody>
                    <a:bodyPr/>
                    <a:lstStyle/>
                    <a:p>
                      <a:r>
                        <a:rPr lang="en-US" sz="800" dirty="0"/>
                        <a:t>Automate DR severity detection to reduce manual diagnosis</a:t>
                      </a:r>
                    </a:p>
                  </a:txBody>
                  <a:tcPr/>
                </a:tc>
                <a:tc>
                  <a:txBody>
                    <a:bodyPr/>
                    <a:lstStyle/>
                    <a:p>
                      <a:r>
                        <a:rPr lang="en-US" sz="800" dirty="0"/>
                        <a:t>Deep learning with feature selection and classification</a:t>
                      </a:r>
                    </a:p>
                  </a:txBody>
                  <a:tcPr/>
                </a:tc>
                <a:tc>
                  <a:txBody>
                    <a:bodyPr/>
                    <a:lstStyle/>
                    <a:p>
                      <a:r>
                        <a:rPr lang="en-US" sz="800" dirty="0"/>
                        <a:t>Accurate multi-class DR severity detection</a:t>
                      </a:r>
                    </a:p>
                  </a:txBody>
                  <a:tcPr/>
                </a:tc>
                <a:tc>
                  <a:txBody>
                    <a:bodyPr/>
                    <a:lstStyle/>
                    <a:p>
                      <a:r>
                        <a:rPr lang="en-US" sz="800" b="0" dirty="0"/>
                        <a:t>Supports severity-based analysis beyond binary DR</a:t>
                      </a:r>
                    </a:p>
                  </a:txBody>
                  <a:tcPr/>
                </a:tc>
                <a:tc>
                  <a:txBody>
                    <a:bodyPr/>
                    <a:lstStyle/>
                    <a:p>
                      <a:r>
                        <a:rPr lang="en-US" sz="800" dirty="0"/>
                        <a:t>CNN, Ant Colony Optimization, SVM</a:t>
                      </a:r>
                    </a:p>
                  </a:txBody>
                  <a:tcPr/>
                </a:tc>
                <a:tc>
                  <a:txBody>
                    <a:bodyPr/>
                    <a:lstStyle/>
                    <a:p>
                      <a:r>
                        <a:rPr lang="en-IN" sz="800" b="0" dirty="0"/>
                        <a:t>Accuracy: 97–99%</a:t>
                      </a:r>
                      <a:endParaRPr lang="en-US" sz="800" b="0" dirty="0"/>
                    </a:p>
                  </a:txBody>
                  <a:tcPr/>
                </a:tc>
                <a:tc>
                  <a:txBody>
                    <a:bodyPr/>
                    <a:lstStyle/>
                    <a:p>
                      <a:r>
                        <a:rPr lang="en-IN" sz="800" dirty="0"/>
                        <a:t>Automated and scalable</a:t>
                      </a:r>
                      <a:endParaRPr lang="en-US" sz="800" dirty="0"/>
                    </a:p>
                  </a:txBody>
                  <a:tcPr/>
                </a:tc>
                <a:tc>
                  <a:txBody>
                    <a:bodyPr/>
                    <a:lstStyle/>
                    <a:p>
                      <a:r>
                        <a:rPr lang="en-US" sz="800" dirty="0"/>
                        <a:t>No lesion density, no macular threat analysis</a:t>
                      </a:r>
                    </a:p>
                  </a:txBody>
                  <a:tcPr/>
                </a:tc>
                <a:extLst>
                  <a:ext uri="{0D108BD9-81ED-4DB2-BD59-A6C34878D82A}">
                    <a16:rowId xmlns:a16="http://schemas.microsoft.com/office/drawing/2014/main" val="10002"/>
                  </a:ext>
                </a:extLst>
              </a:tr>
              <a:tr h="900668">
                <a:tc>
                  <a:txBody>
                    <a:bodyPr/>
                    <a:lstStyle/>
                    <a:p>
                      <a:r>
                        <a:rPr lang="en-US" sz="800" dirty="0"/>
                        <a:t>[9]Predicting Systemic Health Features from Retinal Images (2024)</a:t>
                      </a:r>
                    </a:p>
                  </a:txBody>
                  <a:tcPr/>
                </a:tc>
                <a:tc>
                  <a:txBody>
                    <a:bodyPr/>
                    <a:lstStyle/>
                    <a:p>
                      <a:r>
                        <a:rPr lang="en-US" sz="800" dirty="0"/>
                        <a:t>Predict systemic parameters (HbA1c, BP) from retinal images</a:t>
                      </a:r>
                    </a:p>
                  </a:txBody>
                  <a:tcPr/>
                </a:tc>
                <a:tc>
                  <a:txBody>
                    <a:bodyPr/>
                    <a:lstStyle/>
                    <a:p>
                      <a:r>
                        <a:rPr lang="en-IN" sz="800" dirty="0"/>
                        <a:t>Transfer-learning-based deep learning</a:t>
                      </a:r>
                      <a:endParaRPr lang="en-US" sz="800" dirty="0"/>
                    </a:p>
                  </a:txBody>
                  <a:tcPr/>
                </a:tc>
                <a:tc>
                  <a:txBody>
                    <a:bodyPr/>
                    <a:lstStyle/>
                    <a:p>
                      <a:r>
                        <a:rPr lang="en-IN" sz="800" dirty="0"/>
                        <a:t>Transfer-learning-based deep learning</a:t>
                      </a:r>
                      <a:endParaRPr lang="en-US" sz="800" dirty="0"/>
                    </a:p>
                  </a:txBody>
                  <a:tcPr/>
                </a:tc>
                <a:tc>
                  <a:txBody>
                    <a:bodyPr/>
                    <a:lstStyle/>
                    <a:p>
                      <a:r>
                        <a:rPr lang="en-US" sz="800" b="0" dirty="0"/>
                        <a:t>Strongly supports diabetes severity estimation from fundus images</a:t>
                      </a:r>
                    </a:p>
                  </a:txBody>
                  <a:tcPr/>
                </a:tc>
                <a:tc>
                  <a:txBody>
                    <a:bodyPr/>
                    <a:lstStyle/>
                    <a:p>
                      <a:r>
                        <a:rPr lang="en-IN" sz="800" dirty="0"/>
                        <a:t>DenseNet-201 (transfer learning)</a:t>
                      </a:r>
                      <a:endParaRPr lang="en-US" sz="800" dirty="0"/>
                    </a:p>
                  </a:txBody>
                  <a:tcPr/>
                </a:tc>
                <a:tc>
                  <a:txBody>
                    <a:bodyPr/>
                    <a:lstStyle/>
                    <a:p>
                      <a:r>
                        <a:rPr lang="en-US" sz="800" dirty="0"/>
                        <a:t>High correlation with clinical values</a:t>
                      </a:r>
                    </a:p>
                    <a:p>
                      <a:r>
                        <a:rPr lang="en-IN" sz="800" dirty="0"/>
                        <a:t>Accuracy equivalent: ~80–85%</a:t>
                      </a:r>
                      <a:endParaRPr lang="en-US" sz="800" dirty="0"/>
                    </a:p>
                  </a:txBody>
                  <a:tcPr/>
                </a:tc>
                <a:tc>
                  <a:txBody>
                    <a:bodyPr/>
                    <a:lstStyle/>
                    <a:p>
                      <a:r>
                        <a:rPr lang="en-IN" sz="800" dirty="0"/>
                        <a:t>Non-invasive systemic prediction</a:t>
                      </a:r>
                      <a:endParaRPr lang="en-US" sz="800" dirty="0"/>
                    </a:p>
                  </a:txBody>
                  <a:tcPr/>
                </a:tc>
                <a:tc>
                  <a:txBody>
                    <a:bodyPr/>
                    <a:lstStyle/>
                    <a:p>
                      <a:r>
                        <a:rPr lang="en-IN" sz="800" dirty="0"/>
                        <a:t>Black-box model, limited explainability</a:t>
                      </a:r>
                      <a:endParaRPr lang="en-US" sz="800" dirty="0"/>
                    </a:p>
                  </a:txBody>
                  <a:tcPr/>
                </a:tc>
                <a:extLst>
                  <a:ext uri="{0D108BD9-81ED-4DB2-BD59-A6C34878D82A}">
                    <a16:rowId xmlns:a16="http://schemas.microsoft.com/office/drawing/2014/main" val="10003"/>
                  </a:ext>
                </a:extLst>
              </a:tr>
              <a:tr h="1123876">
                <a:tc>
                  <a:txBody>
                    <a:bodyPr/>
                    <a:lstStyle/>
                    <a:p>
                      <a:r>
                        <a:rPr lang="en-US" sz="800" dirty="0"/>
                        <a:t>[10]Automatic Detection of Microaneurysms in Retinal Fundus Images</a:t>
                      </a:r>
                    </a:p>
                  </a:txBody>
                  <a:tcPr/>
                </a:tc>
                <a:tc>
                  <a:txBody>
                    <a:bodyPr/>
                    <a:lstStyle/>
                    <a:p>
                      <a:pPr algn="l">
                        <a:buNone/>
                      </a:pPr>
                      <a:r>
                        <a:rPr lang="en-US" sz="800" b="0" dirty="0"/>
                        <a:t>Early detection of diabetic retinopathy through microaneurysm identification</a:t>
                      </a:r>
                    </a:p>
                  </a:txBody>
                  <a:tcPr anchor="ctr"/>
                </a:tc>
                <a:tc>
                  <a:txBody>
                    <a:bodyPr/>
                    <a:lstStyle/>
                    <a:p>
                      <a:r>
                        <a:rPr lang="en-US" sz="800" dirty="0"/>
                        <a:t>Deep learning-based lesion detection</a:t>
                      </a:r>
                    </a:p>
                  </a:txBody>
                  <a:tcPr/>
                </a:tc>
                <a:tc>
                  <a:txBody>
                    <a:bodyPr/>
                    <a:lstStyle/>
                    <a:p>
                      <a:r>
                        <a:rPr lang="en-US" sz="800" dirty="0"/>
                        <a:t>Accurate detection of microaneurysms improves early DR diagnosis</a:t>
                      </a:r>
                    </a:p>
                  </a:txBody>
                  <a:tcPr/>
                </a:tc>
                <a:tc>
                  <a:txBody>
                    <a:bodyPr/>
                    <a:lstStyle/>
                    <a:p>
                      <a:r>
                        <a:rPr lang="en-US" sz="800" dirty="0"/>
                        <a:t>Supports lesion-level analysis used in our project</a:t>
                      </a:r>
                      <a:endParaRPr lang="en-US" sz="800" b="0" dirty="0"/>
                    </a:p>
                  </a:txBody>
                  <a:tcPr/>
                </a:tc>
                <a:tc>
                  <a:txBody>
                    <a:bodyPr/>
                    <a:lstStyle/>
                    <a:p>
                      <a:r>
                        <a:rPr lang="en-IN" sz="800" dirty="0"/>
                        <a:t>CNN</a:t>
                      </a:r>
                      <a:endParaRPr lang="en-US" sz="800" dirty="0"/>
                    </a:p>
                  </a:txBody>
                  <a:tcPr/>
                </a:tc>
                <a:tc>
                  <a:txBody>
                    <a:bodyPr/>
                    <a:lstStyle/>
                    <a:p>
                      <a:r>
                        <a:rPr lang="en-IN" sz="800" dirty="0"/>
                        <a:t>Accuracy </a:t>
                      </a:r>
                    </a:p>
                    <a:p>
                      <a:r>
                        <a:rPr lang="en-IN" sz="800" dirty="0"/>
                        <a:t>90–95%</a:t>
                      </a:r>
                      <a:endParaRPr lang="en-US" sz="800" dirty="0"/>
                    </a:p>
                  </a:txBody>
                  <a:tcPr/>
                </a:tc>
                <a:tc>
                  <a:txBody>
                    <a:bodyPr/>
                    <a:lstStyle/>
                    <a:p>
                      <a:r>
                        <a:rPr lang="en-US" sz="800" dirty="0"/>
                        <a:t>Effective for early DR detection</a:t>
                      </a:r>
                    </a:p>
                  </a:txBody>
                  <a:tcPr/>
                </a:tc>
                <a:tc>
                  <a:txBody>
                    <a:bodyPr/>
                    <a:lstStyle/>
                    <a:p>
                      <a:r>
                        <a:rPr lang="en-US" sz="800" dirty="0"/>
                        <a:t>Single-lesion focus, no lesion density or macular risk analysis</a:t>
                      </a:r>
                    </a:p>
                  </a:txBody>
                  <a:tcPr/>
                </a:tc>
                <a:extLst>
                  <a:ext uri="{0D108BD9-81ED-4DB2-BD59-A6C34878D82A}">
                    <a16:rowId xmlns:a16="http://schemas.microsoft.com/office/drawing/2014/main" val="1423868528"/>
                  </a:ext>
                </a:extLst>
              </a:tr>
            </a:tbl>
          </a:graphicData>
        </a:graphic>
      </p:graphicFrame>
    </p:spTree>
    <p:extLst>
      <p:ext uri="{BB962C8B-B14F-4D97-AF65-F5344CB8AC3E}">
        <p14:creationId xmlns:p14="http://schemas.microsoft.com/office/powerpoint/2010/main" val="4160349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D8562F3-EF4E-4EA1-8416-F769F14D18B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430083-762D-3B6E-DAC3-3D98EE6A2F4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Research Gaps</a:t>
            </a:r>
            <a:endParaRPr dirty="0"/>
          </a:p>
        </p:txBody>
      </p:sp>
      <p:sp>
        <p:nvSpPr>
          <p:cNvPr id="44" name="Google Shape;44;p3">
            <a:extLst>
              <a:ext uri="{FF2B5EF4-FFF2-40B4-BE49-F238E27FC236}">
                <a16:creationId xmlns:a16="http://schemas.microsoft.com/office/drawing/2014/main" id="{5FD84FE6-1EF7-E90B-9561-FC7CF4214F1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45" name="Google Shape;45;p3">
            <a:extLst>
              <a:ext uri="{FF2B5EF4-FFF2-40B4-BE49-F238E27FC236}">
                <a16:creationId xmlns:a16="http://schemas.microsoft.com/office/drawing/2014/main" id="{380B9875-0545-C7A1-F58F-DE1C68DCE9C1}"/>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a:bodyPr>
          <a:lstStyle/>
          <a:p>
            <a:pPr indent="-310832">
              <a:lnSpc>
                <a:spcPct val="115000"/>
              </a:lnSpc>
              <a:buClr>
                <a:srgbClr val="595959"/>
              </a:buClr>
              <a:buSzPct val="58333"/>
              <a:buFont typeface="Arial"/>
              <a:buChar char="●"/>
            </a:pPr>
            <a:endParaRPr lang="en-IN" dirty="0">
              <a:solidFill>
                <a:srgbClr val="FF0000"/>
              </a:solidFill>
              <a:sym typeface="Arial"/>
            </a:endParaRPr>
          </a:p>
          <a:p>
            <a:pPr lvl="0" indent="-310832">
              <a:lnSpc>
                <a:spcPct val="115000"/>
              </a:lnSpc>
              <a:buClr>
                <a:srgbClr val="595959"/>
              </a:buClr>
              <a:buSzPct val="58333"/>
              <a:buChar char="●"/>
            </a:pPr>
            <a:endParaRPr lang="en-US" dirty="0">
              <a:solidFill>
                <a:srgbClr val="C00000"/>
              </a:solidFill>
            </a:endParaRPr>
          </a:p>
        </p:txBody>
      </p:sp>
      <p:sp>
        <p:nvSpPr>
          <p:cNvPr id="2" name="Rectangle 1">
            <a:extLst>
              <a:ext uri="{FF2B5EF4-FFF2-40B4-BE49-F238E27FC236}">
                <a16:creationId xmlns:a16="http://schemas.microsoft.com/office/drawing/2014/main" id="{C04B7CFA-BA3C-0437-0210-EF54A7A6FA62}"/>
              </a:ext>
            </a:extLst>
          </p:cNvPr>
          <p:cNvSpPr>
            <a:spLocks noChangeArrowheads="1"/>
          </p:cNvSpPr>
          <p:nvPr/>
        </p:nvSpPr>
        <p:spPr bwMode="auto">
          <a:xfrm>
            <a:off x="215900" y="1002089"/>
            <a:ext cx="860588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Binary Classification Approach</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The system performs only binary classification (yes/ no), which does not provide information about disease progression or severity levels.</a:t>
            </a:r>
          </a:p>
          <a:p>
            <a:pPr marL="342900" lvl="0" indent="-34290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Retinal Features Not Used for Severity Assessment</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Although important retinal features such as microaneurysms, hard exudates, and blood vessel abnormalities are extracted, the base paper uses them only for detection and not for evaluating the extent or severity of damage.</a:t>
            </a:r>
          </a:p>
          <a:p>
            <a:pPr marL="342900" lvl="0" indent="-342900" eaLnBrk="0" fontAlgn="base" hangingPunct="0">
              <a:spcBef>
                <a:spcPct val="0"/>
              </a:spcBef>
              <a:spcAft>
                <a:spcPct val="0"/>
              </a:spcAft>
              <a:buClrTx/>
              <a:buFont typeface="Arial" panose="020B0604020202020204" pitchFamily="34" charset="0"/>
              <a:buChar char="•"/>
            </a:pPr>
            <a:r>
              <a:rPr lang="en-US" altLang="en-US" sz="1800" b="1" dirty="0">
                <a:solidFill>
                  <a:schemeClr val="tx1"/>
                </a:solidFill>
                <a:latin typeface="Times New Roman" panose="02020603050405020304" pitchFamily="18" charset="0"/>
                <a:cs typeface="Times New Roman" panose="02020603050405020304" pitchFamily="18" charset="0"/>
              </a:rPr>
              <a:t>No Mapping Between Retinal Damage and Diabetes Stages</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The extracted diabetic retinopathy features are not mapped to diabetes stages or progression levels, limiting clinical interpretation beyond screening.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8618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291C7F78-E42D-F789-412D-53C660C0DFA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364DABB-86F0-041F-1690-AD45B814158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Problem statement</a:t>
            </a:r>
            <a:endParaRPr dirty="0"/>
          </a:p>
        </p:txBody>
      </p:sp>
      <p:sp>
        <p:nvSpPr>
          <p:cNvPr id="44" name="Google Shape;44;p3">
            <a:extLst>
              <a:ext uri="{FF2B5EF4-FFF2-40B4-BE49-F238E27FC236}">
                <a16:creationId xmlns:a16="http://schemas.microsoft.com/office/drawing/2014/main" id="{105073AE-3BAB-9959-75E9-6BDAB9C42CE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19</a:t>
            </a:fld>
            <a:endParaRPr/>
          </a:p>
        </p:txBody>
      </p:sp>
      <p:sp>
        <p:nvSpPr>
          <p:cNvPr id="45" name="Google Shape;45;p3">
            <a:extLst>
              <a:ext uri="{FF2B5EF4-FFF2-40B4-BE49-F238E27FC236}">
                <a16:creationId xmlns:a16="http://schemas.microsoft.com/office/drawing/2014/main" id="{186DEA44-DE74-8BF1-9FD0-1F1BEEF60B05}"/>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a:bodyPr>
          <a:lstStyle/>
          <a:p>
            <a:pPr marL="146368" lvl="0" indent="0" algn="just">
              <a:lnSpc>
                <a:spcPct val="115000"/>
              </a:lnSpc>
              <a:buClr>
                <a:srgbClr val="595959"/>
              </a:buClr>
              <a:buSzPct val="58333"/>
            </a:pPr>
            <a:r>
              <a:rPr lang="en-US" sz="1800" dirty="0"/>
              <a:t>Diabetes is a long-term disease that requires regular monitoring to prevent serious complications. Blood glucose tests provide only temporary readings that can vary due to factors such as food intake, stress, and time of measurement, making it difficult to accurately assess the long-term severity of diabetes. Diabetic retinopathy causes gradual and permanent changes in the retina, including microaneurysms, hard exudates, cotton wool spots and abnormal blood vessel growth, which reflect prolonged exposure to high blood glucose levels. However, most existing approaches focus only on detecting diabetic retinopathy and do not utilize these retinal features to evaluate diabetes progression. Therefore, there is a need for a non-invasive system that analyzes fundus images to extract diabetic retinopathy features and reliably predict the stage of diabetes.</a:t>
            </a:r>
            <a:endParaRPr lang="en-US" sz="1800" dirty="0">
              <a:solidFill>
                <a:srgbClr val="C00000"/>
              </a:solidFill>
            </a:endParaRPr>
          </a:p>
        </p:txBody>
      </p:sp>
    </p:spTree>
    <p:extLst>
      <p:ext uri="{BB962C8B-B14F-4D97-AF65-F5344CB8AC3E}">
        <p14:creationId xmlns:p14="http://schemas.microsoft.com/office/powerpoint/2010/main" val="1455877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88E5-FFB1-425E-940A-95D584723842}"/>
              </a:ext>
            </a:extLst>
          </p:cNvPr>
          <p:cNvSpPr>
            <a:spLocks noGrp="1"/>
          </p:cNvSpPr>
          <p:nvPr>
            <p:ph type="ctrTitle"/>
          </p:nvPr>
        </p:nvSpPr>
        <p:spPr>
          <a:xfrm>
            <a:off x="-108305" y="267494"/>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Objectives</a:t>
            </a:r>
          </a:p>
        </p:txBody>
      </p:sp>
      <p:sp>
        <p:nvSpPr>
          <p:cNvPr id="9219" name="Slide Number Placeholder 2">
            <a:extLst>
              <a:ext uri="{FF2B5EF4-FFF2-40B4-BE49-F238E27FC236}">
                <a16:creationId xmlns:a16="http://schemas.microsoft.com/office/drawing/2014/main" id="{F4889C14-9D66-0646-7D3C-F1D5A979D4E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263C8792-CD54-4A9A-8DD3-F6B8644EA022}" type="slidenum">
              <a:rPr lang="en-US" altLang="en-US" sz="1000" smtClean="0">
                <a:solidFill>
                  <a:srgbClr val="595959"/>
                </a:solidFill>
              </a:rPr>
              <a:pPr/>
              <a:t>20</a:t>
            </a:fld>
            <a:endParaRPr lang="en-US" altLang="en-US" sz="1000">
              <a:solidFill>
                <a:srgbClr val="595959"/>
              </a:solidFill>
            </a:endParaRPr>
          </a:p>
        </p:txBody>
      </p:sp>
      <p:sp>
        <p:nvSpPr>
          <p:cNvPr id="3" name="Rectangle 1">
            <a:extLst>
              <a:ext uri="{FF2B5EF4-FFF2-40B4-BE49-F238E27FC236}">
                <a16:creationId xmlns:a16="http://schemas.microsoft.com/office/drawing/2014/main" id="{22F61602-C9E7-0625-AEB3-7B6FFDAEF597}"/>
              </a:ext>
            </a:extLst>
          </p:cNvPr>
          <p:cNvSpPr>
            <a:spLocks noGrp="1" noChangeArrowheads="1"/>
          </p:cNvSpPr>
          <p:nvPr>
            <p:ph type="body" sz="quarter" idx="13"/>
          </p:nvPr>
        </p:nvSpPr>
        <p:spPr bwMode="auto">
          <a:xfrm>
            <a:off x="506534" y="1207954"/>
            <a:ext cx="8229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move beyond binary classification by developing a model that classifies retinal images into multiple diabetes severity levels instead of only DR / No DR.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utilize extracted retinal features such as microaneurysms, hard exudates, and blood vessel abnormalities for assessing the extent of retinal damage rather than mere detection.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map retinal damage patterns to diabetes progression stages, enabling clinically meaningful severity interpretation from retinal fundus images.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 automated severity prediction system that reflects long-term diabetes impact using stable retinal features.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AA6C-D284-F536-3AE8-41C65B8DA1AF}"/>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Proposed Solution</a:t>
            </a:r>
          </a:p>
        </p:txBody>
      </p:sp>
      <p:sp>
        <p:nvSpPr>
          <p:cNvPr id="10243" name="Slide Number Placeholder 2">
            <a:extLst>
              <a:ext uri="{FF2B5EF4-FFF2-40B4-BE49-F238E27FC236}">
                <a16:creationId xmlns:a16="http://schemas.microsoft.com/office/drawing/2014/main" id="{6D00ABFA-D88A-B7AF-7D4A-6012A136BF52}"/>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A9C45A0C-E776-438A-BBC0-372ED89C29E2}" type="slidenum">
              <a:rPr lang="en-US" altLang="en-US" sz="1000" smtClean="0">
                <a:solidFill>
                  <a:srgbClr val="595959"/>
                </a:solidFill>
              </a:rPr>
              <a:pPr/>
              <a:t>21</a:t>
            </a:fld>
            <a:endParaRPr lang="en-US" altLang="en-US" sz="1000">
              <a:solidFill>
                <a:srgbClr val="595959"/>
              </a:solidFill>
            </a:endParaRPr>
          </a:p>
        </p:txBody>
      </p:sp>
      <p:sp>
        <p:nvSpPr>
          <p:cNvPr id="5" name="Rectangle 2">
            <a:extLst>
              <a:ext uri="{FF2B5EF4-FFF2-40B4-BE49-F238E27FC236}">
                <a16:creationId xmlns:a16="http://schemas.microsoft.com/office/drawing/2014/main" id="{F7E53036-6FD2-286A-88EA-65678F8CA02D}"/>
              </a:ext>
            </a:extLst>
          </p:cNvPr>
          <p:cNvSpPr>
            <a:spLocks noGrp="1" noChangeArrowheads="1"/>
          </p:cNvSpPr>
          <p:nvPr>
            <p:ph type="body" sz="quarter" idx="13"/>
          </p:nvPr>
        </p:nvSpPr>
        <p:spPr bwMode="auto">
          <a:xfrm>
            <a:off x="179512" y="863590"/>
            <a:ext cx="87849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The system predicts diabetic retinopathy severity and blood glucose levels from retinal fundus images.</a:t>
            </a:r>
          </a:p>
          <a:p>
            <a:pPr marL="5143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Images are </a:t>
            </a:r>
            <a:r>
              <a:rPr lang="en-IN" sz="1800" dirty="0" err="1">
                <a:latin typeface="Times New Roman" panose="02020603050405020304" pitchFamily="18" charset="0"/>
                <a:cs typeface="Times New Roman" panose="02020603050405020304" pitchFamily="18" charset="0"/>
              </a:rPr>
              <a:t>preprocessed</a:t>
            </a:r>
            <a:r>
              <a:rPr lang="en-IN" sz="1800" dirty="0">
                <a:latin typeface="Times New Roman" panose="02020603050405020304" pitchFamily="18" charset="0"/>
                <a:cs typeface="Times New Roman" panose="02020603050405020304" pitchFamily="18" charset="0"/>
              </a:rPr>
              <a:t> using Ben Graham correction and CLAHE to enhance retinal features.</a:t>
            </a:r>
          </a:p>
          <a:p>
            <a:pPr marL="5143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 U-Net with EfficientNet-B4 encoder performs multi-class lesion segmentation (microaneurysms, </a:t>
            </a:r>
            <a:r>
              <a:rPr lang="en-IN" sz="1800" dirty="0" err="1">
                <a:latin typeface="Times New Roman" panose="02020603050405020304" pitchFamily="18" charset="0"/>
                <a:cs typeface="Times New Roman" panose="02020603050405020304" pitchFamily="18" charset="0"/>
              </a:rPr>
              <a:t>hemorrhages</a:t>
            </a:r>
            <a:r>
              <a:rPr lang="en-IN" sz="1800" dirty="0">
                <a:latin typeface="Times New Roman" panose="02020603050405020304" pitchFamily="18" charset="0"/>
                <a:cs typeface="Times New Roman" panose="02020603050405020304" pitchFamily="18" charset="0"/>
              </a:rPr>
              <a:t>, exudates, IRMA, neovascularization) </a:t>
            </a:r>
          </a:p>
          <a:p>
            <a:pPr marL="5143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The lesion mask is combined with the RGB image to form a 4-channel input and fed into a ResNet-50 CNN to classify DR severity (grades 0–4).</a:t>
            </a:r>
          </a:p>
          <a:p>
            <a:pPr marL="5143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The predicted grade is mapped to HbA1c ranges using a UKPDS-based lookup table, and the midpoint value is selected.</a:t>
            </a:r>
          </a:p>
          <a:p>
            <a:pPr marL="5143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HbA1c-based features are then used in a regression model (CART/Lasso/Random Forest) to estimate blood glucose levels.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1C0A1CAF-65FB-3D67-6481-5F96E540FF78}"/>
              </a:ext>
            </a:extLst>
          </p:cNvPr>
          <p:cNvSpPr txBox="1">
            <a:spLocks/>
          </p:cNvSpPr>
          <p:nvPr/>
        </p:nvSpPr>
        <p:spPr>
          <a:xfrm>
            <a:off x="8370887" y="4698330"/>
            <a:ext cx="549275" cy="393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fld id="{EF26C623-DE27-4A99-8424-AFD36C142E5A}" type="slidenum">
              <a:rPr lang="en-US" altLang="en-US" smtClean="0"/>
              <a:pPr>
                <a:defRPr/>
              </a:pPr>
              <a:t>22</a:t>
            </a:fld>
            <a:endParaRPr lang="en-US" altLang="en-US"/>
          </a:p>
        </p:txBody>
      </p:sp>
      <p:grpSp>
        <p:nvGrpSpPr>
          <p:cNvPr id="5" name="Group 4">
            <a:extLst>
              <a:ext uri="{FF2B5EF4-FFF2-40B4-BE49-F238E27FC236}">
                <a16:creationId xmlns:a16="http://schemas.microsoft.com/office/drawing/2014/main" id="{43D2B1AA-DB66-6160-A702-CF10A7581701}"/>
              </a:ext>
            </a:extLst>
          </p:cNvPr>
          <p:cNvGrpSpPr/>
          <p:nvPr/>
        </p:nvGrpSpPr>
        <p:grpSpPr>
          <a:xfrm>
            <a:off x="189794" y="205384"/>
            <a:ext cx="1296144" cy="955932"/>
            <a:chOff x="139476" y="671095"/>
            <a:chExt cx="1732133" cy="1306923"/>
          </a:xfrm>
        </p:grpSpPr>
        <p:sp>
          <p:nvSpPr>
            <p:cNvPr id="6" name="Cylinder 5">
              <a:extLst>
                <a:ext uri="{FF2B5EF4-FFF2-40B4-BE49-F238E27FC236}">
                  <a16:creationId xmlns:a16="http://schemas.microsoft.com/office/drawing/2014/main" id="{CBCB49BA-E39F-CFC7-74D1-0D74E5DD5FF5}"/>
                </a:ext>
              </a:extLst>
            </p:cNvPr>
            <p:cNvSpPr/>
            <p:nvPr/>
          </p:nvSpPr>
          <p:spPr>
            <a:xfrm>
              <a:off x="139476" y="671095"/>
              <a:ext cx="1732133" cy="129712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C4BDF9E0-1765-64BF-A782-F36E3B853601}"/>
                </a:ext>
              </a:extLst>
            </p:cNvPr>
            <p:cNvPicPr>
              <a:picLocks noChangeAspect="1"/>
            </p:cNvPicPr>
            <p:nvPr/>
          </p:nvPicPr>
          <p:blipFill>
            <a:blip r:embed="rId2"/>
            <a:stretch>
              <a:fillRect/>
            </a:stretch>
          </p:blipFill>
          <p:spPr>
            <a:xfrm>
              <a:off x="533716" y="1026896"/>
              <a:ext cx="943651" cy="673673"/>
            </a:xfrm>
            <a:prstGeom prst="rect">
              <a:avLst/>
            </a:prstGeom>
          </p:spPr>
        </p:pic>
        <p:sp>
          <p:nvSpPr>
            <p:cNvPr id="8" name="TextBox 7">
              <a:extLst>
                <a:ext uri="{FF2B5EF4-FFF2-40B4-BE49-F238E27FC236}">
                  <a16:creationId xmlns:a16="http://schemas.microsoft.com/office/drawing/2014/main" id="{53A2D6D3-87A5-8526-E468-EE15A13B85FE}"/>
                </a:ext>
              </a:extLst>
            </p:cNvPr>
            <p:cNvSpPr txBox="1"/>
            <p:nvPr/>
          </p:nvSpPr>
          <p:spPr>
            <a:xfrm>
              <a:off x="333965" y="1641392"/>
              <a:ext cx="1414288" cy="336626"/>
            </a:xfrm>
            <a:prstGeom prst="rect">
              <a:avLst/>
            </a:prstGeom>
            <a:noFill/>
          </p:spPr>
          <p:txBody>
            <a:bodyPr wrap="none" rtlCol="0">
              <a:spAutoFit/>
            </a:bodyPr>
            <a:lstStyle/>
            <a:p>
              <a:r>
                <a:rPr lang="en-US" sz="1000" b="1" dirty="0"/>
                <a:t>Retina dataset</a:t>
              </a:r>
              <a:endParaRPr lang="en-IN" sz="1000" b="1" dirty="0"/>
            </a:p>
          </p:txBody>
        </p:sp>
      </p:grpSp>
      <p:grpSp>
        <p:nvGrpSpPr>
          <p:cNvPr id="9" name="Group 8">
            <a:extLst>
              <a:ext uri="{FF2B5EF4-FFF2-40B4-BE49-F238E27FC236}">
                <a16:creationId xmlns:a16="http://schemas.microsoft.com/office/drawing/2014/main" id="{646C85A5-ABF2-D65F-3501-176F11071B9B}"/>
              </a:ext>
            </a:extLst>
          </p:cNvPr>
          <p:cNvGrpSpPr/>
          <p:nvPr/>
        </p:nvGrpSpPr>
        <p:grpSpPr>
          <a:xfrm>
            <a:off x="2019527" y="1429749"/>
            <a:ext cx="1682257" cy="1994885"/>
            <a:chOff x="3075507" y="1641393"/>
            <a:chExt cx="2512054" cy="2333852"/>
          </a:xfrm>
        </p:grpSpPr>
        <p:sp>
          <p:nvSpPr>
            <p:cNvPr id="10" name="Rectangle: Rounded Corners 9">
              <a:extLst>
                <a:ext uri="{FF2B5EF4-FFF2-40B4-BE49-F238E27FC236}">
                  <a16:creationId xmlns:a16="http://schemas.microsoft.com/office/drawing/2014/main" id="{0EC8408F-1A5A-ABF3-AC93-DD121AF013CE}"/>
                </a:ext>
              </a:extLst>
            </p:cNvPr>
            <p:cNvSpPr/>
            <p:nvPr/>
          </p:nvSpPr>
          <p:spPr>
            <a:xfrm>
              <a:off x="3075507" y="1641393"/>
              <a:ext cx="2512054" cy="23338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1" name="Picture 10">
              <a:extLst>
                <a:ext uri="{FF2B5EF4-FFF2-40B4-BE49-F238E27FC236}">
                  <a16:creationId xmlns:a16="http://schemas.microsoft.com/office/drawing/2014/main" id="{7B7CA26A-8687-D688-1528-3685CB977FE5}"/>
                </a:ext>
              </a:extLst>
            </p:cNvPr>
            <p:cNvPicPr>
              <a:picLocks noChangeAspect="1"/>
            </p:cNvPicPr>
            <p:nvPr/>
          </p:nvPicPr>
          <p:blipFill>
            <a:blip r:embed="rId3"/>
            <a:stretch>
              <a:fillRect/>
            </a:stretch>
          </p:blipFill>
          <p:spPr>
            <a:xfrm>
              <a:off x="3344367" y="2350467"/>
              <a:ext cx="1890494" cy="1318518"/>
            </a:xfrm>
            <a:prstGeom prst="rect">
              <a:avLst/>
            </a:prstGeom>
          </p:spPr>
        </p:pic>
        <p:sp>
          <p:nvSpPr>
            <p:cNvPr id="12" name="TextBox 11">
              <a:extLst>
                <a:ext uri="{FF2B5EF4-FFF2-40B4-BE49-F238E27FC236}">
                  <a16:creationId xmlns:a16="http://schemas.microsoft.com/office/drawing/2014/main" id="{DC6F9856-7E15-2E38-448C-451727D9C2C3}"/>
                </a:ext>
              </a:extLst>
            </p:cNvPr>
            <p:cNvSpPr txBox="1"/>
            <p:nvPr/>
          </p:nvSpPr>
          <p:spPr>
            <a:xfrm>
              <a:off x="3143259" y="1795281"/>
              <a:ext cx="2279191" cy="612125"/>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L</a:t>
              </a:r>
              <a:r>
                <a:rPr lang="en-IN" b="1" dirty="0" err="1">
                  <a:latin typeface="Times New Roman" panose="02020603050405020304" pitchFamily="18" charset="0"/>
                  <a:cs typeface="Times New Roman" panose="02020603050405020304" pitchFamily="18" charset="0"/>
                </a:rPr>
                <a:t>esion</a:t>
              </a:r>
              <a:r>
                <a:rPr lang="en-IN" b="1" dirty="0">
                  <a:latin typeface="Times New Roman" panose="02020603050405020304" pitchFamily="18" charset="0"/>
                  <a:cs typeface="Times New Roman" panose="02020603050405020304" pitchFamily="18" charset="0"/>
                </a:rPr>
                <a:t>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Segmentation</a:t>
              </a:r>
            </a:p>
          </p:txBody>
        </p:sp>
      </p:grpSp>
      <p:sp>
        <p:nvSpPr>
          <p:cNvPr id="13" name="Arrow: Down 12">
            <a:extLst>
              <a:ext uri="{FF2B5EF4-FFF2-40B4-BE49-F238E27FC236}">
                <a16:creationId xmlns:a16="http://schemas.microsoft.com/office/drawing/2014/main" id="{B2361622-BAF2-4B8D-FC9C-2D9C9E24EAAB}"/>
              </a:ext>
            </a:extLst>
          </p:cNvPr>
          <p:cNvSpPr/>
          <p:nvPr/>
        </p:nvSpPr>
        <p:spPr>
          <a:xfrm>
            <a:off x="758838" y="1226685"/>
            <a:ext cx="149386" cy="375418"/>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Down 13">
            <a:extLst>
              <a:ext uri="{FF2B5EF4-FFF2-40B4-BE49-F238E27FC236}">
                <a16:creationId xmlns:a16="http://schemas.microsoft.com/office/drawing/2014/main" id="{268991A6-C324-FE97-6F0F-5119F91C8776}"/>
              </a:ext>
            </a:extLst>
          </p:cNvPr>
          <p:cNvSpPr/>
          <p:nvPr/>
        </p:nvSpPr>
        <p:spPr>
          <a:xfrm rot="14940553">
            <a:off x="3414801" y="761687"/>
            <a:ext cx="174869" cy="832662"/>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8CCDCBE5-2731-18AF-C750-FAFA6DEFD32C}"/>
              </a:ext>
            </a:extLst>
          </p:cNvPr>
          <p:cNvGrpSpPr/>
          <p:nvPr/>
        </p:nvGrpSpPr>
        <p:grpSpPr>
          <a:xfrm>
            <a:off x="64451" y="1667472"/>
            <a:ext cx="1566201" cy="1627650"/>
            <a:chOff x="824975" y="2240543"/>
            <a:chExt cx="1885453" cy="1889184"/>
          </a:xfrm>
        </p:grpSpPr>
        <p:pic>
          <p:nvPicPr>
            <p:cNvPr id="16" name="Picture 15">
              <a:extLst>
                <a:ext uri="{FF2B5EF4-FFF2-40B4-BE49-F238E27FC236}">
                  <a16:creationId xmlns:a16="http://schemas.microsoft.com/office/drawing/2014/main" id="{818A8C12-0497-D939-6A66-AE644827DAD6}"/>
                </a:ext>
              </a:extLst>
            </p:cNvPr>
            <p:cNvPicPr>
              <a:picLocks noChangeAspect="1"/>
            </p:cNvPicPr>
            <p:nvPr/>
          </p:nvPicPr>
          <p:blipFill>
            <a:blip r:embed="rId4"/>
            <a:stretch>
              <a:fillRect/>
            </a:stretch>
          </p:blipFill>
          <p:spPr>
            <a:xfrm>
              <a:off x="869199" y="2240543"/>
              <a:ext cx="1841228" cy="673673"/>
            </a:xfrm>
            <a:prstGeom prst="rect">
              <a:avLst/>
            </a:prstGeom>
          </p:spPr>
        </p:pic>
        <p:pic>
          <p:nvPicPr>
            <p:cNvPr id="17" name="Picture 16">
              <a:extLst>
                <a:ext uri="{FF2B5EF4-FFF2-40B4-BE49-F238E27FC236}">
                  <a16:creationId xmlns:a16="http://schemas.microsoft.com/office/drawing/2014/main" id="{74AA3C5A-1CA6-66AD-6078-DD7F31E2E678}"/>
                </a:ext>
              </a:extLst>
            </p:cNvPr>
            <p:cNvPicPr>
              <a:picLocks noChangeAspect="1"/>
            </p:cNvPicPr>
            <p:nvPr/>
          </p:nvPicPr>
          <p:blipFill>
            <a:blip r:embed="rId5"/>
            <a:stretch>
              <a:fillRect/>
            </a:stretch>
          </p:blipFill>
          <p:spPr>
            <a:xfrm>
              <a:off x="869200" y="3184777"/>
              <a:ext cx="1841228" cy="673673"/>
            </a:xfrm>
            <a:prstGeom prst="rect">
              <a:avLst/>
            </a:prstGeom>
          </p:spPr>
        </p:pic>
        <p:sp>
          <p:nvSpPr>
            <p:cNvPr id="18" name="TextBox 17">
              <a:extLst>
                <a:ext uri="{FF2B5EF4-FFF2-40B4-BE49-F238E27FC236}">
                  <a16:creationId xmlns:a16="http://schemas.microsoft.com/office/drawing/2014/main" id="{DCC057A0-4388-A897-49AE-B0BDCE6A8670}"/>
                </a:ext>
              </a:extLst>
            </p:cNvPr>
            <p:cNvSpPr txBox="1"/>
            <p:nvPr/>
          </p:nvSpPr>
          <p:spPr>
            <a:xfrm>
              <a:off x="824975" y="2895167"/>
              <a:ext cx="1681204" cy="285784"/>
            </a:xfrm>
            <a:prstGeom prst="rect">
              <a:avLst/>
            </a:prstGeom>
            <a:noFill/>
          </p:spPr>
          <p:txBody>
            <a:bodyPr wrap="none" rtlCol="0">
              <a:spAutoFit/>
            </a:bodyPr>
            <a:lstStyle/>
            <a:p>
              <a:r>
                <a:rPr lang="en-US" sz="1000" dirty="0"/>
                <a:t>Before preprocessing</a:t>
              </a:r>
              <a:endParaRPr lang="en-IN" sz="1000" dirty="0"/>
            </a:p>
          </p:txBody>
        </p:sp>
        <p:sp>
          <p:nvSpPr>
            <p:cNvPr id="19" name="TextBox 18">
              <a:extLst>
                <a:ext uri="{FF2B5EF4-FFF2-40B4-BE49-F238E27FC236}">
                  <a16:creationId xmlns:a16="http://schemas.microsoft.com/office/drawing/2014/main" id="{677B2F28-7399-887E-E1CC-8EAFCB39C2CB}"/>
                </a:ext>
              </a:extLst>
            </p:cNvPr>
            <p:cNvSpPr txBox="1"/>
            <p:nvPr/>
          </p:nvSpPr>
          <p:spPr>
            <a:xfrm>
              <a:off x="921628" y="3843943"/>
              <a:ext cx="1553840" cy="285784"/>
            </a:xfrm>
            <a:prstGeom prst="rect">
              <a:avLst/>
            </a:prstGeom>
            <a:noFill/>
          </p:spPr>
          <p:txBody>
            <a:bodyPr wrap="none" rtlCol="0">
              <a:spAutoFit/>
            </a:bodyPr>
            <a:lstStyle/>
            <a:p>
              <a:r>
                <a:rPr lang="en-US" sz="1000" dirty="0"/>
                <a:t>After preprocessing</a:t>
              </a:r>
              <a:endParaRPr lang="en-IN" sz="1000" dirty="0"/>
            </a:p>
          </p:txBody>
        </p:sp>
      </p:gr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18690951-3CE3-8009-2B74-CF6733ACB613}"/>
                  </a:ext>
                </a:extLst>
              </p14:cNvPr>
              <p14:cNvContentPartPr/>
              <p14:nvPr/>
            </p14:nvContentPartPr>
            <p14:xfrm>
              <a:off x="-887379" y="-143238"/>
              <a:ext cx="360" cy="360"/>
            </p14:xfrm>
          </p:contentPart>
        </mc:Choice>
        <mc:Fallback xmlns="">
          <p:pic>
            <p:nvPicPr>
              <p:cNvPr id="20" name="Ink 19">
                <a:extLst>
                  <a:ext uri="{FF2B5EF4-FFF2-40B4-BE49-F238E27FC236}">
                    <a16:creationId xmlns:a16="http://schemas.microsoft.com/office/drawing/2014/main" id="{18690951-3CE3-8009-2B74-CF6733ACB613}"/>
                  </a:ext>
                </a:extLst>
              </p:cNvPr>
              <p:cNvPicPr/>
              <p:nvPr/>
            </p:nvPicPr>
            <p:blipFill>
              <a:blip r:embed="rId7"/>
              <a:stretch>
                <a:fillRect/>
              </a:stretch>
            </p:blipFill>
            <p:spPr>
              <a:xfrm>
                <a:off x="-905379" y="-161238"/>
                <a:ext cx="36000" cy="36000"/>
              </a:xfrm>
              <a:prstGeom prst="rect">
                <a:avLst/>
              </a:prstGeom>
            </p:spPr>
          </p:pic>
        </mc:Fallback>
      </mc:AlternateContent>
      <p:sp>
        <p:nvSpPr>
          <p:cNvPr id="21" name="TextBox 20">
            <a:extLst>
              <a:ext uri="{FF2B5EF4-FFF2-40B4-BE49-F238E27FC236}">
                <a16:creationId xmlns:a16="http://schemas.microsoft.com/office/drawing/2014/main" id="{8976E894-5C3A-0D6F-EF0B-44ECBC911AC8}"/>
              </a:ext>
            </a:extLst>
          </p:cNvPr>
          <p:cNvSpPr txBox="1"/>
          <p:nvPr/>
        </p:nvSpPr>
        <p:spPr>
          <a:xfrm>
            <a:off x="2163170" y="18898"/>
            <a:ext cx="4994804" cy="538609"/>
          </a:xfrm>
          <a:prstGeom prst="rect">
            <a:avLst/>
          </a:prstGeom>
          <a:noFill/>
        </p:spPr>
        <p:txBody>
          <a:bodyPr wrap="square">
            <a:spAutoFit/>
          </a:bodyPr>
          <a:lstStyle/>
          <a:p>
            <a:pPr algn="ctr"/>
            <a:r>
              <a:rPr lang="en-IN" sz="2900" b="1" dirty="0">
                <a:latin typeface="Times New Roman" panose="02020603050405020304" pitchFamily="18" charset="0"/>
                <a:cs typeface="Times New Roman" panose="02020603050405020304" pitchFamily="18" charset="0"/>
              </a:rPr>
              <a:t>Architecture diagram</a:t>
            </a:r>
          </a:p>
        </p:txBody>
      </p:sp>
      <p:grpSp>
        <p:nvGrpSpPr>
          <p:cNvPr id="42" name="Group 41">
            <a:extLst>
              <a:ext uri="{FF2B5EF4-FFF2-40B4-BE49-F238E27FC236}">
                <a16:creationId xmlns:a16="http://schemas.microsoft.com/office/drawing/2014/main" id="{F1AB2B80-9CCE-F2E6-78A1-7D4B470CA267}"/>
              </a:ext>
            </a:extLst>
          </p:cNvPr>
          <p:cNvGrpSpPr/>
          <p:nvPr/>
        </p:nvGrpSpPr>
        <p:grpSpPr>
          <a:xfrm>
            <a:off x="7483185" y="647315"/>
            <a:ext cx="1560447" cy="2959275"/>
            <a:chOff x="7459667" y="1002347"/>
            <a:chExt cx="1560447" cy="2959275"/>
          </a:xfrm>
        </p:grpSpPr>
        <p:sp>
          <p:nvSpPr>
            <p:cNvPr id="22" name="TextBox 21">
              <a:extLst>
                <a:ext uri="{FF2B5EF4-FFF2-40B4-BE49-F238E27FC236}">
                  <a16:creationId xmlns:a16="http://schemas.microsoft.com/office/drawing/2014/main" id="{F12DA058-A85D-4570-3909-7299DE878980}"/>
                </a:ext>
              </a:extLst>
            </p:cNvPr>
            <p:cNvSpPr txBox="1"/>
            <p:nvPr/>
          </p:nvSpPr>
          <p:spPr>
            <a:xfrm>
              <a:off x="7824422" y="1002347"/>
              <a:ext cx="1098735" cy="523220"/>
            </a:xfrm>
            <a:prstGeom prst="rect">
              <a:avLst/>
            </a:prstGeom>
            <a:noFill/>
          </p:spPr>
          <p:txBody>
            <a:bodyPr wrap="square" rtlCol="0">
              <a:spAutoFit/>
            </a:bodyPr>
            <a:lstStyle/>
            <a:p>
              <a:r>
                <a:rPr lang="en-IN" b="1" dirty="0"/>
                <a:t>Diabetes Severity</a:t>
              </a:r>
            </a:p>
          </p:txBody>
        </p:sp>
        <p:grpSp>
          <p:nvGrpSpPr>
            <p:cNvPr id="23" name="Group 22">
              <a:extLst>
                <a:ext uri="{FF2B5EF4-FFF2-40B4-BE49-F238E27FC236}">
                  <a16:creationId xmlns:a16="http://schemas.microsoft.com/office/drawing/2014/main" id="{BDB625D4-0A41-15E1-7E1B-80FE150F5ECF}"/>
                </a:ext>
              </a:extLst>
            </p:cNvPr>
            <p:cNvGrpSpPr/>
            <p:nvPr/>
          </p:nvGrpSpPr>
          <p:grpSpPr>
            <a:xfrm>
              <a:off x="7459667" y="1627770"/>
              <a:ext cx="1560447" cy="2333852"/>
              <a:chOff x="6368432" y="1795280"/>
              <a:chExt cx="1560447" cy="2333852"/>
            </a:xfrm>
          </p:grpSpPr>
          <p:sp>
            <p:nvSpPr>
              <p:cNvPr id="24" name="Rectangle 23">
                <a:extLst>
                  <a:ext uri="{FF2B5EF4-FFF2-40B4-BE49-F238E27FC236}">
                    <a16:creationId xmlns:a16="http://schemas.microsoft.com/office/drawing/2014/main" id="{B2C711A6-F408-3BE1-8801-AE371E45FA0B}"/>
                  </a:ext>
                </a:extLst>
              </p:cNvPr>
              <p:cNvSpPr/>
              <p:nvPr/>
            </p:nvSpPr>
            <p:spPr>
              <a:xfrm>
                <a:off x="6391392" y="1795280"/>
                <a:ext cx="1537487" cy="2333852"/>
              </a:xfrm>
              <a:prstGeom prst="rect">
                <a:avLst/>
              </a:prstGeom>
              <a:solidFill>
                <a:schemeClr val="bg1"/>
              </a:solidFill>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dirty="0"/>
              </a:p>
              <a:p>
                <a:pPr algn="ctr"/>
                <a:endParaRPr lang="en-IN" dirty="0"/>
              </a:p>
            </p:txBody>
          </p:sp>
          <p:cxnSp>
            <p:nvCxnSpPr>
              <p:cNvPr id="25" name="Straight Connector 24">
                <a:extLst>
                  <a:ext uri="{FF2B5EF4-FFF2-40B4-BE49-F238E27FC236}">
                    <a16:creationId xmlns:a16="http://schemas.microsoft.com/office/drawing/2014/main" id="{0901B3CA-C6C1-25C4-8E9C-699B2D0AFD7E}"/>
                  </a:ext>
                </a:extLst>
              </p:cNvPr>
              <p:cNvCxnSpPr/>
              <p:nvPr/>
            </p:nvCxnSpPr>
            <p:spPr>
              <a:xfrm>
                <a:off x="6368432" y="2239661"/>
                <a:ext cx="1537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84FA6C6-5E45-AE40-B69A-5081DDDD7709}"/>
                  </a:ext>
                </a:extLst>
              </p:cNvPr>
              <p:cNvCxnSpPr/>
              <p:nvPr/>
            </p:nvCxnSpPr>
            <p:spPr>
              <a:xfrm>
                <a:off x="6391392" y="2716714"/>
                <a:ext cx="1537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5D63180-0B63-EBEC-29E6-95706605D6E4}"/>
                  </a:ext>
                </a:extLst>
              </p:cNvPr>
              <p:cNvCxnSpPr/>
              <p:nvPr/>
            </p:nvCxnSpPr>
            <p:spPr>
              <a:xfrm>
                <a:off x="6368432" y="3169726"/>
                <a:ext cx="1537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EE7DC30-866C-B397-D3F0-49B200F46615}"/>
                  </a:ext>
                </a:extLst>
              </p:cNvPr>
              <p:cNvCxnSpPr/>
              <p:nvPr/>
            </p:nvCxnSpPr>
            <p:spPr>
              <a:xfrm>
                <a:off x="6368432" y="3630143"/>
                <a:ext cx="1537487"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7EE2E00-5E1F-354A-FD5E-9FD56287DDF2}"/>
                  </a:ext>
                </a:extLst>
              </p:cNvPr>
              <p:cNvSpPr txBox="1"/>
              <p:nvPr/>
            </p:nvSpPr>
            <p:spPr>
              <a:xfrm>
                <a:off x="6466426" y="1896499"/>
                <a:ext cx="1341497" cy="523220"/>
              </a:xfrm>
              <a:prstGeom prst="rect">
                <a:avLst/>
              </a:prstGeom>
              <a:noFill/>
            </p:spPr>
            <p:txBody>
              <a:bodyPr wrap="square">
                <a:spAutoFit/>
              </a:bodyPr>
              <a:lstStyle/>
              <a:p>
                <a:pPr algn="ctr"/>
                <a:r>
                  <a:rPr lang="en-IN" dirty="0"/>
                  <a:t>No Diabetes</a:t>
                </a:r>
              </a:p>
              <a:p>
                <a:pPr algn="ctr"/>
                <a:endParaRPr lang="en-IN" dirty="0"/>
              </a:p>
            </p:txBody>
          </p:sp>
          <p:sp>
            <p:nvSpPr>
              <p:cNvPr id="30" name="TextBox 29">
                <a:extLst>
                  <a:ext uri="{FF2B5EF4-FFF2-40B4-BE49-F238E27FC236}">
                    <a16:creationId xmlns:a16="http://schemas.microsoft.com/office/drawing/2014/main" id="{FC3B4958-F755-F270-F41B-0E16486EF3CE}"/>
                  </a:ext>
                </a:extLst>
              </p:cNvPr>
              <p:cNvSpPr txBox="1"/>
              <p:nvPr/>
            </p:nvSpPr>
            <p:spPr>
              <a:xfrm>
                <a:off x="6888994" y="2350467"/>
                <a:ext cx="628507" cy="307777"/>
              </a:xfrm>
              <a:prstGeom prst="rect">
                <a:avLst/>
              </a:prstGeom>
              <a:noFill/>
            </p:spPr>
            <p:txBody>
              <a:bodyPr wrap="square" rtlCol="0">
                <a:spAutoFit/>
              </a:bodyPr>
              <a:lstStyle/>
              <a:p>
                <a:r>
                  <a:rPr lang="en-IN" dirty="0"/>
                  <a:t>Mild</a:t>
                </a:r>
              </a:p>
            </p:txBody>
          </p:sp>
          <p:sp>
            <p:nvSpPr>
              <p:cNvPr id="31" name="TextBox 30">
                <a:extLst>
                  <a:ext uri="{FF2B5EF4-FFF2-40B4-BE49-F238E27FC236}">
                    <a16:creationId xmlns:a16="http://schemas.microsoft.com/office/drawing/2014/main" id="{0045917C-B15F-195D-C5B0-445D88492EF2}"/>
                  </a:ext>
                </a:extLst>
              </p:cNvPr>
              <p:cNvSpPr txBox="1"/>
              <p:nvPr/>
            </p:nvSpPr>
            <p:spPr>
              <a:xfrm>
                <a:off x="6677046" y="2777940"/>
                <a:ext cx="939681" cy="307777"/>
              </a:xfrm>
              <a:prstGeom prst="rect">
                <a:avLst/>
              </a:prstGeom>
              <a:noFill/>
            </p:spPr>
            <p:txBody>
              <a:bodyPr wrap="none" rtlCol="0">
                <a:spAutoFit/>
              </a:bodyPr>
              <a:lstStyle/>
              <a:p>
                <a:r>
                  <a:rPr lang="en-IN" dirty="0"/>
                  <a:t>Moderate</a:t>
                </a:r>
              </a:p>
            </p:txBody>
          </p:sp>
          <p:sp>
            <p:nvSpPr>
              <p:cNvPr id="32" name="TextBox 31">
                <a:extLst>
                  <a:ext uri="{FF2B5EF4-FFF2-40B4-BE49-F238E27FC236}">
                    <a16:creationId xmlns:a16="http://schemas.microsoft.com/office/drawing/2014/main" id="{E977FF6A-2F77-08FC-1B90-E6E7A073B17C}"/>
                  </a:ext>
                </a:extLst>
              </p:cNvPr>
              <p:cNvSpPr txBox="1"/>
              <p:nvPr/>
            </p:nvSpPr>
            <p:spPr>
              <a:xfrm>
                <a:off x="6888994" y="3253736"/>
                <a:ext cx="939681" cy="306594"/>
              </a:xfrm>
              <a:prstGeom prst="rect">
                <a:avLst/>
              </a:prstGeom>
              <a:noFill/>
            </p:spPr>
            <p:txBody>
              <a:bodyPr wrap="square" rtlCol="0">
                <a:spAutoFit/>
              </a:bodyPr>
              <a:lstStyle/>
              <a:p>
                <a:r>
                  <a:rPr lang="en-US" dirty="0"/>
                  <a:t>H</a:t>
                </a:r>
                <a:r>
                  <a:rPr lang="en-IN" dirty="0" err="1"/>
                  <a:t>igh</a:t>
                </a:r>
                <a:endParaRPr lang="en-IN" dirty="0"/>
              </a:p>
            </p:txBody>
          </p:sp>
          <p:sp>
            <p:nvSpPr>
              <p:cNvPr id="33" name="TextBox 32">
                <a:extLst>
                  <a:ext uri="{FF2B5EF4-FFF2-40B4-BE49-F238E27FC236}">
                    <a16:creationId xmlns:a16="http://schemas.microsoft.com/office/drawing/2014/main" id="{B23ADEC6-B225-0885-52C2-71E1D4730C58}"/>
                  </a:ext>
                </a:extLst>
              </p:cNvPr>
              <p:cNvSpPr txBox="1"/>
              <p:nvPr/>
            </p:nvSpPr>
            <p:spPr>
              <a:xfrm>
                <a:off x="6637808" y="3720326"/>
                <a:ext cx="971741" cy="307777"/>
              </a:xfrm>
              <a:prstGeom prst="rect">
                <a:avLst/>
              </a:prstGeom>
              <a:noFill/>
            </p:spPr>
            <p:txBody>
              <a:bodyPr wrap="none" rtlCol="0">
                <a:spAutoFit/>
              </a:bodyPr>
              <a:lstStyle/>
              <a:p>
                <a:r>
                  <a:rPr lang="en-US" dirty="0"/>
                  <a:t>V</a:t>
                </a:r>
                <a:r>
                  <a:rPr lang="en-IN" dirty="0" err="1"/>
                  <a:t>ery</a:t>
                </a:r>
                <a:r>
                  <a:rPr lang="en-IN" dirty="0"/>
                  <a:t> High</a:t>
                </a:r>
              </a:p>
            </p:txBody>
          </p:sp>
        </p:grpSp>
      </p:grpSp>
      <p:pic>
        <p:nvPicPr>
          <p:cNvPr id="34" name="Picture 33">
            <a:extLst>
              <a:ext uri="{FF2B5EF4-FFF2-40B4-BE49-F238E27FC236}">
                <a16:creationId xmlns:a16="http://schemas.microsoft.com/office/drawing/2014/main" id="{B24F8FDF-A5CC-D078-A928-673E028CB3EF}"/>
              </a:ext>
            </a:extLst>
          </p:cNvPr>
          <p:cNvPicPr>
            <a:picLocks noChangeAspect="1"/>
          </p:cNvPicPr>
          <p:nvPr/>
        </p:nvPicPr>
        <p:blipFill>
          <a:blip r:embed="rId8"/>
          <a:stretch>
            <a:fillRect/>
          </a:stretch>
        </p:blipFill>
        <p:spPr>
          <a:xfrm>
            <a:off x="4216929" y="2275207"/>
            <a:ext cx="2169479" cy="1118663"/>
          </a:xfrm>
          <a:prstGeom prst="rect">
            <a:avLst/>
          </a:prstGeom>
        </p:spPr>
      </p:pic>
      <p:sp>
        <p:nvSpPr>
          <p:cNvPr id="35" name="Arrow: Down 34">
            <a:extLst>
              <a:ext uri="{FF2B5EF4-FFF2-40B4-BE49-F238E27FC236}">
                <a16:creationId xmlns:a16="http://schemas.microsoft.com/office/drawing/2014/main" id="{6B536BFC-FFE3-2A90-6E9E-08B3BE004589}"/>
              </a:ext>
            </a:extLst>
          </p:cNvPr>
          <p:cNvSpPr/>
          <p:nvPr/>
        </p:nvSpPr>
        <p:spPr>
          <a:xfrm rot="16200000">
            <a:off x="1716314" y="2131029"/>
            <a:ext cx="149386" cy="375418"/>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6" name="Picture 35">
            <a:extLst>
              <a:ext uri="{FF2B5EF4-FFF2-40B4-BE49-F238E27FC236}">
                <a16:creationId xmlns:a16="http://schemas.microsoft.com/office/drawing/2014/main" id="{E8470D9A-177E-0F5F-C464-CD029F00304C}"/>
              </a:ext>
            </a:extLst>
          </p:cNvPr>
          <p:cNvPicPr>
            <a:picLocks noChangeAspect="1"/>
          </p:cNvPicPr>
          <p:nvPr/>
        </p:nvPicPr>
        <p:blipFill>
          <a:blip r:embed="rId9"/>
          <a:stretch>
            <a:fillRect/>
          </a:stretch>
        </p:blipFill>
        <p:spPr>
          <a:xfrm>
            <a:off x="3924533" y="489044"/>
            <a:ext cx="2927135" cy="1330207"/>
          </a:xfrm>
          <a:prstGeom prst="rect">
            <a:avLst/>
          </a:prstGeom>
        </p:spPr>
      </p:pic>
      <p:sp>
        <p:nvSpPr>
          <p:cNvPr id="37" name="Arrow: Down 36">
            <a:extLst>
              <a:ext uri="{FF2B5EF4-FFF2-40B4-BE49-F238E27FC236}">
                <a16:creationId xmlns:a16="http://schemas.microsoft.com/office/drawing/2014/main" id="{490FD43D-71F2-C8CB-35CE-89802F6D3BFC}"/>
              </a:ext>
            </a:extLst>
          </p:cNvPr>
          <p:cNvSpPr/>
          <p:nvPr/>
        </p:nvSpPr>
        <p:spPr>
          <a:xfrm>
            <a:off x="5141775" y="1788051"/>
            <a:ext cx="157538" cy="495574"/>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004D4233-C7F2-08D6-E851-104A6616F9D6}"/>
              </a:ext>
            </a:extLst>
          </p:cNvPr>
          <p:cNvSpPr/>
          <p:nvPr/>
        </p:nvSpPr>
        <p:spPr>
          <a:xfrm>
            <a:off x="6440304" y="4104472"/>
            <a:ext cx="1584176" cy="6995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Lasso Regressor</a:t>
            </a:r>
            <a:endParaRPr lang="en-IN" b="1" dirty="0">
              <a:solidFill>
                <a:schemeClr val="tx1"/>
              </a:solidFill>
            </a:endParaRPr>
          </a:p>
        </p:txBody>
      </p:sp>
      <p:sp>
        <p:nvSpPr>
          <p:cNvPr id="40" name="Arrow: Down 39">
            <a:extLst>
              <a:ext uri="{FF2B5EF4-FFF2-40B4-BE49-F238E27FC236}">
                <a16:creationId xmlns:a16="http://schemas.microsoft.com/office/drawing/2014/main" id="{DD6BB51A-AE67-FAEE-C0BF-7DA54098203C}"/>
              </a:ext>
            </a:extLst>
          </p:cNvPr>
          <p:cNvSpPr/>
          <p:nvPr/>
        </p:nvSpPr>
        <p:spPr>
          <a:xfrm>
            <a:off x="5141775" y="3396122"/>
            <a:ext cx="142834" cy="511003"/>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Down 40">
            <a:extLst>
              <a:ext uri="{FF2B5EF4-FFF2-40B4-BE49-F238E27FC236}">
                <a16:creationId xmlns:a16="http://schemas.microsoft.com/office/drawing/2014/main" id="{59264258-7012-06C9-B320-B663CB2D7729}"/>
              </a:ext>
            </a:extLst>
          </p:cNvPr>
          <p:cNvSpPr/>
          <p:nvPr/>
        </p:nvSpPr>
        <p:spPr>
          <a:xfrm rot="16200000" flipH="1">
            <a:off x="6119673" y="4105215"/>
            <a:ext cx="140149" cy="393322"/>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77E3FFC2-4FF9-EBC6-294E-75E675DD77C4}"/>
              </a:ext>
            </a:extLst>
          </p:cNvPr>
          <p:cNvSpPr/>
          <p:nvPr/>
        </p:nvSpPr>
        <p:spPr>
          <a:xfrm>
            <a:off x="3692735" y="3961622"/>
            <a:ext cx="2246456" cy="842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Midpoint+6features extracted from </a:t>
            </a:r>
            <a:r>
              <a:rPr lang="en-US" sz="1200" b="1" dirty="0" err="1">
                <a:solidFill>
                  <a:schemeClr val="tx1"/>
                </a:solidFill>
              </a:rPr>
              <a:t>nhanes</a:t>
            </a:r>
            <a:r>
              <a:rPr lang="en-US" sz="1200" b="1" dirty="0">
                <a:solidFill>
                  <a:schemeClr val="tx1"/>
                </a:solidFill>
              </a:rPr>
              <a:t> </a:t>
            </a:r>
            <a:endParaRPr lang="en-IN" sz="1200" b="1" dirty="0">
              <a:solidFill>
                <a:schemeClr val="tx1"/>
              </a:solidFill>
            </a:endParaRPr>
          </a:p>
        </p:txBody>
      </p:sp>
      <p:sp>
        <p:nvSpPr>
          <p:cNvPr id="43" name="Arrow: Down 42">
            <a:extLst>
              <a:ext uri="{FF2B5EF4-FFF2-40B4-BE49-F238E27FC236}">
                <a16:creationId xmlns:a16="http://schemas.microsoft.com/office/drawing/2014/main" id="{473CB21E-F88F-DCAF-F24B-E445326172D1}"/>
              </a:ext>
            </a:extLst>
          </p:cNvPr>
          <p:cNvSpPr/>
          <p:nvPr/>
        </p:nvSpPr>
        <p:spPr>
          <a:xfrm rot="12640910" flipH="1">
            <a:off x="6992866" y="3103848"/>
            <a:ext cx="301799" cy="935609"/>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9646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E072-FEAF-2AB3-5605-110CD9785DF1}"/>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defRPr/>
            </a:pPr>
            <a:r>
              <a:rPr lang="en-IN" dirty="0">
                <a:latin typeface="Times New Roman" panose="02020603050405020304" pitchFamily="18" charset="0"/>
                <a:cs typeface="Times New Roman" panose="02020603050405020304" pitchFamily="18" charset="0"/>
              </a:rPr>
              <a:t>Methodology</a:t>
            </a:r>
            <a:endParaRPr lang="en-US" dirty="0">
              <a:solidFill>
                <a:schemeClr val="dk1"/>
              </a:solidFill>
              <a:latin typeface="Times New Roman" panose="02020603050405020304" pitchFamily="18" charset="0"/>
              <a:cs typeface="Times New Roman" panose="02020603050405020304" pitchFamily="18" charset="0"/>
              <a:sym typeface="Arial"/>
            </a:endParaRPr>
          </a:p>
        </p:txBody>
      </p:sp>
      <p:sp>
        <p:nvSpPr>
          <p:cNvPr id="12291" name="Slide Number Placeholder 2">
            <a:extLst>
              <a:ext uri="{FF2B5EF4-FFF2-40B4-BE49-F238E27FC236}">
                <a16:creationId xmlns:a16="http://schemas.microsoft.com/office/drawing/2014/main" id="{5D4E9857-593F-94E3-B1F5-D6FF21535EE4}"/>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185B2634-3FD6-49B7-832A-3BFA1738CCD2}" type="slidenum">
              <a:rPr lang="en-US" altLang="en-US" sz="1000" smtClean="0">
                <a:solidFill>
                  <a:srgbClr val="595959"/>
                </a:solidFill>
              </a:rPr>
              <a:pPr/>
              <a:t>23</a:t>
            </a:fld>
            <a:endParaRPr lang="en-US" altLang="en-US" sz="1000">
              <a:solidFill>
                <a:srgbClr val="595959"/>
              </a:solidFill>
            </a:endParaRPr>
          </a:p>
        </p:txBody>
      </p:sp>
      <p:sp>
        <p:nvSpPr>
          <p:cNvPr id="3" name="Rectangle 1">
            <a:extLst>
              <a:ext uri="{FF2B5EF4-FFF2-40B4-BE49-F238E27FC236}">
                <a16:creationId xmlns:a16="http://schemas.microsoft.com/office/drawing/2014/main" id="{2F8895B9-7161-1136-E1B2-585352EB8880}"/>
              </a:ext>
            </a:extLst>
          </p:cNvPr>
          <p:cNvSpPr>
            <a:spLocks noGrp="1" noChangeArrowheads="1"/>
          </p:cNvSpPr>
          <p:nvPr>
            <p:ph type="body" sz="quarter" idx="13"/>
          </p:nvPr>
        </p:nvSpPr>
        <p:spPr bwMode="auto">
          <a:xfrm>
            <a:off x="-108520" y="1054065"/>
            <a:ext cx="904406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 Collection: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Retinal fundus images are taken from the FGADR dataset, containing annotated diabetic lesions. </a:t>
            </a:r>
          </a:p>
          <a:p>
            <a:pPr marL="5715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Preprocessing:</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Images are enhanced using Ben Graham illumination correction and CLAHE to improve contrast and highlight retinal abnormalities. </a:t>
            </a:r>
          </a:p>
          <a:p>
            <a:pPr marL="5715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Lesion Segmentation: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 U-Net with EfficientNet-B4 encoder performs pixel-level segmentation to detect 6 lesion types (microaneurysms, </a:t>
            </a:r>
            <a:r>
              <a:rPr lang="en-IN" sz="1800" dirty="0" err="1">
                <a:latin typeface="Times New Roman" panose="02020603050405020304" pitchFamily="18" charset="0"/>
                <a:cs typeface="Times New Roman" panose="02020603050405020304" pitchFamily="18" charset="0"/>
              </a:rPr>
              <a:t>hemorrhages</a:t>
            </a:r>
            <a:r>
              <a:rPr lang="en-IN" sz="1800" dirty="0">
                <a:latin typeface="Times New Roman" panose="02020603050405020304" pitchFamily="18" charset="0"/>
                <a:cs typeface="Times New Roman" panose="02020603050405020304" pitchFamily="18" charset="0"/>
              </a:rPr>
              <a:t>, exudates, etc.).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C4B3262B-7BA9-6E34-DF02-0816D3AC4A09}"/>
              </a:ext>
            </a:extLst>
          </p:cNvPr>
          <p:cNvSpPr>
            <a:spLocks noGrp="1"/>
          </p:cNvSpPr>
          <p:nvPr>
            <p:ph type="ctrTitle"/>
          </p:nvPr>
        </p:nvSpPr>
        <p:spPr/>
        <p:txBody>
          <a:bodyPr>
            <a:normAutofit fontScale="90000"/>
          </a:bodyPr>
          <a:lstStyle/>
          <a:p>
            <a:r>
              <a:rPr lang="en-US" dirty="0"/>
              <a:t>Methodology(</a:t>
            </a:r>
            <a:r>
              <a:rPr lang="en-US" dirty="0" err="1"/>
              <a:t>Cont</a:t>
            </a:r>
            <a:r>
              <a:rPr lang="en-US" dirty="0"/>
              <a:t>…)</a:t>
            </a:r>
            <a:endParaRPr lang="en-IN" dirty="0"/>
          </a:p>
        </p:txBody>
      </p:sp>
      <p:sp>
        <p:nvSpPr>
          <p:cNvPr id="39" name="TextBox 38">
            <a:extLst>
              <a:ext uri="{FF2B5EF4-FFF2-40B4-BE49-F238E27FC236}">
                <a16:creationId xmlns:a16="http://schemas.microsoft.com/office/drawing/2014/main" id="{169EBAEA-06C1-F7BA-F496-91EF95E9ECE6}"/>
              </a:ext>
            </a:extLst>
          </p:cNvPr>
          <p:cNvSpPr txBox="1"/>
          <p:nvPr/>
        </p:nvSpPr>
        <p:spPr>
          <a:xfrm>
            <a:off x="107504" y="483518"/>
            <a:ext cx="9144000" cy="4524315"/>
          </a:xfrm>
          <a:prstGeom prst="rect">
            <a:avLst/>
          </a:prstGeom>
          <a:noFill/>
        </p:spPr>
        <p:txBody>
          <a:bodyPr wrap="square">
            <a:spAutoFit/>
          </a:bodyPr>
          <a:lstStyle/>
          <a:p>
            <a:pPr marL="3429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DR Classification:</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 ResNet-50 CNN classifies the image into 5 Diabetic Retinopathy stages</a:t>
            </a:r>
          </a:p>
          <a:p>
            <a:r>
              <a:rPr lang="en-IN" sz="1800" dirty="0">
                <a:latin typeface="Times New Roman" panose="02020603050405020304" pitchFamily="18" charset="0"/>
                <a:cs typeface="Times New Roman" panose="02020603050405020304" pitchFamily="18" charset="0"/>
              </a:rPr>
              <a:t>     (0-4)capturing disease severity. </a:t>
            </a: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HbA1c Estimation: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predicted DR grade is mapped to an HbA1c range using a UKPDS-based clinical lookup table, and the midpoint value is selected as the estimated HbA1c.</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Blood Glucose Prediction: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estimated HbA1c, along with derived features, is input into regression models (CART, Lasso, Random Forest) trained on NHANES </a:t>
            </a:r>
            <a:r>
              <a:rPr lang="en-US" sz="1800" dirty="0" err="1">
                <a:latin typeface="Times New Roman" panose="02020603050405020304" pitchFamily="18" charset="0"/>
                <a:cs typeface="Times New Roman" panose="02020603050405020304" pitchFamily="18" charset="0"/>
              </a:rPr>
              <a:t>dataset.The</a:t>
            </a:r>
            <a:r>
              <a:rPr lang="en-US" sz="1800" dirty="0">
                <a:latin typeface="Times New Roman" panose="02020603050405020304" pitchFamily="18" charset="0"/>
                <a:cs typeface="Times New Roman" panose="02020603050405020304" pitchFamily="18" charset="0"/>
              </a:rPr>
              <a:t> best-performing model is selected to predict fasting blood glucose levels </a:t>
            </a:r>
          </a:p>
          <a:p>
            <a:pPr marL="342900" lvl="2"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Output &amp; Interpretation: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generates final outputs including:</a:t>
            </a:r>
          </a:p>
          <a:p>
            <a:pPr lvl="2"/>
            <a:r>
              <a:rPr lang="en-US" sz="1800" dirty="0">
                <a:latin typeface="Times New Roman" panose="02020603050405020304" pitchFamily="18" charset="0"/>
                <a:cs typeface="Times New Roman" panose="02020603050405020304" pitchFamily="18" charset="0"/>
              </a:rPr>
              <a:t>        DR severity grade </a:t>
            </a:r>
          </a:p>
          <a:p>
            <a:pPr lvl="2"/>
            <a:r>
              <a:rPr lang="en-US" sz="1800" dirty="0">
                <a:latin typeface="Times New Roman" panose="02020603050405020304" pitchFamily="18" charset="0"/>
                <a:cs typeface="Times New Roman" panose="02020603050405020304" pitchFamily="18" charset="0"/>
              </a:rPr>
              <a:t>        Estimated HbA1c </a:t>
            </a:r>
          </a:p>
          <a:p>
            <a:pPr lvl="2"/>
            <a:r>
              <a:rPr lang="en-US" sz="1800" dirty="0">
                <a:latin typeface="Times New Roman" panose="02020603050405020304" pitchFamily="18" charset="0"/>
                <a:cs typeface="Times New Roman" panose="02020603050405020304" pitchFamily="18" charset="0"/>
              </a:rPr>
              <a:t>        Predicted blood glucose level </a:t>
            </a:r>
          </a:p>
          <a:p>
            <a:pPr algn="just"/>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255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836251B-2061-680E-92C0-95346E7E2791}"/>
              </a:ext>
            </a:extLst>
          </p:cNvPr>
          <p:cNvSpPr>
            <a:spLocks noGrp="1"/>
          </p:cNvSpPr>
          <p:nvPr>
            <p:ph type="body" sz="quarter" idx="13"/>
          </p:nvPr>
        </p:nvSpPr>
        <p:spPr>
          <a:xfrm>
            <a:off x="165100" y="123478"/>
            <a:ext cx="8763000" cy="4270722"/>
          </a:xfrm>
        </p:spPr>
        <p:txBody>
          <a:bodyPr/>
          <a:lstStyle/>
          <a:p>
            <a:r>
              <a:rPr lang="en-US" sz="2900" b="1" dirty="0">
                <a:solidFill>
                  <a:schemeClr val="dk1"/>
                </a:solidFill>
                <a:latin typeface="Times New Roman" panose="02020603050405020304" pitchFamily="18" charset="0"/>
                <a:cs typeface="Times New Roman" panose="02020603050405020304" pitchFamily="18" charset="0"/>
              </a:rPr>
              <a:t>Software Requirements</a:t>
            </a:r>
            <a:endParaRPr lang="en-IN" sz="2900" b="1" dirty="0"/>
          </a:p>
        </p:txBody>
      </p:sp>
      <p:sp>
        <p:nvSpPr>
          <p:cNvPr id="4" name="Slide Number Placeholder 3">
            <a:extLst>
              <a:ext uri="{FF2B5EF4-FFF2-40B4-BE49-F238E27FC236}">
                <a16:creationId xmlns:a16="http://schemas.microsoft.com/office/drawing/2014/main" id="{E5BA45E8-5CA5-32A2-5C2D-BAB80F461B1E}"/>
              </a:ext>
            </a:extLst>
          </p:cNvPr>
          <p:cNvSpPr>
            <a:spLocks noGrp="1"/>
          </p:cNvSpPr>
          <p:nvPr>
            <p:ph type="sldNum" idx="14"/>
          </p:nvPr>
        </p:nvSpPr>
        <p:spPr/>
        <p:txBody>
          <a:bodyPr/>
          <a:lstStyle/>
          <a:p>
            <a:pPr>
              <a:defRPr/>
            </a:pPr>
            <a:fld id="{EF26C623-DE27-4A99-8424-AFD36C142E5A}" type="slidenum">
              <a:rPr lang="en-US" altLang="en-US" smtClean="0"/>
              <a:pPr>
                <a:defRPr/>
              </a:pPr>
              <a:t>25</a:t>
            </a:fld>
            <a:endParaRPr lang="en-US" altLang="en-US"/>
          </a:p>
        </p:txBody>
      </p:sp>
      <p:graphicFrame>
        <p:nvGraphicFramePr>
          <p:cNvPr id="6" name="Table 5">
            <a:extLst>
              <a:ext uri="{FF2B5EF4-FFF2-40B4-BE49-F238E27FC236}">
                <a16:creationId xmlns:a16="http://schemas.microsoft.com/office/drawing/2014/main" id="{DE0BA53C-3721-3C0F-E37E-9969B1DFCFC4}"/>
              </a:ext>
            </a:extLst>
          </p:cNvPr>
          <p:cNvGraphicFramePr>
            <a:graphicFrameLocks noGrp="1"/>
          </p:cNvGraphicFramePr>
          <p:nvPr>
            <p:extLst>
              <p:ext uri="{D42A27DB-BD31-4B8C-83A1-F6EECF244321}">
                <p14:modId xmlns:p14="http://schemas.microsoft.com/office/powerpoint/2010/main" val="2197160471"/>
              </p:ext>
            </p:extLst>
          </p:nvPr>
        </p:nvGraphicFramePr>
        <p:xfrm>
          <a:off x="467544" y="749300"/>
          <a:ext cx="8367339" cy="3952344"/>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388988442"/>
                    </a:ext>
                  </a:extLst>
                </a:gridCol>
                <a:gridCol w="2103900">
                  <a:extLst>
                    <a:ext uri="{9D8B030D-6E8A-4147-A177-3AD203B41FA5}">
                      <a16:colId xmlns:a16="http://schemas.microsoft.com/office/drawing/2014/main" val="808309090"/>
                    </a:ext>
                  </a:extLst>
                </a:gridCol>
                <a:gridCol w="5615367">
                  <a:extLst>
                    <a:ext uri="{9D8B030D-6E8A-4147-A177-3AD203B41FA5}">
                      <a16:colId xmlns:a16="http://schemas.microsoft.com/office/drawing/2014/main" val="2504460660"/>
                    </a:ext>
                  </a:extLst>
                </a:gridCol>
              </a:tblGrid>
              <a:tr h="370840">
                <a:tc>
                  <a:txBody>
                    <a:bodyPr/>
                    <a:lstStyle/>
                    <a:p>
                      <a:pPr>
                        <a:buNone/>
                      </a:pPr>
                      <a:r>
                        <a:rPr lang="en-IN" dirty="0" err="1"/>
                        <a:t>S.No</a:t>
                      </a:r>
                      <a:endParaRPr lang="en-IN" dirty="0"/>
                    </a:p>
                  </a:txBody>
                  <a:tcPr anchor="ctr"/>
                </a:tc>
                <a:tc>
                  <a:txBody>
                    <a:bodyPr/>
                    <a:lstStyle/>
                    <a:p>
                      <a:r>
                        <a:rPr lang="en-IN" dirty="0">
                          <a:latin typeface="Times New Roman" panose="02020603050405020304" pitchFamily="18" charset="0"/>
                          <a:cs typeface="Times New Roman" panose="02020603050405020304" pitchFamily="18" charset="0"/>
                        </a:rPr>
                        <a:t>Software/tool</a:t>
                      </a:r>
                    </a:p>
                  </a:txBody>
                  <a:tcPr/>
                </a:tc>
                <a:tc>
                  <a:txBody>
                    <a:bodyPr/>
                    <a:lstStyle/>
                    <a:p>
                      <a:r>
                        <a:rPr lang="en-IN" dirty="0">
                          <a:latin typeface="Times New Roman" panose="02020603050405020304" pitchFamily="18" charset="0"/>
                          <a:cs typeface="Times New Roman" panose="02020603050405020304" pitchFamily="18" charset="0"/>
                        </a:rPr>
                        <a:t>Purpose</a:t>
                      </a:r>
                    </a:p>
                  </a:txBody>
                  <a:tcPr/>
                </a:tc>
                <a:extLst>
                  <a:ext uri="{0D108BD9-81ED-4DB2-BD59-A6C34878D82A}">
                    <a16:rowId xmlns:a16="http://schemas.microsoft.com/office/drawing/2014/main" val="1044254710"/>
                  </a:ext>
                </a:extLst>
              </a:tr>
              <a:tr h="370840">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Operating System (Windows 10 / 11)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Provides platform to run development tools and execute the system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3217921"/>
                  </a:ext>
                </a:extLst>
              </a:tr>
              <a:tr h="370840">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r>
                        <a:rPr lang="en-IN" dirty="0">
                          <a:latin typeface="Times New Roman" panose="02020603050405020304" pitchFamily="18" charset="0"/>
                          <a:cs typeface="Times New Roman" panose="02020603050405020304" pitchFamily="18" charset="0"/>
                        </a:rPr>
                        <a:t>python</a:t>
                      </a:r>
                    </a:p>
                  </a:txBody>
                  <a:tcPr/>
                </a:tc>
                <a:tc>
                  <a:txBody>
                    <a:bodyPr/>
                    <a:lstStyle/>
                    <a:p>
                      <a:pPr>
                        <a:buNone/>
                      </a:pPr>
                      <a:r>
                        <a:rPr lang="en-US" dirty="0">
                          <a:latin typeface="Times New Roman" panose="02020603050405020304" pitchFamily="18" charset="0"/>
                          <a:cs typeface="Times New Roman" panose="02020603050405020304" pitchFamily="18" charset="0"/>
                        </a:rPr>
                        <a:t>Core programming language used for model development and implementation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45709375"/>
                  </a:ext>
                </a:extLst>
              </a:tr>
              <a:tr h="396344">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r>
                        <a:rPr lang="en-IN" dirty="0">
                          <a:latin typeface="Times New Roman" panose="02020603050405020304" pitchFamily="18" charset="0"/>
                          <a:cs typeface="Times New Roman" panose="02020603050405020304" pitchFamily="18" charset="0"/>
                        </a:rPr>
                        <a:t>Kaggle</a:t>
                      </a:r>
                    </a:p>
                  </a:txBody>
                  <a:tcPr/>
                </a:tc>
                <a:tc>
                  <a:txBody>
                    <a:bodyPr/>
                    <a:lstStyle/>
                    <a:p>
                      <a:r>
                        <a:rPr lang="en-US" dirty="0">
                          <a:latin typeface="Times New Roman" panose="02020603050405020304" pitchFamily="18" charset="0"/>
                          <a:cs typeface="Times New Roman" panose="02020603050405020304" pitchFamily="18" charset="0"/>
                        </a:rPr>
                        <a:t>Development environments for coding, testing, and running models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1960625"/>
                  </a:ext>
                </a:extLst>
              </a:tr>
              <a:tr h="370840">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TensorFlow / </a:t>
                      </a:r>
                      <a:r>
                        <a:rPr lang="en-IN"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or </a:t>
                      </a:r>
                      <a:r>
                        <a:rPr lang="en-IN" dirty="0" err="1">
                          <a:latin typeface="Times New Roman" panose="02020603050405020304" pitchFamily="18" charset="0"/>
                          <a:cs typeface="Times New Roman" panose="02020603050405020304" pitchFamily="18" charset="0"/>
                        </a:rPr>
                        <a:t>PyTorch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to build and train deep learning models (U-Net, EfficientNet-B4, ResNet-50)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3666713"/>
                  </a:ext>
                </a:extLst>
              </a:tr>
              <a:tr h="370840">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dirty="0">
                          <a:latin typeface="Times New Roman" panose="02020603050405020304" pitchFamily="18" charset="0"/>
                          <a:cs typeface="Times New Roman" panose="02020603050405020304" pitchFamily="18" charset="0"/>
                        </a:rPr>
                        <a:t>OpenCV</a:t>
                      </a:r>
                    </a:p>
                  </a:txBody>
                  <a:tcPr/>
                </a:tc>
                <a:tc>
                  <a:txBody>
                    <a:bodyPr/>
                    <a:lstStyle/>
                    <a:p>
                      <a:r>
                        <a:rPr lang="en-US" dirty="0">
                          <a:latin typeface="Times New Roman" panose="02020603050405020304" pitchFamily="18" charset="0"/>
                          <a:cs typeface="Times New Roman" panose="02020603050405020304" pitchFamily="18" charset="0"/>
                        </a:rPr>
                        <a:t>Image preprocessing including Ben Graham method and CLAHE enhancement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6507669"/>
                  </a:ext>
                </a:extLst>
              </a:tr>
              <a:tr h="370840">
                <a:tc>
                  <a:txBody>
                    <a:bodyPr/>
                    <a:lstStyle/>
                    <a:p>
                      <a:r>
                        <a:rPr lang="en-IN" dirty="0">
                          <a:latin typeface="Times New Roman" panose="02020603050405020304" pitchFamily="18" charset="0"/>
                          <a:cs typeface="Times New Roman" panose="02020603050405020304" pitchFamily="18" charset="0"/>
                        </a:rPr>
                        <a:t>6</a:t>
                      </a:r>
                    </a:p>
                  </a:txBody>
                  <a:tcPr/>
                </a:tc>
                <a:tc>
                  <a:txBody>
                    <a:bodyPr/>
                    <a:lstStyle/>
                    <a:p>
                      <a:pPr>
                        <a:buNone/>
                      </a:pPr>
                      <a:r>
                        <a:rPr lang="en-IN" dirty="0">
                          <a:latin typeface="Times New Roman" panose="02020603050405020304" pitchFamily="18" charset="0"/>
                          <a:cs typeface="Times New Roman" panose="02020603050405020304" pitchFamily="18" charset="0"/>
                        </a:rPr>
                        <a:t>NumPy, Pandas</a:t>
                      </a:r>
                    </a:p>
                  </a:txBody>
                  <a:tcPr anchor="ctr"/>
                </a:tc>
                <a:tc>
                  <a:txBody>
                    <a:bodyPr/>
                    <a:lstStyle/>
                    <a:p>
                      <a:r>
                        <a:rPr lang="en-US" dirty="0">
                          <a:latin typeface="Times New Roman" panose="02020603050405020304" pitchFamily="18" charset="0"/>
                          <a:cs typeface="Times New Roman" panose="02020603050405020304" pitchFamily="18" charset="0"/>
                        </a:rPr>
                        <a:t>Handling datasets, numerical computations, and data preprocessing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0783530"/>
                  </a:ext>
                </a:extLst>
              </a:tr>
              <a:tr h="370840">
                <a:tc>
                  <a:txBody>
                    <a:bodyPr/>
                    <a:lstStyle/>
                    <a:p>
                      <a:r>
                        <a:rPr lang="en-IN" dirty="0">
                          <a:latin typeface="Times New Roman" panose="02020603050405020304" pitchFamily="18" charset="0"/>
                          <a:cs typeface="Times New Roman" panose="02020603050405020304" pitchFamily="18" charset="0"/>
                        </a:rPr>
                        <a:t>7</a:t>
                      </a:r>
                    </a:p>
                  </a:txBody>
                  <a:tcPr/>
                </a:tc>
                <a:tc>
                  <a:txBody>
                    <a:bodyPr/>
                    <a:lstStyle/>
                    <a:p>
                      <a:r>
                        <a:rPr lang="en-IN" dirty="0">
                          <a:latin typeface="Times New Roman" panose="02020603050405020304" pitchFamily="18" charset="0"/>
                          <a:cs typeface="Times New Roman" panose="02020603050405020304" pitchFamily="18" charset="0"/>
                        </a:rPr>
                        <a:t>Scikit-learn</a:t>
                      </a:r>
                    </a:p>
                  </a:txBody>
                  <a:tcPr/>
                </a:tc>
                <a:tc>
                  <a:txBody>
                    <a:bodyPr/>
                    <a:lstStyle/>
                    <a:p>
                      <a:r>
                        <a:rPr lang="en-US" dirty="0">
                          <a:latin typeface="Times New Roman" panose="02020603050405020304" pitchFamily="18" charset="0"/>
                          <a:cs typeface="Times New Roman" panose="02020603050405020304" pitchFamily="18" charset="0"/>
                        </a:rPr>
                        <a:t>Implements CART Decision Tree Regressor and evaluation metrics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66504216"/>
                  </a:ext>
                </a:extLst>
              </a:tr>
              <a:tr h="370840">
                <a:tc>
                  <a:txBody>
                    <a:bodyPr/>
                    <a:lstStyle/>
                    <a:p>
                      <a:r>
                        <a:rPr lang="en-IN" dirty="0">
                          <a:latin typeface="Times New Roman" panose="02020603050405020304" pitchFamily="18" charset="0"/>
                          <a:cs typeface="Times New Roman" panose="02020603050405020304" pitchFamily="18" charset="0"/>
                        </a:rPr>
                        <a:t>8</a:t>
                      </a:r>
                    </a:p>
                  </a:txBody>
                  <a:tcPr/>
                </a:tc>
                <a:tc>
                  <a:txBody>
                    <a:bodyPr/>
                    <a:lstStyle/>
                    <a:p>
                      <a:r>
                        <a:rPr lang="en-IN" dirty="0">
                          <a:latin typeface="Times New Roman" panose="02020603050405020304" pitchFamily="18" charset="0"/>
                          <a:cs typeface="Times New Roman" panose="02020603050405020304" pitchFamily="18" charset="0"/>
                        </a:rPr>
                        <a:t>Matplotlib / Seaborn</a:t>
                      </a:r>
                    </a:p>
                  </a:txBody>
                  <a:tcPr/>
                </a:tc>
                <a:tc>
                  <a:txBody>
                    <a:bodyPr/>
                    <a:lstStyle/>
                    <a:p>
                      <a:r>
                        <a:rPr lang="en-US" dirty="0">
                          <a:latin typeface="Times New Roman" panose="02020603050405020304" pitchFamily="18" charset="0"/>
                          <a:cs typeface="Times New Roman" panose="02020603050405020304" pitchFamily="18" charset="0"/>
                        </a:rPr>
                        <a:t>Visualization of training results, graphs, and model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48531555"/>
                  </a:ext>
                </a:extLst>
              </a:tr>
            </a:tbl>
          </a:graphicData>
        </a:graphic>
      </p:graphicFrame>
    </p:spTree>
    <p:extLst>
      <p:ext uri="{BB962C8B-B14F-4D97-AF65-F5344CB8AC3E}">
        <p14:creationId xmlns:p14="http://schemas.microsoft.com/office/powerpoint/2010/main" val="3341818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74D07-FBCC-5CEE-8467-9C69732ED87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B24D1A1-A070-CC7E-CE5C-211168CC5C53}"/>
              </a:ext>
            </a:extLst>
          </p:cNvPr>
          <p:cNvSpPr>
            <a:spLocks noGrp="1"/>
          </p:cNvSpPr>
          <p:nvPr>
            <p:ph type="body" sz="quarter" idx="13"/>
          </p:nvPr>
        </p:nvSpPr>
        <p:spPr>
          <a:xfrm>
            <a:off x="165100" y="123478"/>
            <a:ext cx="8763000" cy="4270722"/>
          </a:xfrm>
        </p:spPr>
        <p:txBody>
          <a:bodyPr/>
          <a:lstStyle/>
          <a:p>
            <a:r>
              <a:rPr lang="en-US" sz="3200" b="1" dirty="0">
                <a:solidFill>
                  <a:schemeClr val="dk1"/>
                </a:solidFill>
                <a:latin typeface="Times New Roman" panose="02020603050405020304" pitchFamily="18" charset="0"/>
                <a:cs typeface="Times New Roman" panose="02020603050405020304" pitchFamily="18" charset="0"/>
              </a:rPr>
              <a:t>Hardware Requirements</a:t>
            </a:r>
            <a:endParaRPr lang="en-IN" sz="2900" b="1" dirty="0"/>
          </a:p>
        </p:txBody>
      </p:sp>
      <p:sp>
        <p:nvSpPr>
          <p:cNvPr id="4" name="Slide Number Placeholder 3">
            <a:extLst>
              <a:ext uri="{FF2B5EF4-FFF2-40B4-BE49-F238E27FC236}">
                <a16:creationId xmlns:a16="http://schemas.microsoft.com/office/drawing/2014/main" id="{48EE79DA-3B91-5D95-6B1E-060448E442FB}"/>
              </a:ext>
            </a:extLst>
          </p:cNvPr>
          <p:cNvSpPr>
            <a:spLocks noGrp="1"/>
          </p:cNvSpPr>
          <p:nvPr>
            <p:ph type="sldNum" idx="14"/>
          </p:nvPr>
        </p:nvSpPr>
        <p:spPr/>
        <p:txBody>
          <a:bodyPr/>
          <a:lstStyle/>
          <a:p>
            <a:pPr>
              <a:defRPr/>
            </a:pPr>
            <a:fld id="{EF26C623-DE27-4A99-8424-AFD36C142E5A}" type="slidenum">
              <a:rPr lang="en-US" altLang="en-US" smtClean="0"/>
              <a:pPr>
                <a:defRPr/>
              </a:pPr>
              <a:t>26</a:t>
            </a:fld>
            <a:endParaRPr lang="en-US" altLang="en-US"/>
          </a:p>
        </p:txBody>
      </p:sp>
      <p:graphicFrame>
        <p:nvGraphicFramePr>
          <p:cNvPr id="6" name="Table 5">
            <a:extLst>
              <a:ext uri="{FF2B5EF4-FFF2-40B4-BE49-F238E27FC236}">
                <a16:creationId xmlns:a16="http://schemas.microsoft.com/office/drawing/2014/main" id="{CEF810DF-37BF-9D1F-2AC4-8A27C3359DFD}"/>
              </a:ext>
            </a:extLst>
          </p:cNvPr>
          <p:cNvGraphicFramePr>
            <a:graphicFrameLocks noGrp="1"/>
          </p:cNvGraphicFramePr>
          <p:nvPr>
            <p:extLst>
              <p:ext uri="{D42A27DB-BD31-4B8C-83A1-F6EECF244321}">
                <p14:modId xmlns:p14="http://schemas.microsoft.com/office/powerpoint/2010/main" val="2706598230"/>
              </p:ext>
            </p:extLst>
          </p:nvPr>
        </p:nvGraphicFramePr>
        <p:xfrm>
          <a:off x="467544" y="1238250"/>
          <a:ext cx="8367339" cy="26670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388988442"/>
                    </a:ext>
                  </a:extLst>
                </a:gridCol>
                <a:gridCol w="2088232">
                  <a:extLst>
                    <a:ext uri="{9D8B030D-6E8A-4147-A177-3AD203B41FA5}">
                      <a16:colId xmlns:a16="http://schemas.microsoft.com/office/drawing/2014/main" val="808309090"/>
                    </a:ext>
                  </a:extLst>
                </a:gridCol>
                <a:gridCol w="5631035">
                  <a:extLst>
                    <a:ext uri="{9D8B030D-6E8A-4147-A177-3AD203B41FA5}">
                      <a16:colId xmlns:a16="http://schemas.microsoft.com/office/drawing/2014/main" val="2504460660"/>
                    </a:ext>
                  </a:extLst>
                </a:gridCol>
              </a:tblGrid>
              <a:tr h="370840">
                <a:tc>
                  <a:txBody>
                    <a:bodyPr/>
                    <a:lstStyle/>
                    <a:p>
                      <a:pPr>
                        <a:buNone/>
                      </a:pPr>
                      <a:r>
                        <a:rPr lang="en-IN"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Hardware Component</a:t>
                      </a:r>
                    </a:p>
                  </a:txBody>
                  <a:tcPr/>
                </a:tc>
                <a:tc>
                  <a:txBody>
                    <a:bodyPr/>
                    <a:lstStyle/>
                    <a:p>
                      <a:r>
                        <a:rPr lang="en-IN" dirty="0">
                          <a:latin typeface="Times New Roman" panose="02020603050405020304" pitchFamily="18" charset="0"/>
                          <a:cs typeface="Times New Roman" panose="02020603050405020304" pitchFamily="18" charset="0"/>
                        </a:rPr>
                        <a:t>Purpose</a:t>
                      </a:r>
                    </a:p>
                  </a:txBody>
                  <a:tcPr/>
                </a:tc>
                <a:extLst>
                  <a:ext uri="{0D108BD9-81ED-4DB2-BD59-A6C34878D82A}">
                    <a16:rowId xmlns:a16="http://schemas.microsoft.com/office/drawing/2014/main" val="1044254710"/>
                  </a:ext>
                </a:extLst>
              </a:tr>
              <a:tr h="370840">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Processor (Intel i5 or higher)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Handles computation required for training and inference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3217921"/>
                  </a:ext>
                </a:extLst>
              </a:tr>
              <a:tr h="370840">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pPr>
                        <a:buNone/>
                      </a:pPr>
                      <a:r>
                        <a:rPr lang="en-US" dirty="0">
                          <a:latin typeface="Times New Roman" panose="02020603050405020304" pitchFamily="18" charset="0"/>
                          <a:cs typeface="Times New Roman" panose="02020603050405020304" pitchFamily="18" charset="0"/>
                        </a:rPr>
                        <a:t>Memory (8 GB minimum, 16 GB recommended)</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Supports smooth execution of models and data processing</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45709375"/>
                  </a:ext>
                </a:extLst>
              </a:tr>
              <a:tr h="396344">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r>
                        <a:rPr lang="en-US" dirty="0">
                          <a:latin typeface="Times New Roman" panose="02020603050405020304" pitchFamily="18" charset="0"/>
                          <a:cs typeface="Times New Roman" panose="02020603050405020304" pitchFamily="18" charset="0"/>
                        </a:rPr>
                        <a:t>Storage (20 GB free space)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Stores datasets, models, and project files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1960625"/>
                  </a:ext>
                </a:extLst>
              </a:tr>
              <a:tr h="370840">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IN" dirty="0">
                          <a:latin typeface="Times New Roman" panose="02020603050405020304" pitchFamily="18" charset="0"/>
                          <a:cs typeface="Times New Roman" panose="02020603050405020304" pitchFamily="18" charset="0"/>
                        </a:rPr>
                        <a:t>Keyboard and Mouse</a:t>
                      </a:r>
                    </a:p>
                  </a:txBody>
                  <a:tcPr/>
                </a:tc>
                <a:tc>
                  <a:txBody>
                    <a:bodyPr/>
                    <a:lstStyle/>
                    <a:p>
                      <a:r>
                        <a:rPr lang="en-US" dirty="0">
                          <a:latin typeface="Times New Roman" panose="02020603050405020304" pitchFamily="18" charset="0"/>
                          <a:cs typeface="Times New Roman" panose="02020603050405020304" pitchFamily="18" charset="0"/>
                        </a:rPr>
                        <a:t>Used for user interaction and system control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3666713"/>
                  </a:ext>
                </a:extLst>
              </a:tr>
              <a:tr h="370840">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pPr>
                        <a:buNone/>
                      </a:pPr>
                      <a:r>
                        <a:rPr lang="en-IN" dirty="0">
                          <a:latin typeface="Times New Roman" panose="02020603050405020304" pitchFamily="18" charset="0"/>
                          <a:cs typeface="Times New Roman" panose="02020603050405020304" pitchFamily="18" charset="0"/>
                        </a:rPr>
                        <a:t>Monitor</a:t>
                      </a:r>
                    </a:p>
                  </a:txBody>
                  <a:tcPr anchor="ctr"/>
                </a:tc>
                <a:tc>
                  <a:txBody>
                    <a:bodyPr/>
                    <a:lstStyle/>
                    <a:p>
                      <a:pPr>
                        <a:buNone/>
                      </a:pPr>
                      <a:r>
                        <a:rPr lang="en-US" dirty="0">
                          <a:latin typeface="Times New Roman" panose="02020603050405020304" pitchFamily="18" charset="0"/>
                          <a:cs typeface="Times New Roman" panose="02020603050405020304" pitchFamily="18" charset="0"/>
                        </a:rPr>
                        <a:t>Displays outputs, visualizations, and interface</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56507669"/>
                  </a:ext>
                </a:extLst>
              </a:tr>
            </a:tbl>
          </a:graphicData>
        </a:graphic>
      </p:graphicFrame>
    </p:spTree>
    <p:extLst>
      <p:ext uri="{BB962C8B-B14F-4D97-AF65-F5344CB8AC3E}">
        <p14:creationId xmlns:p14="http://schemas.microsoft.com/office/powerpoint/2010/main" val="2195925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D383-7C2E-175D-CF39-99054404C8DC}"/>
              </a:ext>
            </a:extLst>
          </p:cNvPr>
          <p:cNvSpPr>
            <a:spLocks noGrp="1"/>
          </p:cNvSpPr>
          <p:nvPr>
            <p:ph type="ctrTitle"/>
          </p:nvPr>
        </p:nvSpPr>
        <p:spPr>
          <a:xfrm>
            <a:off x="0" y="0"/>
            <a:ext cx="9144000" cy="649288"/>
          </a:xfrm>
        </p:spPr>
        <p:txBody>
          <a:bodyPr>
            <a:normAutofit fontScale="90000"/>
          </a:bodyPr>
          <a:lstStyle/>
          <a:p>
            <a:pPr algn="l">
              <a:defRPr/>
            </a:pPr>
            <a:r>
              <a:rPr lang="en-US" dirty="0">
                <a:latin typeface="Times New Roman" panose="02020603050405020304" pitchFamily="18" charset="0"/>
                <a:cs typeface="Times New Roman" panose="02020603050405020304" pitchFamily="18" charset="0"/>
              </a:rPr>
              <a:t>Datasets Details</a:t>
            </a:r>
          </a:p>
        </p:txBody>
      </p:sp>
      <p:sp>
        <p:nvSpPr>
          <p:cNvPr id="3" name="Text Placeholder 2">
            <a:extLst>
              <a:ext uri="{FF2B5EF4-FFF2-40B4-BE49-F238E27FC236}">
                <a16:creationId xmlns:a16="http://schemas.microsoft.com/office/drawing/2014/main" id="{CC669247-AE56-0F1C-7920-5A070ED37EF9}"/>
              </a:ext>
            </a:extLst>
          </p:cNvPr>
          <p:cNvSpPr>
            <a:spLocks noGrp="1"/>
          </p:cNvSpPr>
          <p:nvPr>
            <p:ph type="body" sz="quarter" idx="13"/>
          </p:nvPr>
        </p:nvSpPr>
        <p:spPr>
          <a:xfrm>
            <a:off x="190500" y="649287"/>
            <a:ext cx="8763000" cy="4295692"/>
          </a:xfrm>
        </p:spPr>
        <p:txBody>
          <a:bodyPr/>
          <a:lstStyle/>
          <a:p>
            <a:r>
              <a:rPr lang="en-IN" sz="1800" b="1" dirty="0">
                <a:latin typeface="Times New Roman" panose="02020603050405020304" pitchFamily="18" charset="0"/>
                <a:cs typeface="Times New Roman" panose="02020603050405020304" pitchFamily="18" charset="0"/>
              </a:rPr>
              <a:t>FGADR (Fine-Grained Annotated Diabetic Retinopathy Dataset)</a:t>
            </a:r>
            <a:endParaRPr lang="en-IN" sz="1800" dirty="0">
              <a:latin typeface="Times New Roman" panose="02020603050405020304" pitchFamily="18" charset="0"/>
              <a:cs typeface="Times New Roman" panose="02020603050405020304" pitchFamily="18" charset="0"/>
            </a:endParaRPr>
          </a:p>
          <a:p>
            <a:pPr marL="5715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Source:</a:t>
            </a:r>
            <a:r>
              <a:rPr lang="en-IN" sz="1800" dirty="0">
                <a:latin typeface="Times New Roman" panose="02020603050405020304" pitchFamily="18" charset="0"/>
                <a:cs typeface="Times New Roman" panose="02020603050405020304" pitchFamily="18" charset="0"/>
              </a:rPr>
              <a:t> Public medical imaging dataset</a:t>
            </a:r>
          </a:p>
          <a:p>
            <a:pPr marL="5715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Link:</a:t>
            </a:r>
            <a:r>
              <a:rPr lang="en-IN" sz="1800" dirty="0">
                <a:latin typeface="Times New Roman" panose="02020603050405020304" pitchFamily="18" charset="0"/>
                <a:cs typeface="Times New Roman" panose="02020603050405020304" pitchFamily="18" charset="0"/>
              </a:rPr>
              <a:t> https://github.com/nkicsl/FGADR</a:t>
            </a:r>
          </a:p>
          <a:p>
            <a:pPr marL="5715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Dataset Size:</a:t>
            </a:r>
            <a:endParaRPr lang="en-IN" sz="1800" dirty="0">
              <a:latin typeface="Times New Roman" panose="02020603050405020304" pitchFamily="18" charset="0"/>
              <a:cs typeface="Times New Roman" panose="02020603050405020304" pitchFamily="18" charset="0"/>
            </a:endParaRP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1,842 retinal fundus images </a:t>
            </a: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Pixel-level annotations for multiple lesion types</a:t>
            </a:r>
          </a:p>
          <a:p>
            <a:r>
              <a:rPr lang="en-US" sz="1800" b="1" dirty="0">
                <a:latin typeface="Times New Roman" panose="02020603050405020304" pitchFamily="18" charset="0"/>
                <a:cs typeface="Times New Roman" panose="02020603050405020304" pitchFamily="18" charset="0"/>
              </a:rPr>
              <a:t>DR Severity Labels (0–4):</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0 = No DR </a:t>
            </a:r>
          </a:p>
          <a:p>
            <a:r>
              <a:rPr lang="en-US" sz="1800" dirty="0">
                <a:latin typeface="Times New Roman" panose="02020603050405020304" pitchFamily="18" charset="0"/>
                <a:cs typeface="Times New Roman" panose="02020603050405020304" pitchFamily="18" charset="0"/>
              </a:rPr>
              <a:t>1 = Mild </a:t>
            </a:r>
          </a:p>
          <a:p>
            <a:r>
              <a:rPr lang="en-US" sz="1800" dirty="0">
                <a:latin typeface="Times New Roman" panose="02020603050405020304" pitchFamily="18" charset="0"/>
                <a:cs typeface="Times New Roman" panose="02020603050405020304" pitchFamily="18" charset="0"/>
              </a:rPr>
              <a:t>2 = Moderate </a:t>
            </a:r>
          </a:p>
          <a:p>
            <a:r>
              <a:rPr lang="en-US" sz="1800" dirty="0">
                <a:latin typeface="Times New Roman" panose="02020603050405020304" pitchFamily="18" charset="0"/>
                <a:cs typeface="Times New Roman" panose="02020603050405020304" pitchFamily="18" charset="0"/>
              </a:rPr>
              <a:t>3 = Severe </a:t>
            </a:r>
          </a:p>
          <a:p>
            <a:r>
              <a:rPr lang="en-US" sz="1800" dirty="0">
                <a:latin typeface="Times New Roman" panose="02020603050405020304" pitchFamily="18" charset="0"/>
                <a:cs typeface="Times New Roman" panose="02020603050405020304" pitchFamily="18" charset="0"/>
              </a:rPr>
              <a:t>4 = Proliferative</a:t>
            </a:r>
          </a:p>
          <a:p>
            <a:pPr marL="571500" indent="-342900">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id="{0CDA1D8E-9DE7-9299-8603-468CCDC455A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27</a:t>
            </a:fld>
            <a:endParaRPr lang="en-US" altLang="en-US" sz="1000">
              <a:solidFill>
                <a:srgbClr val="59595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103FF-271C-A4EE-20F2-BD6A7A8D7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B81BF-B280-F9DB-EDB9-F64ABD3E1FE4}"/>
              </a:ext>
            </a:extLst>
          </p:cNvPr>
          <p:cNvSpPr>
            <a:spLocks noGrp="1"/>
          </p:cNvSpPr>
          <p:nvPr>
            <p:ph type="ctrTitle"/>
          </p:nvPr>
        </p:nvSpPr>
        <p:spPr>
          <a:xfrm>
            <a:off x="0" y="0"/>
            <a:ext cx="9144000" cy="649288"/>
          </a:xfrm>
        </p:spPr>
        <p:txBody>
          <a:bodyPr>
            <a:normAutofit fontScale="90000"/>
          </a:bodyPr>
          <a:lstStyle/>
          <a:p>
            <a:pPr algn="l">
              <a:defRPr/>
            </a:pPr>
            <a:r>
              <a:rPr lang="en-US" dirty="0">
                <a:latin typeface="Times New Roman" panose="02020603050405020304" pitchFamily="18" charset="0"/>
                <a:cs typeface="Times New Roman" panose="02020603050405020304" pitchFamily="18" charset="0"/>
              </a:rPr>
              <a:t>Datasets Details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endParaRPr lang="en-US" dirty="0"/>
          </a:p>
        </p:txBody>
      </p:sp>
      <p:sp>
        <p:nvSpPr>
          <p:cNvPr id="3" name="Text Placeholder 2">
            <a:extLst>
              <a:ext uri="{FF2B5EF4-FFF2-40B4-BE49-F238E27FC236}">
                <a16:creationId xmlns:a16="http://schemas.microsoft.com/office/drawing/2014/main" id="{E92CB53B-593C-BF37-3B74-90181000CDBB}"/>
              </a:ext>
            </a:extLst>
          </p:cNvPr>
          <p:cNvSpPr>
            <a:spLocks noGrp="1"/>
          </p:cNvSpPr>
          <p:nvPr>
            <p:ph type="body" sz="quarter" idx="13"/>
          </p:nvPr>
        </p:nvSpPr>
        <p:spPr>
          <a:xfrm>
            <a:off x="190500" y="649287"/>
            <a:ext cx="8763000" cy="4704766"/>
          </a:xfrm>
        </p:spPr>
        <p:txBody>
          <a:bodyPr/>
          <a:lstStyle/>
          <a:p>
            <a:pPr marL="228600" indent="0"/>
            <a:r>
              <a:rPr lang="en-IN" sz="1800" b="1" dirty="0">
                <a:latin typeface="Times New Roman" panose="02020603050405020304" pitchFamily="18" charset="0"/>
                <a:cs typeface="Times New Roman" panose="02020603050405020304" pitchFamily="18" charset="0"/>
              </a:rPr>
              <a:t>Lesion Annotations (Segmentation Masks):</a:t>
            </a:r>
            <a:endParaRPr lang="en-IN" sz="1800" dirty="0">
              <a:latin typeface="Times New Roman" panose="02020603050405020304" pitchFamily="18" charset="0"/>
              <a:cs typeface="Times New Roman" panose="02020603050405020304" pitchFamily="18" charset="0"/>
            </a:endParaRP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Microaneurysms </a:t>
            </a:r>
          </a:p>
          <a:p>
            <a:pPr marL="571500" indent="-342900">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Hemorrhages</a:t>
            </a:r>
            <a:r>
              <a:rPr lang="en-IN" sz="1800" dirty="0">
                <a:latin typeface="Times New Roman" panose="02020603050405020304" pitchFamily="18" charset="0"/>
                <a:cs typeface="Times New Roman" panose="02020603050405020304" pitchFamily="18" charset="0"/>
              </a:rPr>
              <a:t> </a:t>
            </a: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Hard Exudates </a:t>
            </a: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Soft Exudates </a:t>
            </a: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Neovascularization </a:t>
            </a:r>
          </a:p>
          <a:p>
            <a:pPr marL="5715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IRMA</a:t>
            </a:r>
          </a:p>
        </p:txBody>
      </p:sp>
      <p:sp>
        <p:nvSpPr>
          <p:cNvPr id="14340" name="Slide Number Placeholder 3">
            <a:extLst>
              <a:ext uri="{FF2B5EF4-FFF2-40B4-BE49-F238E27FC236}">
                <a16:creationId xmlns:a16="http://schemas.microsoft.com/office/drawing/2014/main" id="{876E2F61-8517-5B37-E587-8F9136C6E7E5}"/>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28</a:t>
            </a:fld>
            <a:endParaRPr lang="en-US" altLang="en-US" sz="1000" dirty="0">
              <a:solidFill>
                <a:srgbClr val="595959"/>
              </a:solidFill>
            </a:endParaRPr>
          </a:p>
        </p:txBody>
      </p:sp>
    </p:spTree>
    <p:extLst>
      <p:ext uri="{BB962C8B-B14F-4D97-AF65-F5344CB8AC3E}">
        <p14:creationId xmlns:p14="http://schemas.microsoft.com/office/powerpoint/2010/main" val="2706579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CB85A7-B96F-F4A0-99D2-8CA6E2C3A104}"/>
              </a:ext>
            </a:extLst>
          </p:cNvPr>
          <p:cNvSpPr/>
          <p:nvPr/>
        </p:nvSpPr>
        <p:spPr>
          <a:xfrm>
            <a:off x="163286" y="1583103"/>
            <a:ext cx="8768443" cy="1770392"/>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8" name="Rectangle 7">
            <a:extLst>
              <a:ext uri="{FF2B5EF4-FFF2-40B4-BE49-F238E27FC236}">
                <a16:creationId xmlns:a16="http://schemas.microsoft.com/office/drawing/2014/main" id="{37CD7988-45DF-B9AF-6D10-AD75DA4A4303}"/>
              </a:ext>
            </a:extLst>
          </p:cNvPr>
          <p:cNvSpPr/>
          <p:nvPr/>
        </p:nvSpPr>
        <p:spPr>
          <a:xfrm>
            <a:off x="163286" y="3433167"/>
            <a:ext cx="8768443" cy="1569425"/>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grpSp>
        <p:nvGrpSpPr>
          <p:cNvPr id="16" name="Group 15">
            <a:extLst>
              <a:ext uri="{FF2B5EF4-FFF2-40B4-BE49-F238E27FC236}">
                <a16:creationId xmlns:a16="http://schemas.microsoft.com/office/drawing/2014/main" id="{05AB5525-612A-DDF2-6966-7CC5A8F26B42}"/>
              </a:ext>
            </a:extLst>
          </p:cNvPr>
          <p:cNvGrpSpPr/>
          <p:nvPr/>
        </p:nvGrpSpPr>
        <p:grpSpPr>
          <a:xfrm>
            <a:off x="8107286" y="1984630"/>
            <a:ext cx="707609" cy="396254"/>
            <a:chOff x="7737021" y="868539"/>
            <a:chExt cx="1796145" cy="528339"/>
          </a:xfrm>
        </p:grpSpPr>
        <p:sp>
          <p:nvSpPr>
            <p:cNvPr id="13" name="Rectangle 12">
              <a:extLst>
                <a:ext uri="{FF2B5EF4-FFF2-40B4-BE49-F238E27FC236}">
                  <a16:creationId xmlns:a16="http://schemas.microsoft.com/office/drawing/2014/main" id="{75CCCF50-67C7-E395-309E-F2382771EA9F}"/>
                </a:ext>
              </a:extLst>
            </p:cNvPr>
            <p:cNvSpPr/>
            <p:nvPr/>
          </p:nvSpPr>
          <p:spPr>
            <a:xfrm>
              <a:off x="7737021" y="868539"/>
              <a:ext cx="1796145" cy="528339"/>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15" name="TextBox 14">
              <a:extLst>
                <a:ext uri="{FF2B5EF4-FFF2-40B4-BE49-F238E27FC236}">
                  <a16:creationId xmlns:a16="http://schemas.microsoft.com/office/drawing/2014/main" id="{4852162E-9BB0-B6A3-BA8A-121C8C77F0AD}"/>
                </a:ext>
              </a:extLst>
            </p:cNvPr>
            <p:cNvSpPr txBox="1"/>
            <p:nvPr/>
          </p:nvSpPr>
          <p:spPr>
            <a:xfrm>
              <a:off x="7794171" y="948044"/>
              <a:ext cx="1681844" cy="338555"/>
            </a:xfrm>
            <a:prstGeom prst="rect">
              <a:avLst/>
            </a:prstGeom>
            <a:noFill/>
          </p:spPr>
          <p:txBody>
            <a:bodyPr wrap="square" rtlCol="0">
              <a:spAutoFit/>
            </a:bodyPr>
            <a:lstStyle/>
            <a:p>
              <a:r>
                <a:rPr lang="en-US" sz="1050" dirty="0"/>
                <a:t>Doctor</a:t>
              </a:r>
              <a:endParaRPr lang="en-IN" sz="1050" dirty="0"/>
            </a:p>
          </p:txBody>
        </p:sp>
      </p:grpSp>
      <p:grpSp>
        <p:nvGrpSpPr>
          <p:cNvPr id="18" name="Group 17">
            <a:extLst>
              <a:ext uri="{FF2B5EF4-FFF2-40B4-BE49-F238E27FC236}">
                <a16:creationId xmlns:a16="http://schemas.microsoft.com/office/drawing/2014/main" id="{D0749812-9BB5-AD79-DBB1-AFC06BA23616}"/>
              </a:ext>
            </a:extLst>
          </p:cNvPr>
          <p:cNvGrpSpPr/>
          <p:nvPr/>
        </p:nvGrpSpPr>
        <p:grpSpPr>
          <a:xfrm>
            <a:off x="252602" y="2054535"/>
            <a:ext cx="1151166" cy="396254"/>
            <a:chOff x="1761756" y="895158"/>
            <a:chExt cx="1796145" cy="528339"/>
          </a:xfrm>
        </p:grpSpPr>
        <p:sp>
          <p:nvSpPr>
            <p:cNvPr id="19" name="Rectangle 18">
              <a:extLst>
                <a:ext uri="{FF2B5EF4-FFF2-40B4-BE49-F238E27FC236}">
                  <a16:creationId xmlns:a16="http://schemas.microsoft.com/office/drawing/2014/main" id="{B740F3BB-1BF4-3229-B8F0-1686A1ACDD58}"/>
                </a:ext>
              </a:extLst>
            </p:cNvPr>
            <p:cNvSpPr/>
            <p:nvPr/>
          </p:nvSpPr>
          <p:spPr>
            <a:xfrm>
              <a:off x="1761756" y="895158"/>
              <a:ext cx="1796145" cy="528339"/>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20" name="TextBox 19">
              <a:extLst>
                <a:ext uri="{FF2B5EF4-FFF2-40B4-BE49-F238E27FC236}">
                  <a16:creationId xmlns:a16="http://schemas.microsoft.com/office/drawing/2014/main" id="{69D8C061-F10E-C037-BBD8-C13426550235}"/>
                </a:ext>
              </a:extLst>
            </p:cNvPr>
            <p:cNvSpPr txBox="1"/>
            <p:nvPr/>
          </p:nvSpPr>
          <p:spPr>
            <a:xfrm>
              <a:off x="2147096" y="974661"/>
              <a:ext cx="1331185" cy="338555"/>
            </a:xfrm>
            <a:prstGeom prst="rect">
              <a:avLst/>
            </a:prstGeom>
            <a:noFill/>
          </p:spPr>
          <p:txBody>
            <a:bodyPr wrap="square" rtlCol="0">
              <a:spAutoFit/>
            </a:bodyPr>
            <a:lstStyle/>
            <a:p>
              <a:r>
                <a:rPr lang="en-US" sz="1050" dirty="0"/>
                <a:t>Patient</a:t>
              </a:r>
              <a:endParaRPr lang="en-IN" sz="1050" dirty="0"/>
            </a:p>
          </p:txBody>
        </p:sp>
      </p:grpSp>
      <p:grpSp>
        <p:nvGrpSpPr>
          <p:cNvPr id="119" name="Group 118">
            <a:extLst>
              <a:ext uri="{FF2B5EF4-FFF2-40B4-BE49-F238E27FC236}">
                <a16:creationId xmlns:a16="http://schemas.microsoft.com/office/drawing/2014/main" id="{DB3904D9-1404-B48E-FD35-8EFD91D4E0BD}"/>
              </a:ext>
            </a:extLst>
          </p:cNvPr>
          <p:cNvGrpSpPr/>
          <p:nvPr/>
        </p:nvGrpSpPr>
        <p:grpSpPr>
          <a:xfrm>
            <a:off x="163286" y="379006"/>
            <a:ext cx="8768443" cy="1098730"/>
            <a:chOff x="217714" y="359659"/>
            <a:chExt cx="11691257" cy="1610656"/>
          </a:xfrm>
        </p:grpSpPr>
        <p:sp>
          <p:nvSpPr>
            <p:cNvPr id="6" name="Rectangle 5">
              <a:extLst>
                <a:ext uri="{FF2B5EF4-FFF2-40B4-BE49-F238E27FC236}">
                  <a16:creationId xmlns:a16="http://schemas.microsoft.com/office/drawing/2014/main" id="{F11D3A5B-9CB3-94B5-4252-CE8F3422BAF5}"/>
                </a:ext>
              </a:extLst>
            </p:cNvPr>
            <p:cNvSpPr/>
            <p:nvPr/>
          </p:nvSpPr>
          <p:spPr>
            <a:xfrm>
              <a:off x="217714" y="359659"/>
              <a:ext cx="11691257" cy="1610656"/>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grpSp>
          <p:nvGrpSpPr>
            <p:cNvPr id="11" name="Group 10">
              <a:extLst>
                <a:ext uri="{FF2B5EF4-FFF2-40B4-BE49-F238E27FC236}">
                  <a16:creationId xmlns:a16="http://schemas.microsoft.com/office/drawing/2014/main" id="{592EB9DB-C5B1-F8EA-BC60-5AD0D4EC5D4B}"/>
                </a:ext>
              </a:extLst>
            </p:cNvPr>
            <p:cNvGrpSpPr/>
            <p:nvPr/>
          </p:nvGrpSpPr>
          <p:grpSpPr>
            <a:xfrm>
              <a:off x="4883368" y="519793"/>
              <a:ext cx="2013858" cy="1279071"/>
              <a:chOff x="4539342" y="519793"/>
              <a:chExt cx="2013858" cy="1279071"/>
            </a:xfrm>
          </p:grpSpPr>
          <p:sp>
            <p:nvSpPr>
              <p:cNvPr id="9" name="Oval 8">
                <a:extLst>
                  <a:ext uri="{FF2B5EF4-FFF2-40B4-BE49-F238E27FC236}">
                    <a16:creationId xmlns:a16="http://schemas.microsoft.com/office/drawing/2014/main" id="{B4FA600C-1398-20BD-F6F3-2D7EEFB1F006}"/>
                  </a:ext>
                </a:extLst>
              </p:cNvPr>
              <p:cNvSpPr/>
              <p:nvPr/>
            </p:nvSpPr>
            <p:spPr>
              <a:xfrm>
                <a:off x="4539342" y="519793"/>
                <a:ext cx="2013858" cy="1279071"/>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10" name="TextBox 9">
                <a:extLst>
                  <a:ext uri="{FF2B5EF4-FFF2-40B4-BE49-F238E27FC236}">
                    <a16:creationId xmlns:a16="http://schemas.microsoft.com/office/drawing/2014/main" id="{3AFEBF5F-1FEA-8696-76CB-2B16AD3809A7}"/>
                  </a:ext>
                </a:extLst>
              </p:cNvPr>
              <p:cNvSpPr txBox="1"/>
              <p:nvPr/>
            </p:nvSpPr>
            <p:spPr>
              <a:xfrm>
                <a:off x="4771397" y="671046"/>
                <a:ext cx="1549751" cy="845958"/>
              </a:xfrm>
              <a:prstGeom prst="rect">
                <a:avLst/>
              </a:prstGeom>
              <a:noFill/>
            </p:spPr>
            <p:txBody>
              <a:bodyPr wrap="square" rtlCol="0">
                <a:spAutoFit/>
              </a:bodyPr>
              <a:lstStyle/>
              <a:p>
                <a:pPr algn="ctr"/>
                <a:r>
                  <a:rPr lang="en-US" sz="1050" dirty="0"/>
                  <a:t>Diabetes Severity</a:t>
                </a:r>
                <a:br>
                  <a:rPr lang="en-US" sz="1050" dirty="0"/>
                </a:br>
                <a:r>
                  <a:rPr lang="en-US" sz="1050" dirty="0"/>
                  <a:t>Prediction</a:t>
                </a:r>
                <a:endParaRPr lang="en-IN" sz="1050" dirty="0"/>
              </a:p>
            </p:txBody>
          </p:sp>
        </p:grpSp>
        <p:grpSp>
          <p:nvGrpSpPr>
            <p:cNvPr id="17" name="Group 16">
              <a:extLst>
                <a:ext uri="{FF2B5EF4-FFF2-40B4-BE49-F238E27FC236}">
                  <a16:creationId xmlns:a16="http://schemas.microsoft.com/office/drawing/2014/main" id="{88F1F4D6-4A8A-5536-7FBF-98CDF1145075}"/>
                </a:ext>
              </a:extLst>
            </p:cNvPr>
            <p:cNvGrpSpPr/>
            <p:nvPr/>
          </p:nvGrpSpPr>
          <p:grpSpPr>
            <a:xfrm>
              <a:off x="402769" y="868539"/>
              <a:ext cx="1796145" cy="528339"/>
              <a:chOff x="1761756" y="895158"/>
              <a:chExt cx="1796145" cy="528339"/>
            </a:xfrm>
          </p:grpSpPr>
          <p:sp>
            <p:nvSpPr>
              <p:cNvPr id="12" name="Rectangle 11">
                <a:extLst>
                  <a:ext uri="{FF2B5EF4-FFF2-40B4-BE49-F238E27FC236}">
                    <a16:creationId xmlns:a16="http://schemas.microsoft.com/office/drawing/2014/main" id="{21386F18-5EC7-2897-B00E-333FA2A5C11C}"/>
                  </a:ext>
                </a:extLst>
              </p:cNvPr>
              <p:cNvSpPr/>
              <p:nvPr/>
            </p:nvSpPr>
            <p:spPr>
              <a:xfrm>
                <a:off x="1761756" y="895158"/>
                <a:ext cx="1796145" cy="528339"/>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14" name="TextBox 13">
                <a:extLst>
                  <a:ext uri="{FF2B5EF4-FFF2-40B4-BE49-F238E27FC236}">
                    <a16:creationId xmlns:a16="http://schemas.microsoft.com/office/drawing/2014/main" id="{5FDCE03D-4A46-26FA-82FA-7C49C396AABD}"/>
                  </a:ext>
                </a:extLst>
              </p:cNvPr>
              <p:cNvSpPr txBox="1"/>
              <p:nvPr/>
            </p:nvSpPr>
            <p:spPr>
              <a:xfrm>
                <a:off x="2202628" y="974661"/>
                <a:ext cx="914400" cy="372222"/>
              </a:xfrm>
              <a:prstGeom prst="rect">
                <a:avLst/>
              </a:prstGeom>
              <a:noFill/>
            </p:spPr>
            <p:txBody>
              <a:bodyPr wrap="square" rtlCol="0">
                <a:spAutoFit/>
              </a:bodyPr>
              <a:lstStyle/>
              <a:p>
                <a:r>
                  <a:rPr lang="en-US" sz="1050" dirty="0"/>
                  <a:t>Patient</a:t>
                </a:r>
                <a:endParaRPr lang="en-IN" sz="1050" dirty="0"/>
              </a:p>
            </p:txBody>
          </p:sp>
        </p:grpSp>
        <p:grpSp>
          <p:nvGrpSpPr>
            <p:cNvPr id="24" name="Group 23">
              <a:extLst>
                <a:ext uri="{FF2B5EF4-FFF2-40B4-BE49-F238E27FC236}">
                  <a16:creationId xmlns:a16="http://schemas.microsoft.com/office/drawing/2014/main" id="{03662937-A83F-94B4-72FE-6751EE0D8439}"/>
                </a:ext>
              </a:extLst>
            </p:cNvPr>
            <p:cNvGrpSpPr/>
            <p:nvPr/>
          </p:nvGrpSpPr>
          <p:grpSpPr>
            <a:xfrm>
              <a:off x="9552214" y="868539"/>
              <a:ext cx="1796145" cy="528339"/>
              <a:chOff x="7679871" y="868541"/>
              <a:chExt cx="1796145" cy="528339"/>
            </a:xfrm>
          </p:grpSpPr>
          <p:sp>
            <p:nvSpPr>
              <p:cNvPr id="25" name="Rectangle 24">
                <a:extLst>
                  <a:ext uri="{FF2B5EF4-FFF2-40B4-BE49-F238E27FC236}">
                    <a16:creationId xmlns:a16="http://schemas.microsoft.com/office/drawing/2014/main" id="{3665483D-1EF8-78DC-D21F-771151A33BA7}"/>
                  </a:ext>
                </a:extLst>
              </p:cNvPr>
              <p:cNvSpPr/>
              <p:nvPr/>
            </p:nvSpPr>
            <p:spPr>
              <a:xfrm>
                <a:off x="7679871" y="868541"/>
                <a:ext cx="1796145" cy="528339"/>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26" name="TextBox 25">
                <a:extLst>
                  <a:ext uri="{FF2B5EF4-FFF2-40B4-BE49-F238E27FC236}">
                    <a16:creationId xmlns:a16="http://schemas.microsoft.com/office/drawing/2014/main" id="{4F4DC28D-7106-4BE2-00F6-6B05B170893D}"/>
                  </a:ext>
                </a:extLst>
              </p:cNvPr>
              <p:cNvSpPr txBox="1"/>
              <p:nvPr/>
            </p:nvSpPr>
            <p:spPr>
              <a:xfrm>
                <a:off x="8207828" y="948044"/>
                <a:ext cx="914400" cy="372222"/>
              </a:xfrm>
              <a:prstGeom prst="rect">
                <a:avLst/>
              </a:prstGeom>
              <a:noFill/>
            </p:spPr>
            <p:txBody>
              <a:bodyPr wrap="square" rtlCol="0">
                <a:spAutoFit/>
              </a:bodyPr>
              <a:lstStyle/>
              <a:p>
                <a:r>
                  <a:rPr lang="en-US" sz="1050" dirty="0"/>
                  <a:t>Doctor</a:t>
                </a:r>
                <a:endParaRPr lang="en-IN" sz="1050" dirty="0"/>
              </a:p>
            </p:txBody>
          </p:sp>
        </p:grpSp>
      </p:grpSp>
      <p:grpSp>
        <p:nvGrpSpPr>
          <p:cNvPr id="72" name="Group 71">
            <a:extLst>
              <a:ext uri="{FF2B5EF4-FFF2-40B4-BE49-F238E27FC236}">
                <a16:creationId xmlns:a16="http://schemas.microsoft.com/office/drawing/2014/main" id="{4BFEEFB2-490D-2115-1368-7598C49C63D6}"/>
              </a:ext>
            </a:extLst>
          </p:cNvPr>
          <p:cNvGrpSpPr/>
          <p:nvPr/>
        </p:nvGrpSpPr>
        <p:grpSpPr>
          <a:xfrm>
            <a:off x="1570542" y="2883795"/>
            <a:ext cx="1381494" cy="260621"/>
            <a:chOff x="2326852" y="4037429"/>
            <a:chExt cx="2008731" cy="365688"/>
          </a:xfrm>
        </p:grpSpPr>
        <p:grpSp>
          <p:nvGrpSpPr>
            <p:cNvPr id="63" name="Group 62">
              <a:extLst>
                <a:ext uri="{FF2B5EF4-FFF2-40B4-BE49-F238E27FC236}">
                  <a16:creationId xmlns:a16="http://schemas.microsoft.com/office/drawing/2014/main" id="{EB2562A1-46D2-8543-2BDD-366C79E6B787}"/>
                </a:ext>
              </a:extLst>
            </p:cNvPr>
            <p:cNvGrpSpPr/>
            <p:nvPr/>
          </p:nvGrpSpPr>
          <p:grpSpPr>
            <a:xfrm>
              <a:off x="2326852" y="4037429"/>
              <a:ext cx="1526409" cy="334403"/>
              <a:chOff x="3388268" y="5243425"/>
              <a:chExt cx="1774269" cy="522514"/>
            </a:xfrm>
          </p:grpSpPr>
          <p:grpSp>
            <p:nvGrpSpPr>
              <p:cNvPr id="64" name="Group 63">
                <a:extLst>
                  <a:ext uri="{FF2B5EF4-FFF2-40B4-BE49-F238E27FC236}">
                    <a16:creationId xmlns:a16="http://schemas.microsoft.com/office/drawing/2014/main" id="{E95F9047-3A27-A68E-D736-90A1C202EC07}"/>
                  </a:ext>
                </a:extLst>
              </p:cNvPr>
              <p:cNvGrpSpPr/>
              <p:nvPr/>
            </p:nvGrpSpPr>
            <p:grpSpPr>
              <a:xfrm>
                <a:off x="3388268" y="5243425"/>
                <a:ext cx="1774269" cy="522514"/>
                <a:chOff x="3461657" y="5246914"/>
                <a:chExt cx="1774269" cy="522514"/>
              </a:xfrm>
            </p:grpSpPr>
            <p:cxnSp>
              <p:nvCxnSpPr>
                <p:cNvPr id="66" name="Straight Connector 65">
                  <a:extLst>
                    <a:ext uri="{FF2B5EF4-FFF2-40B4-BE49-F238E27FC236}">
                      <a16:creationId xmlns:a16="http://schemas.microsoft.com/office/drawing/2014/main" id="{E79C4866-59AB-B5BA-FBB3-439BAB16587A}"/>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67" name="Straight Connector 66">
                  <a:extLst>
                    <a:ext uri="{FF2B5EF4-FFF2-40B4-BE49-F238E27FC236}">
                      <a16:creationId xmlns:a16="http://schemas.microsoft.com/office/drawing/2014/main" id="{A5B25B29-3726-FC1C-79BD-250788D9D0B3}"/>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68" name="Straight Connector 67">
                  <a:extLst>
                    <a:ext uri="{FF2B5EF4-FFF2-40B4-BE49-F238E27FC236}">
                      <a16:creationId xmlns:a16="http://schemas.microsoft.com/office/drawing/2014/main" id="{DD49E5E1-0A03-3708-652F-732780114231}"/>
                    </a:ext>
                  </a:extLst>
                </p:cNvPr>
                <p:cNvCxnSpPr>
                  <a:cxnSpLocks/>
                </p:cNvCxnSpPr>
                <p:nvPr/>
              </p:nvCxnSpPr>
              <p:spPr>
                <a:xfrm>
                  <a:off x="3461657" y="5246914"/>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65" name="Straight Connector 64">
                <a:extLst>
                  <a:ext uri="{FF2B5EF4-FFF2-40B4-BE49-F238E27FC236}">
                    <a16:creationId xmlns:a16="http://schemas.microsoft.com/office/drawing/2014/main" id="{31B07D6A-173D-8020-C8A9-BFA5B0F46EED}"/>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71" name="TextBox 70">
              <a:extLst>
                <a:ext uri="{FF2B5EF4-FFF2-40B4-BE49-F238E27FC236}">
                  <a16:creationId xmlns:a16="http://schemas.microsoft.com/office/drawing/2014/main" id="{1C092796-FB1D-2686-79A5-277C6302B1F2}"/>
                </a:ext>
              </a:extLst>
            </p:cNvPr>
            <p:cNvSpPr txBox="1"/>
            <p:nvPr/>
          </p:nvSpPr>
          <p:spPr>
            <a:xfrm>
              <a:off x="2748209" y="4064562"/>
              <a:ext cx="1587374" cy="338555"/>
            </a:xfrm>
            <a:prstGeom prst="rect">
              <a:avLst/>
            </a:prstGeom>
            <a:noFill/>
          </p:spPr>
          <p:txBody>
            <a:bodyPr wrap="square" rtlCol="0">
              <a:spAutoFit/>
            </a:bodyPr>
            <a:lstStyle/>
            <a:p>
              <a:r>
                <a:rPr lang="en-US" sz="1050" dirty="0"/>
                <a:t>Retina Images</a:t>
              </a:r>
              <a:endParaRPr lang="en-IN" sz="1050" dirty="0"/>
            </a:p>
          </p:txBody>
        </p:sp>
      </p:grpSp>
      <p:grpSp>
        <p:nvGrpSpPr>
          <p:cNvPr id="87" name="Group 86">
            <a:extLst>
              <a:ext uri="{FF2B5EF4-FFF2-40B4-BE49-F238E27FC236}">
                <a16:creationId xmlns:a16="http://schemas.microsoft.com/office/drawing/2014/main" id="{9CAE5FA9-D964-258A-BB8F-608C6BABDD5B}"/>
              </a:ext>
            </a:extLst>
          </p:cNvPr>
          <p:cNvGrpSpPr/>
          <p:nvPr/>
        </p:nvGrpSpPr>
        <p:grpSpPr>
          <a:xfrm>
            <a:off x="1580455" y="1755883"/>
            <a:ext cx="6302795" cy="901862"/>
            <a:chOff x="2122712" y="2604313"/>
            <a:chExt cx="8403727" cy="1202483"/>
          </a:xfrm>
        </p:grpSpPr>
        <p:grpSp>
          <p:nvGrpSpPr>
            <p:cNvPr id="45" name="Group 44">
              <a:extLst>
                <a:ext uri="{FF2B5EF4-FFF2-40B4-BE49-F238E27FC236}">
                  <a16:creationId xmlns:a16="http://schemas.microsoft.com/office/drawing/2014/main" id="{131E8A59-1B1D-6E7A-A70D-ECE537F20E0B}"/>
                </a:ext>
              </a:extLst>
            </p:cNvPr>
            <p:cNvGrpSpPr/>
            <p:nvPr/>
          </p:nvGrpSpPr>
          <p:grpSpPr>
            <a:xfrm>
              <a:off x="2122712" y="2625893"/>
              <a:ext cx="6767150" cy="1180903"/>
              <a:chOff x="2232129" y="2544923"/>
              <a:chExt cx="6743254" cy="1180903"/>
            </a:xfrm>
          </p:grpSpPr>
          <p:grpSp>
            <p:nvGrpSpPr>
              <p:cNvPr id="41" name="Group 40">
                <a:extLst>
                  <a:ext uri="{FF2B5EF4-FFF2-40B4-BE49-F238E27FC236}">
                    <a16:creationId xmlns:a16="http://schemas.microsoft.com/office/drawing/2014/main" id="{17D7C979-7E0A-3968-0B8C-EB3CA14E9C1F}"/>
                  </a:ext>
                </a:extLst>
              </p:cNvPr>
              <p:cNvGrpSpPr/>
              <p:nvPr/>
            </p:nvGrpSpPr>
            <p:grpSpPr>
              <a:xfrm>
                <a:off x="2232129" y="2587493"/>
                <a:ext cx="1500069" cy="1138333"/>
                <a:chOff x="2232129" y="2587493"/>
                <a:chExt cx="1500069" cy="1138333"/>
              </a:xfrm>
            </p:grpSpPr>
            <p:sp>
              <p:nvSpPr>
                <p:cNvPr id="27" name="Oval 26">
                  <a:extLst>
                    <a:ext uri="{FF2B5EF4-FFF2-40B4-BE49-F238E27FC236}">
                      <a16:creationId xmlns:a16="http://schemas.microsoft.com/office/drawing/2014/main" id="{3904C74E-F333-FEEF-32C6-66B711528091}"/>
                    </a:ext>
                  </a:extLst>
                </p:cNvPr>
                <p:cNvSpPr/>
                <p:nvPr/>
              </p:nvSpPr>
              <p:spPr>
                <a:xfrm>
                  <a:off x="2232129" y="2587493"/>
                  <a:ext cx="1500069"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a:p>
              </p:txBody>
            </p:sp>
            <p:sp>
              <p:nvSpPr>
                <p:cNvPr id="34" name="TextBox 33">
                  <a:extLst>
                    <a:ext uri="{FF2B5EF4-FFF2-40B4-BE49-F238E27FC236}">
                      <a16:creationId xmlns:a16="http://schemas.microsoft.com/office/drawing/2014/main" id="{B4F3FA6C-5DB3-EE2E-6C37-A6BAFBD02040}"/>
                    </a:ext>
                  </a:extLst>
                </p:cNvPr>
                <p:cNvSpPr txBox="1"/>
                <p:nvPr/>
              </p:nvSpPr>
              <p:spPr>
                <a:xfrm>
                  <a:off x="2555623" y="2813308"/>
                  <a:ext cx="914400" cy="553997"/>
                </a:xfrm>
                <a:prstGeom prst="rect">
                  <a:avLst/>
                </a:prstGeom>
                <a:noFill/>
              </p:spPr>
              <p:txBody>
                <a:bodyPr wrap="square" rtlCol="0">
                  <a:spAutoFit/>
                </a:bodyPr>
                <a:lstStyle/>
                <a:p>
                  <a:pPr algn="ctr"/>
                  <a:r>
                    <a:rPr lang="en-US" sz="1050" dirty="0"/>
                    <a:t>Data Receive</a:t>
                  </a:r>
                  <a:endParaRPr lang="en-IN" sz="1050" dirty="0"/>
                </a:p>
              </p:txBody>
            </p:sp>
          </p:grpSp>
          <p:grpSp>
            <p:nvGrpSpPr>
              <p:cNvPr id="42" name="Group 41">
                <a:extLst>
                  <a:ext uri="{FF2B5EF4-FFF2-40B4-BE49-F238E27FC236}">
                    <a16:creationId xmlns:a16="http://schemas.microsoft.com/office/drawing/2014/main" id="{5C93ECF3-7A01-2D33-9256-FE206452147E}"/>
                  </a:ext>
                </a:extLst>
              </p:cNvPr>
              <p:cNvGrpSpPr/>
              <p:nvPr/>
            </p:nvGrpSpPr>
            <p:grpSpPr>
              <a:xfrm>
                <a:off x="4017908" y="2567674"/>
                <a:ext cx="1500069" cy="1138333"/>
                <a:chOff x="4017908" y="2567674"/>
                <a:chExt cx="1500069" cy="1138333"/>
              </a:xfrm>
            </p:grpSpPr>
            <p:sp>
              <p:nvSpPr>
                <p:cNvPr id="31" name="Oval 30">
                  <a:extLst>
                    <a:ext uri="{FF2B5EF4-FFF2-40B4-BE49-F238E27FC236}">
                      <a16:creationId xmlns:a16="http://schemas.microsoft.com/office/drawing/2014/main" id="{E11B623E-B940-7B78-C13C-9B216BC2D8E0}"/>
                    </a:ext>
                  </a:extLst>
                </p:cNvPr>
                <p:cNvSpPr/>
                <p:nvPr/>
              </p:nvSpPr>
              <p:spPr>
                <a:xfrm>
                  <a:off x="4017908" y="2567674"/>
                  <a:ext cx="1500068"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a:p>
              </p:txBody>
            </p:sp>
            <p:sp>
              <p:nvSpPr>
                <p:cNvPr id="38" name="TextBox 37">
                  <a:extLst>
                    <a:ext uri="{FF2B5EF4-FFF2-40B4-BE49-F238E27FC236}">
                      <a16:creationId xmlns:a16="http://schemas.microsoft.com/office/drawing/2014/main" id="{0BB86E00-9E11-F133-6A65-F1FC7218FF21}"/>
                    </a:ext>
                  </a:extLst>
                </p:cNvPr>
                <p:cNvSpPr txBox="1"/>
                <p:nvPr/>
              </p:nvSpPr>
              <p:spPr>
                <a:xfrm>
                  <a:off x="4017909" y="2782669"/>
                  <a:ext cx="1500068" cy="553997"/>
                </a:xfrm>
                <a:prstGeom prst="rect">
                  <a:avLst/>
                </a:prstGeom>
                <a:noFill/>
              </p:spPr>
              <p:txBody>
                <a:bodyPr wrap="square" rtlCol="0">
                  <a:spAutoFit/>
                </a:bodyPr>
                <a:lstStyle/>
                <a:p>
                  <a:pPr algn="ctr"/>
                  <a:r>
                    <a:rPr lang="en-US" sz="1050" dirty="0"/>
                    <a:t>Image </a:t>
                  </a:r>
                  <a:br>
                    <a:rPr lang="en-US" sz="1050" dirty="0"/>
                  </a:br>
                  <a:r>
                    <a:rPr lang="en-US" sz="1050" dirty="0"/>
                    <a:t>Segmentation</a:t>
                  </a:r>
                  <a:endParaRPr lang="en-IN" sz="1050" dirty="0"/>
                </a:p>
              </p:txBody>
            </p:sp>
          </p:grpSp>
          <p:grpSp>
            <p:nvGrpSpPr>
              <p:cNvPr id="43" name="Group 42">
                <a:extLst>
                  <a:ext uri="{FF2B5EF4-FFF2-40B4-BE49-F238E27FC236}">
                    <a16:creationId xmlns:a16="http://schemas.microsoft.com/office/drawing/2014/main" id="{08654E2A-EEF0-025A-F783-AF24D7C021A7}"/>
                  </a:ext>
                </a:extLst>
              </p:cNvPr>
              <p:cNvGrpSpPr/>
              <p:nvPr/>
            </p:nvGrpSpPr>
            <p:grpSpPr>
              <a:xfrm>
                <a:off x="5680775" y="2587493"/>
                <a:ext cx="1550803" cy="1138333"/>
                <a:chOff x="5680775" y="2587493"/>
                <a:chExt cx="1550803" cy="1138333"/>
              </a:xfrm>
            </p:grpSpPr>
            <p:sp>
              <p:nvSpPr>
                <p:cNvPr id="32" name="Oval 31">
                  <a:extLst>
                    <a:ext uri="{FF2B5EF4-FFF2-40B4-BE49-F238E27FC236}">
                      <a16:creationId xmlns:a16="http://schemas.microsoft.com/office/drawing/2014/main" id="{3ABB9243-18BD-02EC-7313-0122A49806F5}"/>
                    </a:ext>
                  </a:extLst>
                </p:cNvPr>
                <p:cNvSpPr/>
                <p:nvPr/>
              </p:nvSpPr>
              <p:spPr>
                <a:xfrm>
                  <a:off x="5689535" y="2587493"/>
                  <a:ext cx="1500068"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a:p>
              </p:txBody>
            </p:sp>
            <p:sp>
              <p:nvSpPr>
                <p:cNvPr id="39" name="TextBox 38">
                  <a:extLst>
                    <a:ext uri="{FF2B5EF4-FFF2-40B4-BE49-F238E27FC236}">
                      <a16:creationId xmlns:a16="http://schemas.microsoft.com/office/drawing/2014/main" id="{6210250B-7F42-64AB-3974-3B8545AA2ADC}"/>
                    </a:ext>
                  </a:extLst>
                </p:cNvPr>
                <p:cNvSpPr txBox="1"/>
                <p:nvPr/>
              </p:nvSpPr>
              <p:spPr>
                <a:xfrm>
                  <a:off x="5680775" y="2782668"/>
                  <a:ext cx="1550803" cy="553997"/>
                </a:xfrm>
                <a:prstGeom prst="rect">
                  <a:avLst/>
                </a:prstGeom>
                <a:noFill/>
              </p:spPr>
              <p:txBody>
                <a:bodyPr wrap="square" rtlCol="0">
                  <a:spAutoFit/>
                </a:bodyPr>
                <a:lstStyle/>
                <a:p>
                  <a:pPr algn="ctr"/>
                  <a:r>
                    <a:rPr lang="en-US" sz="1050" dirty="0"/>
                    <a:t>DR classification</a:t>
                  </a:r>
                  <a:endParaRPr lang="en-IN" sz="1050" dirty="0"/>
                </a:p>
              </p:txBody>
            </p:sp>
          </p:grpSp>
          <p:grpSp>
            <p:nvGrpSpPr>
              <p:cNvPr id="44" name="Group 43">
                <a:extLst>
                  <a:ext uri="{FF2B5EF4-FFF2-40B4-BE49-F238E27FC236}">
                    <a16:creationId xmlns:a16="http://schemas.microsoft.com/office/drawing/2014/main" id="{A09DD56C-6A0C-3398-7A74-22CE191F39B3}"/>
                  </a:ext>
                </a:extLst>
              </p:cNvPr>
              <p:cNvGrpSpPr/>
              <p:nvPr/>
            </p:nvGrpSpPr>
            <p:grpSpPr>
              <a:xfrm>
                <a:off x="7475315" y="2544923"/>
                <a:ext cx="1500068" cy="1138333"/>
                <a:chOff x="7475315" y="2544923"/>
                <a:chExt cx="1500068" cy="1138333"/>
              </a:xfrm>
            </p:grpSpPr>
            <p:sp>
              <p:nvSpPr>
                <p:cNvPr id="33" name="Oval 32">
                  <a:extLst>
                    <a:ext uri="{FF2B5EF4-FFF2-40B4-BE49-F238E27FC236}">
                      <a16:creationId xmlns:a16="http://schemas.microsoft.com/office/drawing/2014/main" id="{79A887A0-6583-D4E9-CCED-865CC50DAD1E}"/>
                    </a:ext>
                  </a:extLst>
                </p:cNvPr>
                <p:cNvSpPr/>
                <p:nvPr/>
              </p:nvSpPr>
              <p:spPr>
                <a:xfrm>
                  <a:off x="7475315" y="2544923"/>
                  <a:ext cx="1500068"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dirty="0"/>
                </a:p>
              </p:txBody>
            </p:sp>
            <p:sp>
              <p:nvSpPr>
                <p:cNvPr id="40" name="TextBox 39">
                  <a:extLst>
                    <a:ext uri="{FF2B5EF4-FFF2-40B4-BE49-F238E27FC236}">
                      <a16:creationId xmlns:a16="http://schemas.microsoft.com/office/drawing/2014/main" id="{6262C5C1-C53F-FEE9-7E03-C572FDF7BF55}"/>
                    </a:ext>
                  </a:extLst>
                </p:cNvPr>
                <p:cNvSpPr txBox="1"/>
                <p:nvPr/>
              </p:nvSpPr>
              <p:spPr>
                <a:xfrm>
                  <a:off x="7475315" y="2782667"/>
                  <a:ext cx="1500068" cy="553997"/>
                </a:xfrm>
                <a:prstGeom prst="rect">
                  <a:avLst/>
                </a:prstGeom>
                <a:noFill/>
              </p:spPr>
              <p:txBody>
                <a:bodyPr wrap="square" rtlCol="0">
                  <a:spAutoFit/>
                </a:bodyPr>
                <a:lstStyle/>
                <a:p>
                  <a:pPr algn="ctr"/>
                  <a:r>
                    <a:rPr lang="en-US" sz="1050" dirty="0"/>
                    <a:t>Hba1c</a:t>
                  </a:r>
                  <a:br>
                    <a:rPr lang="en-US" sz="1050" dirty="0"/>
                  </a:br>
                  <a:r>
                    <a:rPr lang="en-US" sz="1050" dirty="0"/>
                    <a:t>Estimation</a:t>
                  </a:r>
                </a:p>
              </p:txBody>
            </p:sp>
          </p:grpSp>
        </p:grpSp>
        <p:grpSp>
          <p:nvGrpSpPr>
            <p:cNvPr id="86" name="Group 85">
              <a:extLst>
                <a:ext uri="{FF2B5EF4-FFF2-40B4-BE49-F238E27FC236}">
                  <a16:creationId xmlns:a16="http://schemas.microsoft.com/office/drawing/2014/main" id="{3211CB5C-E80C-F9FD-15E1-885F8D440384}"/>
                </a:ext>
              </a:extLst>
            </p:cNvPr>
            <p:cNvGrpSpPr/>
            <p:nvPr/>
          </p:nvGrpSpPr>
          <p:grpSpPr>
            <a:xfrm>
              <a:off x="9042806" y="2604313"/>
              <a:ext cx="1483633" cy="1138333"/>
              <a:chOff x="9042806" y="2604313"/>
              <a:chExt cx="1483633" cy="1138333"/>
            </a:xfrm>
          </p:grpSpPr>
          <p:sp>
            <p:nvSpPr>
              <p:cNvPr id="69" name="Oval 68">
                <a:extLst>
                  <a:ext uri="{FF2B5EF4-FFF2-40B4-BE49-F238E27FC236}">
                    <a16:creationId xmlns:a16="http://schemas.microsoft.com/office/drawing/2014/main" id="{7A828304-B2BF-AFB3-0A1A-1E532D367E97}"/>
                  </a:ext>
                </a:extLst>
              </p:cNvPr>
              <p:cNvSpPr/>
              <p:nvPr/>
            </p:nvSpPr>
            <p:spPr>
              <a:xfrm>
                <a:off x="9042806" y="2604313"/>
                <a:ext cx="1483633" cy="1138333"/>
              </a:xfrm>
              <a:prstGeom prst="ellipse">
                <a:avLst/>
              </a:prstGeom>
              <a:noFill/>
              <a:ln w="381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73" name="TextBox 72">
                <a:extLst>
                  <a:ext uri="{FF2B5EF4-FFF2-40B4-BE49-F238E27FC236}">
                    <a16:creationId xmlns:a16="http://schemas.microsoft.com/office/drawing/2014/main" id="{F3B9B534-2C0B-485B-A903-94CA63D01C1D}"/>
                  </a:ext>
                </a:extLst>
              </p:cNvPr>
              <p:cNvSpPr txBox="1"/>
              <p:nvPr/>
            </p:nvSpPr>
            <p:spPr>
              <a:xfrm>
                <a:off x="9134462" y="2850313"/>
                <a:ext cx="1325880" cy="553997"/>
              </a:xfrm>
              <a:prstGeom prst="rect">
                <a:avLst/>
              </a:prstGeom>
              <a:noFill/>
            </p:spPr>
            <p:txBody>
              <a:bodyPr wrap="square" rtlCol="0">
                <a:spAutoFit/>
              </a:bodyPr>
              <a:lstStyle/>
              <a:p>
                <a:pPr algn="ctr"/>
                <a:r>
                  <a:rPr lang="en-US" sz="1050" dirty="0"/>
                  <a:t>Glucose</a:t>
                </a:r>
                <a:br>
                  <a:rPr lang="en-US" sz="1050" dirty="0"/>
                </a:br>
                <a:r>
                  <a:rPr lang="en-US" sz="1050" dirty="0"/>
                  <a:t>Prediction</a:t>
                </a:r>
                <a:endParaRPr lang="en-IN" sz="1050" dirty="0"/>
              </a:p>
            </p:txBody>
          </p:sp>
        </p:grpSp>
      </p:grpSp>
      <p:grpSp>
        <p:nvGrpSpPr>
          <p:cNvPr id="77" name="Group 76">
            <a:extLst>
              <a:ext uri="{FF2B5EF4-FFF2-40B4-BE49-F238E27FC236}">
                <a16:creationId xmlns:a16="http://schemas.microsoft.com/office/drawing/2014/main" id="{59A18F76-0CAA-19C3-2F17-09042B955F26}"/>
              </a:ext>
            </a:extLst>
          </p:cNvPr>
          <p:cNvGrpSpPr/>
          <p:nvPr/>
        </p:nvGrpSpPr>
        <p:grpSpPr>
          <a:xfrm>
            <a:off x="3029962" y="2922087"/>
            <a:ext cx="1307125" cy="193229"/>
            <a:chOff x="3929484" y="4032978"/>
            <a:chExt cx="2316336" cy="354636"/>
          </a:xfrm>
        </p:grpSpPr>
        <p:grpSp>
          <p:nvGrpSpPr>
            <p:cNvPr id="57" name="Group 56">
              <a:extLst>
                <a:ext uri="{FF2B5EF4-FFF2-40B4-BE49-F238E27FC236}">
                  <a16:creationId xmlns:a16="http://schemas.microsoft.com/office/drawing/2014/main" id="{06B101B4-0F56-18A4-F35D-BF62CD9455F2}"/>
                </a:ext>
              </a:extLst>
            </p:cNvPr>
            <p:cNvGrpSpPr/>
            <p:nvPr/>
          </p:nvGrpSpPr>
          <p:grpSpPr>
            <a:xfrm>
              <a:off x="3929484" y="4032978"/>
              <a:ext cx="1816954" cy="334403"/>
              <a:chOff x="3388268" y="5243425"/>
              <a:chExt cx="1774269" cy="522514"/>
            </a:xfrm>
          </p:grpSpPr>
          <p:grpSp>
            <p:nvGrpSpPr>
              <p:cNvPr id="58" name="Group 57">
                <a:extLst>
                  <a:ext uri="{FF2B5EF4-FFF2-40B4-BE49-F238E27FC236}">
                    <a16:creationId xmlns:a16="http://schemas.microsoft.com/office/drawing/2014/main" id="{FF1EE3A9-E3D1-2B19-51DC-F566F676A6F0}"/>
                  </a:ext>
                </a:extLst>
              </p:cNvPr>
              <p:cNvGrpSpPr/>
              <p:nvPr/>
            </p:nvGrpSpPr>
            <p:grpSpPr>
              <a:xfrm>
                <a:off x="3388268" y="5243425"/>
                <a:ext cx="1774269" cy="522514"/>
                <a:chOff x="3461657" y="5246914"/>
                <a:chExt cx="1774269" cy="522514"/>
              </a:xfrm>
            </p:grpSpPr>
            <p:cxnSp>
              <p:nvCxnSpPr>
                <p:cNvPr id="60" name="Straight Connector 59">
                  <a:extLst>
                    <a:ext uri="{FF2B5EF4-FFF2-40B4-BE49-F238E27FC236}">
                      <a16:creationId xmlns:a16="http://schemas.microsoft.com/office/drawing/2014/main" id="{FF72F7C1-9F7E-B476-7571-BD87BA6A29F9}"/>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id="{4FD0FE8C-8CAD-FD34-8B62-5FECDA72DF86}"/>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a16="http://schemas.microsoft.com/office/drawing/2014/main" id="{95081C6C-3988-8046-F71C-1FA8685BB882}"/>
                    </a:ext>
                  </a:extLst>
                </p:cNvPr>
                <p:cNvCxnSpPr>
                  <a:cxnSpLocks/>
                </p:cNvCxnSpPr>
                <p:nvPr/>
              </p:nvCxnSpPr>
              <p:spPr>
                <a:xfrm>
                  <a:off x="3461657" y="5246914"/>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59" name="Straight Connector 58">
                <a:extLst>
                  <a:ext uri="{FF2B5EF4-FFF2-40B4-BE49-F238E27FC236}">
                    <a16:creationId xmlns:a16="http://schemas.microsoft.com/office/drawing/2014/main" id="{061D3EB4-3C29-88DC-546A-229E3A5D149E}"/>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74" name="TextBox 73">
              <a:extLst>
                <a:ext uri="{FF2B5EF4-FFF2-40B4-BE49-F238E27FC236}">
                  <a16:creationId xmlns:a16="http://schemas.microsoft.com/office/drawing/2014/main" id="{A71C5099-81A4-D9FF-2B50-AF757A0406FB}"/>
                </a:ext>
              </a:extLst>
            </p:cNvPr>
            <p:cNvSpPr txBox="1"/>
            <p:nvPr/>
          </p:nvSpPr>
          <p:spPr>
            <a:xfrm>
              <a:off x="4658447" y="4048694"/>
              <a:ext cx="1587373" cy="338920"/>
            </a:xfrm>
            <a:prstGeom prst="rect">
              <a:avLst/>
            </a:prstGeom>
            <a:noFill/>
          </p:spPr>
          <p:txBody>
            <a:bodyPr wrap="square" rtlCol="0">
              <a:spAutoFit/>
            </a:bodyPr>
            <a:lstStyle/>
            <a:p>
              <a:r>
                <a:rPr lang="en-US" sz="600" dirty="0"/>
                <a:t>FDGAR Dataset</a:t>
              </a:r>
              <a:endParaRPr lang="en-IN" sz="600" dirty="0"/>
            </a:p>
          </p:txBody>
        </p:sp>
      </p:grpSp>
      <p:grpSp>
        <p:nvGrpSpPr>
          <p:cNvPr id="76" name="Group 75">
            <a:extLst>
              <a:ext uri="{FF2B5EF4-FFF2-40B4-BE49-F238E27FC236}">
                <a16:creationId xmlns:a16="http://schemas.microsoft.com/office/drawing/2014/main" id="{93C9646C-AF55-D3A3-F07F-7106E86D4E82}"/>
              </a:ext>
            </a:extLst>
          </p:cNvPr>
          <p:cNvGrpSpPr/>
          <p:nvPr/>
        </p:nvGrpSpPr>
        <p:grpSpPr>
          <a:xfrm>
            <a:off x="4179146" y="2855493"/>
            <a:ext cx="1541803" cy="319925"/>
            <a:chOff x="7369331" y="4001970"/>
            <a:chExt cx="2097020" cy="350084"/>
          </a:xfrm>
        </p:grpSpPr>
        <p:grpSp>
          <p:nvGrpSpPr>
            <p:cNvPr id="55" name="Group 54">
              <a:extLst>
                <a:ext uri="{FF2B5EF4-FFF2-40B4-BE49-F238E27FC236}">
                  <a16:creationId xmlns:a16="http://schemas.microsoft.com/office/drawing/2014/main" id="{7FEAAD1F-B4AB-0907-E8EF-F7CE557307BB}"/>
                </a:ext>
              </a:extLst>
            </p:cNvPr>
            <p:cNvGrpSpPr/>
            <p:nvPr/>
          </p:nvGrpSpPr>
          <p:grpSpPr>
            <a:xfrm>
              <a:off x="7369331" y="4001970"/>
              <a:ext cx="1711185" cy="334403"/>
              <a:chOff x="3388268" y="5243425"/>
              <a:chExt cx="1774269" cy="522514"/>
            </a:xfrm>
          </p:grpSpPr>
          <p:grpSp>
            <p:nvGrpSpPr>
              <p:cNvPr id="52" name="Group 51">
                <a:extLst>
                  <a:ext uri="{FF2B5EF4-FFF2-40B4-BE49-F238E27FC236}">
                    <a16:creationId xmlns:a16="http://schemas.microsoft.com/office/drawing/2014/main" id="{121202E5-F5D6-86B7-B6FA-6C7F4FA34D78}"/>
                  </a:ext>
                </a:extLst>
              </p:cNvPr>
              <p:cNvGrpSpPr/>
              <p:nvPr/>
            </p:nvGrpSpPr>
            <p:grpSpPr>
              <a:xfrm>
                <a:off x="3388268" y="5243425"/>
                <a:ext cx="1774269" cy="522514"/>
                <a:chOff x="3461657" y="5246914"/>
                <a:chExt cx="1774269" cy="522514"/>
              </a:xfrm>
            </p:grpSpPr>
            <p:cxnSp>
              <p:nvCxnSpPr>
                <p:cNvPr id="47" name="Straight Connector 46">
                  <a:extLst>
                    <a:ext uri="{FF2B5EF4-FFF2-40B4-BE49-F238E27FC236}">
                      <a16:creationId xmlns:a16="http://schemas.microsoft.com/office/drawing/2014/main" id="{13D90224-9D5B-3F93-D222-149B69BD665D}"/>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48" name="Straight Connector 47">
                  <a:extLst>
                    <a:ext uri="{FF2B5EF4-FFF2-40B4-BE49-F238E27FC236}">
                      <a16:creationId xmlns:a16="http://schemas.microsoft.com/office/drawing/2014/main" id="{A22AF57E-9C0B-5E94-A922-D011A543B5B9}"/>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49" name="Straight Connector 48">
                  <a:extLst>
                    <a:ext uri="{FF2B5EF4-FFF2-40B4-BE49-F238E27FC236}">
                      <a16:creationId xmlns:a16="http://schemas.microsoft.com/office/drawing/2014/main" id="{3B5AE322-E040-E75A-C980-145219382023}"/>
                    </a:ext>
                  </a:extLst>
                </p:cNvPr>
                <p:cNvCxnSpPr>
                  <a:cxnSpLocks/>
                </p:cNvCxnSpPr>
                <p:nvPr/>
              </p:nvCxnSpPr>
              <p:spPr>
                <a:xfrm>
                  <a:off x="3461657" y="5246914"/>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54" name="Straight Connector 53">
                <a:extLst>
                  <a:ext uri="{FF2B5EF4-FFF2-40B4-BE49-F238E27FC236}">
                    <a16:creationId xmlns:a16="http://schemas.microsoft.com/office/drawing/2014/main" id="{A1907053-D75E-3072-A10C-3A0671E685DA}"/>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75" name="TextBox 74">
              <a:extLst>
                <a:ext uri="{FF2B5EF4-FFF2-40B4-BE49-F238E27FC236}">
                  <a16:creationId xmlns:a16="http://schemas.microsoft.com/office/drawing/2014/main" id="{A217DBEE-5F6C-E60D-C135-35BD6BC20B2B}"/>
                </a:ext>
              </a:extLst>
            </p:cNvPr>
            <p:cNvSpPr txBox="1"/>
            <p:nvPr/>
          </p:nvSpPr>
          <p:spPr>
            <a:xfrm>
              <a:off x="7878978" y="4013499"/>
              <a:ext cx="1587373" cy="338555"/>
            </a:xfrm>
            <a:prstGeom prst="rect">
              <a:avLst/>
            </a:prstGeom>
            <a:noFill/>
          </p:spPr>
          <p:txBody>
            <a:bodyPr wrap="square" rtlCol="0">
              <a:spAutoFit/>
            </a:bodyPr>
            <a:lstStyle/>
            <a:p>
              <a:r>
                <a:rPr lang="en-US" sz="1050" dirty="0" err="1"/>
                <a:t>Ukpds</a:t>
              </a:r>
              <a:r>
                <a:rPr lang="en-US" sz="1050" dirty="0"/>
                <a:t> Table</a:t>
              </a:r>
              <a:endParaRPr lang="en-IN" sz="1050" dirty="0"/>
            </a:p>
          </p:txBody>
        </p:sp>
      </p:grpSp>
      <p:grpSp>
        <p:nvGrpSpPr>
          <p:cNvPr id="78" name="Group 77">
            <a:extLst>
              <a:ext uri="{FF2B5EF4-FFF2-40B4-BE49-F238E27FC236}">
                <a16:creationId xmlns:a16="http://schemas.microsoft.com/office/drawing/2014/main" id="{902F0EF1-854C-C9C9-0FB0-858329AC00AF}"/>
              </a:ext>
            </a:extLst>
          </p:cNvPr>
          <p:cNvGrpSpPr/>
          <p:nvPr/>
        </p:nvGrpSpPr>
        <p:grpSpPr>
          <a:xfrm>
            <a:off x="6887247" y="2853792"/>
            <a:ext cx="1201631" cy="274266"/>
            <a:chOff x="3929484" y="4032978"/>
            <a:chExt cx="2138922" cy="365688"/>
          </a:xfrm>
        </p:grpSpPr>
        <p:grpSp>
          <p:nvGrpSpPr>
            <p:cNvPr id="79" name="Group 78">
              <a:extLst>
                <a:ext uri="{FF2B5EF4-FFF2-40B4-BE49-F238E27FC236}">
                  <a16:creationId xmlns:a16="http://schemas.microsoft.com/office/drawing/2014/main" id="{203E1B29-93FA-BD88-C04D-A860F5649333}"/>
                </a:ext>
              </a:extLst>
            </p:cNvPr>
            <p:cNvGrpSpPr/>
            <p:nvPr/>
          </p:nvGrpSpPr>
          <p:grpSpPr>
            <a:xfrm>
              <a:off x="3929484" y="4032978"/>
              <a:ext cx="1816954" cy="334403"/>
              <a:chOff x="3388268" y="5243425"/>
              <a:chExt cx="1774269" cy="522514"/>
            </a:xfrm>
          </p:grpSpPr>
          <p:grpSp>
            <p:nvGrpSpPr>
              <p:cNvPr id="81" name="Group 80">
                <a:extLst>
                  <a:ext uri="{FF2B5EF4-FFF2-40B4-BE49-F238E27FC236}">
                    <a16:creationId xmlns:a16="http://schemas.microsoft.com/office/drawing/2014/main" id="{39B95D28-ABD4-DC11-3E32-1CE2E1757BF8}"/>
                  </a:ext>
                </a:extLst>
              </p:cNvPr>
              <p:cNvGrpSpPr/>
              <p:nvPr/>
            </p:nvGrpSpPr>
            <p:grpSpPr>
              <a:xfrm>
                <a:off x="3388268" y="5243425"/>
                <a:ext cx="1774269" cy="522514"/>
                <a:chOff x="3461657" y="5246914"/>
                <a:chExt cx="1774269" cy="522514"/>
              </a:xfrm>
            </p:grpSpPr>
            <p:cxnSp>
              <p:nvCxnSpPr>
                <p:cNvPr id="83" name="Straight Connector 82">
                  <a:extLst>
                    <a:ext uri="{FF2B5EF4-FFF2-40B4-BE49-F238E27FC236}">
                      <a16:creationId xmlns:a16="http://schemas.microsoft.com/office/drawing/2014/main" id="{9D76B320-2ACF-4B8F-DF73-5BC4A18CCF9B}"/>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2FF1D188-1105-E276-591A-C6BAEE3927D4}"/>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85" name="Straight Connector 84">
                  <a:extLst>
                    <a:ext uri="{FF2B5EF4-FFF2-40B4-BE49-F238E27FC236}">
                      <a16:creationId xmlns:a16="http://schemas.microsoft.com/office/drawing/2014/main" id="{C2000261-E305-A086-504A-F835E27669F0}"/>
                    </a:ext>
                  </a:extLst>
                </p:cNvPr>
                <p:cNvCxnSpPr>
                  <a:cxnSpLocks/>
                </p:cNvCxnSpPr>
                <p:nvPr/>
              </p:nvCxnSpPr>
              <p:spPr>
                <a:xfrm>
                  <a:off x="3461657" y="5246914"/>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82" name="Straight Connector 81">
                <a:extLst>
                  <a:ext uri="{FF2B5EF4-FFF2-40B4-BE49-F238E27FC236}">
                    <a16:creationId xmlns:a16="http://schemas.microsoft.com/office/drawing/2014/main" id="{0ADE5731-2B89-54FF-38D6-17FA421A91AC}"/>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80" name="TextBox 79">
              <a:extLst>
                <a:ext uri="{FF2B5EF4-FFF2-40B4-BE49-F238E27FC236}">
                  <a16:creationId xmlns:a16="http://schemas.microsoft.com/office/drawing/2014/main" id="{E44A7F16-2674-B8DE-FE1F-0C9425019C2B}"/>
                </a:ext>
              </a:extLst>
            </p:cNvPr>
            <p:cNvSpPr txBox="1"/>
            <p:nvPr/>
          </p:nvSpPr>
          <p:spPr>
            <a:xfrm>
              <a:off x="4481033" y="4060111"/>
              <a:ext cx="1587373" cy="338555"/>
            </a:xfrm>
            <a:prstGeom prst="rect">
              <a:avLst/>
            </a:prstGeom>
            <a:noFill/>
          </p:spPr>
          <p:txBody>
            <a:bodyPr wrap="square" rtlCol="0">
              <a:spAutoFit/>
            </a:bodyPr>
            <a:lstStyle/>
            <a:p>
              <a:r>
                <a:rPr lang="en-US" sz="1050" dirty="0"/>
                <a:t>Report</a:t>
              </a:r>
              <a:endParaRPr lang="en-IN" sz="1050" dirty="0"/>
            </a:p>
          </p:txBody>
        </p:sp>
      </p:grpSp>
      <p:grpSp>
        <p:nvGrpSpPr>
          <p:cNvPr id="88" name="Group 87">
            <a:extLst>
              <a:ext uri="{FF2B5EF4-FFF2-40B4-BE49-F238E27FC236}">
                <a16:creationId xmlns:a16="http://schemas.microsoft.com/office/drawing/2014/main" id="{45882644-E935-AB10-A0CD-32DB050A2A09}"/>
              </a:ext>
            </a:extLst>
          </p:cNvPr>
          <p:cNvGrpSpPr/>
          <p:nvPr/>
        </p:nvGrpSpPr>
        <p:grpSpPr>
          <a:xfrm>
            <a:off x="286574" y="3860251"/>
            <a:ext cx="1151166" cy="396254"/>
            <a:chOff x="1779019" y="895157"/>
            <a:chExt cx="1796145" cy="528339"/>
          </a:xfrm>
        </p:grpSpPr>
        <p:sp>
          <p:nvSpPr>
            <p:cNvPr id="89" name="Rectangle 88">
              <a:extLst>
                <a:ext uri="{FF2B5EF4-FFF2-40B4-BE49-F238E27FC236}">
                  <a16:creationId xmlns:a16="http://schemas.microsoft.com/office/drawing/2014/main" id="{D9F9C1A8-5133-AFFC-2C1D-42478EE1D0DF}"/>
                </a:ext>
              </a:extLst>
            </p:cNvPr>
            <p:cNvSpPr/>
            <p:nvPr/>
          </p:nvSpPr>
          <p:spPr>
            <a:xfrm>
              <a:off x="1779019" y="895157"/>
              <a:ext cx="1796145" cy="528339"/>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90" name="TextBox 89">
              <a:extLst>
                <a:ext uri="{FF2B5EF4-FFF2-40B4-BE49-F238E27FC236}">
                  <a16:creationId xmlns:a16="http://schemas.microsoft.com/office/drawing/2014/main" id="{179D17EC-84A9-B94E-4C61-AAD7227BAFD1}"/>
                </a:ext>
              </a:extLst>
            </p:cNvPr>
            <p:cNvSpPr txBox="1"/>
            <p:nvPr/>
          </p:nvSpPr>
          <p:spPr>
            <a:xfrm>
              <a:off x="2147096" y="974661"/>
              <a:ext cx="1331185" cy="338555"/>
            </a:xfrm>
            <a:prstGeom prst="rect">
              <a:avLst/>
            </a:prstGeom>
            <a:noFill/>
          </p:spPr>
          <p:txBody>
            <a:bodyPr wrap="square" rtlCol="0">
              <a:spAutoFit/>
            </a:bodyPr>
            <a:lstStyle/>
            <a:p>
              <a:r>
                <a:rPr lang="en-US" sz="1050" dirty="0"/>
                <a:t>Patient</a:t>
              </a:r>
              <a:endParaRPr lang="en-IN" sz="1050" dirty="0"/>
            </a:p>
          </p:txBody>
        </p:sp>
      </p:grpSp>
      <p:grpSp>
        <p:nvGrpSpPr>
          <p:cNvPr id="120" name="Group 119">
            <a:extLst>
              <a:ext uri="{FF2B5EF4-FFF2-40B4-BE49-F238E27FC236}">
                <a16:creationId xmlns:a16="http://schemas.microsoft.com/office/drawing/2014/main" id="{CB98021D-744B-468D-4B6C-661B0BCFB8CD}"/>
              </a:ext>
            </a:extLst>
          </p:cNvPr>
          <p:cNvGrpSpPr/>
          <p:nvPr/>
        </p:nvGrpSpPr>
        <p:grpSpPr>
          <a:xfrm>
            <a:off x="1813256" y="3598004"/>
            <a:ext cx="5221220" cy="856391"/>
            <a:chOff x="2421629" y="4975572"/>
            <a:chExt cx="6961626" cy="1141854"/>
          </a:xfrm>
        </p:grpSpPr>
        <p:grpSp>
          <p:nvGrpSpPr>
            <p:cNvPr id="107" name="Group 106">
              <a:extLst>
                <a:ext uri="{FF2B5EF4-FFF2-40B4-BE49-F238E27FC236}">
                  <a16:creationId xmlns:a16="http://schemas.microsoft.com/office/drawing/2014/main" id="{E8DC9F9F-4AFA-9B51-6565-ABC002EA807A}"/>
                </a:ext>
              </a:extLst>
            </p:cNvPr>
            <p:cNvGrpSpPr/>
            <p:nvPr/>
          </p:nvGrpSpPr>
          <p:grpSpPr>
            <a:xfrm>
              <a:off x="2421629" y="4977526"/>
              <a:ext cx="1886946" cy="1138333"/>
              <a:chOff x="2360858" y="4970101"/>
              <a:chExt cx="1886946" cy="1138333"/>
            </a:xfrm>
          </p:grpSpPr>
          <p:sp>
            <p:nvSpPr>
              <p:cNvPr id="97" name="Oval 96">
                <a:extLst>
                  <a:ext uri="{FF2B5EF4-FFF2-40B4-BE49-F238E27FC236}">
                    <a16:creationId xmlns:a16="http://schemas.microsoft.com/office/drawing/2014/main" id="{CFBEAB11-E21B-B433-B6ED-C620B5C39428}"/>
                  </a:ext>
                </a:extLst>
              </p:cNvPr>
              <p:cNvSpPr/>
              <p:nvPr/>
            </p:nvSpPr>
            <p:spPr>
              <a:xfrm>
                <a:off x="2360858" y="4970101"/>
                <a:ext cx="1886946"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a:p>
            </p:txBody>
          </p:sp>
          <p:sp>
            <p:nvSpPr>
              <p:cNvPr id="100" name="TextBox 99">
                <a:extLst>
                  <a:ext uri="{FF2B5EF4-FFF2-40B4-BE49-F238E27FC236}">
                    <a16:creationId xmlns:a16="http://schemas.microsoft.com/office/drawing/2014/main" id="{AF091306-C302-2B1E-7472-BCF9EB5CC2C4}"/>
                  </a:ext>
                </a:extLst>
              </p:cNvPr>
              <p:cNvSpPr txBox="1"/>
              <p:nvPr/>
            </p:nvSpPr>
            <p:spPr>
              <a:xfrm>
                <a:off x="2575418" y="5195590"/>
                <a:ext cx="1505383" cy="553997"/>
              </a:xfrm>
              <a:prstGeom prst="rect">
                <a:avLst/>
              </a:prstGeom>
              <a:noFill/>
            </p:spPr>
            <p:txBody>
              <a:bodyPr wrap="square" rtlCol="0">
                <a:spAutoFit/>
              </a:bodyPr>
              <a:lstStyle/>
              <a:p>
                <a:pPr algn="ctr"/>
                <a:r>
                  <a:rPr lang="en-US" sz="1050" dirty="0"/>
                  <a:t>Image</a:t>
                </a:r>
                <a:br>
                  <a:rPr lang="en-US" sz="1050" dirty="0"/>
                </a:br>
                <a:r>
                  <a:rPr lang="en-US" sz="1050" dirty="0"/>
                  <a:t>Preprocessing</a:t>
                </a:r>
                <a:endParaRPr lang="en-IN" sz="1050" dirty="0"/>
              </a:p>
            </p:txBody>
          </p:sp>
        </p:grpSp>
        <p:grpSp>
          <p:nvGrpSpPr>
            <p:cNvPr id="108" name="Group 107">
              <a:extLst>
                <a:ext uri="{FF2B5EF4-FFF2-40B4-BE49-F238E27FC236}">
                  <a16:creationId xmlns:a16="http://schemas.microsoft.com/office/drawing/2014/main" id="{04B71534-7187-37C6-B26F-E7B8605098FA}"/>
                </a:ext>
              </a:extLst>
            </p:cNvPr>
            <p:cNvGrpSpPr/>
            <p:nvPr/>
          </p:nvGrpSpPr>
          <p:grpSpPr>
            <a:xfrm>
              <a:off x="5041732" y="4979093"/>
              <a:ext cx="1886945" cy="1138333"/>
              <a:chOff x="4465866" y="4970101"/>
              <a:chExt cx="1886945" cy="1138333"/>
            </a:xfrm>
          </p:grpSpPr>
          <p:sp>
            <p:nvSpPr>
              <p:cNvPr id="98" name="Oval 97">
                <a:extLst>
                  <a:ext uri="{FF2B5EF4-FFF2-40B4-BE49-F238E27FC236}">
                    <a16:creationId xmlns:a16="http://schemas.microsoft.com/office/drawing/2014/main" id="{062653F7-45A0-2655-AD15-A2C61D2A2B9A}"/>
                  </a:ext>
                </a:extLst>
              </p:cNvPr>
              <p:cNvSpPr/>
              <p:nvPr/>
            </p:nvSpPr>
            <p:spPr>
              <a:xfrm>
                <a:off x="4465866" y="4970101"/>
                <a:ext cx="1886945"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a:p>
            </p:txBody>
          </p:sp>
          <p:sp>
            <p:nvSpPr>
              <p:cNvPr id="103" name="TextBox 102">
                <a:extLst>
                  <a:ext uri="{FF2B5EF4-FFF2-40B4-BE49-F238E27FC236}">
                    <a16:creationId xmlns:a16="http://schemas.microsoft.com/office/drawing/2014/main" id="{D1542F28-3901-61CE-1E8D-D68F8D577A76}"/>
                  </a:ext>
                </a:extLst>
              </p:cNvPr>
              <p:cNvSpPr txBox="1"/>
              <p:nvPr/>
            </p:nvSpPr>
            <p:spPr>
              <a:xfrm>
                <a:off x="4519797" y="5185814"/>
                <a:ext cx="1822674" cy="553997"/>
              </a:xfrm>
              <a:prstGeom prst="rect">
                <a:avLst/>
              </a:prstGeom>
              <a:noFill/>
            </p:spPr>
            <p:txBody>
              <a:bodyPr wrap="square" rtlCol="0">
                <a:spAutoFit/>
              </a:bodyPr>
              <a:lstStyle/>
              <a:p>
                <a:pPr algn="ctr"/>
                <a:r>
                  <a:rPr lang="en-US" sz="1050" dirty="0"/>
                  <a:t>Lesion</a:t>
                </a:r>
                <a:br>
                  <a:rPr lang="en-US" sz="1050" dirty="0"/>
                </a:br>
                <a:r>
                  <a:rPr lang="en-US" sz="1050" dirty="0"/>
                  <a:t>Segmentation</a:t>
                </a:r>
                <a:endParaRPr lang="en-IN" sz="1050" dirty="0"/>
              </a:p>
            </p:txBody>
          </p:sp>
        </p:grpSp>
        <p:grpSp>
          <p:nvGrpSpPr>
            <p:cNvPr id="109" name="Group 108">
              <a:extLst>
                <a:ext uri="{FF2B5EF4-FFF2-40B4-BE49-F238E27FC236}">
                  <a16:creationId xmlns:a16="http://schemas.microsoft.com/office/drawing/2014/main" id="{CB769694-64BC-3571-1888-7D4145E26FF8}"/>
                </a:ext>
              </a:extLst>
            </p:cNvPr>
            <p:cNvGrpSpPr/>
            <p:nvPr/>
          </p:nvGrpSpPr>
          <p:grpSpPr>
            <a:xfrm>
              <a:off x="7496310" y="4975572"/>
              <a:ext cx="1886945" cy="1138333"/>
              <a:chOff x="6569242" y="4993899"/>
              <a:chExt cx="1886945" cy="1138333"/>
            </a:xfrm>
          </p:grpSpPr>
          <p:sp>
            <p:nvSpPr>
              <p:cNvPr id="99" name="Oval 98">
                <a:extLst>
                  <a:ext uri="{FF2B5EF4-FFF2-40B4-BE49-F238E27FC236}">
                    <a16:creationId xmlns:a16="http://schemas.microsoft.com/office/drawing/2014/main" id="{052D1C42-D031-5368-2163-712D76279D2E}"/>
                  </a:ext>
                </a:extLst>
              </p:cNvPr>
              <p:cNvSpPr/>
              <p:nvPr/>
            </p:nvSpPr>
            <p:spPr>
              <a:xfrm>
                <a:off x="6569242" y="4993899"/>
                <a:ext cx="1886945" cy="1138333"/>
              </a:xfrm>
              <a:prstGeom prst="ellipse">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IN" sz="1050"/>
              </a:p>
            </p:txBody>
          </p:sp>
          <p:sp>
            <p:nvSpPr>
              <p:cNvPr id="104" name="TextBox 103">
                <a:extLst>
                  <a:ext uri="{FF2B5EF4-FFF2-40B4-BE49-F238E27FC236}">
                    <a16:creationId xmlns:a16="http://schemas.microsoft.com/office/drawing/2014/main" id="{4AA83302-E71A-607F-268C-73F869949891}"/>
                  </a:ext>
                </a:extLst>
              </p:cNvPr>
              <p:cNvSpPr txBox="1"/>
              <p:nvPr/>
            </p:nvSpPr>
            <p:spPr>
              <a:xfrm>
                <a:off x="6723371" y="5195590"/>
                <a:ext cx="1605013" cy="553997"/>
              </a:xfrm>
              <a:prstGeom prst="rect">
                <a:avLst/>
              </a:prstGeom>
              <a:noFill/>
            </p:spPr>
            <p:txBody>
              <a:bodyPr wrap="square" rtlCol="0">
                <a:spAutoFit/>
              </a:bodyPr>
              <a:lstStyle/>
              <a:p>
                <a:pPr algn="ctr"/>
                <a:r>
                  <a:rPr lang="en-US" sz="1050" dirty="0"/>
                  <a:t>Feature </a:t>
                </a:r>
                <a:br>
                  <a:rPr lang="en-US" sz="1050" dirty="0"/>
                </a:br>
                <a:r>
                  <a:rPr lang="en-US" sz="1050" dirty="0"/>
                  <a:t>Enhancement</a:t>
                </a:r>
                <a:endParaRPr lang="en-IN" sz="1050" dirty="0"/>
              </a:p>
            </p:txBody>
          </p:sp>
        </p:grpSp>
      </p:grpSp>
      <p:grpSp>
        <p:nvGrpSpPr>
          <p:cNvPr id="106" name="Group 105">
            <a:extLst>
              <a:ext uri="{FF2B5EF4-FFF2-40B4-BE49-F238E27FC236}">
                <a16:creationId xmlns:a16="http://schemas.microsoft.com/office/drawing/2014/main" id="{9C8A0CF5-A209-BFD1-D431-BB4227C64328}"/>
              </a:ext>
            </a:extLst>
          </p:cNvPr>
          <p:cNvGrpSpPr/>
          <p:nvPr/>
        </p:nvGrpSpPr>
        <p:grpSpPr>
          <a:xfrm>
            <a:off x="7540041" y="3718540"/>
            <a:ext cx="1067538" cy="572527"/>
            <a:chOff x="8900794" y="5384552"/>
            <a:chExt cx="1423384" cy="763369"/>
          </a:xfrm>
        </p:grpSpPr>
        <p:sp>
          <p:nvSpPr>
            <p:cNvPr id="95" name="Rectangle 94">
              <a:extLst>
                <a:ext uri="{FF2B5EF4-FFF2-40B4-BE49-F238E27FC236}">
                  <a16:creationId xmlns:a16="http://schemas.microsoft.com/office/drawing/2014/main" id="{987E2EDA-9339-7738-9C6B-DEA273EDBF00}"/>
                </a:ext>
              </a:extLst>
            </p:cNvPr>
            <p:cNvSpPr/>
            <p:nvPr/>
          </p:nvSpPr>
          <p:spPr>
            <a:xfrm>
              <a:off x="8900794" y="5384552"/>
              <a:ext cx="1378591" cy="763369"/>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1050"/>
            </a:p>
          </p:txBody>
        </p:sp>
        <p:sp>
          <p:nvSpPr>
            <p:cNvPr id="105" name="TextBox 104">
              <a:extLst>
                <a:ext uri="{FF2B5EF4-FFF2-40B4-BE49-F238E27FC236}">
                  <a16:creationId xmlns:a16="http://schemas.microsoft.com/office/drawing/2014/main" id="{B4186793-A2C5-8997-43E8-1BE33D90249E}"/>
                </a:ext>
              </a:extLst>
            </p:cNvPr>
            <p:cNvSpPr txBox="1"/>
            <p:nvPr/>
          </p:nvSpPr>
          <p:spPr>
            <a:xfrm>
              <a:off x="8908985" y="5434985"/>
              <a:ext cx="1415193" cy="553997"/>
            </a:xfrm>
            <a:prstGeom prst="rect">
              <a:avLst/>
            </a:prstGeom>
            <a:noFill/>
          </p:spPr>
          <p:txBody>
            <a:bodyPr wrap="square" rtlCol="0">
              <a:spAutoFit/>
            </a:bodyPr>
            <a:lstStyle/>
            <a:p>
              <a:pPr algn="ctr"/>
              <a:r>
                <a:rPr lang="en-US" sz="1050" dirty="0"/>
                <a:t>Feature Extraction</a:t>
              </a:r>
              <a:endParaRPr lang="en-IN" sz="1050" dirty="0"/>
            </a:p>
          </p:txBody>
        </p:sp>
      </p:grpSp>
      <p:grpSp>
        <p:nvGrpSpPr>
          <p:cNvPr id="111" name="Group 110">
            <a:extLst>
              <a:ext uri="{FF2B5EF4-FFF2-40B4-BE49-F238E27FC236}">
                <a16:creationId xmlns:a16="http://schemas.microsoft.com/office/drawing/2014/main" id="{F306CD7D-5D2E-DF63-7A78-E6A9CACC9B17}"/>
              </a:ext>
            </a:extLst>
          </p:cNvPr>
          <p:cNvGrpSpPr/>
          <p:nvPr/>
        </p:nvGrpSpPr>
        <p:grpSpPr>
          <a:xfrm>
            <a:off x="1902582" y="4646792"/>
            <a:ext cx="1506548" cy="274266"/>
            <a:chOff x="2326852" y="4037429"/>
            <a:chExt cx="2008731" cy="365688"/>
          </a:xfrm>
        </p:grpSpPr>
        <p:grpSp>
          <p:nvGrpSpPr>
            <p:cNvPr id="112" name="Group 111">
              <a:extLst>
                <a:ext uri="{FF2B5EF4-FFF2-40B4-BE49-F238E27FC236}">
                  <a16:creationId xmlns:a16="http://schemas.microsoft.com/office/drawing/2014/main" id="{33B43706-7EFD-2D6A-5030-8CB61CDC151B}"/>
                </a:ext>
              </a:extLst>
            </p:cNvPr>
            <p:cNvGrpSpPr/>
            <p:nvPr/>
          </p:nvGrpSpPr>
          <p:grpSpPr>
            <a:xfrm>
              <a:off x="2326852" y="4037429"/>
              <a:ext cx="1526409" cy="334403"/>
              <a:chOff x="3388268" y="5243425"/>
              <a:chExt cx="1774269" cy="522514"/>
            </a:xfrm>
          </p:grpSpPr>
          <p:grpSp>
            <p:nvGrpSpPr>
              <p:cNvPr id="114" name="Group 113">
                <a:extLst>
                  <a:ext uri="{FF2B5EF4-FFF2-40B4-BE49-F238E27FC236}">
                    <a16:creationId xmlns:a16="http://schemas.microsoft.com/office/drawing/2014/main" id="{460D5ECF-2203-704B-D917-6728A30EC344}"/>
                  </a:ext>
                </a:extLst>
              </p:cNvPr>
              <p:cNvGrpSpPr/>
              <p:nvPr/>
            </p:nvGrpSpPr>
            <p:grpSpPr>
              <a:xfrm>
                <a:off x="3388268" y="5243425"/>
                <a:ext cx="1774269" cy="522514"/>
                <a:chOff x="3461657" y="5246914"/>
                <a:chExt cx="1774269" cy="522514"/>
              </a:xfrm>
            </p:grpSpPr>
            <p:cxnSp>
              <p:nvCxnSpPr>
                <p:cNvPr id="116" name="Straight Connector 115">
                  <a:extLst>
                    <a:ext uri="{FF2B5EF4-FFF2-40B4-BE49-F238E27FC236}">
                      <a16:creationId xmlns:a16="http://schemas.microsoft.com/office/drawing/2014/main" id="{52CE6F3B-E376-76FE-9C59-1F4D8CAA5512}"/>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17" name="Straight Connector 116">
                  <a:extLst>
                    <a:ext uri="{FF2B5EF4-FFF2-40B4-BE49-F238E27FC236}">
                      <a16:creationId xmlns:a16="http://schemas.microsoft.com/office/drawing/2014/main" id="{E7697B7B-A2A8-5173-B19F-081D91C17933}"/>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18" name="Straight Connector 117">
                  <a:extLst>
                    <a:ext uri="{FF2B5EF4-FFF2-40B4-BE49-F238E27FC236}">
                      <a16:creationId xmlns:a16="http://schemas.microsoft.com/office/drawing/2014/main" id="{2B155D62-199A-2E82-F818-D05D12FA92B7}"/>
                    </a:ext>
                  </a:extLst>
                </p:cNvPr>
                <p:cNvCxnSpPr>
                  <a:cxnSpLocks/>
                </p:cNvCxnSpPr>
                <p:nvPr/>
              </p:nvCxnSpPr>
              <p:spPr>
                <a:xfrm>
                  <a:off x="3461657" y="5246914"/>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115" name="Straight Connector 114">
                <a:extLst>
                  <a:ext uri="{FF2B5EF4-FFF2-40B4-BE49-F238E27FC236}">
                    <a16:creationId xmlns:a16="http://schemas.microsoft.com/office/drawing/2014/main" id="{2F61D3FB-4F46-2591-D7E6-EAC1AB5F8418}"/>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113" name="TextBox 112">
              <a:extLst>
                <a:ext uri="{FF2B5EF4-FFF2-40B4-BE49-F238E27FC236}">
                  <a16:creationId xmlns:a16="http://schemas.microsoft.com/office/drawing/2014/main" id="{B777F064-C64F-2485-E5D1-34C22AEC3875}"/>
                </a:ext>
              </a:extLst>
            </p:cNvPr>
            <p:cNvSpPr txBox="1"/>
            <p:nvPr/>
          </p:nvSpPr>
          <p:spPr>
            <a:xfrm>
              <a:off x="2748209" y="4064562"/>
              <a:ext cx="1587374" cy="338555"/>
            </a:xfrm>
            <a:prstGeom prst="rect">
              <a:avLst/>
            </a:prstGeom>
            <a:noFill/>
          </p:spPr>
          <p:txBody>
            <a:bodyPr wrap="square" rtlCol="0">
              <a:spAutoFit/>
            </a:bodyPr>
            <a:lstStyle/>
            <a:p>
              <a:r>
                <a:rPr lang="en-US" sz="1050" dirty="0"/>
                <a:t>Retina Images</a:t>
              </a:r>
              <a:endParaRPr lang="en-IN" sz="1050" dirty="0"/>
            </a:p>
          </p:txBody>
        </p:sp>
      </p:grpSp>
      <p:grpSp>
        <p:nvGrpSpPr>
          <p:cNvPr id="130" name="Group 129">
            <a:extLst>
              <a:ext uri="{FF2B5EF4-FFF2-40B4-BE49-F238E27FC236}">
                <a16:creationId xmlns:a16="http://schemas.microsoft.com/office/drawing/2014/main" id="{479D98CE-A82A-8005-BB74-0D6B3A37ADE7}"/>
              </a:ext>
            </a:extLst>
          </p:cNvPr>
          <p:cNvGrpSpPr/>
          <p:nvPr/>
        </p:nvGrpSpPr>
        <p:grpSpPr>
          <a:xfrm>
            <a:off x="7501407" y="4667139"/>
            <a:ext cx="1144807" cy="255782"/>
            <a:chOff x="7638294" y="5989338"/>
            <a:chExt cx="1526409" cy="341043"/>
          </a:xfrm>
        </p:grpSpPr>
        <p:grpSp>
          <p:nvGrpSpPr>
            <p:cNvPr id="122" name="Group 121">
              <a:extLst>
                <a:ext uri="{FF2B5EF4-FFF2-40B4-BE49-F238E27FC236}">
                  <a16:creationId xmlns:a16="http://schemas.microsoft.com/office/drawing/2014/main" id="{203AB65C-1D03-4F23-E421-DB4A8E532472}"/>
                </a:ext>
              </a:extLst>
            </p:cNvPr>
            <p:cNvGrpSpPr/>
            <p:nvPr/>
          </p:nvGrpSpPr>
          <p:grpSpPr>
            <a:xfrm>
              <a:off x="7638294" y="5995978"/>
              <a:ext cx="1526409" cy="334403"/>
              <a:chOff x="3388268" y="5243425"/>
              <a:chExt cx="1774269" cy="522514"/>
            </a:xfrm>
          </p:grpSpPr>
          <p:grpSp>
            <p:nvGrpSpPr>
              <p:cNvPr id="124" name="Group 123">
                <a:extLst>
                  <a:ext uri="{FF2B5EF4-FFF2-40B4-BE49-F238E27FC236}">
                    <a16:creationId xmlns:a16="http://schemas.microsoft.com/office/drawing/2014/main" id="{61155877-E436-54F3-ED14-3F0416739480}"/>
                  </a:ext>
                </a:extLst>
              </p:cNvPr>
              <p:cNvGrpSpPr/>
              <p:nvPr/>
            </p:nvGrpSpPr>
            <p:grpSpPr>
              <a:xfrm>
                <a:off x="3388268" y="5243425"/>
                <a:ext cx="1774269" cy="522514"/>
                <a:chOff x="3461657" y="5246914"/>
                <a:chExt cx="1774269" cy="522514"/>
              </a:xfrm>
            </p:grpSpPr>
            <p:cxnSp>
              <p:nvCxnSpPr>
                <p:cNvPr id="126" name="Straight Connector 125">
                  <a:extLst>
                    <a:ext uri="{FF2B5EF4-FFF2-40B4-BE49-F238E27FC236}">
                      <a16:creationId xmlns:a16="http://schemas.microsoft.com/office/drawing/2014/main" id="{B4BCB4D2-B50D-6D5D-976B-70D14B445C2F}"/>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27" name="Straight Connector 126">
                  <a:extLst>
                    <a:ext uri="{FF2B5EF4-FFF2-40B4-BE49-F238E27FC236}">
                      <a16:creationId xmlns:a16="http://schemas.microsoft.com/office/drawing/2014/main" id="{B0ED648B-164D-903A-291D-C091884936F2}"/>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28" name="Straight Connector 127">
                  <a:extLst>
                    <a:ext uri="{FF2B5EF4-FFF2-40B4-BE49-F238E27FC236}">
                      <a16:creationId xmlns:a16="http://schemas.microsoft.com/office/drawing/2014/main" id="{DE482785-D2F4-215F-D159-CE6612223787}"/>
                    </a:ext>
                  </a:extLst>
                </p:cNvPr>
                <p:cNvCxnSpPr>
                  <a:cxnSpLocks/>
                </p:cNvCxnSpPr>
                <p:nvPr/>
              </p:nvCxnSpPr>
              <p:spPr>
                <a:xfrm>
                  <a:off x="3461657" y="5246914"/>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125" name="Straight Connector 124">
                <a:extLst>
                  <a:ext uri="{FF2B5EF4-FFF2-40B4-BE49-F238E27FC236}">
                    <a16:creationId xmlns:a16="http://schemas.microsoft.com/office/drawing/2014/main" id="{7D2667D6-A7EA-149E-336E-201B19AE86AA}"/>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129" name="TextBox 128">
              <a:extLst>
                <a:ext uri="{FF2B5EF4-FFF2-40B4-BE49-F238E27FC236}">
                  <a16:creationId xmlns:a16="http://schemas.microsoft.com/office/drawing/2014/main" id="{B10261D8-7263-C71A-F3F6-1654CFC95506}"/>
                </a:ext>
              </a:extLst>
            </p:cNvPr>
            <p:cNvSpPr txBox="1"/>
            <p:nvPr/>
          </p:nvSpPr>
          <p:spPr>
            <a:xfrm>
              <a:off x="8204670" y="5989338"/>
              <a:ext cx="914400" cy="338555"/>
            </a:xfrm>
            <a:prstGeom prst="rect">
              <a:avLst/>
            </a:prstGeom>
            <a:noFill/>
          </p:spPr>
          <p:txBody>
            <a:bodyPr wrap="square" rtlCol="0">
              <a:spAutoFit/>
            </a:bodyPr>
            <a:lstStyle/>
            <a:p>
              <a:r>
                <a:rPr lang="en-US" sz="1050" dirty="0"/>
                <a:t>Lesions</a:t>
              </a:r>
              <a:endParaRPr lang="en-IN" sz="1050" dirty="0"/>
            </a:p>
          </p:txBody>
        </p:sp>
      </p:grpSp>
      <p:sp>
        <p:nvSpPr>
          <p:cNvPr id="131" name="TextBox 130">
            <a:extLst>
              <a:ext uri="{FF2B5EF4-FFF2-40B4-BE49-F238E27FC236}">
                <a16:creationId xmlns:a16="http://schemas.microsoft.com/office/drawing/2014/main" id="{1B26A3A8-9E58-1577-2600-1782B2B0E46C}"/>
              </a:ext>
            </a:extLst>
          </p:cNvPr>
          <p:cNvSpPr txBox="1"/>
          <p:nvPr/>
        </p:nvSpPr>
        <p:spPr>
          <a:xfrm>
            <a:off x="267692" y="398284"/>
            <a:ext cx="1381494" cy="253916"/>
          </a:xfrm>
          <a:prstGeom prst="rect">
            <a:avLst/>
          </a:prstGeom>
          <a:noFill/>
        </p:spPr>
        <p:txBody>
          <a:bodyPr wrap="square" rtlCol="0">
            <a:spAutoFit/>
          </a:bodyPr>
          <a:lstStyle/>
          <a:p>
            <a:r>
              <a:rPr lang="en-US" sz="1050" dirty="0"/>
              <a:t>Context Diagram</a:t>
            </a:r>
            <a:endParaRPr lang="en-IN" sz="1050" dirty="0"/>
          </a:p>
        </p:txBody>
      </p:sp>
      <p:sp>
        <p:nvSpPr>
          <p:cNvPr id="132" name="TextBox 131">
            <a:extLst>
              <a:ext uri="{FF2B5EF4-FFF2-40B4-BE49-F238E27FC236}">
                <a16:creationId xmlns:a16="http://schemas.microsoft.com/office/drawing/2014/main" id="{7A0A8AC8-6C7A-2500-7C18-58E0535ED562}"/>
              </a:ext>
            </a:extLst>
          </p:cNvPr>
          <p:cNvSpPr txBox="1"/>
          <p:nvPr/>
        </p:nvSpPr>
        <p:spPr>
          <a:xfrm>
            <a:off x="233414" y="1702607"/>
            <a:ext cx="1381494" cy="253916"/>
          </a:xfrm>
          <a:prstGeom prst="rect">
            <a:avLst/>
          </a:prstGeom>
          <a:noFill/>
        </p:spPr>
        <p:txBody>
          <a:bodyPr wrap="square" rtlCol="0">
            <a:spAutoFit/>
          </a:bodyPr>
          <a:lstStyle/>
          <a:p>
            <a:r>
              <a:rPr lang="en-US" sz="1050" dirty="0"/>
              <a:t>Level 0</a:t>
            </a:r>
            <a:endParaRPr lang="en-IN" sz="1050" dirty="0"/>
          </a:p>
        </p:txBody>
      </p:sp>
      <p:sp>
        <p:nvSpPr>
          <p:cNvPr id="134" name="TextBox 133">
            <a:extLst>
              <a:ext uri="{FF2B5EF4-FFF2-40B4-BE49-F238E27FC236}">
                <a16:creationId xmlns:a16="http://schemas.microsoft.com/office/drawing/2014/main" id="{8DEA94F4-ADCA-3B61-B034-47EE025450C7}"/>
              </a:ext>
            </a:extLst>
          </p:cNvPr>
          <p:cNvSpPr txBox="1"/>
          <p:nvPr/>
        </p:nvSpPr>
        <p:spPr>
          <a:xfrm>
            <a:off x="232920" y="3483957"/>
            <a:ext cx="1190529" cy="253916"/>
          </a:xfrm>
          <a:prstGeom prst="rect">
            <a:avLst/>
          </a:prstGeom>
          <a:noFill/>
        </p:spPr>
        <p:txBody>
          <a:bodyPr wrap="square">
            <a:spAutoFit/>
          </a:bodyPr>
          <a:lstStyle/>
          <a:p>
            <a:r>
              <a:rPr lang="en-US" sz="1050" dirty="0"/>
              <a:t>Level 1</a:t>
            </a:r>
            <a:endParaRPr lang="en-IN" sz="1050" dirty="0"/>
          </a:p>
        </p:txBody>
      </p:sp>
      <p:cxnSp>
        <p:nvCxnSpPr>
          <p:cNvPr id="136" name="Straight Arrow Connector 135">
            <a:extLst>
              <a:ext uri="{FF2B5EF4-FFF2-40B4-BE49-F238E27FC236}">
                <a16:creationId xmlns:a16="http://schemas.microsoft.com/office/drawing/2014/main" id="{18BB7492-199A-50CE-160C-A2F3989F04F8}"/>
              </a:ext>
            </a:extLst>
          </p:cNvPr>
          <p:cNvCxnSpPr>
            <a:cxnSpLocks/>
          </p:cNvCxnSpPr>
          <p:nvPr/>
        </p:nvCxnSpPr>
        <p:spPr>
          <a:xfrm>
            <a:off x="1635949" y="855880"/>
            <a:ext cx="201334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7" name="Straight Arrow Connector 136">
            <a:extLst>
              <a:ext uri="{FF2B5EF4-FFF2-40B4-BE49-F238E27FC236}">
                <a16:creationId xmlns:a16="http://schemas.microsoft.com/office/drawing/2014/main" id="{9ED6E507-6773-0616-96B7-26EA8B51D539}"/>
              </a:ext>
            </a:extLst>
          </p:cNvPr>
          <p:cNvCxnSpPr>
            <a:cxnSpLocks/>
          </p:cNvCxnSpPr>
          <p:nvPr/>
        </p:nvCxnSpPr>
        <p:spPr>
          <a:xfrm flipH="1">
            <a:off x="1649185" y="987724"/>
            <a:ext cx="2013341" cy="102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4" name="TextBox 143">
            <a:extLst>
              <a:ext uri="{FF2B5EF4-FFF2-40B4-BE49-F238E27FC236}">
                <a16:creationId xmlns:a16="http://schemas.microsoft.com/office/drawing/2014/main" id="{075BC20E-8796-88B3-9C0D-39ACD3C032FB}"/>
              </a:ext>
            </a:extLst>
          </p:cNvPr>
          <p:cNvSpPr txBox="1"/>
          <p:nvPr/>
        </p:nvSpPr>
        <p:spPr>
          <a:xfrm>
            <a:off x="1831284" y="567207"/>
            <a:ext cx="1870498" cy="300082"/>
          </a:xfrm>
          <a:prstGeom prst="rect">
            <a:avLst/>
          </a:prstGeom>
          <a:noFill/>
        </p:spPr>
        <p:txBody>
          <a:bodyPr wrap="square">
            <a:spAutoFit/>
          </a:bodyPr>
          <a:lstStyle/>
          <a:p>
            <a:r>
              <a:rPr lang="en-US" sz="1350" dirty="0"/>
              <a:t>Retina Image</a:t>
            </a:r>
            <a:endParaRPr lang="en-IN" sz="1350" dirty="0"/>
          </a:p>
        </p:txBody>
      </p:sp>
      <p:sp>
        <p:nvSpPr>
          <p:cNvPr id="146" name="TextBox 145">
            <a:extLst>
              <a:ext uri="{FF2B5EF4-FFF2-40B4-BE49-F238E27FC236}">
                <a16:creationId xmlns:a16="http://schemas.microsoft.com/office/drawing/2014/main" id="{508D9654-B11B-C572-90A6-673C0F36DDF1}"/>
              </a:ext>
            </a:extLst>
          </p:cNvPr>
          <p:cNvSpPr txBox="1"/>
          <p:nvPr/>
        </p:nvSpPr>
        <p:spPr>
          <a:xfrm>
            <a:off x="2147560" y="1044276"/>
            <a:ext cx="1241681" cy="300082"/>
          </a:xfrm>
          <a:prstGeom prst="rect">
            <a:avLst/>
          </a:prstGeom>
          <a:noFill/>
        </p:spPr>
        <p:txBody>
          <a:bodyPr wrap="square">
            <a:spAutoFit/>
          </a:bodyPr>
          <a:lstStyle/>
          <a:p>
            <a:r>
              <a:rPr lang="en-US" sz="1350" dirty="0"/>
              <a:t>Report</a:t>
            </a:r>
            <a:endParaRPr lang="en-IN" sz="1350" dirty="0"/>
          </a:p>
        </p:txBody>
      </p:sp>
      <p:cxnSp>
        <p:nvCxnSpPr>
          <p:cNvPr id="147" name="Straight Arrow Connector 146">
            <a:extLst>
              <a:ext uri="{FF2B5EF4-FFF2-40B4-BE49-F238E27FC236}">
                <a16:creationId xmlns:a16="http://schemas.microsoft.com/office/drawing/2014/main" id="{BC5792CD-4E5A-FBCC-7DEC-BB705671E1A9}"/>
              </a:ext>
            </a:extLst>
          </p:cNvPr>
          <p:cNvCxnSpPr>
            <a:cxnSpLocks/>
          </p:cNvCxnSpPr>
          <p:nvPr/>
        </p:nvCxnSpPr>
        <p:spPr>
          <a:xfrm flipH="1">
            <a:off x="5190439" y="924511"/>
            <a:ext cx="2013341" cy="1025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9" name="TextBox 148">
            <a:extLst>
              <a:ext uri="{FF2B5EF4-FFF2-40B4-BE49-F238E27FC236}">
                <a16:creationId xmlns:a16="http://schemas.microsoft.com/office/drawing/2014/main" id="{AF746474-5582-B9EB-F211-1B97D2A491A6}"/>
              </a:ext>
            </a:extLst>
          </p:cNvPr>
          <p:cNvSpPr txBox="1"/>
          <p:nvPr/>
        </p:nvSpPr>
        <p:spPr>
          <a:xfrm>
            <a:off x="5865280" y="641851"/>
            <a:ext cx="878422" cy="300082"/>
          </a:xfrm>
          <a:prstGeom prst="rect">
            <a:avLst/>
          </a:prstGeom>
          <a:noFill/>
        </p:spPr>
        <p:txBody>
          <a:bodyPr wrap="square">
            <a:spAutoFit/>
          </a:bodyPr>
          <a:lstStyle/>
          <a:p>
            <a:r>
              <a:rPr lang="en-US" sz="1350" dirty="0"/>
              <a:t>Report</a:t>
            </a:r>
            <a:endParaRPr lang="en-IN" sz="1350" dirty="0"/>
          </a:p>
        </p:txBody>
      </p:sp>
      <p:cxnSp>
        <p:nvCxnSpPr>
          <p:cNvPr id="153" name="Straight Arrow Connector 152">
            <a:extLst>
              <a:ext uri="{FF2B5EF4-FFF2-40B4-BE49-F238E27FC236}">
                <a16:creationId xmlns:a16="http://schemas.microsoft.com/office/drawing/2014/main" id="{2F9B28CB-D89E-5DB9-A786-0901BE1A06DB}"/>
              </a:ext>
            </a:extLst>
          </p:cNvPr>
          <p:cNvCxnSpPr>
            <a:cxnSpLocks/>
          </p:cNvCxnSpPr>
          <p:nvPr/>
        </p:nvCxnSpPr>
        <p:spPr>
          <a:xfrm>
            <a:off x="2720383" y="2228153"/>
            <a:ext cx="2041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9" name="Straight Arrow Connector 158">
            <a:extLst>
              <a:ext uri="{FF2B5EF4-FFF2-40B4-BE49-F238E27FC236}">
                <a16:creationId xmlns:a16="http://schemas.microsoft.com/office/drawing/2014/main" id="{A4822018-495B-C3F5-6138-611982C4D1D7}"/>
              </a:ext>
            </a:extLst>
          </p:cNvPr>
          <p:cNvCxnSpPr>
            <a:cxnSpLocks/>
          </p:cNvCxnSpPr>
          <p:nvPr/>
        </p:nvCxnSpPr>
        <p:spPr>
          <a:xfrm>
            <a:off x="4068177" y="2228173"/>
            <a:ext cx="150699" cy="63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1" name="Straight Arrow Connector 160">
            <a:extLst>
              <a:ext uri="{FF2B5EF4-FFF2-40B4-BE49-F238E27FC236}">
                <a16:creationId xmlns:a16="http://schemas.microsoft.com/office/drawing/2014/main" id="{40986891-AAD0-0606-B13F-E134A6F312E6}"/>
              </a:ext>
            </a:extLst>
          </p:cNvPr>
          <p:cNvCxnSpPr>
            <a:cxnSpLocks/>
          </p:cNvCxnSpPr>
          <p:nvPr/>
        </p:nvCxnSpPr>
        <p:spPr>
          <a:xfrm>
            <a:off x="5317907" y="2222022"/>
            <a:ext cx="2041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2" name="Straight Arrow Connector 161">
            <a:extLst>
              <a:ext uri="{FF2B5EF4-FFF2-40B4-BE49-F238E27FC236}">
                <a16:creationId xmlns:a16="http://schemas.microsoft.com/office/drawing/2014/main" id="{E43C5FDE-D507-6C64-BBB2-44CCE927CADC}"/>
              </a:ext>
            </a:extLst>
          </p:cNvPr>
          <p:cNvCxnSpPr>
            <a:cxnSpLocks/>
          </p:cNvCxnSpPr>
          <p:nvPr/>
        </p:nvCxnSpPr>
        <p:spPr>
          <a:xfrm>
            <a:off x="6644413" y="2182757"/>
            <a:ext cx="1607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6" name="Straight Arrow Connector 165">
            <a:extLst>
              <a:ext uri="{FF2B5EF4-FFF2-40B4-BE49-F238E27FC236}">
                <a16:creationId xmlns:a16="http://schemas.microsoft.com/office/drawing/2014/main" id="{1999E1D4-CF1C-E356-F325-2A8DD99B576E}"/>
              </a:ext>
            </a:extLst>
          </p:cNvPr>
          <p:cNvCxnSpPr>
            <a:cxnSpLocks/>
            <a:endCxn id="13" idx="2"/>
          </p:cNvCxnSpPr>
          <p:nvPr/>
        </p:nvCxnSpPr>
        <p:spPr>
          <a:xfrm flipV="1">
            <a:off x="8461091" y="2380883"/>
            <a:ext cx="0" cy="5808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8" name="Straight Arrow Connector 167">
            <a:extLst>
              <a:ext uri="{FF2B5EF4-FFF2-40B4-BE49-F238E27FC236}">
                <a16:creationId xmlns:a16="http://schemas.microsoft.com/office/drawing/2014/main" id="{6F45F133-DE51-0880-47C2-53306313650C}"/>
              </a:ext>
            </a:extLst>
          </p:cNvPr>
          <p:cNvCxnSpPr>
            <a:cxnSpLocks/>
          </p:cNvCxnSpPr>
          <p:nvPr/>
        </p:nvCxnSpPr>
        <p:spPr>
          <a:xfrm>
            <a:off x="1376278" y="2228153"/>
            <a:ext cx="2041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1" name="Straight Arrow Connector 170">
            <a:extLst>
              <a:ext uri="{FF2B5EF4-FFF2-40B4-BE49-F238E27FC236}">
                <a16:creationId xmlns:a16="http://schemas.microsoft.com/office/drawing/2014/main" id="{71AED7CD-C660-978F-3D03-795F9DFE083D}"/>
              </a:ext>
            </a:extLst>
          </p:cNvPr>
          <p:cNvCxnSpPr>
            <a:cxnSpLocks/>
            <a:stCxn id="27" idx="4"/>
          </p:cNvCxnSpPr>
          <p:nvPr/>
        </p:nvCxnSpPr>
        <p:spPr>
          <a:xfrm>
            <a:off x="2144973" y="2657746"/>
            <a:ext cx="2587" cy="215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2" name="Straight Arrow Connector 171">
            <a:extLst>
              <a:ext uri="{FF2B5EF4-FFF2-40B4-BE49-F238E27FC236}">
                <a16:creationId xmlns:a16="http://schemas.microsoft.com/office/drawing/2014/main" id="{DF18DB27-CEAB-C39A-1B4A-8CB840E149DB}"/>
              </a:ext>
            </a:extLst>
          </p:cNvPr>
          <p:cNvCxnSpPr>
            <a:cxnSpLocks/>
          </p:cNvCxnSpPr>
          <p:nvPr/>
        </p:nvCxnSpPr>
        <p:spPr>
          <a:xfrm flipV="1">
            <a:off x="3484169" y="2635387"/>
            <a:ext cx="0" cy="2381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4" name="Straight Arrow Connector 173">
            <a:extLst>
              <a:ext uri="{FF2B5EF4-FFF2-40B4-BE49-F238E27FC236}">
                <a16:creationId xmlns:a16="http://schemas.microsoft.com/office/drawing/2014/main" id="{016C0A49-8A81-C6B9-E5A7-6A4E0B9DB6E9}"/>
              </a:ext>
            </a:extLst>
          </p:cNvPr>
          <p:cNvCxnSpPr>
            <a:cxnSpLocks/>
            <a:endCxn id="33" idx="3"/>
          </p:cNvCxnSpPr>
          <p:nvPr/>
        </p:nvCxnSpPr>
        <p:spPr>
          <a:xfrm flipV="1">
            <a:off x="4983084" y="2500789"/>
            <a:ext cx="709039" cy="3628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5" name="Straight Arrow Connector 174">
            <a:extLst>
              <a:ext uri="{FF2B5EF4-FFF2-40B4-BE49-F238E27FC236}">
                <a16:creationId xmlns:a16="http://schemas.microsoft.com/office/drawing/2014/main" id="{4EEADB34-4F2F-51F9-B3EA-154316419118}"/>
              </a:ext>
            </a:extLst>
          </p:cNvPr>
          <p:cNvCxnSpPr/>
          <p:nvPr/>
        </p:nvCxnSpPr>
        <p:spPr>
          <a:xfrm>
            <a:off x="7357782" y="2609632"/>
            <a:ext cx="2587" cy="215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0" name="Straight Connector 179">
            <a:extLst>
              <a:ext uri="{FF2B5EF4-FFF2-40B4-BE49-F238E27FC236}">
                <a16:creationId xmlns:a16="http://schemas.microsoft.com/office/drawing/2014/main" id="{4C4E190E-D691-947D-0119-989779B571F6}"/>
              </a:ext>
            </a:extLst>
          </p:cNvPr>
          <p:cNvCxnSpPr>
            <a:cxnSpLocks/>
          </p:cNvCxnSpPr>
          <p:nvPr/>
        </p:nvCxnSpPr>
        <p:spPr>
          <a:xfrm>
            <a:off x="7829089" y="2975061"/>
            <a:ext cx="632001" cy="11058"/>
          </a:xfrm>
          <a:prstGeom prst="line">
            <a:avLst/>
          </a:prstGeom>
        </p:spPr>
        <p:style>
          <a:lnRef idx="3">
            <a:schemeClr val="dk1"/>
          </a:lnRef>
          <a:fillRef idx="0">
            <a:schemeClr val="dk1"/>
          </a:fillRef>
          <a:effectRef idx="2">
            <a:schemeClr val="dk1"/>
          </a:effectRef>
          <a:fontRef idx="minor">
            <a:schemeClr val="tx1"/>
          </a:fontRef>
        </p:style>
      </p:cxnSp>
      <p:cxnSp>
        <p:nvCxnSpPr>
          <p:cNvPr id="185" name="Straight Connector 184">
            <a:extLst>
              <a:ext uri="{FF2B5EF4-FFF2-40B4-BE49-F238E27FC236}">
                <a16:creationId xmlns:a16="http://schemas.microsoft.com/office/drawing/2014/main" id="{5212A23F-B9F1-E4B2-DDE5-9C8C5DB5DB2D}"/>
              </a:ext>
            </a:extLst>
          </p:cNvPr>
          <p:cNvCxnSpPr>
            <a:cxnSpLocks/>
          </p:cNvCxnSpPr>
          <p:nvPr/>
        </p:nvCxnSpPr>
        <p:spPr>
          <a:xfrm flipV="1">
            <a:off x="746491" y="3225950"/>
            <a:ext cx="6675929" cy="2773"/>
          </a:xfrm>
          <a:prstGeom prst="line">
            <a:avLst/>
          </a:prstGeom>
        </p:spPr>
        <p:style>
          <a:lnRef idx="3">
            <a:schemeClr val="dk1"/>
          </a:lnRef>
          <a:fillRef idx="0">
            <a:schemeClr val="dk1"/>
          </a:fillRef>
          <a:effectRef idx="2">
            <a:schemeClr val="dk1"/>
          </a:effectRef>
          <a:fontRef idx="minor">
            <a:schemeClr val="tx1"/>
          </a:fontRef>
        </p:style>
      </p:cxnSp>
      <p:cxnSp>
        <p:nvCxnSpPr>
          <p:cNvPr id="188" name="Straight Connector 187">
            <a:extLst>
              <a:ext uri="{FF2B5EF4-FFF2-40B4-BE49-F238E27FC236}">
                <a16:creationId xmlns:a16="http://schemas.microsoft.com/office/drawing/2014/main" id="{8E3B9C6B-75DB-FA70-1224-A4337DCCACD9}"/>
              </a:ext>
            </a:extLst>
          </p:cNvPr>
          <p:cNvCxnSpPr/>
          <p:nvPr/>
        </p:nvCxnSpPr>
        <p:spPr>
          <a:xfrm flipV="1">
            <a:off x="7422420" y="3106034"/>
            <a:ext cx="0" cy="138767"/>
          </a:xfrm>
          <a:prstGeom prst="line">
            <a:avLst/>
          </a:prstGeom>
        </p:spPr>
        <p:style>
          <a:lnRef idx="3">
            <a:schemeClr val="dk1"/>
          </a:lnRef>
          <a:fillRef idx="0">
            <a:schemeClr val="dk1"/>
          </a:fillRef>
          <a:effectRef idx="2">
            <a:schemeClr val="dk1"/>
          </a:effectRef>
          <a:fontRef idx="minor">
            <a:schemeClr val="tx1"/>
          </a:fontRef>
        </p:style>
      </p:cxnSp>
      <p:cxnSp>
        <p:nvCxnSpPr>
          <p:cNvPr id="190" name="Straight Arrow Connector 189">
            <a:extLst>
              <a:ext uri="{FF2B5EF4-FFF2-40B4-BE49-F238E27FC236}">
                <a16:creationId xmlns:a16="http://schemas.microsoft.com/office/drawing/2014/main" id="{4B9A2985-63FB-C3DD-1C6B-32A82D943B0E}"/>
              </a:ext>
            </a:extLst>
          </p:cNvPr>
          <p:cNvCxnSpPr/>
          <p:nvPr/>
        </p:nvCxnSpPr>
        <p:spPr>
          <a:xfrm flipV="1">
            <a:off x="746490" y="2450789"/>
            <a:ext cx="0" cy="7751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Straight Arrow Connector 190">
            <a:extLst>
              <a:ext uri="{FF2B5EF4-FFF2-40B4-BE49-F238E27FC236}">
                <a16:creationId xmlns:a16="http://schemas.microsoft.com/office/drawing/2014/main" id="{249C6962-F193-D2F1-5F27-554025EE2211}"/>
              </a:ext>
            </a:extLst>
          </p:cNvPr>
          <p:cNvCxnSpPr>
            <a:cxnSpLocks/>
          </p:cNvCxnSpPr>
          <p:nvPr/>
        </p:nvCxnSpPr>
        <p:spPr>
          <a:xfrm>
            <a:off x="1453528" y="4058378"/>
            <a:ext cx="35972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Straight Arrow Connector 192">
            <a:extLst>
              <a:ext uri="{FF2B5EF4-FFF2-40B4-BE49-F238E27FC236}">
                <a16:creationId xmlns:a16="http://schemas.microsoft.com/office/drawing/2014/main" id="{1FDE0540-F70A-F0D5-49DE-C291E60D78AB}"/>
              </a:ext>
            </a:extLst>
          </p:cNvPr>
          <p:cNvCxnSpPr>
            <a:cxnSpLocks/>
            <a:endCxn id="98" idx="2"/>
          </p:cNvCxnSpPr>
          <p:nvPr/>
        </p:nvCxnSpPr>
        <p:spPr>
          <a:xfrm flipV="1">
            <a:off x="3229265" y="4027520"/>
            <a:ext cx="549069" cy="45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9" name="Straight Arrow Connector 198">
            <a:extLst>
              <a:ext uri="{FF2B5EF4-FFF2-40B4-BE49-F238E27FC236}">
                <a16:creationId xmlns:a16="http://schemas.microsoft.com/office/drawing/2014/main" id="{B3A94A62-EDCB-F657-BBEC-06A5FF7165B9}"/>
              </a:ext>
            </a:extLst>
          </p:cNvPr>
          <p:cNvCxnSpPr>
            <a:cxnSpLocks/>
          </p:cNvCxnSpPr>
          <p:nvPr/>
        </p:nvCxnSpPr>
        <p:spPr>
          <a:xfrm flipV="1">
            <a:off x="5214286" y="4023734"/>
            <a:ext cx="402953" cy="22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1" name="Straight Arrow Connector 200">
            <a:extLst>
              <a:ext uri="{FF2B5EF4-FFF2-40B4-BE49-F238E27FC236}">
                <a16:creationId xmlns:a16="http://schemas.microsoft.com/office/drawing/2014/main" id="{C36CDB0C-5E74-6CB3-0E48-E049099D736E}"/>
              </a:ext>
            </a:extLst>
          </p:cNvPr>
          <p:cNvCxnSpPr>
            <a:cxnSpLocks/>
          </p:cNvCxnSpPr>
          <p:nvPr/>
        </p:nvCxnSpPr>
        <p:spPr>
          <a:xfrm>
            <a:off x="7057886" y="4016067"/>
            <a:ext cx="4882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4" name="Straight Arrow Connector 203">
            <a:extLst>
              <a:ext uri="{FF2B5EF4-FFF2-40B4-BE49-F238E27FC236}">
                <a16:creationId xmlns:a16="http://schemas.microsoft.com/office/drawing/2014/main" id="{A415D16F-0598-DBB9-9920-853EE0F75493}"/>
              </a:ext>
            </a:extLst>
          </p:cNvPr>
          <p:cNvCxnSpPr>
            <a:cxnSpLocks/>
          </p:cNvCxnSpPr>
          <p:nvPr/>
        </p:nvCxnSpPr>
        <p:spPr>
          <a:xfrm flipV="1">
            <a:off x="2506721" y="4451754"/>
            <a:ext cx="0" cy="1950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7" name="Straight Arrow Connector 206">
            <a:extLst>
              <a:ext uri="{FF2B5EF4-FFF2-40B4-BE49-F238E27FC236}">
                <a16:creationId xmlns:a16="http://schemas.microsoft.com/office/drawing/2014/main" id="{A8D95E66-427B-2DB6-2528-4400C5E3D749}"/>
              </a:ext>
            </a:extLst>
          </p:cNvPr>
          <p:cNvCxnSpPr>
            <a:cxnSpLocks/>
          </p:cNvCxnSpPr>
          <p:nvPr/>
        </p:nvCxnSpPr>
        <p:spPr>
          <a:xfrm>
            <a:off x="8073810" y="4288305"/>
            <a:ext cx="0" cy="3584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0" name="TextBox 209">
            <a:extLst>
              <a:ext uri="{FF2B5EF4-FFF2-40B4-BE49-F238E27FC236}">
                <a16:creationId xmlns:a16="http://schemas.microsoft.com/office/drawing/2014/main" id="{CCF733E7-9E72-8FD7-442A-A00EF85AFBE9}"/>
              </a:ext>
            </a:extLst>
          </p:cNvPr>
          <p:cNvSpPr txBox="1"/>
          <p:nvPr/>
        </p:nvSpPr>
        <p:spPr>
          <a:xfrm>
            <a:off x="187376" y="5218"/>
            <a:ext cx="4573377" cy="319896"/>
          </a:xfrm>
          <a:prstGeom prst="rect">
            <a:avLst/>
          </a:prstGeom>
          <a:noFill/>
        </p:spPr>
        <p:txBody>
          <a:bodyPr wrap="square">
            <a:spAutoFit/>
          </a:bodyPr>
          <a:lstStyle/>
          <a:p>
            <a:pPr>
              <a:lnSpc>
                <a:spcPct val="120000"/>
              </a:lnSpc>
              <a:buClrTx/>
            </a:pPr>
            <a:r>
              <a:rPr lang="en-US" altLang="en-US" sz="1350" b="1" dirty="0">
                <a:latin typeface="Times New Roman" panose="02020603050405020304" pitchFamily="18" charset="0"/>
                <a:cs typeface="Times New Roman" panose="02020603050405020304" pitchFamily="18" charset="0"/>
                <a:sym typeface="Times New Roman" panose="02020603050405020304" pitchFamily="18" charset="0"/>
              </a:rPr>
              <a:t>Data flow diagram</a:t>
            </a:r>
            <a:endParaRPr lang="en-US" altLang="en-US" sz="225" dirty="0">
              <a:latin typeface="Times New Roman" panose="02020603050405020304" pitchFamily="18" charset="0"/>
              <a:cs typeface="Times New Roman" panose="02020603050405020304" pitchFamily="18" charset="0"/>
              <a:sym typeface="Times New Roman" panose="02020603050405020304" pitchFamily="18" charset="0"/>
            </a:endParaRPr>
          </a:p>
        </p:txBody>
      </p:sp>
      <p:grpSp>
        <p:nvGrpSpPr>
          <p:cNvPr id="4" name="Group 3">
            <a:extLst>
              <a:ext uri="{FF2B5EF4-FFF2-40B4-BE49-F238E27FC236}">
                <a16:creationId xmlns:a16="http://schemas.microsoft.com/office/drawing/2014/main" id="{4FDF95DC-62AD-66C3-2809-920BED5D9A57}"/>
              </a:ext>
            </a:extLst>
          </p:cNvPr>
          <p:cNvGrpSpPr/>
          <p:nvPr/>
        </p:nvGrpSpPr>
        <p:grpSpPr>
          <a:xfrm>
            <a:off x="5625215" y="2880005"/>
            <a:ext cx="1604749" cy="241530"/>
            <a:chOff x="7369331" y="4001472"/>
            <a:chExt cx="3165436" cy="334896"/>
          </a:xfrm>
        </p:grpSpPr>
        <p:grpSp>
          <p:nvGrpSpPr>
            <p:cNvPr id="5" name="Group 4">
              <a:extLst>
                <a:ext uri="{FF2B5EF4-FFF2-40B4-BE49-F238E27FC236}">
                  <a16:creationId xmlns:a16="http://schemas.microsoft.com/office/drawing/2014/main" id="{D900DAEC-B503-200E-CB8C-891837CA896F}"/>
                </a:ext>
              </a:extLst>
            </p:cNvPr>
            <p:cNvGrpSpPr/>
            <p:nvPr/>
          </p:nvGrpSpPr>
          <p:grpSpPr>
            <a:xfrm>
              <a:off x="7369331" y="4001472"/>
              <a:ext cx="1711185" cy="334896"/>
              <a:chOff x="3388268" y="5242654"/>
              <a:chExt cx="1774269" cy="523285"/>
            </a:xfrm>
          </p:grpSpPr>
          <p:grpSp>
            <p:nvGrpSpPr>
              <p:cNvPr id="22" name="Group 21">
                <a:extLst>
                  <a:ext uri="{FF2B5EF4-FFF2-40B4-BE49-F238E27FC236}">
                    <a16:creationId xmlns:a16="http://schemas.microsoft.com/office/drawing/2014/main" id="{615D89F8-B9EC-D178-407C-8F41E2B9482E}"/>
                  </a:ext>
                </a:extLst>
              </p:cNvPr>
              <p:cNvGrpSpPr/>
              <p:nvPr/>
            </p:nvGrpSpPr>
            <p:grpSpPr>
              <a:xfrm>
                <a:off x="3388268" y="5242654"/>
                <a:ext cx="1774269" cy="523285"/>
                <a:chOff x="3461657" y="5246143"/>
                <a:chExt cx="1774269" cy="523285"/>
              </a:xfrm>
            </p:grpSpPr>
            <p:cxnSp>
              <p:nvCxnSpPr>
                <p:cNvPr id="28" name="Straight Connector 27">
                  <a:extLst>
                    <a:ext uri="{FF2B5EF4-FFF2-40B4-BE49-F238E27FC236}">
                      <a16:creationId xmlns:a16="http://schemas.microsoft.com/office/drawing/2014/main" id="{588DA7A5-A290-1C5E-1C82-CC32C23B9E64}"/>
                    </a:ext>
                  </a:extLst>
                </p:cNvPr>
                <p:cNvCxnSpPr/>
                <p:nvPr/>
              </p:nvCxnSpPr>
              <p:spPr>
                <a:xfrm>
                  <a:off x="3461657" y="5246914"/>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306DDF31-64E3-314F-0935-383134B51BA5}"/>
                    </a:ext>
                  </a:extLst>
                </p:cNvPr>
                <p:cNvCxnSpPr/>
                <p:nvPr/>
              </p:nvCxnSpPr>
              <p:spPr>
                <a:xfrm>
                  <a:off x="3472440" y="5769428"/>
                  <a:ext cx="1763486"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D10EC223-BE32-5E27-4C74-A8CF29FA3DCD}"/>
                    </a:ext>
                  </a:extLst>
                </p:cNvPr>
                <p:cNvCxnSpPr>
                  <a:cxnSpLocks/>
                </p:cNvCxnSpPr>
                <p:nvPr/>
              </p:nvCxnSpPr>
              <p:spPr>
                <a:xfrm>
                  <a:off x="3492371" y="5246143"/>
                  <a:ext cx="10783" cy="522514"/>
                </a:xfrm>
                <a:prstGeom prst="line">
                  <a:avLst/>
                </a:prstGeom>
                <a:ln w="38100"/>
              </p:spPr>
              <p:style>
                <a:lnRef idx="3">
                  <a:schemeClr val="dk1"/>
                </a:lnRef>
                <a:fillRef idx="0">
                  <a:schemeClr val="dk1"/>
                </a:fillRef>
                <a:effectRef idx="2">
                  <a:schemeClr val="dk1"/>
                </a:effectRef>
                <a:fontRef idx="minor">
                  <a:schemeClr val="tx1"/>
                </a:fontRef>
              </p:style>
            </p:cxnSp>
          </p:grpSp>
          <p:cxnSp>
            <p:nvCxnSpPr>
              <p:cNvPr id="23" name="Straight Connector 22">
                <a:extLst>
                  <a:ext uri="{FF2B5EF4-FFF2-40B4-BE49-F238E27FC236}">
                    <a16:creationId xmlns:a16="http://schemas.microsoft.com/office/drawing/2014/main" id="{34E91B16-2225-93A0-A686-249924A3015D}"/>
                  </a:ext>
                </a:extLst>
              </p:cNvPr>
              <p:cNvCxnSpPr/>
              <p:nvPr/>
            </p:nvCxnSpPr>
            <p:spPr>
              <a:xfrm>
                <a:off x="3916703" y="5243425"/>
                <a:ext cx="0" cy="522514"/>
              </a:xfrm>
              <a:prstGeom prst="line">
                <a:avLst/>
              </a:prstGeom>
              <a:ln w="38100"/>
            </p:spPr>
            <p:style>
              <a:lnRef idx="3">
                <a:schemeClr val="dk1"/>
              </a:lnRef>
              <a:fillRef idx="0">
                <a:schemeClr val="dk1"/>
              </a:fillRef>
              <a:effectRef idx="2">
                <a:schemeClr val="dk1"/>
              </a:effectRef>
              <a:fontRef idx="minor">
                <a:schemeClr val="tx1"/>
              </a:fontRef>
            </p:style>
          </p:cxnSp>
        </p:grpSp>
        <p:sp>
          <p:nvSpPr>
            <p:cNvPr id="21" name="TextBox 20">
              <a:extLst>
                <a:ext uri="{FF2B5EF4-FFF2-40B4-BE49-F238E27FC236}">
                  <a16:creationId xmlns:a16="http://schemas.microsoft.com/office/drawing/2014/main" id="{7F38069C-8893-961A-760F-404A69C75F10}"/>
                </a:ext>
              </a:extLst>
            </p:cNvPr>
            <p:cNvSpPr txBox="1"/>
            <p:nvPr/>
          </p:nvSpPr>
          <p:spPr>
            <a:xfrm>
              <a:off x="7878977" y="4013493"/>
              <a:ext cx="2655790" cy="320063"/>
            </a:xfrm>
            <a:prstGeom prst="rect">
              <a:avLst/>
            </a:prstGeom>
            <a:noFill/>
          </p:spPr>
          <p:txBody>
            <a:bodyPr wrap="square" rtlCol="0">
              <a:spAutoFit/>
            </a:bodyPr>
            <a:lstStyle/>
            <a:p>
              <a:r>
                <a:rPr lang="en-US" sz="900" dirty="0"/>
                <a:t>Hba1c midpoint</a:t>
              </a:r>
            </a:p>
          </p:txBody>
        </p:sp>
      </p:grpSp>
      <p:cxnSp>
        <p:nvCxnSpPr>
          <p:cNvPr id="50" name="Straight Arrow Connector 49">
            <a:extLst>
              <a:ext uri="{FF2B5EF4-FFF2-40B4-BE49-F238E27FC236}">
                <a16:creationId xmlns:a16="http://schemas.microsoft.com/office/drawing/2014/main" id="{D27FE59D-F0C2-EFB5-A76C-5A1672208B61}"/>
              </a:ext>
            </a:extLst>
          </p:cNvPr>
          <p:cNvCxnSpPr>
            <a:cxnSpLocks/>
          </p:cNvCxnSpPr>
          <p:nvPr/>
        </p:nvCxnSpPr>
        <p:spPr>
          <a:xfrm>
            <a:off x="6090538" y="2630155"/>
            <a:ext cx="2587" cy="215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0912B560-FC18-5A19-FACC-3D8158C136C7}"/>
              </a:ext>
            </a:extLst>
          </p:cNvPr>
          <p:cNvCxnSpPr>
            <a:cxnSpLocks/>
            <a:endCxn id="69" idx="3"/>
          </p:cNvCxnSpPr>
          <p:nvPr/>
        </p:nvCxnSpPr>
        <p:spPr>
          <a:xfrm flipV="1">
            <a:off x="6319584" y="2484604"/>
            <a:ext cx="613896" cy="3788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24573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B15051C5-DB64-B433-28D5-C756BB6F1373}"/>
              </a:ext>
            </a:extLst>
          </p:cNvPr>
          <p:cNvSpPr txBox="1">
            <a:spLocks/>
          </p:cNvSpPr>
          <p:nvPr/>
        </p:nvSpPr>
        <p:spPr>
          <a:xfrm>
            <a:off x="107504" y="1212605"/>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sp>
        <p:nvSpPr>
          <p:cNvPr id="17" name="Rectangle: Rounded Corners 16">
            <a:extLst>
              <a:ext uri="{FF2B5EF4-FFF2-40B4-BE49-F238E27FC236}">
                <a16:creationId xmlns:a16="http://schemas.microsoft.com/office/drawing/2014/main" id="{3804D3B6-1845-B1C0-5A2F-311FD7263D12}"/>
              </a:ext>
            </a:extLst>
          </p:cNvPr>
          <p:cNvSpPr/>
          <p:nvPr/>
        </p:nvSpPr>
        <p:spPr>
          <a:xfrm>
            <a:off x="3862306" y="4604417"/>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Display result</a:t>
            </a:r>
            <a:endParaRPr lang="en-IN" sz="1200" dirty="0">
              <a:solidFill>
                <a:schemeClr val="tx1"/>
              </a:solidFill>
              <a:latin typeface="Bahnschrift Condensed" panose="020B0502040204020203" pitchFamily="34" charset="0"/>
            </a:endParaRPr>
          </a:p>
        </p:txBody>
      </p:sp>
      <p:sp>
        <p:nvSpPr>
          <p:cNvPr id="20" name="Rectangle: Rounded Corners 19">
            <a:extLst>
              <a:ext uri="{FF2B5EF4-FFF2-40B4-BE49-F238E27FC236}">
                <a16:creationId xmlns:a16="http://schemas.microsoft.com/office/drawing/2014/main" id="{670DB57F-D562-6D9F-7247-B915D2F5CD02}"/>
              </a:ext>
            </a:extLst>
          </p:cNvPr>
          <p:cNvSpPr/>
          <p:nvPr/>
        </p:nvSpPr>
        <p:spPr>
          <a:xfrm>
            <a:off x="4103725" y="4937165"/>
            <a:ext cx="770716" cy="182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End</a:t>
            </a:r>
            <a:endParaRPr lang="en-IN" sz="1200" dirty="0">
              <a:solidFill>
                <a:schemeClr val="tx1"/>
              </a:solidFill>
              <a:latin typeface="Bahnschrift Condensed" panose="020B0502040204020203" pitchFamily="34" charset="0"/>
            </a:endParaRPr>
          </a:p>
        </p:txBody>
      </p:sp>
      <p:cxnSp>
        <p:nvCxnSpPr>
          <p:cNvPr id="11" name="Straight Arrow Connector 10">
            <a:extLst>
              <a:ext uri="{FF2B5EF4-FFF2-40B4-BE49-F238E27FC236}">
                <a16:creationId xmlns:a16="http://schemas.microsoft.com/office/drawing/2014/main" id="{5DCD864F-0BB9-C97D-1D5B-340141C75311}"/>
              </a:ext>
            </a:extLst>
          </p:cNvPr>
          <p:cNvCxnSpPr>
            <a:cxnSpLocks/>
            <a:stCxn id="9" idx="2"/>
            <a:endCxn id="4" idx="0"/>
          </p:cNvCxnSpPr>
          <p:nvPr/>
        </p:nvCxnSpPr>
        <p:spPr>
          <a:xfrm flipH="1">
            <a:off x="4514822" y="457296"/>
            <a:ext cx="2171" cy="1754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ABC10F46-C226-4D43-CE83-5D2A2B110A8C}"/>
              </a:ext>
            </a:extLst>
          </p:cNvPr>
          <p:cNvCxnSpPr>
            <a:cxnSpLocks/>
            <a:stCxn id="17" idx="2"/>
            <a:endCxn id="20" idx="0"/>
          </p:cNvCxnSpPr>
          <p:nvPr/>
        </p:nvCxnSpPr>
        <p:spPr>
          <a:xfrm flipH="1">
            <a:off x="4489083" y="4802135"/>
            <a:ext cx="1" cy="1350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8260FEF7-188B-9029-FEDF-4B8A78858B2B}"/>
              </a:ext>
            </a:extLst>
          </p:cNvPr>
          <p:cNvCxnSpPr>
            <a:cxnSpLocks/>
            <a:stCxn id="14" idx="3"/>
            <a:endCxn id="26" idx="1"/>
          </p:cNvCxnSpPr>
          <p:nvPr/>
        </p:nvCxnSpPr>
        <p:spPr>
          <a:xfrm flipV="1">
            <a:off x="5093544" y="2617944"/>
            <a:ext cx="2039647" cy="38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70" name="Group 69">
            <a:extLst>
              <a:ext uri="{FF2B5EF4-FFF2-40B4-BE49-F238E27FC236}">
                <a16:creationId xmlns:a16="http://schemas.microsoft.com/office/drawing/2014/main" id="{A93D5881-4280-7FC2-14CE-BB3CE58CCE4D}"/>
              </a:ext>
            </a:extLst>
          </p:cNvPr>
          <p:cNvGrpSpPr/>
          <p:nvPr/>
        </p:nvGrpSpPr>
        <p:grpSpPr>
          <a:xfrm>
            <a:off x="5096572" y="2495321"/>
            <a:ext cx="2786118" cy="1956921"/>
            <a:chOff x="3611473" y="3009573"/>
            <a:chExt cx="2786118" cy="1904659"/>
          </a:xfrm>
        </p:grpSpPr>
        <p:sp>
          <p:nvSpPr>
            <p:cNvPr id="26" name="Rectangle: Rounded Corners 25">
              <a:extLst>
                <a:ext uri="{FF2B5EF4-FFF2-40B4-BE49-F238E27FC236}">
                  <a16:creationId xmlns:a16="http://schemas.microsoft.com/office/drawing/2014/main" id="{EE7A72DB-2157-44B3-3A82-4DC3297B880C}"/>
                </a:ext>
              </a:extLst>
            </p:cNvPr>
            <p:cNvSpPr/>
            <p:nvPr/>
          </p:nvSpPr>
          <p:spPr>
            <a:xfrm>
              <a:off x="5648092" y="3009573"/>
              <a:ext cx="749499" cy="23869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Grade 0 </a:t>
              </a:r>
              <a:endParaRPr lang="en-IN" sz="1200" dirty="0">
                <a:solidFill>
                  <a:schemeClr val="tx1"/>
                </a:solidFill>
                <a:latin typeface="Bahnschrift Condensed" panose="020B0502040204020203" pitchFamily="34" charset="0"/>
              </a:endParaRPr>
            </a:p>
          </p:txBody>
        </p:sp>
        <p:cxnSp>
          <p:nvCxnSpPr>
            <p:cNvPr id="51" name="Straight Connector 50">
              <a:extLst>
                <a:ext uri="{FF2B5EF4-FFF2-40B4-BE49-F238E27FC236}">
                  <a16:creationId xmlns:a16="http://schemas.microsoft.com/office/drawing/2014/main" id="{27697F38-0C2F-87CB-EFCC-EF78DF5B7941}"/>
                </a:ext>
              </a:extLst>
            </p:cNvPr>
            <p:cNvCxnSpPr>
              <a:cxnSpLocks/>
            </p:cNvCxnSpPr>
            <p:nvPr/>
          </p:nvCxnSpPr>
          <p:spPr>
            <a:xfrm flipH="1">
              <a:off x="6022841" y="3283856"/>
              <a:ext cx="2" cy="1611856"/>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5AF7A21F-FD8D-3D71-73F4-73B1929DE5CD}"/>
                </a:ext>
              </a:extLst>
            </p:cNvPr>
            <p:cNvCxnSpPr>
              <a:cxnSpLocks/>
            </p:cNvCxnSpPr>
            <p:nvPr/>
          </p:nvCxnSpPr>
          <p:spPr>
            <a:xfrm flipH="1">
              <a:off x="3611473" y="4895712"/>
              <a:ext cx="2411368" cy="185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77" name="Group 76">
            <a:extLst>
              <a:ext uri="{FF2B5EF4-FFF2-40B4-BE49-F238E27FC236}">
                <a16:creationId xmlns:a16="http://schemas.microsoft.com/office/drawing/2014/main" id="{888CDFA1-DA7A-E767-92B5-A6ED8984AAAD}"/>
              </a:ext>
            </a:extLst>
          </p:cNvPr>
          <p:cNvGrpSpPr/>
          <p:nvPr/>
        </p:nvGrpSpPr>
        <p:grpSpPr>
          <a:xfrm>
            <a:off x="2161410" y="259578"/>
            <a:ext cx="3469661" cy="3023441"/>
            <a:chOff x="2135673" y="768304"/>
            <a:chExt cx="3469661" cy="3023441"/>
          </a:xfrm>
        </p:grpSpPr>
        <p:sp>
          <p:nvSpPr>
            <p:cNvPr id="9" name="Rectangle: Rounded Corners 8">
              <a:extLst>
                <a:ext uri="{FF2B5EF4-FFF2-40B4-BE49-F238E27FC236}">
                  <a16:creationId xmlns:a16="http://schemas.microsoft.com/office/drawing/2014/main" id="{653BDE9F-D933-F837-1695-7DD22C991577}"/>
                </a:ext>
              </a:extLst>
            </p:cNvPr>
            <p:cNvSpPr/>
            <p:nvPr/>
          </p:nvSpPr>
          <p:spPr>
            <a:xfrm>
              <a:off x="4004438" y="768304"/>
              <a:ext cx="973636"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Input image</a:t>
              </a:r>
              <a:endParaRPr lang="en-IN" sz="1200" dirty="0">
                <a:solidFill>
                  <a:schemeClr val="tx1"/>
                </a:solidFill>
                <a:latin typeface="Bahnschrift Condensed" panose="020B0502040204020203" pitchFamily="34" charset="0"/>
              </a:endParaRPr>
            </a:p>
          </p:txBody>
        </p:sp>
        <p:sp>
          <p:nvSpPr>
            <p:cNvPr id="4" name="Diamond 3">
              <a:extLst>
                <a:ext uri="{FF2B5EF4-FFF2-40B4-BE49-F238E27FC236}">
                  <a16:creationId xmlns:a16="http://schemas.microsoft.com/office/drawing/2014/main" id="{5061F684-2E56-60C8-B34C-A2EB37D68D2D}"/>
                </a:ext>
              </a:extLst>
            </p:cNvPr>
            <p:cNvSpPr/>
            <p:nvPr/>
          </p:nvSpPr>
          <p:spPr>
            <a:xfrm>
              <a:off x="3908920" y="1141430"/>
              <a:ext cx="1160329" cy="638940"/>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Valid image? </a:t>
              </a:r>
              <a:endParaRPr lang="en-IN" sz="1200" dirty="0">
                <a:solidFill>
                  <a:schemeClr val="tx1"/>
                </a:solidFill>
                <a:latin typeface="Bahnschrift Condensed" panose="020B0502040204020203" pitchFamily="34" charset="0"/>
              </a:endParaRPr>
            </a:p>
          </p:txBody>
        </p:sp>
        <p:sp>
          <p:nvSpPr>
            <p:cNvPr id="14" name="Diamond 13">
              <a:extLst>
                <a:ext uri="{FF2B5EF4-FFF2-40B4-BE49-F238E27FC236}">
                  <a16:creationId xmlns:a16="http://schemas.microsoft.com/office/drawing/2014/main" id="{19CA15D6-171B-663B-01AB-148CF5539FD3}"/>
                </a:ext>
              </a:extLst>
            </p:cNvPr>
            <p:cNvSpPr/>
            <p:nvPr/>
          </p:nvSpPr>
          <p:spPr>
            <a:xfrm>
              <a:off x="3907478" y="2811088"/>
              <a:ext cx="1160329" cy="63894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solidFill>
                    <a:schemeClr val="tx1"/>
                  </a:solidFill>
                  <a:latin typeface="Bahnschrift Condensed" panose="020B0502040204020203" pitchFamily="34" charset="0"/>
                </a:rPr>
                <a:t>Lesion found ?</a:t>
              </a:r>
              <a:endParaRPr lang="en-IN" sz="1200" dirty="0">
                <a:solidFill>
                  <a:schemeClr val="tx1"/>
                </a:solidFill>
                <a:latin typeface="Bahnschrift Condensed" panose="020B0502040204020203" pitchFamily="34" charset="0"/>
              </a:endParaRPr>
            </a:p>
          </p:txBody>
        </p:sp>
        <p:sp>
          <p:nvSpPr>
            <p:cNvPr id="16" name="Rectangle: Rounded Corners 15">
              <a:extLst>
                <a:ext uri="{FF2B5EF4-FFF2-40B4-BE49-F238E27FC236}">
                  <a16:creationId xmlns:a16="http://schemas.microsoft.com/office/drawing/2014/main" id="{65970EDA-410F-2B69-80BF-74108F9782A7}"/>
                </a:ext>
              </a:extLst>
            </p:cNvPr>
            <p:cNvSpPr/>
            <p:nvPr/>
          </p:nvSpPr>
          <p:spPr>
            <a:xfrm>
              <a:off x="3865054" y="3594027"/>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Severity  Prediction</a:t>
              </a:r>
              <a:endParaRPr lang="en-IN" sz="1200" dirty="0">
                <a:solidFill>
                  <a:schemeClr val="tx1"/>
                </a:solidFill>
                <a:latin typeface="Bahnschrift Condensed" panose="020B0502040204020203" pitchFamily="34" charset="0"/>
              </a:endParaRPr>
            </a:p>
          </p:txBody>
        </p:sp>
        <p:sp>
          <p:nvSpPr>
            <p:cNvPr id="19" name="Rectangle: Rounded Corners 18">
              <a:extLst>
                <a:ext uri="{FF2B5EF4-FFF2-40B4-BE49-F238E27FC236}">
                  <a16:creationId xmlns:a16="http://schemas.microsoft.com/office/drawing/2014/main" id="{B8FD0122-B1E6-4884-4962-B41C82380966}"/>
                </a:ext>
              </a:extLst>
            </p:cNvPr>
            <p:cNvSpPr/>
            <p:nvPr/>
          </p:nvSpPr>
          <p:spPr>
            <a:xfrm>
              <a:off x="2135673" y="770944"/>
              <a:ext cx="770716" cy="1977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start</a:t>
              </a:r>
              <a:endParaRPr lang="en-IN" sz="1200" dirty="0">
                <a:solidFill>
                  <a:schemeClr val="tx1"/>
                </a:solidFill>
                <a:latin typeface="Bahnschrift Condensed" panose="020B0502040204020203" pitchFamily="34" charset="0"/>
              </a:endParaRPr>
            </a:p>
          </p:txBody>
        </p:sp>
        <p:sp>
          <p:nvSpPr>
            <p:cNvPr id="21" name="Rectangle: Rounded Corners 20">
              <a:extLst>
                <a:ext uri="{FF2B5EF4-FFF2-40B4-BE49-F238E27FC236}">
                  <a16:creationId xmlns:a16="http://schemas.microsoft.com/office/drawing/2014/main" id="{E6BF7CD3-0881-4B24-2904-FD349732E9DF}"/>
                </a:ext>
              </a:extLst>
            </p:cNvPr>
            <p:cNvSpPr/>
            <p:nvPr/>
          </p:nvSpPr>
          <p:spPr>
            <a:xfrm>
              <a:off x="3862306" y="2455166"/>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U-net Segmentation</a:t>
              </a:r>
              <a:endParaRPr lang="en-IN" sz="1200" dirty="0">
                <a:solidFill>
                  <a:schemeClr val="tx1"/>
                </a:solidFill>
                <a:latin typeface="Bahnschrift Condensed" panose="020B0502040204020203" pitchFamily="34" charset="0"/>
              </a:endParaRPr>
            </a:p>
          </p:txBody>
        </p:sp>
        <p:sp>
          <p:nvSpPr>
            <p:cNvPr id="23" name="Rectangle: Rounded Corners 22">
              <a:extLst>
                <a:ext uri="{FF2B5EF4-FFF2-40B4-BE49-F238E27FC236}">
                  <a16:creationId xmlns:a16="http://schemas.microsoft.com/office/drawing/2014/main" id="{123DF3AF-0C01-8AB1-BDB5-46132A0A7F34}"/>
                </a:ext>
              </a:extLst>
            </p:cNvPr>
            <p:cNvSpPr/>
            <p:nvPr/>
          </p:nvSpPr>
          <p:spPr>
            <a:xfrm>
              <a:off x="3862307" y="1997947"/>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Preprocess image</a:t>
              </a:r>
              <a:endParaRPr lang="en-IN" sz="1200" dirty="0">
                <a:solidFill>
                  <a:schemeClr val="tx1"/>
                </a:solidFill>
                <a:latin typeface="Bahnschrift Condensed" panose="020B0502040204020203" pitchFamily="34" charset="0"/>
              </a:endParaRPr>
            </a:p>
          </p:txBody>
        </p:sp>
        <p:cxnSp>
          <p:nvCxnSpPr>
            <p:cNvPr id="22" name="Straight Arrow Connector 21">
              <a:extLst>
                <a:ext uri="{FF2B5EF4-FFF2-40B4-BE49-F238E27FC236}">
                  <a16:creationId xmlns:a16="http://schemas.microsoft.com/office/drawing/2014/main" id="{AF38A4A8-7CAC-1468-6834-540BBDA74B69}"/>
                </a:ext>
              </a:extLst>
            </p:cNvPr>
            <p:cNvCxnSpPr>
              <a:cxnSpLocks/>
              <a:stCxn id="4" idx="2"/>
              <a:endCxn id="23" idx="0"/>
            </p:cNvCxnSpPr>
            <p:nvPr/>
          </p:nvCxnSpPr>
          <p:spPr>
            <a:xfrm>
              <a:off x="4489085" y="1780370"/>
              <a:ext cx="0" cy="217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D1129BF0-E610-2F1D-EB77-49AD369B5E18}"/>
                </a:ext>
              </a:extLst>
            </p:cNvPr>
            <p:cNvCxnSpPr>
              <a:cxnSpLocks/>
              <a:stCxn id="23" idx="2"/>
              <a:endCxn id="21" idx="0"/>
            </p:cNvCxnSpPr>
            <p:nvPr/>
          </p:nvCxnSpPr>
          <p:spPr>
            <a:xfrm flipH="1">
              <a:off x="4489084" y="2195665"/>
              <a:ext cx="1" cy="259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059DE1E3-98FB-A876-5209-72A6D17D8CA0}"/>
                </a:ext>
              </a:extLst>
            </p:cNvPr>
            <p:cNvCxnSpPr>
              <a:cxnSpLocks/>
              <a:stCxn id="21" idx="2"/>
              <a:endCxn id="14" idx="0"/>
            </p:cNvCxnSpPr>
            <p:nvPr/>
          </p:nvCxnSpPr>
          <p:spPr>
            <a:xfrm flipH="1">
              <a:off x="4487643" y="2652884"/>
              <a:ext cx="1441" cy="1582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EB0D7F83-A865-4229-217B-8F863B5F2338}"/>
                </a:ext>
              </a:extLst>
            </p:cNvPr>
            <p:cNvCxnSpPr>
              <a:cxnSpLocks/>
              <a:stCxn id="14" idx="2"/>
              <a:endCxn id="16" idx="0"/>
            </p:cNvCxnSpPr>
            <p:nvPr/>
          </p:nvCxnSpPr>
          <p:spPr>
            <a:xfrm>
              <a:off x="4487643" y="3450028"/>
              <a:ext cx="4189" cy="1439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763468A0-2B48-4C0A-2BFC-3DFAAB42FB87}"/>
                </a:ext>
              </a:extLst>
            </p:cNvPr>
            <p:cNvCxnSpPr>
              <a:cxnSpLocks/>
              <a:endCxn id="9" idx="1"/>
            </p:cNvCxnSpPr>
            <p:nvPr/>
          </p:nvCxnSpPr>
          <p:spPr>
            <a:xfrm flipV="1">
              <a:off x="2909609" y="867163"/>
              <a:ext cx="1094829" cy="219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1" name="TextBox 60">
              <a:extLst>
                <a:ext uri="{FF2B5EF4-FFF2-40B4-BE49-F238E27FC236}">
                  <a16:creationId xmlns:a16="http://schemas.microsoft.com/office/drawing/2014/main" id="{9986D90D-E99E-A838-9A2B-A6915C50F49A}"/>
                </a:ext>
              </a:extLst>
            </p:cNvPr>
            <p:cNvSpPr txBox="1"/>
            <p:nvPr/>
          </p:nvSpPr>
          <p:spPr>
            <a:xfrm>
              <a:off x="4575203" y="1690598"/>
              <a:ext cx="494046" cy="307777"/>
            </a:xfrm>
            <a:prstGeom prst="rect">
              <a:avLst/>
            </a:prstGeom>
            <a:noFill/>
          </p:spPr>
          <p:txBody>
            <a:bodyPr wrap="square" rtlCol="0">
              <a:spAutoFit/>
            </a:bodyPr>
            <a:lstStyle/>
            <a:p>
              <a:r>
                <a:rPr lang="en-IN" dirty="0"/>
                <a:t>Yes</a:t>
              </a:r>
            </a:p>
          </p:txBody>
        </p:sp>
        <p:sp>
          <p:nvSpPr>
            <p:cNvPr id="65" name="TextBox 64">
              <a:extLst>
                <a:ext uri="{FF2B5EF4-FFF2-40B4-BE49-F238E27FC236}">
                  <a16:creationId xmlns:a16="http://schemas.microsoft.com/office/drawing/2014/main" id="{6E8673AB-91FA-5522-25F1-AA9AF87AEECD}"/>
                </a:ext>
              </a:extLst>
            </p:cNvPr>
            <p:cNvSpPr txBox="1"/>
            <p:nvPr/>
          </p:nvSpPr>
          <p:spPr>
            <a:xfrm>
              <a:off x="4652170" y="3295105"/>
              <a:ext cx="557772" cy="307777"/>
            </a:xfrm>
            <a:prstGeom prst="rect">
              <a:avLst/>
            </a:prstGeom>
            <a:noFill/>
          </p:spPr>
          <p:txBody>
            <a:bodyPr wrap="square">
              <a:spAutoFit/>
            </a:bodyPr>
            <a:lstStyle/>
            <a:p>
              <a:r>
                <a:rPr lang="en-IN" dirty="0"/>
                <a:t>Yes</a:t>
              </a:r>
            </a:p>
          </p:txBody>
        </p:sp>
        <p:sp>
          <p:nvSpPr>
            <p:cNvPr id="69" name="TextBox 68">
              <a:extLst>
                <a:ext uri="{FF2B5EF4-FFF2-40B4-BE49-F238E27FC236}">
                  <a16:creationId xmlns:a16="http://schemas.microsoft.com/office/drawing/2014/main" id="{2E8C687D-ADE5-5AF4-ADB3-EDB26E1FE4C3}"/>
                </a:ext>
              </a:extLst>
            </p:cNvPr>
            <p:cNvSpPr txBox="1"/>
            <p:nvPr/>
          </p:nvSpPr>
          <p:spPr>
            <a:xfrm>
              <a:off x="5119546" y="2894274"/>
              <a:ext cx="485788" cy="307777"/>
            </a:xfrm>
            <a:prstGeom prst="rect">
              <a:avLst/>
            </a:prstGeom>
            <a:noFill/>
          </p:spPr>
          <p:txBody>
            <a:bodyPr wrap="square">
              <a:spAutoFit/>
            </a:bodyPr>
            <a:lstStyle/>
            <a:p>
              <a:r>
                <a:rPr lang="en-IN" dirty="0"/>
                <a:t>No</a:t>
              </a:r>
            </a:p>
          </p:txBody>
        </p:sp>
      </p:grpSp>
      <p:sp>
        <p:nvSpPr>
          <p:cNvPr id="34" name="TextBox 33">
            <a:extLst>
              <a:ext uri="{FF2B5EF4-FFF2-40B4-BE49-F238E27FC236}">
                <a16:creationId xmlns:a16="http://schemas.microsoft.com/office/drawing/2014/main" id="{12002695-2B48-0D83-C9EE-69108CDE94D7}"/>
              </a:ext>
            </a:extLst>
          </p:cNvPr>
          <p:cNvSpPr txBox="1"/>
          <p:nvPr/>
        </p:nvSpPr>
        <p:spPr>
          <a:xfrm rot="10800000" flipV="1">
            <a:off x="86265" y="-232134"/>
            <a:ext cx="5214086" cy="597984"/>
          </a:xfrm>
          <a:prstGeom prst="rect">
            <a:avLst/>
          </a:prstGeom>
          <a:noFill/>
        </p:spPr>
        <p:txBody>
          <a:bodyPr wrap="square">
            <a:spAutoFit/>
          </a:bodyPr>
          <a:lstStyle/>
          <a:p>
            <a:pPr>
              <a:lnSpc>
                <a:spcPct val="120000"/>
              </a:lnSpc>
              <a:buClrTx/>
            </a:pPr>
            <a:r>
              <a:rPr lang="en-US" altLang="en-US" sz="3000" b="1" dirty="0">
                <a:latin typeface="Times New Roman" panose="02020603050405020304" pitchFamily="18" charset="0"/>
                <a:cs typeface="Times New Roman" panose="02020603050405020304" pitchFamily="18" charset="0"/>
                <a:sym typeface="Times New Roman" panose="02020603050405020304" pitchFamily="18" charset="0"/>
              </a:rPr>
              <a:t>Control flow diagram</a:t>
            </a:r>
            <a:endParaRPr lang="en-US" altLang="en-US" sz="30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Rectangle: Rounded Corners 2">
            <a:extLst>
              <a:ext uri="{FF2B5EF4-FFF2-40B4-BE49-F238E27FC236}">
                <a16:creationId xmlns:a16="http://schemas.microsoft.com/office/drawing/2014/main" id="{5737658F-37BC-9827-9023-CAA9E4F054D3}"/>
              </a:ext>
            </a:extLst>
          </p:cNvPr>
          <p:cNvSpPr/>
          <p:nvPr/>
        </p:nvSpPr>
        <p:spPr>
          <a:xfrm>
            <a:off x="3559031" y="3915806"/>
            <a:ext cx="1866141" cy="23573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Table generated with 7 features</a:t>
            </a:r>
            <a:endParaRPr lang="en-IN" sz="1200" dirty="0">
              <a:solidFill>
                <a:schemeClr val="tx1"/>
              </a:solidFill>
              <a:latin typeface="Bahnschrift Condensed" panose="020B0502040204020203" pitchFamily="34" charset="0"/>
            </a:endParaRPr>
          </a:p>
        </p:txBody>
      </p:sp>
      <p:cxnSp>
        <p:nvCxnSpPr>
          <p:cNvPr id="5" name="Straight Arrow Connector 4">
            <a:extLst>
              <a:ext uri="{FF2B5EF4-FFF2-40B4-BE49-F238E27FC236}">
                <a16:creationId xmlns:a16="http://schemas.microsoft.com/office/drawing/2014/main" id="{D9555C3D-43D0-B7FB-E8E9-44024E16AC86}"/>
              </a:ext>
            </a:extLst>
          </p:cNvPr>
          <p:cNvCxnSpPr>
            <a:cxnSpLocks/>
          </p:cNvCxnSpPr>
          <p:nvPr/>
        </p:nvCxnSpPr>
        <p:spPr>
          <a:xfrm>
            <a:off x="2214964" y="3174093"/>
            <a:ext cx="0" cy="2361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Rectangle: Rounded Corners 11">
            <a:extLst>
              <a:ext uri="{FF2B5EF4-FFF2-40B4-BE49-F238E27FC236}">
                <a16:creationId xmlns:a16="http://schemas.microsoft.com/office/drawing/2014/main" id="{1C3F5F65-777A-EC7D-D9E5-1AD0CA15B76A}"/>
              </a:ext>
            </a:extLst>
          </p:cNvPr>
          <p:cNvSpPr/>
          <p:nvPr/>
        </p:nvSpPr>
        <p:spPr>
          <a:xfrm>
            <a:off x="1582709" y="3373522"/>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UKPDS lookup table</a:t>
            </a:r>
            <a:endParaRPr lang="en-IN" sz="1200" dirty="0">
              <a:solidFill>
                <a:schemeClr val="tx1"/>
              </a:solidFill>
              <a:latin typeface="Bahnschrift Condensed" panose="020B0502040204020203" pitchFamily="34" charset="0"/>
            </a:endParaRPr>
          </a:p>
        </p:txBody>
      </p:sp>
      <p:cxnSp>
        <p:nvCxnSpPr>
          <p:cNvPr id="56" name="Straight Connector 55">
            <a:extLst>
              <a:ext uri="{FF2B5EF4-FFF2-40B4-BE49-F238E27FC236}">
                <a16:creationId xmlns:a16="http://schemas.microsoft.com/office/drawing/2014/main" id="{54C18DB7-08BC-ACFD-7124-BB9C43F9C432}"/>
              </a:ext>
            </a:extLst>
          </p:cNvPr>
          <p:cNvCxnSpPr>
            <a:cxnSpLocks/>
            <a:endCxn id="16" idx="1"/>
          </p:cNvCxnSpPr>
          <p:nvPr/>
        </p:nvCxnSpPr>
        <p:spPr>
          <a:xfrm>
            <a:off x="2206459" y="3168541"/>
            <a:ext cx="1684332" cy="15619"/>
          </a:xfrm>
          <a:prstGeom prst="line">
            <a:avLst/>
          </a:prstGeom>
        </p:spPr>
        <p:style>
          <a:lnRef idx="2">
            <a:schemeClr val="dk1"/>
          </a:lnRef>
          <a:fillRef idx="0">
            <a:schemeClr val="dk1"/>
          </a:fillRef>
          <a:effectRef idx="1">
            <a:schemeClr val="dk1"/>
          </a:effectRef>
          <a:fontRef idx="minor">
            <a:schemeClr val="tx1"/>
          </a:fontRef>
        </p:style>
      </p:cxnSp>
      <p:sp>
        <p:nvSpPr>
          <p:cNvPr id="71" name="Rectangle: Rounded Corners 70">
            <a:extLst>
              <a:ext uri="{FF2B5EF4-FFF2-40B4-BE49-F238E27FC236}">
                <a16:creationId xmlns:a16="http://schemas.microsoft.com/office/drawing/2014/main" id="{95F1BDB7-922F-9426-6985-07D0F453760C}"/>
              </a:ext>
            </a:extLst>
          </p:cNvPr>
          <p:cNvSpPr/>
          <p:nvPr/>
        </p:nvSpPr>
        <p:spPr>
          <a:xfrm>
            <a:off x="3862306" y="4303720"/>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Regression model</a:t>
            </a:r>
            <a:endParaRPr lang="en-IN" sz="1200" dirty="0">
              <a:solidFill>
                <a:schemeClr val="tx1"/>
              </a:solidFill>
              <a:latin typeface="Bahnschrift Condensed" panose="020B0502040204020203" pitchFamily="34" charset="0"/>
            </a:endParaRPr>
          </a:p>
        </p:txBody>
      </p:sp>
      <p:cxnSp>
        <p:nvCxnSpPr>
          <p:cNvPr id="83" name="Straight Arrow Connector 82">
            <a:extLst>
              <a:ext uri="{FF2B5EF4-FFF2-40B4-BE49-F238E27FC236}">
                <a16:creationId xmlns:a16="http://schemas.microsoft.com/office/drawing/2014/main" id="{07459EB6-749B-252D-167C-0096AE8ED3A4}"/>
              </a:ext>
            </a:extLst>
          </p:cNvPr>
          <p:cNvCxnSpPr>
            <a:cxnSpLocks/>
            <a:stCxn id="3" idx="2"/>
            <a:endCxn id="71" idx="0"/>
          </p:cNvCxnSpPr>
          <p:nvPr/>
        </p:nvCxnSpPr>
        <p:spPr>
          <a:xfrm flipH="1">
            <a:off x="4489084" y="4151545"/>
            <a:ext cx="3018" cy="1521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5" name="Straight Arrow Connector 84">
            <a:extLst>
              <a:ext uri="{FF2B5EF4-FFF2-40B4-BE49-F238E27FC236}">
                <a16:creationId xmlns:a16="http://schemas.microsoft.com/office/drawing/2014/main" id="{7D86D482-C27A-4A17-C792-73CA7A5E80D7}"/>
              </a:ext>
            </a:extLst>
          </p:cNvPr>
          <p:cNvCxnSpPr>
            <a:cxnSpLocks/>
          </p:cNvCxnSpPr>
          <p:nvPr/>
        </p:nvCxnSpPr>
        <p:spPr>
          <a:xfrm flipH="1">
            <a:off x="4476038" y="4500463"/>
            <a:ext cx="1" cy="1350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CE9A173D-FF7B-C84D-5ABD-FAD1937A9E73}"/>
              </a:ext>
            </a:extLst>
          </p:cNvPr>
          <p:cNvCxnSpPr>
            <a:cxnSpLocks/>
          </p:cNvCxnSpPr>
          <p:nvPr/>
        </p:nvCxnSpPr>
        <p:spPr>
          <a:xfrm flipV="1">
            <a:off x="2546768" y="475486"/>
            <a:ext cx="0" cy="3375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Rectangle: Rounded Corners 5">
            <a:extLst>
              <a:ext uri="{FF2B5EF4-FFF2-40B4-BE49-F238E27FC236}">
                <a16:creationId xmlns:a16="http://schemas.microsoft.com/office/drawing/2014/main" id="{7B31F0EF-8A74-7059-9971-4E05661C4055}"/>
              </a:ext>
            </a:extLst>
          </p:cNvPr>
          <p:cNvSpPr/>
          <p:nvPr/>
        </p:nvSpPr>
        <p:spPr>
          <a:xfrm>
            <a:off x="1476263" y="3930895"/>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Bahnschrift Condensed" panose="020B0502040204020203" pitchFamily="34" charset="0"/>
              </a:rPr>
              <a:t>Nhanes</a:t>
            </a:r>
            <a:r>
              <a:rPr lang="en-US" sz="1200" dirty="0">
                <a:solidFill>
                  <a:schemeClr val="tx1"/>
                </a:solidFill>
                <a:latin typeface="Bahnschrift Condensed" panose="020B0502040204020203" pitchFamily="34" charset="0"/>
              </a:rPr>
              <a:t> </a:t>
            </a:r>
            <a:endParaRPr lang="en-IN" sz="1200" dirty="0">
              <a:solidFill>
                <a:schemeClr val="tx1"/>
              </a:solidFill>
              <a:latin typeface="Bahnschrift Condensed" panose="020B0502040204020203" pitchFamily="34" charset="0"/>
            </a:endParaRPr>
          </a:p>
        </p:txBody>
      </p:sp>
      <p:sp>
        <p:nvSpPr>
          <p:cNvPr id="35" name="Rectangle: Rounded Corners 34">
            <a:extLst>
              <a:ext uri="{FF2B5EF4-FFF2-40B4-BE49-F238E27FC236}">
                <a16:creationId xmlns:a16="http://schemas.microsoft.com/office/drawing/2014/main" id="{B977C55B-8DF1-9387-512C-AB33438AF899}"/>
              </a:ext>
            </a:extLst>
          </p:cNvPr>
          <p:cNvSpPr/>
          <p:nvPr/>
        </p:nvSpPr>
        <p:spPr>
          <a:xfrm>
            <a:off x="3839241" y="3507934"/>
            <a:ext cx="1253555" cy="197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Hb1ac midpoint</a:t>
            </a:r>
            <a:endParaRPr lang="en-IN" sz="1200" dirty="0">
              <a:solidFill>
                <a:schemeClr val="tx1"/>
              </a:solidFill>
              <a:latin typeface="Bahnschrift Condensed" panose="020B0502040204020203" pitchFamily="34" charset="0"/>
            </a:endParaRPr>
          </a:p>
        </p:txBody>
      </p:sp>
      <p:sp>
        <p:nvSpPr>
          <p:cNvPr id="39" name="Rectangle: Rounded Corners 38">
            <a:extLst>
              <a:ext uri="{FF2B5EF4-FFF2-40B4-BE49-F238E27FC236}">
                <a16:creationId xmlns:a16="http://schemas.microsoft.com/office/drawing/2014/main" id="{53B4085B-C8D7-4166-C978-2B5FB97FF598}"/>
              </a:ext>
            </a:extLst>
          </p:cNvPr>
          <p:cNvSpPr/>
          <p:nvPr/>
        </p:nvSpPr>
        <p:spPr>
          <a:xfrm>
            <a:off x="2164631" y="816439"/>
            <a:ext cx="882778" cy="26289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Reject</a:t>
            </a:r>
            <a:endParaRPr lang="en-IN" sz="1200" dirty="0">
              <a:solidFill>
                <a:schemeClr val="tx1"/>
              </a:solidFill>
              <a:latin typeface="Bahnschrift Condensed" panose="020B0502040204020203" pitchFamily="34" charset="0"/>
            </a:endParaRPr>
          </a:p>
        </p:txBody>
      </p:sp>
      <p:sp>
        <p:nvSpPr>
          <p:cNvPr id="41" name="TextBox 40">
            <a:extLst>
              <a:ext uri="{FF2B5EF4-FFF2-40B4-BE49-F238E27FC236}">
                <a16:creationId xmlns:a16="http://schemas.microsoft.com/office/drawing/2014/main" id="{FA091154-A1CD-3E4A-BCA9-F2990E32EBA2}"/>
              </a:ext>
            </a:extLst>
          </p:cNvPr>
          <p:cNvSpPr txBox="1"/>
          <p:nvPr/>
        </p:nvSpPr>
        <p:spPr>
          <a:xfrm>
            <a:off x="3256167" y="659105"/>
            <a:ext cx="557798" cy="307777"/>
          </a:xfrm>
          <a:prstGeom prst="rect">
            <a:avLst/>
          </a:prstGeom>
          <a:noFill/>
        </p:spPr>
        <p:txBody>
          <a:bodyPr wrap="square">
            <a:spAutoFit/>
          </a:bodyPr>
          <a:lstStyle/>
          <a:p>
            <a:r>
              <a:rPr lang="en-IN" dirty="0">
                <a:latin typeface="Bahnschrift Light Condensed" panose="020B0502040204020203" pitchFamily="34" charset="0"/>
              </a:rPr>
              <a:t>No</a:t>
            </a:r>
          </a:p>
        </p:txBody>
      </p:sp>
      <p:cxnSp>
        <p:nvCxnSpPr>
          <p:cNvPr id="73" name="Straight Arrow Connector 72">
            <a:extLst>
              <a:ext uri="{FF2B5EF4-FFF2-40B4-BE49-F238E27FC236}">
                <a16:creationId xmlns:a16="http://schemas.microsoft.com/office/drawing/2014/main" id="{37D39BE7-DD52-0FCD-D0D1-FA6B20738800}"/>
              </a:ext>
            </a:extLst>
          </p:cNvPr>
          <p:cNvCxnSpPr>
            <a:cxnSpLocks/>
            <a:endCxn id="39" idx="3"/>
          </p:cNvCxnSpPr>
          <p:nvPr/>
        </p:nvCxnSpPr>
        <p:spPr>
          <a:xfrm flipH="1" flipV="1">
            <a:off x="3047409" y="947885"/>
            <a:ext cx="883684" cy="77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9" name="Straight Arrow Connector 98">
            <a:extLst>
              <a:ext uri="{FF2B5EF4-FFF2-40B4-BE49-F238E27FC236}">
                <a16:creationId xmlns:a16="http://schemas.microsoft.com/office/drawing/2014/main" id="{1A98DB7A-6017-DDF4-7481-6568680BB867}"/>
              </a:ext>
            </a:extLst>
          </p:cNvPr>
          <p:cNvCxnSpPr>
            <a:cxnSpLocks/>
          </p:cNvCxnSpPr>
          <p:nvPr/>
        </p:nvCxnSpPr>
        <p:spPr>
          <a:xfrm flipH="1">
            <a:off x="4513379" y="3280491"/>
            <a:ext cx="1" cy="259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1" name="Straight Arrow Connector 100">
            <a:extLst>
              <a:ext uri="{FF2B5EF4-FFF2-40B4-BE49-F238E27FC236}">
                <a16:creationId xmlns:a16="http://schemas.microsoft.com/office/drawing/2014/main" id="{ACA5925E-EC4B-62F8-2C68-A8A73FE96B6C}"/>
              </a:ext>
            </a:extLst>
          </p:cNvPr>
          <p:cNvCxnSpPr>
            <a:cxnSpLocks/>
            <a:stCxn id="35" idx="2"/>
            <a:endCxn id="3" idx="0"/>
          </p:cNvCxnSpPr>
          <p:nvPr/>
        </p:nvCxnSpPr>
        <p:spPr>
          <a:xfrm>
            <a:off x="4466019" y="3705652"/>
            <a:ext cx="26083" cy="2101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2C203D63-0CCA-93D6-1FC8-1F43178F7EBB}"/>
              </a:ext>
            </a:extLst>
          </p:cNvPr>
          <p:cNvCxnSpPr>
            <a:cxnSpLocks/>
            <a:stCxn id="6" idx="3"/>
            <a:endCxn id="3" idx="1"/>
          </p:cNvCxnSpPr>
          <p:nvPr/>
        </p:nvCxnSpPr>
        <p:spPr>
          <a:xfrm>
            <a:off x="2729818" y="4029754"/>
            <a:ext cx="829213" cy="39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Google Shape;353;p10">
            <a:extLst>
              <a:ext uri="{FF2B5EF4-FFF2-40B4-BE49-F238E27FC236}">
                <a16:creationId xmlns:a16="http://schemas.microsoft.com/office/drawing/2014/main" id="{282C01C4-5AF4-E105-CF53-C6068852F6CC}"/>
              </a:ext>
            </a:extLst>
          </p:cNvPr>
          <p:cNvSpPr txBox="1">
            <a:spLocks noChangeArrowheads="1"/>
          </p:cNvSpPr>
          <p:nvPr/>
        </p:nvSpPr>
        <p:spPr bwMode="auto">
          <a:xfrm>
            <a:off x="635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Module connectivity diagram</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7BF554AC-3717-081D-FA46-5C3F010DB62B}"/>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sp>
        <p:nvSpPr>
          <p:cNvPr id="4" name="TextBox 3">
            <a:extLst>
              <a:ext uri="{FF2B5EF4-FFF2-40B4-BE49-F238E27FC236}">
                <a16:creationId xmlns:a16="http://schemas.microsoft.com/office/drawing/2014/main" id="{6D9BA6D5-6A9E-319C-EEED-899C4E2DD888}"/>
              </a:ext>
            </a:extLst>
          </p:cNvPr>
          <p:cNvSpPr txBox="1"/>
          <p:nvPr/>
        </p:nvSpPr>
        <p:spPr>
          <a:xfrm>
            <a:off x="8604448" y="4683323"/>
            <a:ext cx="451432" cy="307777"/>
          </a:xfrm>
          <a:prstGeom prst="rect">
            <a:avLst/>
          </a:prstGeom>
          <a:noFill/>
        </p:spPr>
        <p:txBody>
          <a:bodyPr wrap="square">
            <a:spAutoFit/>
          </a:bodyPr>
          <a:lstStyle/>
          <a:p>
            <a:fld id="{DA2FB1D4-4E4D-4581-89B2-8F96AFD91271}" type="slidenum">
              <a:rPr lang="en-US" altLang="en-US" sz="1400" smtClean="0">
                <a:solidFill>
                  <a:srgbClr val="595959"/>
                </a:solidFill>
              </a:rPr>
              <a:pPr/>
              <a:t>31</a:t>
            </a:fld>
            <a:endParaRPr lang="en-IN" dirty="0"/>
          </a:p>
        </p:txBody>
      </p:sp>
      <p:sp>
        <p:nvSpPr>
          <p:cNvPr id="5" name="Rectangle 4">
            <a:extLst>
              <a:ext uri="{FF2B5EF4-FFF2-40B4-BE49-F238E27FC236}">
                <a16:creationId xmlns:a16="http://schemas.microsoft.com/office/drawing/2014/main" id="{8EE731BC-4C84-6C4C-6EFB-43832CF50AE6}"/>
              </a:ext>
            </a:extLst>
          </p:cNvPr>
          <p:cNvSpPr/>
          <p:nvPr/>
        </p:nvSpPr>
        <p:spPr>
          <a:xfrm>
            <a:off x="364369" y="1414983"/>
            <a:ext cx="1616599" cy="103243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F398DA90-D3C8-BD90-B810-AD7FE9D19D27}"/>
              </a:ext>
            </a:extLst>
          </p:cNvPr>
          <p:cNvSpPr/>
          <p:nvPr/>
        </p:nvSpPr>
        <p:spPr>
          <a:xfrm>
            <a:off x="624742" y="1534793"/>
            <a:ext cx="1121562" cy="349356"/>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Input module</a:t>
            </a:r>
            <a:endParaRPr lang="en-IN" sz="1200" dirty="0">
              <a:solidFill>
                <a:schemeClr val="tx1"/>
              </a:solidFill>
              <a:latin typeface="Bahnschrift Condensed" panose="020B0502040204020203" pitchFamily="34" charset="0"/>
            </a:endParaRPr>
          </a:p>
        </p:txBody>
      </p:sp>
      <p:sp>
        <p:nvSpPr>
          <p:cNvPr id="15" name="Rectangle: Rounded Corners 14">
            <a:extLst>
              <a:ext uri="{FF2B5EF4-FFF2-40B4-BE49-F238E27FC236}">
                <a16:creationId xmlns:a16="http://schemas.microsoft.com/office/drawing/2014/main" id="{0D6F8B22-1777-78DD-F287-A8D53CD7048E}"/>
              </a:ext>
            </a:extLst>
          </p:cNvPr>
          <p:cNvSpPr/>
          <p:nvPr/>
        </p:nvSpPr>
        <p:spPr>
          <a:xfrm>
            <a:off x="665740" y="2107678"/>
            <a:ext cx="1000752" cy="2377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Preprocessing</a:t>
            </a:r>
            <a:endParaRPr lang="en-IN" sz="1200" dirty="0">
              <a:latin typeface="Bahnschrift Condensed" panose="020B0502040204020203" pitchFamily="34" charset="0"/>
            </a:endParaRPr>
          </a:p>
        </p:txBody>
      </p:sp>
      <p:sp>
        <p:nvSpPr>
          <p:cNvPr id="16" name="Rectangle 15">
            <a:extLst>
              <a:ext uri="{FF2B5EF4-FFF2-40B4-BE49-F238E27FC236}">
                <a16:creationId xmlns:a16="http://schemas.microsoft.com/office/drawing/2014/main" id="{253B225B-4883-5E08-48D4-AA3F64F234B5}"/>
              </a:ext>
            </a:extLst>
          </p:cNvPr>
          <p:cNvSpPr/>
          <p:nvPr/>
        </p:nvSpPr>
        <p:spPr>
          <a:xfrm>
            <a:off x="2243300" y="1414983"/>
            <a:ext cx="1440161" cy="103243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21EA8945-2652-408B-1A95-B11A594D4C5D}"/>
              </a:ext>
            </a:extLst>
          </p:cNvPr>
          <p:cNvSpPr/>
          <p:nvPr/>
        </p:nvSpPr>
        <p:spPr>
          <a:xfrm>
            <a:off x="4025219" y="1414983"/>
            <a:ext cx="1656183" cy="103243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2067EFCB-8903-BD6E-2E39-99453DFE53D9}"/>
              </a:ext>
            </a:extLst>
          </p:cNvPr>
          <p:cNvSpPr/>
          <p:nvPr/>
        </p:nvSpPr>
        <p:spPr>
          <a:xfrm>
            <a:off x="2505633" y="1612176"/>
            <a:ext cx="915497" cy="21602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Lesion mask</a:t>
            </a:r>
          </a:p>
        </p:txBody>
      </p:sp>
      <p:sp>
        <p:nvSpPr>
          <p:cNvPr id="20" name="Rectangle: Rounded Corners 19">
            <a:extLst>
              <a:ext uri="{FF2B5EF4-FFF2-40B4-BE49-F238E27FC236}">
                <a16:creationId xmlns:a16="http://schemas.microsoft.com/office/drawing/2014/main" id="{9378932C-8AA2-95E2-7ECF-F9A5E6805670}"/>
              </a:ext>
            </a:extLst>
          </p:cNvPr>
          <p:cNvSpPr/>
          <p:nvPr/>
        </p:nvSpPr>
        <p:spPr>
          <a:xfrm>
            <a:off x="2505632" y="2072257"/>
            <a:ext cx="915498" cy="21602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Segmentation </a:t>
            </a:r>
            <a:endParaRPr lang="en-IN" sz="1200" dirty="0">
              <a:solidFill>
                <a:schemeClr val="tx1"/>
              </a:solidFill>
              <a:latin typeface="Bahnschrift Condensed" panose="020B0502040204020203" pitchFamily="34" charset="0"/>
            </a:endParaRPr>
          </a:p>
        </p:txBody>
      </p:sp>
      <p:sp>
        <p:nvSpPr>
          <p:cNvPr id="25" name="Rectangle 24">
            <a:extLst>
              <a:ext uri="{FF2B5EF4-FFF2-40B4-BE49-F238E27FC236}">
                <a16:creationId xmlns:a16="http://schemas.microsoft.com/office/drawing/2014/main" id="{58A64C8D-5B6B-1133-B88B-89F59B99755D}"/>
              </a:ext>
            </a:extLst>
          </p:cNvPr>
          <p:cNvSpPr/>
          <p:nvPr/>
        </p:nvSpPr>
        <p:spPr>
          <a:xfrm>
            <a:off x="5943734" y="1128539"/>
            <a:ext cx="2605272" cy="16674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79E511F8-CD7D-63F7-B995-4672EE9986DB}"/>
              </a:ext>
            </a:extLst>
          </p:cNvPr>
          <p:cNvSpPr/>
          <p:nvPr/>
        </p:nvSpPr>
        <p:spPr>
          <a:xfrm>
            <a:off x="6524370" y="1261198"/>
            <a:ext cx="1264164" cy="373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UKPDS lookup table</a:t>
            </a:r>
          </a:p>
        </p:txBody>
      </p:sp>
      <p:sp>
        <p:nvSpPr>
          <p:cNvPr id="28" name="Rectangle: Rounded Corners 27">
            <a:extLst>
              <a:ext uri="{FF2B5EF4-FFF2-40B4-BE49-F238E27FC236}">
                <a16:creationId xmlns:a16="http://schemas.microsoft.com/office/drawing/2014/main" id="{A96FE362-52CD-2BF6-63A9-3B00E55B4EB8}"/>
              </a:ext>
            </a:extLst>
          </p:cNvPr>
          <p:cNvSpPr/>
          <p:nvPr/>
        </p:nvSpPr>
        <p:spPr>
          <a:xfrm>
            <a:off x="6356945" y="1765695"/>
            <a:ext cx="1728649" cy="373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Hb1Ac range-&gt;midpoint</a:t>
            </a:r>
            <a:endParaRPr lang="en-IN" sz="1200" dirty="0">
              <a:solidFill>
                <a:schemeClr val="tx1"/>
              </a:solidFill>
              <a:latin typeface="Bahnschrift Condensed" panose="020B0502040204020203" pitchFamily="34" charset="0"/>
            </a:endParaRPr>
          </a:p>
        </p:txBody>
      </p:sp>
      <p:sp>
        <p:nvSpPr>
          <p:cNvPr id="29" name="Rectangle: Rounded Corners 28">
            <a:extLst>
              <a:ext uri="{FF2B5EF4-FFF2-40B4-BE49-F238E27FC236}">
                <a16:creationId xmlns:a16="http://schemas.microsoft.com/office/drawing/2014/main" id="{3046D5AC-61E2-A115-F6B4-56D88E7FA9F5}"/>
              </a:ext>
            </a:extLst>
          </p:cNvPr>
          <p:cNvSpPr/>
          <p:nvPr/>
        </p:nvSpPr>
        <p:spPr>
          <a:xfrm>
            <a:off x="6356945" y="2289823"/>
            <a:ext cx="1728649" cy="373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Regression </a:t>
            </a:r>
            <a:r>
              <a:rPr lang="en-US" sz="1000" dirty="0">
                <a:solidFill>
                  <a:schemeClr val="tx1"/>
                </a:solidFill>
                <a:latin typeface="Bahnschrift Condensed" panose="020B0502040204020203" pitchFamily="34" charset="0"/>
              </a:rPr>
              <a:t>Model(CART/Lasso/RF trained on </a:t>
            </a:r>
            <a:r>
              <a:rPr lang="en-US" sz="1000" dirty="0" err="1">
                <a:solidFill>
                  <a:schemeClr val="tx1"/>
                </a:solidFill>
                <a:latin typeface="Bahnschrift Condensed" panose="020B0502040204020203" pitchFamily="34" charset="0"/>
              </a:rPr>
              <a:t>nHANES</a:t>
            </a:r>
            <a:endParaRPr lang="en-IN" sz="1000" dirty="0">
              <a:solidFill>
                <a:schemeClr val="tx1"/>
              </a:solidFill>
              <a:latin typeface="Bahnschrift Condensed" panose="020B0502040204020203" pitchFamily="34" charset="0"/>
            </a:endParaRPr>
          </a:p>
        </p:txBody>
      </p:sp>
      <p:sp>
        <p:nvSpPr>
          <p:cNvPr id="30" name="Rectangle: Rounded Corners 29">
            <a:extLst>
              <a:ext uri="{FF2B5EF4-FFF2-40B4-BE49-F238E27FC236}">
                <a16:creationId xmlns:a16="http://schemas.microsoft.com/office/drawing/2014/main" id="{749748F9-6499-B2CB-20C8-D1BC6B980DDD}"/>
              </a:ext>
            </a:extLst>
          </p:cNvPr>
          <p:cNvSpPr/>
          <p:nvPr/>
        </p:nvSpPr>
        <p:spPr>
          <a:xfrm>
            <a:off x="4277246" y="1534793"/>
            <a:ext cx="1152127" cy="4274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latin typeface="Bahnschrift Condensed" panose="020B0502040204020203" pitchFamily="34" charset="0"/>
              </a:rPr>
              <a:t>C</a:t>
            </a:r>
            <a:r>
              <a:rPr lang="en-US" sz="1200" dirty="0" err="1">
                <a:solidFill>
                  <a:schemeClr val="tx1"/>
                </a:solidFill>
                <a:latin typeface="Bahnschrift Condensed" panose="020B0502040204020203" pitchFamily="34" charset="0"/>
              </a:rPr>
              <a:t>Severity</a:t>
            </a:r>
            <a:r>
              <a:rPr lang="en-US" sz="1200" dirty="0">
                <a:solidFill>
                  <a:schemeClr val="tx1"/>
                </a:solidFill>
                <a:latin typeface="Bahnschrift Condensed" panose="020B0502040204020203" pitchFamily="34" charset="0"/>
              </a:rPr>
              <a:t> prediction</a:t>
            </a:r>
            <a:endParaRPr lang="en-IN" sz="1200" dirty="0">
              <a:latin typeface="Bahnschrift Condensed" panose="020B0502040204020203" pitchFamily="34" charset="0"/>
            </a:endParaRPr>
          </a:p>
        </p:txBody>
      </p:sp>
      <p:sp>
        <p:nvSpPr>
          <p:cNvPr id="31" name="Rectangle: Rounded Corners 30">
            <a:extLst>
              <a:ext uri="{FF2B5EF4-FFF2-40B4-BE49-F238E27FC236}">
                <a16:creationId xmlns:a16="http://schemas.microsoft.com/office/drawing/2014/main" id="{26B343FF-B0FC-BAB6-5BF6-3F0B6CC8F69B}"/>
              </a:ext>
            </a:extLst>
          </p:cNvPr>
          <p:cNvSpPr/>
          <p:nvPr/>
        </p:nvSpPr>
        <p:spPr>
          <a:xfrm>
            <a:off x="4277248" y="2068565"/>
            <a:ext cx="1152127" cy="29150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Bahnschrift Condensed" panose="020B0502040204020203" pitchFamily="34" charset="0"/>
              </a:rPr>
              <a:t>C</a:t>
            </a:r>
            <a:r>
              <a:rPr lang="en-US" sz="1200" dirty="0">
                <a:solidFill>
                  <a:schemeClr val="tx1"/>
                </a:solidFill>
                <a:latin typeface="Bahnschrift Condensed" panose="020B0502040204020203" pitchFamily="34" charset="0"/>
              </a:rPr>
              <a:t>DR grade</a:t>
            </a:r>
            <a:endParaRPr lang="en-IN" sz="1200" dirty="0">
              <a:latin typeface="Bahnschrift Condensed" panose="020B0502040204020203" pitchFamily="34" charset="0"/>
            </a:endParaRPr>
          </a:p>
        </p:txBody>
      </p:sp>
      <p:sp>
        <p:nvSpPr>
          <p:cNvPr id="32" name="Rectangle 31">
            <a:extLst>
              <a:ext uri="{FF2B5EF4-FFF2-40B4-BE49-F238E27FC236}">
                <a16:creationId xmlns:a16="http://schemas.microsoft.com/office/drawing/2014/main" id="{37C505AD-4488-4499-881E-07B6D90491EB}"/>
              </a:ext>
            </a:extLst>
          </p:cNvPr>
          <p:cNvSpPr/>
          <p:nvPr/>
        </p:nvSpPr>
        <p:spPr>
          <a:xfrm>
            <a:off x="6660233" y="3664846"/>
            <a:ext cx="1154117" cy="4349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Bahnschrift Condensed" panose="020B0502040204020203" pitchFamily="34" charset="0"/>
              </a:rPr>
              <a:t>Result</a:t>
            </a:r>
            <a:endParaRPr lang="en-IN" sz="1200" dirty="0">
              <a:solidFill>
                <a:schemeClr val="tx1"/>
              </a:solidFill>
              <a:latin typeface="Bahnschrift Condensed" panose="020B0502040204020203" pitchFamily="34" charset="0"/>
            </a:endParaRPr>
          </a:p>
        </p:txBody>
      </p:sp>
      <p:cxnSp>
        <p:nvCxnSpPr>
          <p:cNvPr id="6" name="Straight Arrow Connector 5">
            <a:extLst>
              <a:ext uri="{FF2B5EF4-FFF2-40B4-BE49-F238E27FC236}">
                <a16:creationId xmlns:a16="http://schemas.microsoft.com/office/drawing/2014/main" id="{BDEBAB88-346C-0519-F828-097D2F8A5946}"/>
              </a:ext>
            </a:extLst>
          </p:cNvPr>
          <p:cNvCxnSpPr>
            <a:stCxn id="5" idx="3"/>
            <a:endCxn id="16" idx="1"/>
          </p:cNvCxnSpPr>
          <p:nvPr/>
        </p:nvCxnSpPr>
        <p:spPr>
          <a:xfrm>
            <a:off x="1980968" y="1931198"/>
            <a:ext cx="26233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5E6C27F0-3283-0228-EBE7-EAFA92507F17}"/>
              </a:ext>
            </a:extLst>
          </p:cNvPr>
          <p:cNvCxnSpPr>
            <a:cxnSpLocks/>
            <a:endCxn id="17" idx="1"/>
          </p:cNvCxnSpPr>
          <p:nvPr/>
        </p:nvCxnSpPr>
        <p:spPr>
          <a:xfrm>
            <a:off x="3683461" y="1923731"/>
            <a:ext cx="341758" cy="74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78BF6816-8505-C717-085D-B79A532A165F}"/>
              </a:ext>
            </a:extLst>
          </p:cNvPr>
          <p:cNvCxnSpPr/>
          <p:nvPr/>
        </p:nvCxnSpPr>
        <p:spPr>
          <a:xfrm>
            <a:off x="5681402" y="1923731"/>
            <a:ext cx="26233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BD32855E-AABD-2EEF-5B1F-9F36FDD17B0E}"/>
              </a:ext>
            </a:extLst>
          </p:cNvPr>
          <p:cNvCxnSpPr>
            <a:cxnSpLocks/>
          </p:cNvCxnSpPr>
          <p:nvPr/>
        </p:nvCxnSpPr>
        <p:spPr>
          <a:xfrm>
            <a:off x="7246370" y="3341147"/>
            <a:ext cx="0" cy="2958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DCEFD3BD-23BC-B6D4-4D02-7099A6C9AF9E}"/>
              </a:ext>
            </a:extLst>
          </p:cNvPr>
          <p:cNvSpPr txBox="1"/>
          <p:nvPr/>
        </p:nvSpPr>
        <p:spPr>
          <a:xfrm>
            <a:off x="352453" y="2636172"/>
            <a:ext cx="1771276" cy="523220"/>
          </a:xfrm>
          <a:prstGeom prst="rect">
            <a:avLst/>
          </a:prstGeom>
          <a:noFill/>
        </p:spPr>
        <p:txBody>
          <a:bodyPr wrap="square" rtlCol="0">
            <a:spAutoFit/>
          </a:bodyPr>
          <a:lstStyle/>
          <a:p>
            <a:pPr algn="ctr"/>
            <a:r>
              <a:rPr lang="en-US" dirty="0"/>
              <a:t>Preprocessing Module</a:t>
            </a:r>
            <a:endParaRPr lang="en-IN" dirty="0"/>
          </a:p>
        </p:txBody>
      </p:sp>
      <p:sp>
        <p:nvSpPr>
          <p:cNvPr id="11" name="TextBox 10">
            <a:extLst>
              <a:ext uri="{FF2B5EF4-FFF2-40B4-BE49-F238E27FC236}">
                <a16:creationId xmlns:a16="http://schemas.microsoft.com/office/drawing/2014/main" id="{D7497341-FB01-742F-DE54-3B1127D5A219}"/>
              </a:ext>
            </a:extLst>
          </p:cNvPr>
          <p:cNvSpPr txBox="1"/>
          <p:nvPr/>
        </p:nvSpPr>
        <p:spPr>
          <a:xfrm>
            <a:off x="2020690" y="2663611"/>
            <a:ext cx="1811794" cy="523220"/>
          </a:xfrm>
          <a:prstGeom prst="rect">
            <a:avLst/>
          </a:prstGeom>
          <a:noFill/>
        </p:spPr>
        <p:txBody>
          <a:bodyPr wrap="square">
            <a:spAutoFit/>
          </a:bodyPr>
          <a:lstStyle/>
          <a:p>
            <a:pPr algn="ctr"/>
            <a:r>
              <a:rPr lang="en-US" dirty="0"/>
              <a:t>Segmentation</a:t>
            </a:r>
            <a:br>
              <a:rPr lang="en-US" dirty="0"/>
            </a:br>
            <a:r>
              <a:rPr lang="en-US" dirty="0"/>
              <a:t>Module</a:t>
            </a:r>
            <a:endParaRPr lang="en-IN" dirty="0"/>
          </a:p>
        </p:txBody>
      </p:sp>
      <p:sp>
        <p:nvSpPr>
          <p:cNvPr id="13" name="TextBox 12">
            <a:extLst>
              <a:ext uri="{FF2B5EF4-FFF2-40B4-BE49-F238E27FC236}">
                <a16:creationId xmlns:a16="http://schemas.microsoft.com/office/drawing/2014/main" id="{AD331008-1767-A801-8DAB-00ECCBDCDFE6}"/>
              </a:ext>
            </a:extLst>
          </p:cNvPr>
          <p:cNvSpPr txBox="1"/>
          <p:nvPr/>
        </p:nvSpPr>
        <p:spPr>
          <a:xfrm>
            <a:off x="3982597" y="2636172"/>
            <a:ext cx="1708755" cy="523220"/>
          </a:xfrm>
          <a:prstGeom prst="rect">
            <a:avLst/>
          </a:prstGeom>
          <a:noFill/>
        </p:spPr>
        <p:txBody>
          <a:bodyPr wrap="square">
            <a:spAutoFit/>
          </a:bodyPr>
          <a:lstStyle/>
          <a:p>
            <a:pPr algn="ctr"/>
            <a:r>
              <a:rPr lang="en-US" dirty="0"/>
              <a:t>Classification Module</a:t>
            </a:r>
            <a:endParaRPr lang="en-IN" dirty="0"/>
          </a:p>
        </p:txBody>
      </p:sp>
      <p:sp>
        <p:nvSpPr>
          <p:cNvPr id="21" name="TextBox 20">
            <a:extLst>
              <a:ext uri="{FF2B5EF4-FFF2-40B4-BE49-F238E27FC236}">
                <a16:creationId xmlns:a16="http://schemas.microsoft.com/office/drawing/2014/main" id="{02AD9D89-CECF-A655-22CD-94342B030C72}"/>
              </a:ext>
            </a:extLst>
          </p:cNvPr>
          <p:cNvSpPr txBox="1"/>
          <p:nvPr/>
        </p:nvSpPr>
        <p:spPr>
          <a:xfrm>
            <a:off x="5963659" y="2817927"/>
            <a:ext cx="2515219" cy="523220"/>
          </a:xfrm>
          <a:prstGeom prst="rect">
            <a:avLst/>
          </a:prstGeom>
          <a:noFill/>
        </p:spPr>
        <p:txBody>
          <a:bodyPr wrap="square">
            <a:spAutoFit/>
          </a:bodyPr>
          <a:lstStyle/>
          <a:p>
            <a:pPr algn="ctr"/>
            <a:r>
              <a:rPr lang="en-US" dirty="0"/>
              <a:t>Prediction </a:t>
            </a:r>
            <a:br>
              <a:rPr lang="en-US" dirty="0"/>
            </a:br>
            <a:r>
              <a:rPr lang="en-US" dirty="0"/>
              <a:t>Module</a:t>
            </a:r>
            <a:endParaRPr lang="en-IN" dirty="0"/>
          </a:p>
        </p:txBody>
      </p:sp>
      <p:sp>
        <p:nvSpPr>
          <p:cNvPr id="23" name="TextBox 22">
            <a:extLst>
              <a:ext uri="{FF2B5EF4-FFF2-40B4-BE49-F238E27FC236}">
                <a16:creationId xmlns:a16="http://schemas.microsoft.com/office/drawing/2014/main" id="{E41430FC-F507-7DBF-5178-F17BE24ADC87}"/>
              </a:ext>
            </a:extLst>
          </p:cNvPr>
          <p:cNvSpPr txBox="1"/>
          <p:nvPr/>
        </p:nvSpPr>
        <p:spPr>
          <a:xfrm>
            <a:off x="6270663" y="4080032"/>
            <a:ext cx="1977040" cy="523220"/>
          </a:xfrm>
          <a:prstGeom prst="rect">
            <a:avLst/>
          </a:prstGeom>
          <a:noFill/>
        </p:spPr>
        <p:txBody>
          <a:bodyPr wrap="square">
            <a:spAutoFit/>
          </a:bodyPr>
          <a:lstStyle/>
          <a:p>
            <a:pPr algn="ctr"/>
            <a:r>
              <a:rPr lang="en-US" dirty="0"/>
              <a:t>Output </a:t>
            </a:r>
            <a:br>
              <a:rPr lang="en-US" dirty="0"/>
            </a:br>
            <a:r>
              <a:rPr lang="en-US" dirty="0"/>
              <a:t>Module</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Google Shape;353;p10">
            <a:extLst>
              <a:ext uri="{FF2B5EF4-FFF2-40B4-BE49-F238E27FC236}">
                <a16:creationId xmlns:a16="http://schemas.microsoft.com/office/drawing/2014/main" id="{DC94BE16-323E-1E3F-DBD0-77BFAFEA69EA}"/>
              </a:ext>
            </a:extLst>
          </p:cNvPr>
          <p:cNvSpPr txBox="1">
            <a:spLocks noChangeArrowheads="1"/>
          </p:cNvSpPr>
          <p:nvPr/>
        </p:nvSpPr>
        <p:spPr bwMode="auto">
          <a:xfrm>
            <a:off x="635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Modules description</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15BACA0E-BB7B-0BD7-2B29-19DCA9CD786B}"/>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sp>
        <p:nvSpPr>
          <p:cNvPr id="5" name="TextBox 4">
            <a:extLst>
              <a:ext uri="{FF2B5EF4-FFF2-40B4-BE49-F238E27FC236}">
                <a16:creationId xmlns:a16="http://schemas.microsoft.com/office/drawing/2014/main" id="{C93F0017-6773-9E92-4246-8C924C187270}"/>
              </a:ext>
            </a:extLst>
          </p:cNvPr>
          <p:cNvSpPr txBox="1"/>
          <p:nvPr/>
        </p:nvSpPr>
        <p:spPr>
          <a:xfrm>
            <a:off x="276156" y="905404"/>
            <a:ext cx="8702744" cy="2923877"/>
          </a:xfrm>
          <a:prstGeom prst="rect">
            <a:avLst/>
          </a:prstGeom>
          <a:noFill/>
        </p:spPr>
        <p:txBody>
          <a:bodyPr wrap="square">
            <a:spAutoFit/>
          </a:bodyPr>
          <a:lstStyle/>
          <a:p>
            <a:pPr lvl="1">
              <a:defRP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Preprocessing Module</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Input: Retinal fundus image</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Processing: Apply Ben Graham illumination correction and CLAHE to enhance contrast and normalize lighting</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Output: Enhanced retinal image</a:t>
            </a:r>
          </a:p>
          <a:p>
            <a:pPr lvl="1">
              <a:defRPr/>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Segmentation Module (U-Net)</a:t>
            </a:r>
          </a:p>
          <a:p>
            <a:pPr marL="342900" lvl="1" indent="-342900">
              <a:buFont typeface="Arial" panose="020B0604020202020204" pitchFamily="34" charset="0"/>
              <a:buChar char="•"/>
              <a:defRPr/>
            </a:pPr>
            <a:r>
              <a:rPr lang="en-IN" sz="1800" dirty="0">
                <a:latin typeface="Times New Roman" panose="02020603050405020304" pitchFamily="18" charset="0"/>
                <a:cs typeface="Times New Roman" panose="02020603050405020304" pitchFamily="18" charset="0"/>
              </a:rPr>
              <a:t>Input: </a:t>
            </a:r>
            <a:r>
              <a:rPr lang="en-IN" sz="1800" dirty="0" err="1">
                <a:latin typeface="Times New Roman" panose="02020603050405020304" pitchFamily="18" charset="0"/>
                <a:cs typeface="Times New Roman" panose="02020603050405020304" pitchFamily="18" charset="0"/>
              </a:rPr>
              <a:t>Preprocessed</a:t>
            </a:r>
            <a:r>
              <a:rPr lang="en-IN" sz="1800" dirty="0">
                <a:latin typeface="Times New Roman" panose="02020603050405020304" pitchFamily="18" charset="0"/>
                <a:cs typeface="Times New Roman" panose="02020603050405020304" pitchFamily="18" charset="0"/>
              </a:rPr>
              <a:t> retinal image</a:t>
            </a:r>
          </a:p>
          <a:p>
            <a:pPr marL="342900" lvl="1" indent="-342900">
              <a:buFont typeface="Arial" panose="020B0604020202020204" pitchFamily="34" charset="0"/>
              <a:buChar char="•"/>
              <a:defRPr/>
            </a:pPr>
            <a:r>
              <a:rPr lang="en-IN" sz="1800" dirty="0">
                <a:latin typeface="Times New Roman" panose="02020603050405020304" pitchFamily="18" charset="0"/>
                <a:cs typeface="Times New Roman" panose="02020603050405020304" pitchFamily="18" charset="0"/>
              </a:rPr>
              <a:t>Processing: U-Net with EfficientNet-B4 encoder segments lesions (microaneurysms, </a:t>
            </a:r>
            <a:r>
              <a:rPr lang="en-IN" sz="1800" dirty="0" err="1">
                <a:latin typeface="Times New Roman" panose="02020603050405020304" pitchFamily="18" charset="0"/>
                <a:cs typeface="Times New Roman" panose="02020603050405020304" pitchFamily="18" charset="0"/>
              </a:rPr>
              <a:t>hemorrhages</a:t>
            </a:r>
            <a:r>
              <a:rPr lang="en-IN" sz="1800" dirty="0">
                <a:latin typeface="Times New Roman" panose="02020603050405020304" pitchFamily="18" charset="0"/>
                <a:cs typeface="Times New Roman" panose="02020603050405020304" pitchFamily="18" charset="0"/>
              </a:rPr>
              <a:t>, exudates, IRMA, neovascularization) </a:t>
            </a:r>
          </a:p>
          <a:p>
            <a:pPr marL="342900" lvl="1" indent="-342900">
              <a:buFont typeface="Arial" panose="020B0604020202020204" pitchFamily="34" charset="0"/>
              <a:buChar char="•"/>
              <a:defRPr/>
            </a:pPr>
            <a:r>
              <a:rPr lang="en-IN" sz="1800" dirty="0">
                <a:latin typeface="Times New Roman" panose="02020603050405020304" pitchFamily="18" charset="0"/>
                <a:cs typeface="Times New Roman" panose="02020603050405020304" pitchFamily="18" charset="0"/>
              </a:rPr>
              <a:t>Output: Lesion mask</a:t>
            </a: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C5A7D-13B4-0F4C-778B-15ADFE7EE48B}"/>
            </a:ext>
          </a:extLst>
        </p:cNvPr>
        <p:cNvGrpSpPr/>
        <p:nvPr/>
      </p:nvGrpSpPr>
      <p:grpSpPr>
        <a:xfrm>
          <a:off x="0" y="0"/>
          <a:ext cx="0" cy="0"/>
          <a:chOff x="0" y="0"/>
          <a:chExt cx="0" cy="0"/>
        </a:xfrm>
      </p:grpSpPr>
      <p:sp>
        <p:nvSpPr>
          <p:cNvPr id="32770" name="Google Shape;353;p10">
            <a:extLst>
              <a:ext uri="{FF2B5EF4-FFF2-40B4-BE49-F238E27FC236}">
                <a16:creationId xmlns:a16="http://schemas.microsoft.com/office/drawing/2014/main" id="{14CDD874-14A5-3134-644B-FC11FEDF8C84}"/>
              </a:ext>
            </a:extLst>
          </p:cNvPr>
          <p:cNvSpPr txBox="1">
            <a:spLocks noChangeArrowheads="1"/>
          </p:cNvSpPr>
          <p:nvPr/>
        </p:nvSpPr>
        <p:spPr bwMode="auto">
          <a:xfrm>
            <a:off x="635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Modules description</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FBCE42F4-959A-6EA8-05D1-BCBCAC2B25EA}"/>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sp>
        <p:nvSpPr>
          <p:cNvPr id="5" name="TextBox 4">
            <a:extLst>
              <a:ext uri="{FF2B5EF4-FFF2-40B4-BE49-F238E27FC236}">
                <a16:creationId xmlns:a16="http://schemas.microsoft.com/office/drawing/2014/main" id="{556017DC-DED9-8584-13CF-8B026F8EA32D}"/>
              </a:ext>
            </a:extLst>
          </p:cNvPr>
          <p:cNvSpPr txBox="1"/>
          <p:nvPr/>
        </p:nvSpPr>
        <p:spPr>
          <a:xfrm>
            <a:off x="276156" y="749300"/>
            <a:ext cx="8702744" cy="4524315"/>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Classification Module (CNN)</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Input: 4-channel retinal image (RGB + lesion mask)</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Processing: ResNet-50 CNN extracts features and classifies DR severity (0–4)</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Output: Predicted DR grade</a:t>
            </a:r>
          </a:p>
          <a:p>
            <a:r>
              <a:rPr lang="en-IN" sz="1800" b="1" dirty="0">
                <a:latin typeface="Times New Roman" panose="02020603050405020304" pitchFamily="18" charset="0"/>
                <a:cs typeface="Times New Roman" panose="02020603050405020304" pitchFamily="18" charset="0"/>
              </a:rPr>
              <a:t>Prediction Module </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Input: Predicted DR grade</a:t>
            </a:r>
          </a:p>
          <a:p>
            <a:pPr marL="342900" indent="-342900">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Processing:Map</a:t>
            </a:r>
            <a:r>
              <a:rPr lang="en-IN" sz="1800" dirty="0">
                <a:latin typeface="Times New Roman" panose="02020603050405020304" pitchFamily="18" charset="0"/>
                <a:cs typeface="Times New Roman" panose="02020603050405020304" pitchFamily="18" charset="0"/>
              </a:rPr>
              <a:t> DR grade → HbA1c (UKPDS lookup table)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Extract midpoint HbA1c value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Regression model (CART / Lasso / Random Forest trained on NHANES) predicts glucose</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Output: Blood glucose level (mg/dL)</a:t>
            </a:r>
          </a:p>
          <a:p>
            <a:r>
              <a:rPr lang="en-IN" sz="1800" b="1" dirty="0">
                <a:latin typeface="Times New Roman" panose="02020603050405020304" pitchFamily="18" charset="0"/>
                <a:cs typeface="Times New Roman" panose="02020603050405020304" pitchFamily="18" charset="0"/>
              </a:rPr>
              <a:t>Output Module</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Input: DR grade + HbA1c + glucose value</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Processing: Format results and generate visualization (lesion overlay, probabilities)</a:t>
            </a:r>
          </a:p>
          <a:p>
            <a:pPr marL="34290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Output: DR stage, HbA1c estimate, glucose level, highlighted lesions</a:t>
            </a:r>
          </a:p>
          <a:p>
            <a:pPr marL="342900" indent="-342900">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945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2DE42-FFE1-31B9-C22B-73FD64D8A3C9}"/>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EE50AF84-F300-78D9-B2B2-C2F5CCCDC67E}"/>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graphicFrame>
        <p:nvGraphicFramePr>
          <p:cNvPr id="3" name="Table 2">
            <a:extLst>
              <a:ext uri="{FF2B5EF4-FFF2-40B4-BE49-F238E27FC236}">
                <a16:creationId xmlns:a16="http://schemas.microsoft.com/office/drawing/2014/main" id="{E94D4E40-024F-18D7-962E-32BFC43C862B}"/>
              </a:ext>
            </a:extLst>
          </p:cNvPr>
          <p:cNvGraphicFramePr>
            <a:graphicFrameLocks noGrp="1"/>
          </p:cNvGraphicFramePr>
          <p:nvPr>
            <p:extLst>
              <p:ext uri="{D42A27DB-BD31-4B8C-83A1-F6EECF244321}">
                <p14:modId xmlns:p14="http://schemas.microsoft.com/office/powerpoint/2010/main" val="2062445454"/>
              </p:ext>
            </p:extLst>
          </p:nvPr>
        </p:nvGraphicFramePr>
        <p:xfrm>
          <a:off x="287140" y="749300"/>
          <a:ext cx="8663127" cy="4198714"/>
        </p:xfrm>
        <a:graphic>
          <a:graphicData uri="http://schemas.openxmlformats.org/drawingml/2006/table">
            <a:tbl>
              <a:tblPr firstRow="1" bandRow="1">
                <a:tableStyleId>{5C22544A-7EE6-4342-B048-85BDC9FD1C3A}</a:tableStyleId>
              </a:tblPr>
              <a:tblGrid>
                <a:gridCol w="484505">
                  <a:extLst>
                    <a:ext uri="{9D8B030D-6E8A-4147-A177-3AD203B41FA5}">
                      <a16:colId xmlns:a16="http://schemas.microsoft.com/office/drawing/2014/main" val="2636620872"/>
                    </a:ext>
                  </a:extLst>
                </a:gridCol>
                <a:gridCol w="1302242">
                  <a:extLst>
                    <a:ext uri="{9D8B030D-6E8A-4147-A177-3AD203B41FA5}">
                      <a16:colId xmlns:a16="http://schemas.microsoft.com/office/drawing/2014/main" val="1877082945"/>
                    </a:ext>
                  </a:extLst>
                </a:gridCol>
                <a:gridCol w="1944216">
                  <a:extLst>
                    <a:ext uri="{9D8B030D-6E8A-4147-A177-3AD203B41FA5}">
                      <a16:colId xmlns:a16="http://schemas.microsoft.com/office/drawing/2014/main" val="2425412872"/>
                    </a:ext>
                  </a:extLst>
                </a:gridCol>
                <a:gridCol w="3203972">
                  <a:extLst>
                    <a:ext uri="{9D8B030D-6E8A-4147-A177-3AD203B41FA5}">
                      <a16:colId xmlns:a16="http://schemas.microsoft.com/office/drawing/2014/main" val="1461213655"/>
                    </a:ext>
                  </a:extLst>
                </a:gridCol>
                <a:gridCol w="1728192">
                  <a:extLst>
                    <a:ext uri="{9D8B030D-6E8A-4147-A177-3AD203B41FA5}">
                      <a16:colId xmlns:a16="http://schemas.microsoft.com/office/drawing/2014/main" val="3704370791"/>
                    </a:ext>
                  </a:extLst>
                </a:gridCol>
              </a:tblGrid>
              <a:tr h="475582">
                <a:tc>
                  <a:txBody>
                    <a:bodyPr/>
                    <a:lstStyle/>
                    <a:p>
                      <a:r>
                        <a:rPr lang="en-US" sz="1400" dirty="0">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Module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Input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Techniques</a:t>
                      </a:r>
                      <a:r>
                        <a:rPr lang="en-US" dirty="0">
                          <a:latin typeface="Times New Roman" panose="02020603050405020304" pitchFamily="18" charset="0"/>
                          <a:cs typeface="Times New Roman" panose="02020603050405020304" pitchFamily="18" charset="0"/>
                        </a:rPr>
                        <a:t> used</a:t>
                      </a:r>
                      <a:endParaRPr lang="en-IN"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Output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1143750"/>
                  </a:ext>
                </a:extLst>
              </a:tr>
              <a:tr h="1241044">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 Preprocessing</a:t>
                      </a:r>
                    </a:p>
                  </a:txBody>
                  <a:tcPr/>
                </a:tc>
                <a:tc>
                  <a:txBody>
                    <a:bodyPr/>
                    <a:lstStyle/>
                    <a:p>
                      <a:r>
                        <a:rPr lang="en-IN" dirty="0">
                          <a:latin typeface="Times New Roman" panose="02020603050405020304" pitchFamily="18" charset="0"/>
                          <a:cs typeface="Times New Roman" panose="02020603050405020304" pitchFamily="18" charset="0"/>
                        </a:rPr>
                        <a:t>Retinal fundus image</a:t>
                      </a: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Resize to 224×224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Ben Graham illumination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correction (Gaussian blur subtraction)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CLAHE for contrast enhancement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Normalization [0,1]</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Enhanced image</a:t>
                      </a:r>
                    </a:p>
                  </a:txBody>
                  <a:tcPr/>
                </a:tc>
                <a:extLst>
                  <a:ext uri="{0D108BD9-81ED-4DB2-BD59-A6C34878D82A}">
                    <a16:rowId xmlns:a16="http://schemas.microsoft.com/office/drawing/2014/main" val="2779608491"/>
                  </a:ext>
                </a:extLst>
              </a:tr>
              <a:tr h="1241044">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Segmentation (U-Net + EfficientNet-B4)</a:t>
                      </a:r>
                    </a:p>
                  </a:txBody>
                  <a:tcPr/>
                </a:tc>
                <a:tc>
                  <a:txBody>
                    <a:bodyPr/>
                    <a:lstStyle/>
                    <a:p>
                      <a:r>
                        <a:rPr lang="en-IN" dirty="0" err="1">
                          <a:latin typeface="Times New Roman" panose="02020603050405020304" pitchFamily="18" charset="0"/>
                          <a:cs typeface="Times New Roman" panose="02020603050405020304" pitchFamily="18" charset="0"/>
                        </a:rPr>
                        <a:t>Preprocessed</a:t>
                      </a:r>
                      <a:r>
                        <a:rPr lang="en-IN" dirty="0">
                          <a:latin typeface="Times New Roman" panose="02020603050405020304" pitchFamily="18" charset="0"/>
                          <a:cs typeface="Times New Roman" panose="02020603050405020304" pitchFamily="18" charset="0"/>
                        </a:rPr>
                        <a:t> image</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Encoder: EfficientNet-B4 (pretrained)</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Decoder: U-Net with skip connections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Loss: Dice + Focal Loss (handles imbalance)</a:t>
                      </a:r>
                    </a:p>
                  </a:txBody>
                  <a:tcPr/>
                </a:tc>
                <a:tc>
                  <a:txBody>
                    <a:bodyPr/>
                    <a:lstStyle/>
                    <a:p>
                      <a:r>
                        <a:rPr lang="en-IN" dirty="0">
                          <a:latin typeface="Times New Roman" panose="02020603050405020304" pitchFamily="18" charset="0"/>
                          <a:cs typeface="Times New Roman" panose="02020603050405020304" pitchFamily="18" charset="0"/>
                        </a:rPr>
                        <a:t>Multi-class lesion mask (6 types)</a:t>
                      </a:r>
                    </a:p>
                  </a:txBody>
                  <a:tcPr/>
                </a:tc>
                <a:extLst>
                  <a:ext uri="{0D108BD9-81ED-4DB2-BD59-A6C34878D82A}">
                    <a16:rowId xmlns:a16="http://schemas.microsoft.com/office/drawing/2014/main" val="3518674431"/>
                  </a:ext>
                </a:extLst>
              </a:tr>
              <a:tr h="1241044">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Classification (ResNet-50)</a:t>
                      </a:r>
                    </a:p>
                  </a:txBody>
                  <a:tcPr/>
                </a:tc>
                <a:tc>
                  <a:txBody>
                    <a:bodyPr/>
                    <a:lstStyle/>
                    <a:p>
                      <a:r>
                        <a:rPr lang="en-IN" dirty="0">
                          <a:latin typeface="Times New Roman" panose="02020603050405020304" pitchFamily="18" charset="0"/>
                          <a:cs typeface="Times New Roman" panose="02020603050405020304" pitchFamily="18" charset="0"/>
                        </a:rPr>
                        <a:t>RGB image + lesion mask (4-channel input)</a:t>
                      </a: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Modified ResNet-50 (pretrained)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Weighted sampling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Label smoothing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Layer-wise learning rates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DR grade (0–4)</a:t>
                      </a:r>
                    </a:p>
                  </a:txBody>
                  <a:tcPr/>
                </a:tc>
                <a:extLst>
                  <a:ext uri="{0D108BD9-81ED-4DB2-BD59-A6C34878D82A}">
                    <a16:rowId xmlns:a16="http://schemas.microsoft.com/office/drawing/2014/main" val="928787263"/>
                  </a:ext>
                </a:extLst>
              </a:tr>
            </a:tbl>
          </a:graphicData>
        </a:graphic>
      </p:graphicFrame>
      <p:sp>
        <p:nvSpPr>
          <p:cNvPr id="35842" name="Google Shape;353;p10">
            <a:extLst>
              <a:ext uri="{FF2B5EF4-FFF2-40B4-BE49-F238E27FC236}">
                <a16:creationId xmlns:a16="http://schemas.microsoft.com/office/drawing/2014/main" id="{060D96BE-75CD-1598-521D-B1EE8576D6A9}"/>
              </a:ext>
            </a:extLst>
          </p:cNvPr>
          <p:cNvSpPr txBox="1">
            <a:spLocks noChangeArrowheads="1"/>
          </p:cNvSpPr>
          <p:nvPr/>
        </p:nvSpPr>
        <p:spPr bwMode="auto">
          <a:xfrm>
            <a:off x="14943" y="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Implementation Details</a:t>
            </a:r>
            <a:endParaRPr lang="en-US" altLang="en-US" sz="3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27778759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06C64-E4E2-0288-9BE5-236B95297868}"/>
            </a:ext>
          </a:extLst>
        </p:cNvPr>
        <p:cNvGrpSpPr/>
        <p:nvPr/>
      </p:nvGrpSpPr>
      <p:grpSpPr>
        <a:xfrm>
          <a:off x="0" y="0"/>
          <a:ext cx="0" cy="0"/>
          <a:chOff x="0" y="0"/>
          <a:chExt cx="0" cy="0"/>
        </a:xfrm>
      </p:grpSpPr>
      <p:sp>
        <p:nvSpPr>
          <p:cNvPr id="32770" name="Google Shape;353;p10">
            <a:extLst>
              <a:ext uri="{FF2B5EF4-FFF2-40B4-BE49-F238E27FC236}">
                <a16:creationId xmlns:a16="http://schemas.microsoft.com/office/drawing/2014/main" id="{63A6D488-314F-5034-78F3-E68389C6FDDB}"/>
              </a:ext>
            </a:extLst>
          </p:cNvPr>
          <p:cNvSpPr txBox="1">
            <a:spLocks noChangeArrowheads="1"/>
          </p:cNvSpPr>
          <p:nvPr/>
        </p:nvSpPr>
        <p:spPr bwMode="auto">
          <a:xfrm>
            <a:off x="28142" y="-90897"/>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Implementation Details (</a:t>
            </a:r>
            <a:r>
              <a:rPr lang="en-US" altLang="en-US" sz="3200" b="1" dirty="0" err="1">
                <a:latin typeface="Times New Roman" panose="02020603050405020304" pitchFamily="18" charset="0"/>
                <a:cs typeface="Times New Roman" panose="02020603050405020304" pitchFamily="18" charset="0"/>
                <a:sym typeface="Times New Roman" panose="02020603050405020304" pitchFamily="18" charset="0"/>
              </a:rPr>
              <a:t>Cont</a:t>
            </a: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 Placeholder 4">
            <a:extLst>
              <a:ext uri="{FF2B5EF4-FFF2-40B4-BE49-F238E27FC236}">
                <a16:creationId xmlns:a16="http://schemas.microsoft.com/office/drawing/2014/main" id="{90D3F7A7-CC7C-74AD-254F-B31CDCE97BB1}"/>
              </a:ext>
            </a:extLst>
          </p:cNvPr>
          <p:cNvSpPr txBox="1">
            <a:spLocks/>
          </p:cNvSpPr>
          <p:nvPr/>
        </p:nvSpPr>
        <p:spPr>
          <a:xfrm>
            <a:off x="165100" y="914400"/>
            <a:ext cx="8763000" cy="3479800"/>
          </a:xfrm>
          <a:prstGeom prst="rect">
            <a:avLst/>
          </a:prstGeom>
        </p:spPr>
        <p:txBody>
          <a:bodyPr spcFirstLastPara="1">
            <a:normAutofit/>
          </a:bodyPr>
          <a:lst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eaLnBrk="1" fontAlgn="auto" hangingPunct="1">
              <a:lnSpc>
                <a:spcPct val="115000"/>
              </a:lnSpc>
              <a:spcBef>
                <a:spcPts val="0"/>
              </a:spcBef>
              <a:spcAft>
                <a:spcPts val="0"/>
              </a:spcAft>
              <a:buClr>
                <a:schemeClr val="dk2"/>
              </a:buClr>
              <a:buSzPts val="1800"/>
              <a:buFont typeface="Wingdings" panose="05000000000000000000" pitchFamily="2" charset="2"/>
              <a:buChar char="q"/>
              <a:defRPr/>
            </a:pPr>
            <a:endParaRPr lang="en-US" kern="0" dirty="0">
              <a:solidFill>
                <a:srgbClr val="FF0000"/>
              </a:solidFill>
              <a:sym typeface="Arial"/>
            </a:endParaRPr>
          </a:p>
        </p:txBody>
      </p:sp>
      <p:graphicFrame>
        <p:nvGraphicFramePr>
          <p:cNvPr id="3" name="Table 2">
            <a:extLst>
              <a:ext uri="{FF2B5EF4-FFF2-40B4-BE49-F238E27FC236}">
                <a16:creationId xmlns:a16="http://schemas.microsoft.com/office/drawing/2014/main" id="{1317F79F-C34F-B710-E910-CB9D54F1C099}"/>
              </a:ext>
            </a:extLst>
          </p:cNvPr>
          <p:cNvGraphicFramePr>
            <a:graphicFrameLocks noGrp="1"/>
          </p:cNvGraphicFramePr>
          <p:nvPr>
            <p:extLst>
              <p:ext uri="{D42A27DB-BD31-4B8C-83A1-F6EECF244321}">
                <p14:modId xmlns:p14="http://schemas.microsoft.com/office/powerpoint/2010/main" val="1160078376"/>
              </p:ext>
            </p:extLst>
          </p:nvPr>
        </p:nvGraphicFramePr>
        <p:xfrm>
          <a:off x="287140" y="749300"/>
          <a:ext cx="8663127" cy="4198714"/>
        </p:xfrm>
        <a:graphic>
          <a:graphicData uri="http://schemas.openxmlformats.org/drawingml/2006/table">
            <a:tbl>
              <a:tblPr firstRow="1" bandRow="1">
                <a:tableStyleId>{5C22544A-7EE6-4342-B048-85BDC9FD1C3A}</a:tableStyleId>
              </a:tblPr>
              <a:tblGrid>
                <a:gridCol w="484505">
                  <a:extLst>
                    <a:ext uri="{9D8B030D-6E8A-4147-A177-3AD203B41FA5}">
                      <a16:colId xmlns:a16="http://schemas.microsoft.com/office/drawing/2014/main" val="2636620872"/>
                    </a:ext>
                  </a:extLst>
                </a:gridCol>
                <a:gridCol w="1302242">
                  <a:extLst>
                    <a:ext uri="{9D8B030D-6E8A-4147-A177-3AD203B41FA5}">
                      <a16:colId xmlns:a16="http://schemas.microsoft.com/office/drawing/2014/main" val="1877082945"/>
                    </a:ext>
                  </a:extLst>
                </a:gridCol>
                <a:gridCol w="1944216">
                  <a:extLst>
                    <a:ext uri="{9D8B030D-6E8A-4147-A177-3AD203B41FA5}">
                      <a16:colId xmlns:a16="http://schemas.microsoft.com/office/drawing/2014/main" val="2425412872"/>
                    </a:ext>
                  </a:extLst>
                </a:gridCol>
                <a:gridCol w="3203972">
                  <a:extLst>
                    <a:ext uri="{9D8B030D-6E8A-4147-A177-3AD203B41FA5}">
                      <a16:colId xmlns:a16="http://schemas.microsoft.com/office/drawing/2014/main" val="1461213655"/>
                    </a:ext>
                  </a:extLst>
                </a:gridCol>
                <a:gridCol w="1728192">
                  <a:extLst>
                    <a:ext uri="{9D8B030D-6E8A-4147-A177-3AD203B41FA5}">
                      <a16:colId xmlns:a16="http://schemas.microsoft.com/office/drawing/2014/main" val="3704370791"/>
                    </a:ext>
                  </a:extLst>
                </a:gridCol>
              </a:tblGrid>
              <a:tr h="475582">
                <a:tc>
                  <a:txBody>
                    <a:bodyPr/>
                    <a:lstStyle/>
                    <a:p>
                      <a:r>
                        <a:rPr lang="en-US" sz="1400" dirty="0">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Module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Input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Techniques</a:t>
                      </a:r>
                      <a:r>
                        <a:rPr lang="en-US" dirty="0">
                          <a:latin typeface="Times New Roman" panose="02020603050405020304" pitchFamily="18" charset="0"/>
                          <a:cs typeface="Times New Roman" panose="02020603050405020304" pitchFamily="18" charset="0"/>
                        </a:rPr>
                        <a:t> used</a:t>
                      </a:r>
                      <a:endParaRPr lang="en-IN"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Output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41143750"/>
                  </a:ext>
                </a:extLst>
              </a:tr>
              <a:tr h="1241044">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 HbA1c Mapping</a:t>
                      </a:r>
                    </a:p>
                  </a:txBody>
                  <a:tcPr/>
                </a:tc>
                <a:tc>
                  <a:txBody>
                    <a:bodyPr/>
                    <a:lstStyle/>
                    <a:p>
                      <a:r>
                        <a:rPr lang="en-IN" dirty="0">
                          <a:latin typeface="Times New Roman" panose="02020603050405020304" pitchFamily="18" charset="0"/>
                          <a:cs typeface="Times New Roman" panose="02020603050405020304" pitchFamily="18" charset="0"/>
                        </a:rPr>
                        <a:t>Predicted DR grade</a:t>
                      </a: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UKPDS lookup table mapping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 midpoint of HbA1c range</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HbA1c estimate</a:t>
                      </a:r>
                    </a:p>
                  </a:txBody>
                  <a:tcPr/>
                </a:tc>
                <a:extLst>
                  <a:ext uri="{0D108BD9-81ED-4DB2-BD59-A6C34878D82A}">
                    <a16:rowId xmlns:a16="http://schemas.microsoft.com/office/drawing/2014/main" val="2779608491"/>
                  </a:ext>
                </a:extLst>
              </a:tr>
              <a:tr h="1241044">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Glucose Prediction (Regression)</a:t>
                      </a:r>
                    </a:p>
                  </a:txBody>
                  <a:tcPr/>
                </a:tc>
                <a:tc>
                  <a:txBody>
                    <a:bodyPr/>
                    <a:lstStyle/>
                    <a:p>
                      <a:r>
                        <a:rPr lang="en-IN" dirty="0">
                          <a:latin typeface="Times New Roman" panose="02020603050405020304" pitchFamily="18" charset="0"/>
                          <a:cs typeface="Times New Roman" panose="02020603050405020304" pitchFamily="18" charset="0"/>
                        </a:rPr>
                        <a:t>HbA1c midpoint</a:t>
                      </a:r>
                    </a:p>
                  </a:txBody>
                  <a:tcPr/>
                </a:tc>
                <a:tc>
                  <a: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Models: CART, Lasso, Random Forest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Trained on NHANES dataset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 selection using MAE &amp; RMSE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Best model: Lasso</a:t>
                      </a:r>
                    </a:p>
                  </a:txBody>
                  <a:tcPr/>
                </a:tc>
                <a:tc>
                  <a:txBody>
                    <a:bodyPr/>
                    <a:lstStyle/>
                    <a:p>
                      <a:r>
                        <a:rPr lang="en-US" dirty="0">
                          <a:latin typeface="Times New Roman" panose="02020603050405020304" pitchFamily="18" charset="0"/>
                          <a:cs typeface="Times New Roman" panose="02020603050405020304" pitchFamily="18" charset="0"/>
                        </a:rPr>
                        <a:t>Blood glucose level (mg/dL)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8674431"/>
                  </a:ext>
                </a:extLst>
              </a:tr>
              <a:tr h="1241044">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 Output &amp; Visualization</a:t>
                      </a:r>
                    </a:p>
                  </a:txBody>
                  <a:tcPr/>
                </a:tc>
                <a:tc>
                  <a:txBody>
                    <a:bodyPr/>
                    <a:lstStyle/>
                    <a:p>
                      <a:r>
                        <a:rPr lang="en-IN" dirty="0">
                          <a:latin typeface="Times New Roman" panose="02020603050405020304" pitchFamily="18" charset="0"/>
                          <a:cs typeface="Times New Roman" panose="02020603050405020304" pitchFamily="18" charset="0"/>
                        </a:rPr>
                        <a:t>DR grade + glucose value</a:t>
                      </a: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Lesion overlay visualization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Class probability scores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Confidence thresholding (flag low confidence)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Final prediction (DR + HbA1c + Glucose + Visualization)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8787263"/>
                  </a:ext>
                </a:extLst>
              </a:tr>
            </a:tbl>
          </a:graphicData>
        </a:graphic>
      </p:graphicFrame>
    </p:spTree>
    <p:extLst>
      <p:ext uri="{BB962C8B-B14F-4D97-AF65-F5344CB8AC3E}">
        <p14:creationId xmlns:p14="http://schemas.microsoft.com/office/powerpoint/2010/main" val="2389211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5D2F8-A23F-8334-598D-FAA2DF1D4025}"/>
            </a:ext>
          </a:extLst>
        </p:cNvPr>
        <p:cNvGrpSpPr/>
        <p:nvPr/>
      </p:nvGrpSpPr>
      <p:grpSpPr>
        <a:xfrm>
          <a:off x="0" y="0"/>
          <a:ext cx="0" cy="0"/>
          <a:chOff x="0" y="0"/>
          <a:chExt cx="0" cy="0"/>
        </a:xfrm>
      </p:grpSpPr>
      <p:sp>
        <p:nvSpPr>
          <p:cNvPr id="37890" name="Google Shape;353;p10">
            <a:extLst>
              <a:ext uri="{FF2B5EF4-FFF2-40B4-BE49-F238E27FC236}">
                <a16:creationId xmlns:a16="http://schemas.microsoft.com/office/drawing/2014/main" id="{D8550A6D-4683-7502-25BC-D5935E975D79}"/>
              </a:ext>
            </a:extLst>
          </p:cNvPr>
          <p:cNvSpPr txBox="1">
            <a:spLocks noChangeArrowheads="1"/>
          </p:cNvSpPr>
          <p:nvPr/>
        </p:nvSpPr>
        <p:spPr bwMode="auto">
          <a:xfrm>
            <a:off x="0" y="15776"/>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Experimental Results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700030CC-67B3-E995-5DC6-9C7B0A0A708C}"/>
              </a:ext>
            </a:extLst>
          </p:cNvPr>
          <p:cNvSpPr txBox="1"/>
          <p:nvPr/>
        </p:nvSpPr>
        <p:spPr>
          <a:xfrm>
            <a:off x="349256" y="699542"/>
            <a:ext cx="2664295" cy="5078313"/>
          </a:xfrm>
          <a:prstGeom prst="rect">
            <a:avLst/>
          </a:prstGeom>
          <a:noFill/>
        </p:spPr>
        <p:txBody>
          <a:bodyPr wrap="square">
            <a:spAutoFit/>
          </a:bodyPr>
          <a:lstStyle/>
          <a:p>
            <a:pPr>
              <a:defRPr/>
            </a:pPr>
            <a:r>
              <a:rPr lang="en-IN" sz="1800" b="1" dirty="0">
                <a:latin typeface="Times New Roman" panose="02020603050405020304" pitchFamily="18" charset="0"/>
                <a:cs typeface="Times New Roman" panose="02020603050405020304" pitchFamily="18" charset="0"/>
              </a:rPr>
              <a:t>Segmentation Performance Analysis</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U-Net model effectively learns retinal lesion patterns from fundus images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Training and validation loss decrease steadily across epochs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Minimal gap between training and validation curves shows good generalization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Model successfully captures both small and large lesion regions </a:t>
            </a:r>
          </a:p>
          <a:p>
            <a:pPr>
              <a:defRPr/>
            </a:pPr>
            <a:endParaRPr lang="en-IN" sz="1800" dirty="0">
              <a:latin typeface="Times New Roman" panose="02020603050405020304" pitchFamily="18" charset="0"/>
              <a:cs typeface="Times New Roman" panose="02020603050405020304" pitchFamily="18" charset="0"/>
            </a:endParaRPr>
          </a:p>
          <a:p>
            <a:pPr>
              <a:defRPr/>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6057533F-C7B7-D1B3-29E8-9322BE8F391C}"/>
              </a:ext>
            </a:extLst>
          </p:cNvPr>
          <p:cNvPicPr>
            <a:picLocks noChangeAspect="1"/>
          </p:cNvPicPr>
          <p:nvPr/>
        </p:nvPicPr>
        <p:blipFill>
          <a:blip r:embed="rId3"/>
          <a:stretch>
            <a:fillRect/>
          </a:stretch>
        </p:blipFill>
        <p:spPr>
          <a:xfrm>
            <a:off x="3010290" y="1059582"/>
            <a:ext cx="5544616" cy="3744416"/>
          </a:xfrm>
          <a:prstGeom prst="rect">
            <a:avLst/>
          </a:prstGeom>
        </p:spPr>
      </p:pic>
    </p:spTree>
    <p:extLst>
      <p:ext uri="{BB962C8B-B14F-4D97-AF65-F5344CB8AC3E}">
        <p14:creationId xmlns:p14="http://schemas.microsoft.com/office/powerpoint/2010/main" val="2395131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114F7-E85E-CC2D-945D-C6972FF2BC53}"/>
            </a:ext>
          </a:extLst>
        </p:cNvPr>
        <p:cNvGrpSpPr/>
        <p:nvPr/>
      </p:nvGrpSpPr>
      <p:grpSpPr>
        <a:xfrm>
          <a:off x="0" y="0"/>
          <a:ext cx="0" cy="0"/>
          <a:chOff x="0" y="0"/>
          <a:chExt cx="0" cy="0"/>
        </a:xfrm>
      </p:grpSpPr>
      <p:sp>
        <p:nvSpPr>
          <p:cNvPr id="37890" name="Google Shape;353;p10">
            <a:extLst>
              <a:ext uri="{FF2B5EF4-FFF2-40B4-BE49-F238E27FC236}">
                <a16:creationId xmlns:a16="http://schemas.microsoft.com/office/drawing/2014/main" id="{FEA15B3F-7B83-DF93-7048-3FDB4B62FF68}"/>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Experimental Results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3604D6DE-641B-2DDF-E049-2917D349E32D}"/>
              </a:ext>
            </a:extLst>
          </p:cNvPr>
          <p:cNvSpPr txBox="1"/>
          <p:nvPr/>
        </p:nvSpPr>
        <p:spPr>
          <a:xfrm>
            <a:off x="251520" y="987574"/>
            <a:ext cx="3038301" cy="4524315"/>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Classification Performance Analysis</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ResNet-50 model classifies diabetic retinopathy into 5 severity grades (0–4)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High validation accuracy (~88%) indicates strong learning capability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Most predictions are accurate for middle severity classes (Grade 2 &amp; 3)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Misclassifications mainly occur between adjacent grades </a:t>
            </a:r>
          </a:p>
          <a:p>
            <a:pPr marL="285750" indent="-285750">
              <a:buFont typeface="Arial" panose="020B0604020202020204" pitchFamily="34" charset="0"/>
              <a:buChar char="•"/>
              <a:defRPr/>
            </a:pPr>
            <a:endParaRPr lang="en-IN" sz="1800" dirty="0">
              <a:latin typeface="Times New Roman" panose="02020603050405020304" pitchFamily="18" charset="0"/>
              <a:cs typeface="Times New Roman" panose="02020603050405020304" pitchFamily="18" charset="0"/>
            </a:endParaRPr>
          </a:p>
          <a:p>
            <a:pPr>
              <a:defRPr/>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5CDB8870-497F-CDCA-75F8-555234E00374}"/>
              </a:ext>
            </a:extLst>
          </p:cNvPr>
          <p:cNvPicPr>
            <a:picLocks noChangeAspect="1"/>
          </p:cNvPicPr>
          <p:nvPr/>
        </p:nvPicPr>
        <p:blipFill>
          <a:blip r:embed="rId3"/>
          <a:stretch>
            <a:fillRect/>
          </a:stretch>
        </p:blipFill>
        <p:spPr>
          <a:xfrm>
            <a:off x="3419872" y="771550"/>
            <a:ext cx="5472608" cy="3535784"/>
          </a:xfrm>
          <a:prstGeom prst="rect">
            <a:avLst/>
          </a:prstGeom>
        </p:spPr>
      </p:pic>
    </p:spTree>
    <p:extLst>
      <p:ext uri="{BB962C8B-B14F-4D97-AF65-F5344CB8AC3E}">
        <p14:creationId xmlns:p14="http://schemas.microsoft.com/office/powerpoint/2010/main" val="3945395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E961-BAF9-070C-1D12-A7B43D55B38A}"/>
            </a:ext>
          </a:extLst>
        </p:cNvPr>
        <p:cNvGrpSpPr/>
        <p:nvPr/>
      </p:nvGrpSpPr>
      <p:grpSpPr>
        <a:xfrm>
          <a:off x="0" y="0"/>
          <a:ext cx="0" cy="0"/>
          <a:chOff x="0" y="0"/>
          <a:chExt cx="0" cy="0"/>
        </a:xfrm>
      </p:grpSpPr>
      <p:sp>
        <p:nvSpPr>
          <p:cNvPr id="37890" name="Google Shape;353;p10">
            <a:extLst>
              <a:ext uri="{FF2B5EF4-FFF2-40B4-BE49-F238E27FC236}">
                <a16:creationId xmlns:a16="http://schemas.microsoft.com/office/drawing/2014/main" id="{0F7627ED-006C-3751-6B81-943C5848B4A8}"/>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Experimental Results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C4D9402F-B227-76B9-6669-AE69D4E96A40}"/>
              </a:ext>
            </a:extLst>
          </p:cNvPr>
          <p:cNvSpPr txBox="1"/>
          <p:nvPr/>
        </p:nvSpPr>
        <p:spPr>
          <a:xfrm>
            <a:off x="251520" y="896183"/>
            <a:ext cx="3672407" cy="4247317"/>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Glucose Prediction &amp; Regression Analysis</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Multiple regression models were evaluated using NHANES dataset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Models compared: ADA formula, Lasso, CART, Random Forest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Lasso regression achieved the best performance with lowest error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Scatter plot shows strong alignment between actual and predicted values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Most predictions lie close to the diagonal → good model accuracy </a:t>
            </a:r>
          </a:p>
          <a:p>
            <a:endParaRPr lang="en-IN" sz="1800" dirty="0">
              <a:latin typeface="Times New Roman" panose="02020603050405020304" pitchFamily="18" charset="0"/>
              <a:cs typeface="Times New Roman" panose="02020603050405020304" pitchFamily="18" charset="0"/>
            </a:endParaRPr>
          </a:p>
          <a:p>
            <a:pPr>
              <a:defRPr/>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2019F2A2-B9F0-D495-9FFC-C1D08AA3728D}"/>
              </a:ext>
            </a:extLst>
          </p:cNvPr>
          <p:cNvPicPr>
            <a:picLocks noChangeAspect="1"/>
          </p:cNvPicPr>
          <p:nvPr/>
        </p:nvPicPr>
        <p:blipFill>
          <a:blip r:embed="rId3"/>
          <a:stretch>
            <a:fillRect/>
          </a:stretch>
        </p:blipFill>
        <p:spPr>
          <a:xfrm>
            <a:off x="4067944" y="987574"/>
            <a:ext cx="4968552" cy="3960440"/>
          </a:xfrm>
          <a:prstGeom prst="rect">
            <a:avLst/>
          </a:prstGeom>
        </p:spPr>
      </p:pic>
    </p:spTree>
    <p:extLst>
      <p:ext uri="{BB962C8B-B14F-4D97-AF65-F5344CB8AC3E}">
        <p14:creationId xmlns:p14="http://schemas.microsoft.com/office/powerpoint/2010/main" val="2801599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395A7-9D0D-7717-EE93-7F2BEF0F92B6}"/>
            </a:ext>
          </a:extLst>
        </p:cNvPr>
        <p:cNvGrpSpPr/>
        <p:nvPr/>
      </p:nvGrpSpPr>
      <p:grpSpPr>
        <a:xfrm>
          <a:off x="0" y="0"/>
          <a:ext cx="0" cy="0"/>
          <a:chOff x="0" y="0"/>
          <a:chExt cx="0" cy="0"/>
        </a:xfrm>
      </p:grpSpPr>
      <p:sp>
        <p:nvSpPr>
          <p:cNvPr id="37890" name="Google Shape;353;p10">
            <a:extLst>
              <a:ext uri="{FF2B5EF4-FFF2-40B4-BE49-F238E27FC236}">
                <a16:creationId xmlns:a16="http://schemas.microsoft.com/office/drawing/2014/main" id="{66040B1E-BFC5-726E-A05D-E003F8D0C8E4}"/>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Experimental Results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TextBox 1">
            <a:extLst>
              <a:ext uri="{FF2B5EF4-FFF2-40B4-BE49-F238E27FC236}">
                <a16:creationId xmlns:a16="http://schemas.microsoft.com/office/drawing/2014/main" id="{E5F1CC29-E39B-D5A6-AD99-7CCA4862437A}"/>
              </a:ext>
            </a:extLst>
          </p:cNvPr>
          <p:cNvSpPr txBox="1"/>
          <p:nvPr/>
        </p:nvSpPr>
        <p:spPr>
          <a:xfrm>
            <a:off x="107504" y="1131590"/>
            <a:ext cx="8424936" cy="2585323"/>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Output Analysis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generates final predictions including DR grade, HbA1c, and blood glucose level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output shows high-confidence prediction of severe DR (Grade 4)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Estimated HbA1c value corresponds to predicted DR severity using UKPDS mapping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Predicted glucose level aligns with HbA1c range, indicating consistency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Lesion visualization highlights key abnormalities such as hemorrhages and exudates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Confidence score helps assess reliability of the prediction</a:t>
            </a:r>
          </a:p>
          <a:p>
            <a:pPr>
              <a:defRPr/>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30371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5A4F-7001-9E3A-B08E-2F9ADA26333B}"/>
            </a:ext>
          </a:extLst>
        </p:cNvPr>
        <p:cNvGrpSpPr/>
        <p:nvPr/>
      </p:nvGrpSpPr>
      <p:grpSpPr>
        <a:xfrm>
          <a:off x="0" y="0"/>
          <a:ext cx="0" cy="0"/>
          <a:chOff x="0" y="0"/>
          <a:chExt cx="0" cy="0"/>
        </a:xfrm>
      </p:grpSpPr>
      <p:sp>
        <p:nvSpPr>
          <p:cNvPr id="37890" name="Google Shape;353;p10">
            <a:extLst>
              <a:ext uri="{FF2B5EF4-FFF2-40B4-BE49-F238E27FC236}">
                <a16:creationId xmlns:a16="http://schemas.microsoft.com/office/drawing/2014/main" id="{88A53145-FB60-7324-7C7F-39115A85B666}"/>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dirty="0">
                <a:latin typeface="Times New Roman" panose="02020603050405020304" pitchFamily="18" charset="0"/>
                <a:cs typeface="Times New Roman" panose="02020603050405020304" pitchFamily="18" charset="0"/>
                <a:sym typeface="Times New Roman" panose="02020603050405020304" pitchFamily="18" charset="0"/>
              </a:rPr>
              <a:t>Experimental Results</a:t>
            </a:r>
            <a:endParaRPr lang="en-US" altLang="en-US" sz="700" dirty="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4" name="Picture 3">
            <a:extLst>
              <a:ext uri="{FF2B5EF4-FFF2-40B4-BE49-F238E27FC236}">
                <a16:creationId xmlns:a16="http://schemas.microsoft.com/office/drawing/2014/main" id="{F8F5BF62-5567-B545-036F-4934BCFC5258}"/>
              </a:ext>
            </a:extLst>
          </p:cNvPr>
          <p:cNvPicPr>
            <a:picLocks noChangeAspect="1"/>
          </p:cNvPicPr>
          <p:nvPr/>
        </p:nvPicPr>
        <p:blipFill>
          <a:blip r:embed="rId3"/>
          <a:stretch>
            <a:fillRect/>
          </a:stretch>
        </p:blipFill>
        <p:spPr>
          <a:xfrm>
            <a:off x="467544" y="1203598"/>
            <a:ext cx="8496944" cy="3456384"/>
          </a:xfrm>
          <a:prstGeom prst="rect">
            <a:avLst/>
          </a:prstGeom>
        </p:spPr>
      </p:pic>
    </p:spTree>
    <p:extLst>
      <p:ext uri="{BB962C8B-B14F-4D97-AF65-F5344CB8AC3E}">
        <p14:creationId xmlns:p14="http://schemas.microsoft.com/office/powerpoint/2010/main" val="551839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Google Shape;353;p10">
            <a:extLst>
              <a:ext uri="{FF2B5EF4-FFF2-40B4-BE49-F238E27FC236}">
                <a16:creationId xmlns:a16="http://schemas.microsoft.com/office/drawing/2014/main" id="{F2D2257A-A2D3-12F5-DBE5-F524AC0F1A9B}"/>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Screenshots of Results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3" name="Picture 2">
            <a:extLst>
              <a:ext uri="{FF2B5EF4-FFF2-40B4-BE49-F238E27FC236}">
                <a16:creationId xmlns:a16="http://schemas.microsoft.com/office/drawing/2014/main" id="{36C1577D-CFAD-BE44-1CAF-5A4CD67EF5EA}"/>
              </a:ext>
            </a:extLst>
          </p:cNvPr>
          <p:cNvPicPr>
            <a:picLocks noChangeAspect="1"/>
          </p:cNvPicPr>
          <p:nvPr/>
        </p:nvPicPr>
        <p:blipFill>
          <a:blip r:embed="rId3"/>
          <a:stretch>
            <a:fillRect/>
          </a:stretch>
        </p:blipFill>
        <p:spPr>
          <a:xfrm>
            <a:off x="467543" y="1019439"/>
            <a:ext cx="8340625" cy="378455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CEC7-9BFC-61BA-CC19-7EE4C94A7624}"/>
            </a:ext>
          </a:extLst>
        </p:cNvPr>
        <p:cNvGrpSpPr/>
        <p:nvPr/>
      </p:nvGrpSpPr>
      <p:grpSpPr>
        <a:xfrm>
          <a:off x="0" y="0"/>
          <a:ext cx="0" cy="0"/>
          <a:chOff x="0" y="0"/>
          <a:chExt cx="0" cy="0"/>
        </a:xfrm>
      </p:grpSpPr>
      <p:sp>
        <p:nvSpPr>
          <p:cNvPr id="39938" name="Google Shape;353;p10">
            <a:extLst>
              <a:ext uri="{FF2B5EF4-FFF2-40B4-BE49-F238E27FC236}">
                <a16:creationId xmlns:a16="http://schemas.microsoft.com/office/drawing/2014/main" id="{12081208-46D5-C6C1-B6D4-AF0CEE4C079A}"/>
              </a:ext>
            </a:extLst>
          </p:cNvPr>
          <p:cNvSpPr txBox="1">
            <a:spLocks noChangeArrowheads="1"/>
          </p:cNvSpPr>
          <p:nvPr/>
        </p:nvSpPr>
        <p:spPr bwMode="auto">
          <a:xfrm>
            <a:off x="36004" y="-74389"/>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Screenshots of Results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5" name="Picture 4">
            <a:extLst>
              <a:ext uri="{FF2B5EF4-FFF2-40B4-BE49-F238E27FC236}">
                <a16:creationId xmlns:a16="http://schemas.microsoft.com/office/drawing/2014/main" id="{D63D9EAF-E466-C9E2-3CEA-BCCA735AD518}"/>
              </a:ext>
            </a:extLst>
          </p:cNvPr>
          <p:cNvPicPr>
            <a:picLocks noChangeAspect="1"/>
          </p:cNvPicPr>
          <p:nvPr/>
        </p:nvPicPr>
        <p:blipFill>
          <a:blip r:embed="rId3"/>
          <a:stretch>
            <a:fillRect/>
          </a:stretch>
        </p:blipFill>
        <p:spPr>
          <a:xfrm>
            <a:off x="467543" y="555527"/>
            <a:ext cx="7979653" cy="1296144"/>
          </a:xfrm>
          <a:prstGeom prst="rect">
            <a:avLst/>
          </a:prstGeom>
        </p:spPr>
      </p:pic>
      <p:pic>
        <p:nvPicPr>
          <p:cNvPr id="2" name="Picture 1">
            <a:extLst>
              <a:ext uri="{FF2B5EF4-FFF2-40B4-BE49-F238E27FC236}">
                <a16:creationId xmlns:a16="http://schemas.microsoft.com/office/drawing/2014/main" id="{D8D69FA1-BBBF-52CA-3DD3-F93E68D4D5EA}"/>
              </a:ext>
            </a:extLst>
          </p:cNvPr>
          <p:cNvPicPr>
            <a:picLocks noChangeAspect="1"/>
          </p:cNvPicPr>
          <p:nvPr/>
        </p:nvPicPr>
        <p:blipFill>
          <a:blip r:embed="rId4"/>
          <a:stretch>
            <a:fillRect/>
          </a:stretch>
        </p:blipFill>
        <p:spPr>
          <a:xfrm>
            <a:off x="454309" y="1995686"/>
            <a:ext cx="7992888" cy="2896568"/>
          </a:xfrm>
          <a:prstGeom prst="rect">
            <a:avLst/>
          </a:prstGeom>
        </p:spPr>
      </p:pic>
    </p:spTree>
    <p:extLst>
      <p:ext uri="{BB962C8B-B14F-4D97-AF65-F5344CB8AC3E}">
        <p14:creationId xmlns:p14="http://schemas.microsoft.com/office/powerpoint/2010/main" val="19615075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Google Shape;353;p10">
            <a:extLst>
              <a:ext uri="{FF2B5EF4-FFF2-40B4-BE49-F238E27FC236}">
                <a16:creationId xmlns:a16="http://schemas.microsoft.com/office/drawing/2014/main" id="{190B64B0-BB29-C740-B96C-0B67CB78ED41}"/>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Conclusion</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 name="TextBox 4">
            <a:extLst>
              <a:ext uri="{FF2B5EF4-FFF2-40B4-BE49-F238E27FC236}">
                <a16:creationId xmlns:a16="http://schemas.microsoft.com/office/drawing/2014/main" id="{2F8FAFFA-2731-8BDF-4FC9-51AB6104EE7E}"/>
              </a:ext>
            </a:extLst>
          </p:cNvPr>
          <p:cNvSpPr txBox="1"/>
          <p:nvPr/>
        </p:nvSpPr>
        <p:spPr>
          <a:xfrm>
            <a:off x="107504" y="801098"/>
            <a:ext cx="8928991" cy="2862322"/>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The proposed system demonstrates an effective and non-invasive approach for estimating diabetic retinopathy severity and blood glucose levels using retinal fundus images. By combining advanced deep learning techniques such as U-Net-based lesion segmentation and ResNet-50 classification with clinically grounded mapping (UKPDS) and regression models trained on NHANES data, the system provides both accurate and interpretable predictions. The integration of lesion visualization, severity grading, and glucose estimation in a single pipeline makes the solution practical and clinically relevant. Overall, the proposed system highlights the potential of AI-driven retinal analysis as an accessible tool for early detection and monitoring of diabetes, reducing dependency on invasive blood tests and enabling timely medical intervention.</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Google Shape;353;p10">
            <a:extLst>
              <a:ext uri="{FF2B5EF4-FFF2-40B4-BE49-F238E27FC236}">
                <a16:creationId xmlns:a16="http://schemas.microsoft.com/office/drawing/2014/main" id="{1A461D6C-E6B5-65FB-BCA4-2336F86AF31F}"/>
              </a:ext>
            </a:extLst>
          </p:cNvPr>
          <p:cNvSpPr txBox="1">
            <a:spLocks noChangeArrowheads="1"/>
          </p:cNvSpPr>
          <p:nvPr/>
        </p:nvSpPr>
        <p:spPr bwMode="auto">
          <a:xfrm>
            <a:off x="0" y="152400"/>
            <a:ext cx="91440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120000"/>
              </a:lnSpc>
              <a:buClrTx/>
              <a:buFontTx/>
              <a:buNone/>
            </a:pPr>
            <a:r>
              <a:rPr lang="en-US" altLang="en-US" sz="3200" b="1">
                <a:latin typeface="Times New Roman" panose="02020603050405020304" pitchFamily="18" charset="0"/>
                <a:cs typeface="Times New Roman" panose="02020603050405020304" pitchFamily="18" charset="0"/>
                <a:sym typeface="Times New Roman" panose="02020603050405020304" pitchFamily="18" charset="0"/>
              </a:rPr>
              <a:t>Future Enhancements</a:t>
            </a:r>
            <a:endParaRPr lang="en-US" altLang="en-US" sz="7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TextBox 2">
            <a:extLst>
              <a:ext uri="{FF2B5EF4-FFF2-40B4-BE49-F238E27FC236}">
                <a16:creationId xmlns:a16="http://schemas.microsoft.com/office/drawing/2014/main" id="{6A4D946B-5E97-BFE8-17AB-A37C6D5D0807}"/>
              </a:ext>
            </a:extLst>
          </p:cNvPr>
          <p:cNvSpPr txBox="1"/>
          <p:nvPr/>
        </p:nvSpPr>
        <p:spPr>
          <a:xfrm>
            <a:off x="359532" y="1059582"/>
            <a:ext cx="8424936" cy="2585323"/>
          </a:xfrm>
          <a:prstGeom prst="rect">
            <a:avLst/>
          </a:prstGeom>
          <a:noFill/>
        </p:spPr>
        <p:txBody>
          <a:bodyPr wrap="square">
            <a:spAutoFit/>
          </a:bodyPr>
          <a:lstStyle/>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Multi-modal input integration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Incorporate additional patient data such as age, BMI, blood pressure, and medical history to improve prediction accuracy.</a:t>
            </a: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Automated report generation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Generate structured clinical reports with recommendations for doctors and patients.</a:t>
            </a: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Multi-disease detection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Extend the system to detect other retinal diseases such as glaucoma, macular degeneration, and hypertensive retinopathy.</a:t>
            </a:r>
          </a:p>
          <a:p>
            <a:pPr marL="342900" indent="-342900">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0FE77-010A-81AE-2A2F-23046AA2FA01}"/>
              </a:ext>
            </a:extLst>
          </p:cNvPr>
          <p:cNvSpPr>
            <a:spLocks noGrp="1"/>
          </p:cNvSpPr>
          <p:nvPr>
            <p:ph type="ctrTitle"/>
          </p:nvPr>
        </p:nvSpPr>
        <p:spPr>
          <a:xfrm>
            <a:off x="0" y="0"/>
            <a:ext cx="9144000" cy="649288"/>
          </a:xfrm>
        </p:spPr>
        <p:txBody>
          <a:bodyPr>
            <a:normAutofit fontScale="90000"/>
          </a:bodyPr>
          <a:lstStyle/>
          <a:p>
            <a:pPr algn="l"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Abstract</a:t>
            </a:r>
            <a:endParaRPr lang="en-IN" dirty="0">
              <a:solidFill>
                <a:schemeClr val="dk1"/>
              </a:solidFill>
              <a:latin typeface="Times New Roman" panose="02020603050405020304" pitchFamily="18" charset="0"/>
              <a:cs typeface="Times New Roman" panose="02020603050405020304" pitchFamily="18" charset="0"/>
              <a:sym typeface="Arial"/>
            </a:endParaRPr>
          </a:p>
        </p:txBody>
      </p:sp>
      <p:sp>
        <p:nvSpPr>
          <p:cNvPr id="46083" name="Slide Number Placeholder 2">
            <a:extLst>
              <a:ext uri="{FF2B5EF4-FFF2-40B4-BE49-F238E27FC236}">
                <a16:creationId xmlns:a16="http://schemas.microsoft.com/office/drawing/2014/main" id="{43A5E042-A5E3-163D-07D6-DBA91963F5C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E3D4DC3E-7FE8-4A99-BE52-E9D58BBAEBCC}" type="slidenum">
              <a:rPr lang="en-US" altLang="en-US" sz="1000" smtClean="0">
                <a:solidFill>
                  <a:srgbClr val="595959"/>
                </a:solidFill>
              </a:rPr>
              <a:pPr/>
              <a:t>45</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4773FDDB-B104-FF1B-557F-E31D424012BC}"/>
              </a:ext>
            </a:extLst>
          </p:cNvPr>
          <p:cNvSpPr>
            <a:spLocks noGrp="1"/>
          </p:cNvSpPr>
          <p:nvPr>
            <p:ph type="body" sz="quarter" idx="13"/>
          </p:nvPr>
        </p:nvSpPr>
        <p:spPr>
          <a:xfrm>
            <a:off x="109639" y="536103"/>
            <a:ext cx="8770242" cy="4520084"/>
          </a:xfrm>
        </p:spPr>
        <p:txBody>
          <a:bodyPr spcFirstLastPara="1">
            <a:noAutofit/>
          </a:bodyPr>
          <a:lstStyle/>
          <a:p>
            <a:pPr marL="228600" indent="0" algn="just">
              <a:lnSpc>
                <a:spcPct val="115000"/>
              </a:lnSpc>
              <a:buClr>
                <a:schemeClr val="dk2"/>
              </a:buClr>
              <a:buSzPts val="1800"/>
              <a:defRPr/>
            </a:pPr>
            <a:r>
              <a:rPr lang="en-US" sz="1800" dirty="0">
                <a:latin typeface="Times New Roman" panose="02020603050405020304" pitchFamily="18" charset="0"/>
                <a:cs typeface="Times New Roman" panose="02020603050405020304" pitchFamily="18" charset="0"/>
              </a:rPr>
              <a:t>This is a non-invasive system designed to estimate diabetic retinopathy (DR) severity and blood glucose levels using retinal fundus images. The system employs a multi-stage deep learning pipeline, beginning with image preprocessing using Ben Graham illumination correction and CLAHE to enhance retinal features. A U-Net model with an EfficientNet-B4 encoder performs multi-class lesion segmentation, identifying key DR-related abnormalities such as microaneurysms, hemorrhages, and exudates .The segmented lesion mask is combined with the original image to form a 4-channel input, which is processed by a ResNet-50 CNN to classify DR severity into five grades. The predicted grade is mapped to an HbA1c range using a UKPDS-based clinical lookup table, and the midpoint value is derived. Finally, HbA1c-based features are input into regression models trained on NHANES population data to estimate fasting blood glucose levels. The system provides an interpretable output with lesion visualization, severity prediction, and glucose estimation, offering a potential tool for early, accessible, and non-invasive diabetes monitoring.</a:t>
            </a:r>
            <a:endParaRPr lang="en-IN" sz="1800" dirty="0">
              <a:solidFill>
                <a:schemeClr val="dk2"/>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7A04FF15-7FBD-E39E-5752-EE62519D332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D0B272E-A254-5C4C-1E19-D8888CB21439}"/>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5FF89DDA-8225-B3D0-C1F9-D490BBB1912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46</a:t>
            </a:fld>
            <a:endParaRPr/>
          </a:p>
        </p:txBody>
      </p:sp>
      <p:sp>
        <p:nvSpPr>
          <p:cNvPr id="45" name="Google Shape;45;p3">
            <a:extLst>
              <a:ext uri="{FF2B5EF4-FFF2-40B4-BE49-F238E27FC236}">
                <a16:creationId xmlns:a16="http://schemas.microsoft.com/office/drawing/2014/main" id="{279FA729-90EA-EB63-86E6-4B9A5DEBA070}"/>
              </a:ext>
            </a:extLst>
          </p:cNvPr>
          <p:cNvSpPr txBox="1">
            <a:spLocks noGrp="1"/>
          </p:cNvSpPr>
          <p:nvPr>
            <p:ph type="body" idx="1"/>
          </p:nvPr>
        </p:nvSpPr>
        <p:spPr>
          <a:xfrm>
            <a:off x="-235130" y="506185"/>
            <a:ext cx="9144000" cy="4637315"/>
          </a:xfrm>
          <a:prstGeom prst="rect">
            <a:avLst/>
          </a:prstGeom>
          <a:noFill/>
          <a:ln>
            <a:noFill/>
          </a:ln>
        </p:spPr>
        <p:txBody>
          <a:bodyPr spcFirstLastPara="1" wrap="square" lIns="91425" tIns="91425" rIns="91425" bIns="91425" anchor="t" anchorCtr="0">
            <a:normAutofit/>
          </a:bodyPr>
          <a:lstStyle/>
          <a:p>
            <a:pPr algn="just"/>
            <a:r>
              <a:rPr lang="en-IN" sz="1800" dirty="0"/>
              <a:t>[1] Y. Rim, K. S. Lee, and J. Lee, “Diabetes Detection from Non-Diabetic Retinopathy Fundus Images Using Deep Learning,” IEEE Access, vol. 8, pp. 190647–190656, 2020, </a:t>
            </a:r>
            <a:r>
              <a:rPr lang="en-IN" sz="1800" dirty="0" err="1"/>
              <a:t>doi</a:t>
            </a:r>
            <a:r>
              <a:rPr lang="en-IN" sz="1800" dirty="0"/>
              <a:t>: 10.1109/ACCESS.2020.3032465.</a:t>
            </a:r>
          </a:p>
          <a:p>
            <a:pPr algn="just"/>
            <a:r>
              <a:rPr lang="en-IN" sz="1800" dirty="0"/>
              <a:t>[2] D. S. Ting et al., “A Deep Learning System for Predicting Time to Progression of Diabetic Retinopathy,” Nature Medicine, vol. 25, no. 3, pp. 454–461, 2019, </a:t>
            </a:r>
            <a:r>
              <a:rPr lang="en-IN" sz="1800" dirty="0" err="1"/>
              <a:t>doi</a:t>
            </a:r>
            <a:r>
              <a:rPr lang="en-IN" sz="1800" dirty="0"/>
              <a:t>: 10.1038/s41591-019-0404-1.</a:t>
            </a:r>
          </a:p>
          <a:p>
            <a:pPr algn="just"/>
            <a:r>
              <a:rPr lang="en-IN" sz="1800" dirty="0"/>
              <a:t>[3] M. Arsalan, S. O. Gilani, A. U. Rehman, and K. S. Kwak, “Predicting Diabetic Retinopathy Development Stages of Fundus Images Using Deep Learning Based on Combined Features,” Sensors, vol. 21, no. 10, pp. 1–18, 2021, </a:t>
            </a:r>
            <a:r>
              <a:rPr lang="en-IN" sz="1800" dirty="0" err="1"/>
              <a:t>doi</a:t>
            </a:r>
            <a:r>
              <a:rPr lang="en-IN" sz="1800" dirty="0"/>
              <a:t>: 10.3390/s21103445.</a:t>
            </a:r>
          </a:p>
          <a:p>
            <a:pPr algn="just"/>
            <a:r>
              <a:rPr lang="en-IN" sz="1800" dirty="0"/>
              <a:t>[4] J. Gulshan et al., “Use of Artificial Intelligence with Retinal Imaging in Screening for Diabetes-Associated Complications: A Systematic Review,” The Lancet Digital Health, vol. 2, no. 4, pp. e153–e162, 2020, </a:t>
            </a:r>
            <a:r>
              <a:rPr lang="en-IN" sz="1800" dirty="0" err="1"/>
              <a:t>doi</a:t>
            </a:r>
            <a:r>
              <a:rPr lang="en-IN" sz="1800" dirty="0"/>
              <a:t>: 10.1016/S2589-7500(20)30036-4.</a:t>
            </a:r>
          </a:p>
          <a:p>
            <a:pPr algn="just"/>
            <a:r>
              <a:rPr lang="en-IN" sz="1800" dirty="0"/>
              <a:t>[5] S. Li, Y. Hu, and J. Wang, “Analysis of Diabetic Retinopathy Based on Deep Learning Approach,” Computers in Biology and Medicine, vol. 123, pp. 103882, 2020, </a:t>
            </a:r>
            <a:r>
              <a:rPr lang="en-IN" sz="1800" dirty="0" err="1"/>
              <a:t>doi</a:t>
            </a:r>
            <a:r>
              <a:rPr lang="en-IN" sz="1800" dirty="0"/>
              <a:t>: 10.1016/j.compbiomed.2020.103882.</a:t>
            </a:r>
          </a:p>
          <a:p>
            <a:pPr marL="146368" indent="0" algn="just">
              <a:lnSpc>
                <a:spcPct val="115000"/>
              </a:lnSpc>
              <a:buClr>
                <a:srgbClr val="595959"/>
              </a:buClr>
              <a:buSzPct val="58333"/>
            </a:pPr>
            <a:endParaRPr lang="en-US" sz="1800" dirty="0">
              <a:solidFill>
                <a:srgbClr val="FF0000"/>
              </a:solidFill>
              <a:sym typeface="Arial"/>
            </a:endParaRPr>
          </a:p>
          <a:p>
            <a:pPr lvl="0" indent="-310832" algn="just">
              <a:lnSpc>
                <a:spcPct val="115000"/>
              </a:lnSpc>
              <a:buClr>
                <a:srgbClr val="595959"/>
              </a:buClr>
              <a:buSzPct val="58333"/>
              <a:buChar char="●"/>
            </a:pPr>
            <a:endParaRPr lang="en-US" sz="1800" dirty="0">
              <a:solidFill>
                <a:srgbClr val="C00000"/>
              </a:solidFill>
            </a:endParaRPr>
          </a:p>
        </p:txBody>
      </p:sp>
    </p:spTree>
    <p:extLst>
      <p:ext uri="{BB962C8B-B14F-4D97-AF65-F5344CB8AC3E}">
        <p14:creationId xmlns:p14="http://schemas.microsoft.com/office/powerpoint/2010/main" val="9370865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36AC6A0-2838-9F3B-C4E0-7F9BA22151D6}"/>
              </a:ext>
            </a:extLst>
          </p:cNvPr>
          <p:cNvSpPr>
            <a:spLocks noGrp="1"/>
          </p:cNvSpPr>
          <p:nvPr>
            <p:ph type="body" sz="quarter" idx="13"/>
          </p:nvPr>
        </p:nvSpPr>
        <p:spPr>
          <a:xfrm>
            <a:off x="0" y="-1"/>
            <a:ext cx="8769531" cy="4662487"/>
          </a:xfrm>
        </p:spPr>
        <p:txBody>
          <a:bodyPr/>
          <a:lstStyle/>
          <a:p>
            <a:pPr algn="just"/>
            <a:r>
              <a:rPr lang="en-IN" sz="1800" dirty="0">
                <a:latin typeface="Times New Roman" panose="02020603050405020304" pitchFamily="18" charset="0"/>
                <a:cs typeface="Times New Roman" panose="02020603050405020304" pitchFamily="18" charset="0"/>
              </a:rPr>
              <a:t>[6] Z. Poplin et al., “Predicting Systemic Health Features from Retinal Fundus Images Using Transfer-Learning-Based Artificial Intelligence Models,” Nature Biomedical Engineering, vol. 2, no. 3, pp. 158–164, 2018,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10.1038/s41551-018-0195-0.</a:t>
            </a:r>
          </a:p>
          <a:p>
            <a:pPr algn="just"/>
            <a:r>
              <a:rPr lang="en-IN" sz="1800" dirty="0">
                <a:latin typeface="Times New Roman" panose="02020603050405020304" pitchFamily="18" charset="0"/>
                <a:cs typeface="Times New Roman" panose="02020603050405020304" pitchFamily="18" charset="0"/>
              </a:rPr>
              <a:t>[7] M. </a:t>
            </a:r>
            <a:r>
              <a:rPr lang="en-IN" sz="1800" dirty="0" err="1">
                <a:latin typeface="Times New Roman" panose="02020603050405020304" pitchFamily="18" charset="0"/>
                <a:cs typeface="Times New Roman" panose="02020603050405020304" pitchFamily="18" charset="0"/>
              </a:rPr>
              <a:t>Bellemo</a:t>
            </a:r>
            <a:r>
              <a:rPr lang="en-IN" sz="1800" dirty="0">
                <a:latin typeface="Times New Roman" panose="02020603050405020304" pitchFamily="18" charset="0"/>
                <a:cs typeface="Times New Roman" panose="02020603050405020304" pitchFamily="18" charset="0"/>
              </a:rPr>
              <a:t> et al., “Artificial Intelligence Using Retinal Imaging to Predict Multiple Diabetes-Associated Complications,” Diabetes Care, vol. 44, no. 5, pp. 1233–1241, 2021,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10.2337/dc20-2250.</a:t>
            </a:r>
          </a:p>
          <a:p>
            <a:pPr algn="just"/>
            <a:r>
              <a:rPr lang="en-IN" sz="1800" dirty="0">
                <a:latin typeface="Times New Roman" panose="02020603050405020304" pitchFamily="18" charset="0"/>
                <a:cs typeface="Times New Roman" panose="02020603050405020304" pitchFamily="18" charset="0"/>
              </a:rPr>
              <a:t>[8] M. Arsalan, D. S. Kim, and K. S. Kwak, “Hybrid Deep Learning Framework for Multi-Stage Diabetic Retinopathy Classification,” IEEE Access, vol. 9, pp. 127356–127369, 2021,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10.1109/ACCESS.2021.3112178.</a:t>
            </a:r>
          </a:p>
          <a:p>
            <a:pPr algn="just"/>
            <a:r>
              <a:rPr lang="en-IN" sz="1800" dirty="0">
                <a:latin typeface="Times New Roman" panose="02020603050405020304" pitchFamily="18" charset="0"/>
                <a:cs typeface="Times New Roman" panose="02020603050405020304" pitchFamily="18" charset="0"/>
              </a:rPr>
              <a:t>[9] G. Li, X. Chen, and Y. Wang, “A Deep Learning Model for Screening Type 2 Diabetes from Retinal Photographs,” Journal of Biomedical Informatics, vol. 109, pp. 103525, 2020,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10.1016/j.jbi.2020.103525.</a:t>
            </a:r>
          </a:p>
          <a:p>
            <a:pPr algn="just"/>
            <a:r>
              <a:rPr lang="en-IN" sz="1800" dirty="0">
                <a:latin typeface="Times New Roman" panose="02020603050405020304" pitchFamily="18" charset="0"/>
                <a:cs typeface="Times New Roman" panose="02020603050405020304" pitchFamily="18" charset="0"/>
              </a:rPr>
              <a:t>[10] Y. Rim, J. Lee, and K. S. Lee, “Diabetes Detection from Retinal Fundus Images without Visible Diabetic Retinopathy Using Deep Learning,” IEEE Journal of Biomedical and Health Informatics, vol. 24, no. 10, pp. 2802–2811, 2020,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10.1109/JBHI.2020.2973836.</a:t>
            </a:r>
          </a:p>
          <a:p>
            <a:pPr algn="just"/>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4F24F94-032C-3C02-4C4B-476F42BC4559}"/>
              </a:ext>
            </a:extLst>
          </p:cNvPr>
          <p:cNvSpPr>
            <a:spLocks noGrp="1"/>
          </p:cNvSpPr>
          <p:nvPr>
            <p:ph type="sldNum" idx="14"/>
          </p:nvPr>
        </p:nvSpPr>
        <p:spPr/>
        <p:txBody>
          <a:bodyPr/>
          <a:lstStyle/>
          <a:p>
            <a:pPr>
              <a:defRPr/>
            </a:pPr>
            <a:fld id="{EF26C623-DE27-4A99-8424-AFD36C142E5A}" type="slidenum">
              <a:rPr lang="en-US" altLang="en-US" smtClean="0"/>
              <a:pPr>
                <a:defRPr/>
              </a:pPr>
              <a:t>47</a:t>
            </a:fld>
            <a:endParaRPr lang="en-US" altLang="en-US"/>
          </a:p>
        </p:txBody>
      </p:sp>
    </p:spTree>
    <p:extLst>
      <p:ext uri="{BB962C8B-B14F-4D97-AF65-F5344CB8AC3E}">
        <p14:creationId xmlns:p14="http://schemas.microsoft.com/office/powerpoint/2010/main" val="871726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1D15-A5AF-0874-28D3-E663F700BE49}"/>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sym typeface="Arial"/>
              </a:rPr>
              <a:t>Link to google drive</a:t>
            </a:r>
            <a:endParaRPr lang="en-IN" dirty="0">
              <a:solidFill>
                <a:schemeClr val="dk1"/>
              </a:solidFill>
              <a:sym typeface="Arial"/>
            </a:endParaRPr>
          </a:p>
        </p:txBody>
      </p:sp>
      <p:sp>
        <p:nvSpPr>
          <p:cNvPr id="11267" name="Slide Number Placeholder 2">
            <a:extLst>
              <a:ext uri="{FF2B5EF4-FFF2-40B4-BE49-F238E27FC236}">
                <a16:creationId xmlns:a16="http://schemas.microsoft.com/office/drawing/2014/main" id="{677E5A45-08EF-2EE4-7ACA-24BFBA2C7598}"/>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0BC44B4C-8C35-4704-A8B8-0DF9A0A9078F}" type="slidenum">
              <a:rPr lang="en-US" altLang="en-US" sz="1000" smtClean="0">
                <a:solidFill>
                  <a:srgbClr val="595959"/>
                </a:solidFill>
              </a:rPr>
              <a:pPr/>
              <a:t>48</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8FBB489D-56B3-8340-9C33-3A0B03D1C761}"/>
              </a:ext>
            </a:extLst>
          </p:cNvPr>
          <p:cNvSpPr>
            <a:spLocks noGrp="1"/>
          </p:cNvSpPr>
          <p:nvPr>
            <p:ph type="body" sz="quarter" idx="13"/>
          </p:nvPr>
        </p:nvSpPr>
        <p:spPr/>
        <p:txBody>
          <a:bodyPr spcFirstLastPara="1">
            <a:normAutofit/>
          </a:bodyPr>
          <a:lstStyle/>
          <a:p>
            <a:pPr marL="596900" lvl="1" indent="0">
              <a:lnSpc>
                <a:spcPct val="115000"/>
              </a:lnSpc>
              <a:buClr>
                <a:schemeClr val="dk2"/>
              </a:buClr>
              <a:defRPr/>
            </a:pPr>
            <a:r>
              <a:rPr lang="en-IN" dirty="0">
                <a:solidFill>
                  <a:schemeClr val="dk2"/>
                </a:solidFill>
                <a:latin typeface="Times New Roman" panose="02020603050405020304" pitchFamily="18" charset="0"/>
                <a:cs typeface="Times New Roman" panose="02020603050405020304" pitchFamily="18" charset="0"/>
                <a:hlinkClick r:id="rId2"/>
              </a:rPr>
              <a:t>https://drive.google.com/drive/folders/1NkzuSWDlQ8ziNvUlnM8KT4Z8bPD-vxAI?usp=sharing</a:t>
            </a:r>
            <a:endParaRPr lang="en-IN" dirty="0">
              <a:solidFill>
                <a:schemeClr val="dk2"/>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49</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6480</TotalTime>
  <Words>4434</Words>
  <Application>Microsoft Office PowerPoint</Application>
  <PresentationFormat>On-screen Show (16:9)</PresentationFormat>
  <Paragraphs>621</Paragraphs>
  <Slides>49</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Bahnschrift Condensed</vt:lpstr>
      <vt:lpstr>Bahnschrift Light Condensed</vt:lpstr>
      <vt:lpstr>Times New Roman</vt:lpstr>
      <vt:lpstr>Wingdings</vt:lpstr>
      <vt:lpstr>2_Simple Light</vt:lpstr>
      <vt:lpstr>1_Simple Light</vt:lpstr>
      <vt:lpstr>    Gokaraju Rangaraju Institute of Engineering and Technology  (Autonomous) Department of Data Science  Mini Project Work (CSE(DS))</vt:lpstr>
      <vt:lpstr>Diabetes Severity Prediction using  Retinal Images  </vt:lpstr>
      <vt:lpstr>Introduction</vt:lpstr>
      <vt:lpstr>PowerPoint Presentation</vt:lpstr>
      <vt:lpstr>Literature review</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 Summary</vt:lpstr>
      <vt:lpstr>Literature Review Summary(Cont…)</vt:lpstr>
      <vt:lpstr>Literature Review Summary(Cont…)</vt:lpstr>
      <vt:lpstr>Research Gaps</vt:lpstr>
      <vt:lpstr>Problem statement</vt:lpstr>
      <vt:lpstr>Objectives</vt:lpstr>
      <vt:lpstr>Proposed Solution</vt:lpstr>
      <vt:lpstr>PowerPoint Presentation</vt:lpstr>
      <vt:lpstr>Methodology</vt:lpstr>
      <vt:lpstr>Methodology(Cont…)</vt:lpstr>
      <vt:lpstr>PowerPoint Presentation</vt:lpstr>
      <vt:lpstr>PowerPoint Presentation</vt:lpstr>
      <vt:lpstr>Datasets Details</vt:lpstr>
      <vt:lpstr>Datasets Details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Abstract</vt:lpstr>
      <vt:lpstr>References:</vt:lpstr>
      <vt:lpstr>PowerPoint Presentation</vt:lpstr>
      <vt:lpstr>Link to google drive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Shivani P</cp:lastModifiedBy>
  <cp:revision>44</cp:revision>
  <dcterms:modified xsi:type="dcterms:W3CDTF">2026-04-10T14:40:39Z</dcterms:modified>
</cp:coreProperties>
</file>